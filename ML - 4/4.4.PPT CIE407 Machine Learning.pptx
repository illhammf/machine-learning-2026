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06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062" r:id="rId25"/>
    <p:sldId id="279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htr378QJb8VB4HnkCj3tIu+xSh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987" autoAdjust="0"/>
  </p:normalViewPr>
  <p:slideViewPr>
    <p:cSldViewPr snapToGrid="0">
      <p:cViewPr varScale="1">
        <p:scale>
          <a:sx n="61" d="100"/>
          <a:sy n="61" d="100"/>
        </p:scale>
        <p:origin x="149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38" name="Google Shape;2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5" name="Google Shape;3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</a:rPr>
              <a:t>Pengelompokan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eksklusif</a:t>
            </a:r>
            <a:r>
              <a:rPr lang="en-US" dirty="0">
                <a:solidFill>
                  <a:schemeClr val="dk1"/>
                </a:solidFill>
              </a:rPr>
              <a:t> (</a:t>
            </a:r>
            <a:r>
              <a:rPr lang="en-US" dirty="0" err="1">
                <a:solidFill>
                  <a:schemeClr val="dk1"/>
                </a:solidFill>
              </a:rPr>
              <a:t>satu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sata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hanya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satu</a:t>
            </a:r>
            <a:r>
              <a:rPr lang="en-US" dirty="0">
                <a:solidFill>
                  <a:schemeClr val="dk1"/>
                </a:solidFill>
              </a:rPr>
              <a:t> cluster/class) </a:t>
            </a:r>
            <a:r>
              <a:rPr lang="en-US" b="1" i="0" dirty="0">
                <a:solidFill>
                  <a:srgbClr val="1A1A1A"/>
                </a:solidFill>
                <a:effectLst/>
                <a:latin typeface="aipi-imperial"/>
              </a:rPr>
              <a:t>K-means</a:t>
            </a:r>
            <a:r>
              <a:rPr lang="en-US" b="0" i="0" dirty="0">
                <a:solidFill>
                  <a:srgbClr val="1A1A1A"/>
                </a:solidFill>
                <a:effectLst/>
                <a:latin typeface="aipi-imperial"/>
              </a:rPr>
              <a:t> </a:t>
            </a:r>
            <a:endParaRPr lang="en-US" dirty="0">
              <a:solidFill>
                <a:schemeClr val="dk1"/>
              </a:solidFill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</a:rPr>
              <a:t>Pengelompokan</a:t>
            </a:r>
            <a:r>
              <a:rPr lang="en-US" dirty="0">
                <a:solidFill>
                  <a:schemeClr val="dk1"/>
                </a:solidFill>
              </a:rPr>
              <a:t> yang </a:t>
            </a:r>
            <a:r>
              <a:rPr lang="en-US" dirty="0" err="1">
                <a:solidFill>
                  <a:schemeClr val="dk1"/>
                </a:solidFill>
              </a:rPr>
              <a:t>tumpang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tindih</a:t>
            </a:r>
            <a:r>
              <a:rPr lang="en-US" dirty="0">
                <a:solidFill>
                  <a:schemeClr val="dk1"/>
                </a:solidFill>
              </a:rPr>
              <a:t> (</a:t>
            </a:r>
            <a:r>
              <a:rPr lang="en-US" dirty="0" err="1">
                <a:solidFill>
                  <a:schemeClr val="dk1"/>
                </a:solidFill>
              </a:rPr>
              <a:t>satu</a:t>
            </a:r>
            <a:r>
              <a:rPr lang="en-US" dirty="0">
                <a:solidFill>
                  <a:schemeClr val="dk1"/>
                </a:solidFill>
              </a:rPr>
              <a:t> data </a:t>
            </a:r>
            <a:r>
              <a:rPr lang="en-US" dirty="0" err="1">
                <a:solidFill>
                  <a:schemeClr val="dk1"/>
                </a:solidFill>
              </a:rPr>
              <a:t>bisa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memiliki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banyak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claster</a:t>
            </a:r>
            <a:r>
              <a:rPr lang="en-US" dirty="0">
                <a:solidFill>
                  <a:schemeClr val="dk1"/>
                </a:solidFill>
              </a:rPr>
              <a:t>/class) </a:t>
            </a:r>
            <a:r>
              <a:rPr lang="en-US" b="1" i="0" dirty="0">
                <a:solidFill>
                  <a:srgbClr val="1A1A1A"/>
                </a:solidFill>
                <a:effectLst/>
                <a:latin typeface="aipi-imperial"/>
              </a:rPr>
              <a:t>fuzzy K-means</a:t>
            </a:r>
            <a:endParaRPr lang="en-US" dirty="0">
              <a:solidFill>
                <a:schemeClr val="dk1"/>
              </a:solidFill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</a:rPr>
              <a:t>Pengelompokan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hierarki</a:t>
            </a:r>
            <a:r>
              <a:rPr lang="en-US" dirty="0">
                <a:solidFill>
                  <a:schemeClr val="dk1"/>
                </a:solidFill>
              </a:rPr>
              <a:t> (</a:t>
            </a:r>
            <a:r>
              <a:rPr lang="en-US" dirty="0" err="1">
                <a:solidFill>
                  <a:schemeClr val="dk1"/>
                </a:solidFill>
              </a:rPr>
              <a:t>pohon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dendogram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hirarki</a:t>
            </a:r>
            <a:r>
              <a:rPr lang="en-US" dirty="0">
                <a:solidFill>
                  <a:schemeClr val="dk1"/>
                </a:solidFill>
              </a:rPr>
              <a:t>)</a:t>
            </a:r>
            <a:r>
              <a:rPr lang="en-US" b="1" i="0" dirty="0">
                <a:solidFill>
                  <a:srgbClr val="1A1A1A"/>
                </a:solidFill>
                <a:effectLst/>
                <a:latin typeface="aipi-imperial"/>
              </a:rPr>
              <a:t> </a:t>
            </a:r>
            <a:r>
              <a:rPr lang="en-US" b="1" i="0" dirty="0" err="1">
                <a:solidFill>
                  <a:srgbClr val="1A1A1A"/>
                </a:solidFill>
                <a:effectLst/>
                <a:latin typeface="aipi-imperial"/>
              </a:rPr>
              <a:t>aglomeratif</a:t>
            </a:r>
            <a:r>
              <a:rPr lang="en-US" b="1" i="0" dirty="0">
                <a:solidFill>
                  <a:srgbClr val="1A1A1A"/>
                </a:solidFill>
                <a:effectLst/>
                <a:latin typeface="aipi-imperial"/>
              </a:rPr>
              <a:t> </a:t>
            </a:r>
            <a:r>
              <a:rPr lang="en-US" b="0" i="1" dirty="0">
                <a:solidFill>
                  <a:srgbClr val="1A1A1A"/>
                </a:solidFill>
                <a:effectLst/>
                <a:latin typeface="aipi-imperial"/>
              </a:rPr>
              <a:t>bottom-up</a:t>
            </a:r>
            <a:r>
              <a:rPr lang="en-US" b="1" i="0" dirty="0">
                <a:solidFill>
                  <a:srgbClr val="1A1A1A"/>
                </a:solidFill>
                <a:effectLst/>
                <a:latin typeface="aipi-imperial"/>
              </a:rPr>
              <a:t>, </a:t>
            </a:r>
            <a:r>
              <a:rPr lang="en-US" b="1" i="0" dirty="0" err="1">
                <a:solidFill>
                  <a:srgbClr val="1A1A1A"/>
                </a:solidFill>
                <a:effectLst/>
                <a:latin typeface="aipi-imperial"/>
              </a:rPr>
              <a:t>divisif</a:t>
            </a:r>
            <a:r>
              <a:rPr lang="en-US" b="1" i="0" dirty="0">
                <a:solidFill>
                  <a:srgbClr val="1A1A1A"/>
                </a:solidFill>
                <a:effectLst/>
                <a:latin typeface="aipi-imperial"/>
              </a:rPr>
              <a:t> </a:t>
            </a:r>
            <a:r>
              <a:rPr lang="en-US" b="0" i="1" dirty="0">
                <a:solidFill>
                  <a:srgbClr val="1A1A1A"/>
                </a:solidFill>
                <a:effectLst/>
                <a:latin typeface="aipi-imperial"/>
              </a:rPr>
              <a:t>top-down</a:t>
            </a:r>
            <a:endParaRPr lang="en-US" b="0" dirty="0">
              <a:solidFill>
                <a:schemeClr val="dk1"/>
              </a:solidFill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</a:rPr>
              <a:t>Pengelompokan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probalistik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menghitung</a:t>
            </a:r>
            <a:r>
              <a:rPr lang="en-US" dirty="0">
                <a:solidFill>
                  <a:schemeClr val="dk1"/>
                </a:solidFill>
              </a:rPr>
              <a:t> probabilistic </a:t>
            </a:r>
            <a:r>
              <a:rPr lang="en-US" dirty="0" err="1">
                <a:solidFill>
                  <a:schemeClr val="dk1"/>
                </a:solidFill>
              </a:rPr>
              <a:t>dari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setiap</a:t>
            </a:r>
            <a:r>
              <a:rPr lang="en-US" dirty="0">
                <a:solidFill>
                  <a:schemeClr val="dk1"/>
                </a:solidFill>
              </a:rPr>
              <a:t> data.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3" name="Google Shape;3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b="0" i="0" dirty="0">
                <a:solidFill>
                  <a:srgbClr val="001D35"/>
                </a:solidFill>
                <a:effectLst/>
                <a:latin typeface="Google Sans"/>
              </a:rPr>
              <a:t>Algoritma yang paling </a:t>
            </a:r>
            <a:r>
              <a:rPr lang="en-ID" b="0" i="0" dirty="0" err="1">
                <a:solidFill>
                  <a:srgbClr val="001D35"/>
                </a:solidFill>
                <a:effectLst/>
                <a:latin typeface="Google Sans"/>
              </a:rPr>
              <a:t>umum</a:t>
            </a:r>
            <a:r>
              <a:rPr lang="en-ID" b="0" i="0" dirty="0"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rgbClr val="001D35"/>
                </a:solidFill>
                <a:effectLst/>
                <a:latin typeface="Google Sans"/>
              </a:rPr>
              <a:t>digunakan</a:t>
            </a:r>
            <a:r>
              <a:rPr lang="en-ID" b="0" i="0" dirty="0"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rgbClr val="001D35"/>
                </a:solidFill>
                <a:effectLst/>
                <a:latin typeface="Google Sans"/>
              </a:rPr>
              <a:t>dalam</a:t>
            </a:r>
            <a:r>
              <a:rPr lang="en-ID" b="0" i="0" dirty="0">
                <a:solidFill>
                  <a:srgbClr val="001D35"/>
                </a:solidFill>
                <a:effectLst/>
                <a:latin typeface="Google Sans"/>
              </a:rPr>
              <a:t> association rule mining </a:t>
            </a:r>
            <a:r>
              <a:rPr lang="en-ID" b="0" i="0" dirty="0" err="1">
                <a:solidFill>
                  <a:srgbClr val="001D35"/>
                </a:solidFill>
                <a:effectLst/>
                <a:latin typeface="Google Sans"/>
              </a:rPr>
              <a:t>adalah</a:t>
            </a:r>
            <a:r>
              <a:rPr lang="en-ID" b="0" i="0" dirty="0">
                <a:solidFill>
                  <a:srgbClr val="001D35"/>
                </a:solidFill>
                <a:effectLst/>
                <a:latin typeface="Google Sans"/>
              </a:rPr>
              <a:t> </a:t>
            </a:r>
            <a:r>
              <a:rPr lang="en-ID" b="1" i="0" dirty="0">
                <a:solidFill>
                  <a:srgbClr val="001D35"/>
                </a:solidFill>
                <a:effectLst/>
                <a:latin typeface="Google Sans"/>
              </a:rPr>
              <a:t>algoritma </a:t>
            </a:r>
            <a:r>
              <a:rPr lang="en-ID" b="1" i="0" dirty="0" err="1">
                <a:solidFill>
                  <a:srgbClr val="001D35"/>
                </a:solidFill>
                <a:effectLst/>
                <a:latin typeface="Google Sans"/>
              </a:rPr>
              <a:t>Apriori</a:t>
            </a:r>
            <a:r>
              <a:rPr lang="en-ID" b="0" i="0" dirty="0">
                <a:solidFill>
                  <a:srgbClr val="001D35"/>
                </a:solidFill>
                <a:effectLst/>
                <a:latin typeface="Google Sans"/>
              </a:rPr>
              <a:t>. Algoritma </a:t>
            </a:r>
            <a:r>
              <a:rPr lang="en-ID" b="0" i="0" dirty="0" err="1">
                <a:solidFill>
                  <a:srgbClr val="001D35"/>
                </a:solidFill>
                <a:effectLst/>
                <a:latin typeface="Google Sans"/>
              </a:rPr>
              <a:t>ini</a:t>
            </a:r>
            <a:r>
              <a:rPr lang="en-ID" b="0" i="0" dirty="0"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rgbClr val="001D35"/>
                </a:solidFill>
                <a:effectLst/>
                <a:latin typeface="Google Sans"/>
              </a:rPr>
              <a:t>membantu</a:t>
            </a:r>
            <a:r>
              <a:rPr lang="en-ID" b="0" i="0" dirty="0"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rgbClr val="001D35"/>
                </a:solidFill>
                <a:effectLst/>
                <a:latin typeface="Google Sans"/>
              </a:rPr>
              <a:t>menemukan</a:t>
            </a:r>
            <a:r>
              <a:rPr lang="en-ID" b="0" i="0" dirty="0">
                <a:solidFill>
                  <a:srgbClr val="001D35"/>
                </a:solidFill>
                <a:effectLst/>
                <a:latin typeface="Google Sans"/>
              </a:rPr>
              <a:t> frequent </a:t>
            </a:r>
            <a:r>
              <a:rPr lang="en-ID" b="0" i="0" dirty="0" err="1">
                <a:solidFill>
                  <a:srgbClr val="001D35"/>
                </a:solidFill>
                <a:effectLst/>
                <a:latin typeface="Google Sans"/>
              </a:rPr>
              <a:t>itemsets</a:t>
            </a:r>
            <a:r>
              <a:rPr lang="en-ID" b="0" i="0" dirty="0">
                <a:solidFill>
                  <a:srgbClr val="001D35"/>
                </a:solidFill>
                <a:effectLst/>
                <a:latin typeface="Google Sans"/>
              </a:rPr>
              <a:t> dan </a:t>
            </a:r>
            <a:r>
              <a:rPr lang="en-ID" b="0" i="0" dirty="0" err="1">
                <a:solidFill>
                  <a:srgbClr val="001D35"/>
                </a:solidFill>
                <a:effectLst/>
                <a:latin typeface="Google Sans"/>
              </a:rPr>
              <a:t>aturan</a:t>
            </a:r>
            <a:r>
              <a:rPr lang="en-ID" b="0" i="0" dirty="0"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rgbClr val="001D35"/>
                </a:solidFill>
                <a:effectLst/>
                <a:latin typeface="Google Sans"/>
              </a:rPr>
              <a:t>asosiasi</a:t>
            </a:r>
            <a:r>
              <a:rPr lang="en-ID" b="0" i="0" dirty="0">
                <a:solidFill>
                  <a:srgbClr val="001D35"/>
                </a:solidFill>
                <a:effectLst/>
                <a:latin typeface="Google Sans"/>
              </a:rPr>
              <a:t> yang </a:t>
            </a:r>
            <a:r>
              <a:rPr lang="en-ID" b="0" i="0" dirty="0" err="1">
                <a:solidFill>
                  <a:srgbClr val="001D35"/>
                </a:solidFill>
                <a:effectLst/>
                <a:latin typeface="Google Sans"/>
              </a:rPr>
              <a:t>memenuhi</a:t>
            </a:r>
            <a:r>
              <a:rPr lang="en-ID" b="0" i="0" dirty="0"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lang="en-ID" b="0" i="0" dirty="0" err="1">
                <a:solidFill>
                  <a:srgbClr val="001D35"/>
                </a:solidFill>
                <a:effectLst/>
                <a:latin typeface="Google Sans"/>
              </a:rPr>
              <a:t>nilai</a:t>
            </a:r>
            <a:r>
              <a:rPr lang="en-ID" b="0" i="0" dirty="0">
                <a:solidFill>
                  <a:srgbClr val="001D35"/>
                </a:solidFill>
                <a:effectLst/>
                <a:latin typeface="Google Sans"/>
              </a:rPr>
              <a:t> minimum support dan confidence. </a:t>
            </a:r>
            <a:endParaRPr dirty="0"/>
          </a:p>
        </p:txBody>
      </p:sp>
      <p:sp>
        <p:nvSpPr>
          <p:cNvPr id="326" name="Google Shape;3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2">
  <p:cSld name="1_Cover 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" name="Google Shape;20;p26"/>
          <p:cNvSpPr>
            <a:spLocks noGrp="1"/>
          </p:cNvSpPr>
          <p:nvPr>
            <p:ph type="pic" idx="2"/>
          </p:nvPr>
        </p:nvSpPr>
        <p:spPr>
          <a:xfrm flipH="1">
            <a:off x="7384744" y="0"/>
            <a:ext cx="4807256" cy="6858000"/>
          </a:xfrm>
          <a:prstGeom prst="flowChartDelay">
            <a:avLst/>
          </a:prstGeom>
          <a:noFill/>
          <a:ln>
            <a:noFill/>
          </a:ln>
        </p:spPr>
      </p:sp>
      <p:grpSp>
        <p:nvGrpSpPr>
          <p:cNvPr id="21" name="Google Shape;21;p26"/>
          <p:cNvGrpSpPr/>
          <p:nvPr/>
        </p:nvGrpSpPr>
        <p:grpSpPr>
          <a:xfrm>
            <a:off x="159779" y="171572"/>
            <a:ext cx="1971606" cy="729735"/>
            <a:chOff x="648649" y="653143"/>
            <a:chExt cx="2138362" cy="791455"/>
          </a:xfrm>
        </p:grpSpPr>
        <p:sp>
          <p:nvSpPr>
            <p:cNvPr id="22" name="Google Shape;22;p26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wentieth Century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3" name="Google Shape;23;p26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588970" y="1773946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  <a:defRPr sz="5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6"/>
          <p:cNvSpPr txBox="1">
            <a:spLocks noGrp="1"/>
          </p:cNvSpPr>
          <p:nvPr>
            <p:ph type="body" idx="3"/>
          </p:nvPr>
        </p:nvSpPr>
        <p:spPr>
          <a:xfrm>
            <a:off x="588970" y="419808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sz="2800" b="1">
                <a:solidFill>
                  <a:srgbClr val="FFC00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6"/>
          <p:cNvSpPr/>
          <p:nvPr/>
        </p:nvSpPr>
        <p:spPr>
          <a:xfrm>
            <a:off x="588970" y="3975211"/>
            <a:ext cx="1659545" cy="4571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" name="Google Shape;28;p26"/>
          <p:cNvSpPr txBox="1">
            <a:spLocks noGrp="1"/>
          </p:cNvSpPr>
          <p:nvPr>
            <p:ph type="body" idx="4"/>
          </p:nvPr>
        </p:nvSpPr>
        <p:spPr>
          <a:xfrm>
            <a:off x="588969" y="126889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sz="2800" b="1">
                <a:solidFill>
                  <a:srgbClr val="FFC00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k (Sebelum UTS)">
  <p:cSld name="Topik (Sebelum UTS)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8"/>
          <p:cNvSpPr/>
          <p:nvPr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01277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8"/>
          <p:cNvSpPr txBox="1"/>
          <p:nvPr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</a:t>
            </a:r>
            <a:endParaRPr/>
          </a:p>
        </p:txBody>
      </p:sp>
      <p:sp>
        <p:nvSpPr>
          <p:cNvPr id="44" name="Google Shape;44;p28"/>
          <p:cNvSpPr/>
          <p:nvPr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2"/>
          </p:nvPr>
        </p:nvSpPr>
        <p:spPr>
          <a:xfrm>
            <a:off x="3593182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/>
          <p:nvPr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2</a:t>
            </a:r>
            <a:endParaRPr/>
          </a:p>
        </p:txBody>
      </p:sp>
      <p:sp>
        <p:nvSpPr>
          <p:cNvPr id="47" name="Google Shape;47;p28"/>
          <p:cNvSpPr/>
          <p:nvPr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8" name="Google Shape;48;p28"/>
          <p:cNvSpPr txBox="1">
            <a:spLocks noGrp="1"/>
          </p:cNvSpPr>
          <p:nvPr>
            <p:ph type="body" idx="3"/>
          </p:nvPr>
        </p:nvSpPr>
        <p:spPr>
          <a:xfrm>
            <a:off x="6387656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8"/>
          <p:cNvSpPr txBox="1"/>
          <p:nvPr/>
        </p:nvSpPr>
        <p:spPr>
          <a:xfrm>
            <a:off x="6387656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3</a:t>
            </a:r>
            <a:endParaRPr/>
          </a:p>
        </p:txBody>
      </p:sp>
      <p:sp>
        <p:nvSpPr>
          <p:cNvPr id="50" name="Google Shape;50;p28"/>
          <p:cNvSpPr/>
          <p:nvPr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body" idx="4"/>
          </p:nvPr>
        </p:nvSpPr>
        <p:spPr>
          <a:xfrm>
            <a:off x="9179561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/>
          <p:nvPr/>
        </p:nvSpPr>
        <p:spPr>
          <a:xfrm>
            <a:off x="9179561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4</a:t>
            </a:r>
            <a:endParaRPr/>
          </a:p>
        </p:txBody>
      </p:sp>
      <p:sp>
        <p:nvSpPr>
          <p:cNvPr id="53" name="Google Shape;53;p28"/>
          <p:cNvSpPr/>
          <p:nvPr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" name="Google Shape;54;p28"/>
          <p:cNvSpPr txBox="1">
            <a:spLocks noGrp="1"/>
          </p:cNvSpPr>
          <p:nvPr>
            <p:ph type="body" idx="5"/>
          </p:nvPr>
        </p:nvSpPr>
        <p:spPr>
          <a:xfrm>
            <a:off x="801277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8"/>
          <p:cNvSpPr txBox="1"/>
          <p:nvPr/>
        </p:nvSpPr>
        <p:spPr>
          <a:xfrm>
            <a:off x="801277" y="3834197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5</a:t>
            </a:r>
            <a:endParaRPr/>
          </a:p>
        </p:txBody>
      </p:sp>
      <p:sp>
        <p:nvSpPr>
          <p:cNvPr id="56" name="Google Shape;56;p28"/>
          <p:cNvSpPr/>
          <p:nvPr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7" name="Google Shape;57;p28"/>
          <p:cNvSpPr txBox="1">
            <a:spLocks noGrp="1"/>
          </p:cNvSpPr>
          <p:nvPr>
            <p:ph type="body" idx="6"/>
          </p:nvPr>
        </p:nvSpPr>
        <p:spPr>
          <a:xfrm>
            <a:off x="3593182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8"/>
          <p:cNvSpPr txBox="1"/>
          <p:nvPr/>
        </p:nvSpPr>
        <p:spPr>
          <a:xfrm>
            <a:off x="3593182" y="3834197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6</a:t>
            </a:r>
            <a:endParaRPr/>
          </a:p>
        </p:txBody>
      </p:sp>
      <p:sp>
        <p:nvSpPr>
          <p:cNvPr id="59" name="Google Shape;59;p28"/>
          <p:cNvSpPr/>
          <p:nvPr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7"/>
          </p:nvPr>
        </p:nvSpPr>
        <p:spPr>
          <a:xfrm>
            <a:off x="6387656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8"/>
          <p:cNvSpPr txBox="1"/>
          <p:nvPr/>
        </p:nvSpPr>
        <p:spPr>
          <a:xfrm>
            <a:off x="6387656" y="3834197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7</a:t>
            </a:r>
            <a:endParaRPr/>
          </a:p>
        </p:txBody>
      </p:sp>
      <p:sp>
        <p:nvSpPr>
          <p:cNvPr id="62" name="Google Shape;62;p28"/>
          <p:cNvSpPr/>
          <p:nvPr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3" name="Google Shape;63;p28"/>
          <p:cNvSpPr txBox="1"/>
          <p:nvPr/>
        </p:nvSpPr>
        <p:spPr>
          <a:xfrm>
            <a:off x="9179561" y="4139355"/>
            <a:ext cx="188276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Ujian Tengah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Semester</a:t>
            </a:r>
            <a:endParaRPr/>
          </a:p>
        </p:txBody>
      </p:sp>
      <p:sp>
        <p:nvSpPr>
          <p:cNvPr id="64" name="Google Shape;64;p28"/>
          <p:cNvSpPr/>
          <p:nvPr/>
        </p:nvSpPr>
        <p:spPr>
          <a:xfrm>
            <a:off x="571756" y="804529"/>
            <a:ext cx="382489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Topik Sebelum UTS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k (Sebelum UAS)">
  <p:cSld name="Topik (Sebelum UAS)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9"/>
          <p:cNvSpPr/>
          <p:nvPr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801277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9"/>
          <p:cNvSpPr txBox="1"/>
          <p:nvPr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8</a:t>
            </a:r>
            <a:endParaRPr/>
          </a:p>
        </p:txBody>
      </p:sp>
      <p:sp>
        <p:nvSpPr>
          <p:cNvPr id="70" name="Google Shape;70;p29"/>
          <p:cNvSpPr/>
          <p:nvPr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1" name="Google Shape;71;p29"/>
          <p:cNvSpPr txBox="1">
            <a:spLocks noGrp="1"/>
          </p:cNvSpPr>
          <p:nvPr>
            <p:ph type="body" idx="2"/>
          </p:nvPr>
        </p:nvSpPr>
        <p:spPr>
          <a:xfrm>
            <a:off x="3593182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/>
          <p:nvPr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9</a:t>
            </a:r>
            <a:endParaRPr/>
          </a:p>
        </p:txBody>
      </p:sp>
      <p:sp>
        <p:nvSpPr>
          <p:cNvPr id="73" name="Google Shape;73;p29"/>
          <p:cNvSpPr/>
          <p:nvPr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3"/>
          </p:nvPr>
        </p:nvSpPr>
        <p:spPr>
          <a:xfrm>
            <a:off x="6387656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/>
          <p:nvPr/>
        </p:nvSpPr>
        <p:spPr>
          <a:xfrm>
            <a:off x="6387656" y="1962504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10</a:t>
            </a:r>
            <a:endParaRPr/>
          </a:p>
        </p:txBody>
      </p:sp>
      <p:sp>
        <p:nvSpPr>
          <p:cNvPr id="76" name="Google Shape;76;p29"/>
          <p:cNvSpPr/>
          <p:nvPr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7" name="Google Shape;77;p29"/>
          <p:cNvSpPr txBox="1">
            <a:spLocks noGrp="1"/>
          </p:cNvSpPr>
          <p:nvPr>
            <p:ph type="body" idx="4"/>
          </p:nvPr>
        </p:nvSpPr>
        <p:spPr>
          <a:xfrm>
            <a:off x="9179561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/>
          <p:nvPr/>
        </p:nvSpPr>
        <p:spPr>
          <a:xfrm>
            <a:off x="9179561" y="1962504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11</a:t>
            </a:r>
            <a:endParaRPr/>
          </a:p>
        </p:txBody>
      </p:sp>
      <p:sp>
        <p:nvSpPr>
          <p:cNvPr id="79" name="Google Shape;79;p29"/>
          <p:cNvSpPr/>
          <p:nvPr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0" name="Google Shape;80;p29"/>
          <p:cNvSpPr txBox="1">
            <a:spLocks noGrp="1"/>
          </p:cNvSpPr>
          <p:nvPr>
            <p:ph type="body" idx="5"/>
          </p:nvPr>
        </p:nvSpPr>
        <p:spPr>
          <a:xfrm>
            <a:off x="801277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/>
          <p:nvPr/>
        </p:nvSpPr>
        <p:spPr>
          <a:xfrm>
            <a:off x="801277" y="3834197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12</a:t>
            </a:r>
            <a:endParaRPr/>
          </a:p>
        </p:txBody>
      </p:sp>
      <p:sp>
        <p:nvSpPr>
          <p:cNvPr id="82" name="Google Shape;82;p29"/>
          <p:cNvSpPr/>
          <p:nvPr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3" name="Google Shape;83;p29"/>
          <p:cNvSpPr txBox="1">
            <a:spLocks noGrp="1"/>
          </p:cNvSpPr>
          <p:nvPr>
            <p:ph type="body" idx="6"/>
          </p:nvPr>
        </p:nvSpPr>
        <p:spPr>
          <a:xfrm>
            <a:off x="3593182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9"/>
          <p:cNvSpPr txBox="1"/>
          <p:nvPr/>
        </p:nvSpPr>
        <p:spPr>
          <a:xfrm>
            <a:off x="3593182" y="3834197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13</a:t>
            </a:r>
            <a:endParaRPr/>
          </a:p>
        </p:txBody>
      </p:sp>
      <p:sp>
        <p:nvSpPr>
          <p:cNvPr id="85" name="Google Shape;85;p29"/>
          <p:cNvSpPr/>
          <p:nvPr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6" name="Google Shape;86;p29"/>
          <p:cNvSpPr txBox="1">
            <a:spLocks noGrp="1"/>
          </p:cNvSpPr>
          <p:nvPr>
            <p:ph type="body" idx="7"/>
          </p:nvPr>
        </p:nvSpPr>
        <p:spPr>
          <a:xfrm>
            <a:off x="6387656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9"/>
          <p:cNvSpPr txBox="1"/>
          <p:nvPr/>
        </p:nvSpPr>
        <p:spPr>
          <a:xfrm>
            <a:off x="6387656" y="3834197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14</a:t>
            </a:r>
            <a:endParaRPr/>
          </a:p>
        </p:txBody>
      </p:sp>
      <p:sp>
        <p:nvSpPr>
          <p:cNvPr id="88" name="Google Shape;88;p29"/>
          <p:cNvSpPr/>
          <p:nvPr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9" name="Google Shape;89;p29"/>
          <p:cNvSpPr txBox="1"/>
          <p:nvPr/>
        </p:nvSpPr>
        <p:spPr>
          <a:xfrm>
            <a:off x="9179561" y="4139355"/>
            <a:ext cx="164660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Ujian Akhir</a:t>
            </a:r>
            <a:endParaRPr sz="2400" b="1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Semester</a:t>
            </a:r>
            <a:endParaRPr/>
          </a:p>
        </p:txBody>
      </p:sp>
      <p:sp>
        <p:nvSpPr>
          <p:cNvPr id="90" name="Google Shape;90;p29"/>
          <p:cNvSpPr/>
          <p:nvPr/>
        </p:nvSpPr>
        <p:spPr>
          <a:xfrm>
            <a:off x="571756" y="804529"/>
            <a:ext cx="39118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Topik Sebelum UAS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ujuan Pembelajaran">
  <p:cSld name="1_Tujuan Pembelajara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93;p30"/>
          <p:cNvGrpSpPr/>
          <p:nvPr/>
        </p:nvGrpSpPr>
        <p:grpSpPr>
          <a:xfrm>
            <a:off x="753475" y="1125069"/>
            <a:ext cx="6438605" cy="769441"/>
            <a:chOff x="753475" y="569942"/>
            <a:chExt cx="6438605" cy="769441"/>
          </a:xfrm>
        </p:grpSpPr>
        <p:sp>
          <p:nvSpPr>
            <p:cNvPr id="94" name="Google Shape;94;p30"/>
            <p:cNvSpPr/>
            <p:nvPr/>
          </p:nvSpPr>
          <p:spPr>
            <a:xfrm>
              <a:off x="1282044" y="716437"/>
              <a:ext cx="5910035" cy="51847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5" name="Google Shape;95;p30"/>
            <p:cNvSpPr/>
            <p:nvPr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6" name="Google Shape;96;p30"/>
            <p:cNvSpPr/>
            <p:nvPr/>
          </p:nvSpPr>
          <p:spPr>
            <a:xfrm>
              <a:off x="1654410" y="569942"/>
              <a:ext cx="5537670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Capaian Pembelajaran</a:t>
              </a:r>
              <a:endParaRPr sz="4400" b="1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97" name="Google Shape;97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53475" y="649446"/>
              <a:ext cx="791900" cy="632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30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 Topic 2">
  <p:cSld name="Sub Topic 2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1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1" name="Google Shape;101;p31"/>
          <p:cNvSpPr txBox="1">
            <a:spLocks noGrp="1"/>
          </p:cNvSpPr>
          <p:nvPr>
            <p:ph type="ctrTitle"/>
          </p:nvPr>
        </p:nvSpPr>
        <p:spPr>
          <a:xfrm>
            <a:off x="5824603" y="2217851"/>
            <a:ext cx="5529197" cy="192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6000"/>
              <a:buFont typeface="Twentieth Centur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1"/>
          <p:cNvSpPr>
            <a:spLocks noGrp="1"/>
          </p:cNvSpPr>
          <p:nvPr>
            <p:ph type="pic" idx="2"/>
          </p:nvPr>
        </p:nvSpPr>
        <p:spPr>
          <a:xfrm>
            <a:off x="0" y="499621"/>
            <a:ext cx="5316718" cy="5856730"/>
          </a:xfrm>
          <a:prstGeom prst="flowChartDelay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1">
  <p:cSld name="Picture with Caption 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2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6" name="Google Shape;106;p32"/>
          <p:cNvSpPr>
            <a:spLocks noGrp="1"/>
          </p:cNvSpPr>
          <p:nvPr>
            <p:ph type="pic" idx="2"/>
          </p:nvPr>
        </p:nvSpPr>
        <p:spPr>
          <a:xfrm>
            <a:off x="5183188" y="1107481"/>
            <a:ext cx="5900448" cy="4800705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2"/>
          <p:cNvSpPr txBox="1">
            <a:spLocks noGrp="1"/>
          </p:cNvSpPr>
          <p:nvPr>
            <p:ph type="title"/>
          </p:nvPr>
        </p:nvSpPr>
        <p:spPr>
          <a:xfrm>
            <a:off x="802081" y="886379"/>
            <a:ext cx="3751066" cy="121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  <a:defRPr sz="3200">
                <a:solidFill>
                  <a:srgbClr val="FFC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2"/>
          <p:cNvSpPr txBox="1">
            <a:spLocks noGrp="1"/>
          </p:cNvSpPr>
          <p:nvPr>
            <p:ph type="body" idx="1"/>
          </p:nvPr>
        </p:nvSpPr>
        <p:spPr>
          <a:xfrm>
            <a:off x="802081" y="2264241"/>
            <a:ext cx="3751066" cy="364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5">
  <p:cSld name="Picture with Caption 5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3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2" name="Google Shape;112;p33"/>
          <p:cNvSpPr>
            <a:spLocks noGrp="1"/>
          </p:cNvSpPr>
          <p:nvPr>
            <p:ph type="pic" idx="2"/>
          </p:nvPr>
        </p:nvSpPr>
        <p:spPr>
          <a:xfrm>
            <a:off x="569929" y="886379"/>
            <a:ext cx="4888191" cy="5021807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3"/>
          <p:cNvSpPr txBox="1">
            <a:spLocks noGrp="1"/>
          </p:cNvSpPr>
          <p:nvPr>
            <p:ph type="title"/>
          </p:nvPr>
        </p:nvSpPr>
        <p:spPr>
          <a:xfrm>
            <a:off x="5918477" y="886379"/>
            <a:ext cx="5280565" cy="121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>
                <a:solidFill>
                  <a:srgbClr val="0E60A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3"/>
          <p:cNvSpPr txBox="1">
            <a:spLocks noGrp="1"/>
          </p:cNvSpPr>
          <p:nvPr>
            <p:ph type="body" idx="1"/>
          </p:nvPr>
        </p:nvSpPr>
        <p:spPr>
          <a:xfrm>
            <a:off x="5918477" y="2264241"/>
            <a:ext cx="5280565" cy="364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2000"/>
              <a:buNone/>
              <a:defRPr sz="2000">
                <a:solidFill>
                  <a:srgbClr val="363636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4">
  <p:cSld name="Picture with Caption 4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4"/>
          <p:cNvSpPr>
            <a:spLocks noGrp="1"/>
          </p:cNvSpPr>
          <p:nvPr>
            <p:ph type="pic" idx="2"/>
          </p:nvPr>
        </p:nvSpPr>
        <p:spPr>
          <a:xfrm>
            <a:off x="1930198" y="688159"/>
            <a:ext cx="8495847" cy="390944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4"/>
          <p:cNvSpPr txBox="1">
            <a:spLocks noGrp="1"/>
          </p:cNvSpPr>
          <p:nvPr>
            <p:ph type="body" idx="1"/>
          </p:nvPr>
        </p:nvSpPr>
        <p:spPr>
          <a:xfrm>
            <a:off x="1930197" y="4751111"/>
            <a:ext cx="8495850" cy="1451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000"/>
              <a:buNone/>
              <a:defRPr sz="2000" b="0">
                <a:solidFill>
                  <a:srgbClr val="151515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5"/>
          <p:cNvSpPr txBox="1">
            <a:spLocks noGrp="1"/>
          </p:cNvSpPr>
          <p:nvPr>
            <p:ph type="title"/>
          </p:nvPr>
        </p:nvSpPr>
        <p:spPr>
          <a:xfrm>
            <a:off x="838200" y="457201"/>
            <a:ext cx="10515600" cy="105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5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nutup">
  <p:cSld name="Penutup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6" descr="Business people  clapping their hands at the meeting Premium Photo"/>
          <p:cNvPicPr preferRelativeResize="0"/>
          <p:nvPr/>
        </p:nvPicPr>
        <p:blipFill rotWithShape="1">
          <a:blip r:embed="rId2">
            <a:alphaModFix/>
          </a:blip>
          <a:srcRect r="8529"/>
          <a:stretch/>
        </p:blipFill>
        <p:spPr>
          <a:xfrm>
            <a:off x="2790216" y="-5350"/>
            <a:ext cx="9401784" cy="686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6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7" name="Google Shape;127;p36"/>
          <p:cNvSpPr/>
          <p:nvPr/>
        </p:nvSpPr>
        <p:spPr>
          <a:xfrm>
            <a:off x="1500193" y="1347793"/>
            <a:ext cx="4162414" cy="4162414"/>
          </a:xfrm>
          <a:prstGeom prst="ellipse">
            <a:avLst/>
          </a:prstGeom>
          <a:solidFill>
            <a:srgbClr val="EB7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8" name="Google Shape;128;p36"/>
          <p:cNvSpPr txBox="1">
            <a:spLocks noGrp="1"/>
          </p:cNvSpPr>
          <p:nvPr>
            <p:ph type="ctrTitle"/>
          </p:nvPr>
        </p:nvSpPr>
        <p:spPr>
          <a:xfrm>
            <a:off x="2333732" y="2541902"/>
            <a:ext cx="3048000" cy="1768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9" name="Google Shape;129;p36"/>
          <p:cNvGrpSpPr/>
          <p:nvPr/>
        </p:nvGrpSpPr>
        <p:grpSpPr>
          <a:xfrm>
            <a:off x="159779" y="171572"/>
            <a:ext cx="1971606" cy="729735"/>
            <a:chOff x="648649" y="653143"/>
            <a:chExt cx="2138362" cy="791455"/>
          </a:xfrm>
        </p:grpSpPr>
        <p:sp>
          <p:nvSpPr>
            <p:cNvPr id="130" name="Google Shape;130;p36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31" name="Google Shape;131;p36"/>
            <p:cNvPicPr preferRelativeResize="0"/>
            <p:nvPr/>
          </p:nvPicPr>
          <p:blipFill rotWithShape="1">
            <a:blip r:embed="rId3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7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4" name="Google Shape;134;p37"/>
          <p:cNvSpPr>
            <a:spLocks noGrp="1"/>
          </p:cNvSpPr>
          <p:nvPr>
            <p:ph type="pic" idx="2"/>
          </p:nvPr>
        </p:nvSpPr>
        <p:spPr>
          <a:xfrm>
            <a:off x="0" y="814192"/>
            <a:ext cx="4509370" cy="5235878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7"/>
          <p:cNvSpPr txBox="1">
            <a:spLocks noGrp="1"/>
          </p:cNvSpPr>
          <p:nvPr>
            <p:ph type="title"/>
          </p:nvPr>
        </p:nvSpPr>
        <p:spPr>
          <a:xfrm>
            <a:off x="4968465" y="1610316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  <a:defRPr sz="5400" b="1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7"/>
          <p:cNvSpPr txBox="1">
            <a:spLocks noGrp="1"/>
          </p:cNvSpPr>
          <p:nvPr>
            <p:ph type="body" idx="1"/>
          </p:nvPr>
        </p:nvSpPr>
        <p:spPr>
          <a:xfrm>
            <a:off x="4968465" y="453951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400"/>
              <a:buNone/>
              <a:defRPr sz="2400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37"/>
          <p:cNvSpPr txBox="1">
            <a:spLocks noGrp="1"/>
          </p:cNvSpPr>
          <p:nvPr>
            <p:ph type="body" idx="3"/>
          </p:nvPr>
        </p:nvSpPr>
        <p:spPr>
          <a:xfrm>
            <a:off x="4968465" y="403445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C7C30"/>
              </a:buClr>
              <a:buSzPts val="2800"/>
              <a:buNone/>
              <a:defRPr sz="2800" b="1">
                <a:solidFill>
                  <a:srgbClr val="EC7C3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37"/>
          <p:cNvSpPr/>
          <p:nvPr/>
        </p:nvSpPr>
        <p:spPr>
          <a:xfrm>
            <a:off x="4968465" y="3811581"/>
            <a:ext cx="1659545" cy="45719"/>
          </a:xfrm>
          <a:prstGeom prst="roundRect">
            <a:avLst>
              <a:gd name="adj" fmla="val 16667"/>
            </a:avLst>
          </a:prstGeom>
          <a:solidFill>
            <a:srgbClr val="EC7C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0" name="Google Shape;140;p37"/>
          <p:cNvSpPr txBox="1">
            <a:spLocks noGrp="1"/>
          </p:cNvSpPr>
          <p:nvPr>
            <p:ph type="body" idx="4"/>
          </p:nvPr>
        </p:nvSpPr>
        <p:spPr>
          <a:xfrm>
            <a:off x="4968464" y="110526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C7C30"/>
              </a:buClr>
              <a:buSzPts val="2800"/>
              <a:buNone/>
              <a:defRPr sz="2800" b="1">
                <a:solidFill>
                  <a:srgbClr val="EC7C3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2">
  <p:cSld name="Cover 2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3" name="Google Shape;143;p38"/>
          <p:cNvSpPr>
            <a:spLocks noGrp="1"/>
          </p:cNvSpPr>
          <p:nvPr>
            <p:ph type="pic" idx="2"/>
          </p:nvPr>
        </p:nvSpPr>
        <p:spPr>
          <a:xfrm flipH="1">
            <a:off x="7384744" y="0"/>
            <a:ext cx="4807256" cy="6858000"/>
          </a:xfrm>
          <a:prstGeom prst="flowChartDelay">
            <a:avLst/>
          </a:prstGeom>
          <a:noFill/>
          <a:ln>
            <a:noFill/>
          </a:ln>
        </p:spPr>
      </p:sp>
      <p:grpSp>
        <p:nvGrpSpPr>
          <p:cNvPr id="144" name="Google Shape;144;p38"/>
          <p:cNvGrpSpPr/>
          <p:nvPr/>
        </p:nvGrpSpPr>
        <p:grpSpPr>
          <a:xfrm>
            <a:off x="159779" y="171572"/>
            <a:ext cx="1971606" cy="729735"/>
            <a:chOff x="648649" y="653143"/>
            <a:chExt cx="2138362" cy="791455"/>
          </a:xfrm>
        </p:grpSpPr>
        <p:sp>
          <p:nvSpPr>
            <p:cNvPr id="145" name="Google Shape;145;p38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46" name="Google Shape;146;p38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38"/>
          <p:cNvSpPr txBox="1">
            <a:spLocks noGrp="1"/>
          </p:cNvSpPr>
          <p:nvPr>
            <p:ph type="title"/>
          </p:nvPr>
        </p:nvSpPr>
        <p:spPr>
          <a:xfrm>
            <a:off x="588970" y="1773946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  <a:defRPr sz="5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8"/>
          <p:cNvSpPr txBox="1">
            <a:spLocks noGrp="1"/>
          </p:cNvSpPr>
          <p:nvPr>
            <p:ph type="body" idx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38"/>
          <p:cNvSpPr txBox="1">
            <a:spLocks noGrp="1"/>
          </p:cNvSpPr>
          <p:nvPr>
            <p:ph type="body" idx="3"/>
          </p:nvPr>
        </p:nvSpPr>
        <p:spPr>
          <a:xfrm>
            <a:off x="588970" y="419808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sz="2800" b="1">
                <a:solidFill>
                  <a:srgbClr val="FFC00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8"/>
          <p:cNvSpPr/>
          <p:nvPr/>
        </p:nvSpPr>
        <p:spPr>
          <a:xfrm>
            <a:off x="588970" y="3975211"/>
            <a:ext cx="1659545" cy="4571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1" name="Google Shape;151;p38"/>
          <p:cNvSpPr txBox="1">
            <a:spLocks noGrp="1"/>
          </p:cNvSpPr>
          <p:nvPr>
            <p:ph type="body" idx="4"/>
          </p:nvPr>
        </p:nvSpPr>
        <p:spPr>
          <a:xfrm>
            <a:off x="588969" y="126889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sz="2800" b="1">
                <a:solidFill>
                  <a:srgbClr val="FFC00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ndahuluan">
  <p:cSld name="Pendahuluan">
    <p:bg>
      <p:bgPr>
        <a:solidFill>
          <a:schemeClr val="lt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9"/>
          <p:cNvSpPr/>
          <p:nvPr/>
        </p:nvSpPr>
        <p:spPr>
          <a:xfrm>
            <a:off x="1282045" y="716437"/>
            <a:ext cx="5555504" cy="51847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4" name="Google Shape;154;p39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9"/>
          <p:cNvSpPr/>
          <p:nvPr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7" name="Google Shape;157;p39"/>
          <p:cNvSpPr/>
          <p:nvPr/>
        </p:nvSpPr>
        <p:spPr>
          <a:xfrm>
            <a:off x="1654410" y="569942"/>
            <a:ext cx="327352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Pendahuluan</a:t>
            </a:r>
            <a:endParaRPr sz="4400" b="1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58" name="Google Shape;158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3077" y="544975"/>
            <a:ext cx="665176" cy="762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ujuan Pembelajaran">
  <p:cSld name="Tujuan Pembelajaran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0"/>
          <p:cNvSpPr/>
          <p:nvPr/>
        </p:nvSpPr>
        <p:spPr>
          <a:xfrm>
            <a:off x="1282044" y="716437"/>
            <a:ext cx="5910035" cy="51847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1" name="Google Shape;161;p40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40"/>
          <p:cNvSpPr/>
          <p:nvPr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4" name="Google Shape;164;p40"/>
          <p:cNvSpPr/>
          <p:nvPr/>
        </p:nvSpPr>
        <p:spPr>
          <a:xfrm>
            <a:off x="1654410" y="569942"/>
            <a:ext cx="553767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Capaian Pembelajaran</a:t>
            </a:r>
            <a:endParaRPr sz="4400" b="1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65" name="Google Shape;165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3475" y="649446"/>
            <a:ext cx="791900" cy="632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omponen Penilaian">
  <p:cSld name="Komponen Penilaian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1"/>
          <p:cNvSpPr/>
          <p:nvPr/>
        </p:nvSpPr>
        <p:spPr>
          <a:xfrm>
            <a:off x="1282045" y="716437"/>
            <a:ext cx="5555504" cy="51847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8" name="Google Shape;168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41"/>
          <p:cNvSpPr/>
          <p:nvPr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0" name="Google Shape;170;p41"/>
          <p:cNvSpPr/>
          <p:nvPr/>
        </p:nvSpPr>
        <p:spPr>
          <a:xfrm>
            <a:off x="1654410" y="569942"/>
            <a:ext cx="506876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Komponen Penilaian</a:t>
            </a:r>
            <a:endParaRPr sz="4400" b="1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71" name="Google Shape;171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012" y="616587"/>
            <a:ext cx="589305" cy="675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 Topic 1">
  <p:cSld name="Sub Topic 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2"/>
          <p:cNvSpPr txBox="1">
            <a:spLocks noGrp="1"/>
          </p:cNvSpPr>
          <p:nvPr>
            <p:ph type="ctrTitle"/>
          </p:nvPr>
        </p:nvSpPr>
        <p:spPr>
          <a:xfrm>
            <a:off x="1524000" y="824826"/>
            <a:ext cx="9144000" cy="1768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6000"/>
              <a:buFont typeface="Twentieth Centur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42"/>
          <p:cNvSpPr>
            <a:spLocks noGrp="1"/>
          </p:cNvSpPr>
          <p:nvPr>
            <p:ph type="pic" idx="2"/>
          </p:nvPr>
        </p:nvSpPr>
        <p:spPr>
          <a:xfrm>
            <a:off x="1524000" y="2843408"/>
            <a:ext cx="9144000" cy="337641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3"/>
          <p:cNvSpPr txBox="1">
            <a:spLocks noGrp="1"/>
          </p:cNvSpPr>
          <p:nvPr>
            <p:ph type="title"/>
          </p:nvPr>
        </p:nvSpPr>
        <p:spPr>
          <a:xfrm>
            <a:off x="831850" y="1389699"/>
            <a:ext cx="10515600" cy="161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6000"/>
              <a:buFont typeface="Twentieth Centur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43"/>
          <p:cNvSpPr txBox="1">
            <a:spLocks noGrp="1"/>
          </p:cNvSpPr>
          <p:nvPr>
            <p:ph type="body" idx="1"/>
          </p:nvPr>
        </p:nvSpPr>
        <p:spPr>
          <a:xfrm>
            <a:off x="831850" y="3185341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400"/>
              <a:buNone/>
              <a:defRPr sz="2400">
                <a:solidFill>
                  <a:srgbClr val="151515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9CC5"/>
              </a:buClr>
              <a:buSzPts val="2000"/>
              <a:buNone/>
              <a:defRPr sz="2000">
                <a:solidFill>
                  <a:srgbClr val="889CC5"/>
                </a:solidFill>
              </a:defRPr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9CC5"/>
              </a:buClr>
              <a:buSzPts val="1800"/>
              <a:buNone/>
              <a:defRPr sz="1800">
                <a:solidFill>
                  <a:srgbClr val="889CC5"/>
                </a:solidFill>
              </a:defRPr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9CC5"/>
              </a:buClr>
              <a:buSzPts val="1600"/>
              <a:buNone/>
              <a:defRPr sz="1600">
                <a:solidFill>
                  <a:srgbClr val="889CC5"/>
                </a:solidFill>
              </a:defRPr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9CC5"/>
              </a:buClr>
              <a:buSzPts val="1600"/>
              <a:buNone/>
              <a:defRPr sz="1600">
                <a:solidFill>
                  <a:srgbClr val="889CC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9CC5"/>
              </a:buClr>
              <a:buSzPts val="1600"/>
              <a:buNone/>
              <a:defRPr sz="1600">
                <a:solidFill>
                  <a:srgbClr val="889CC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9CC5"/>
              </a:buClr>
              <a:buSzPts val="1600"/>
              <a:buNone/>
              <a:defRPr sz="1600">
                <a:solidFill>
                  <a:srgbClr val="889CC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9CC5"/>
              </a:buClr>
              <a:buSzPts val="1600"/>
              <a:buNone/>
              <a:defRPr sz="1600">
                <a:solidFill>
                  <a:srgbClr val="889CC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9CC5"/>
              </a:buClr>
              <a:buSzPts val="1600"/>
              <a:buNone/>
              <a:defRPr sz="1600">
                <a:solidFill>
                  <a:srgbClr val="889CC5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100"/>
              <a:buFont typeface="Twentieth Century"/>
              <a:buNone/>
              <a:defRPr sz="11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100"/>
              <a:buFont typeface="Twentieth Century"/>
              <a:buNone/>
              <a:defRPr sz="11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100"/>
              <a:buFont typeface="Twentieth Century"/>
              <a:buNone/>
              <a:defRPr sz="11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100"/>
              <a:buFont typeface="Twentieth Century"/>
              <a:buNone/>
              <a:defRPr sz="11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100"/>
              <a:buFont typeface="Twentieth Century"/>
              <a:buNone/>
              <a:defRPr sz="11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100"/>
              <a:buFont typeface="Twentieth Century"/>
              <a:buNone/>
              <a:defRPr sz="11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100"/>
              <a:buFont typeface="Twentieth Century"/>
              <a:buNone/>
              <a:defRPr sz="11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100"/>
              <a:buFont typeface="Twentieth Century"/>
              <a:buNone/>
              <a:defRPr sz="11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100"/>
              <a:buFont typeface="Twentieth Century"/>
              <a:buNone/>
              <a:defRPr sz="11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4"/>
          <p:cNvSpPr txBox="1">
            <a:spLocks noGrp="1"/>
          </p:cNvSpPr>
          <p:nvPr>
            <p:ph type="title"/>
          </p:nvPr>
        </p:nvSpPr>
        <p:spPr>
          <a:xfrm>
            <a:off x="838200" y="2991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4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45"/>
          <p:cNvSpPr txBox="1">
            <a:spLocks noGrp="1"/>
          </p:cNvSpPr>
          <p:nvPr>
            <p:ph type="body" idx="1"/>
          </p:nvPr>
        </p:nvSpPr>
        <p:spPr>
          <a:xfrm>
            <a:off x="839788" y="1772239"/>
            <a:ext cx="5157787" cy="65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800"/>
              <a:buNone/>
              <a:defRPr sz="2800" b="1">
                <a:solidFill>
                  <a:srgbClr val="0E60AC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8" name="Google Shape;188;p4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45"/>
          <p:cNvSpPr txBox="1">
            <a:spLocks noGrp="1"/>
          </p:cNvSpPr>
          <p:nvPr>
            <p:ph type="body" idx="3"/>
          </p:nvPr>
        </p:nvSpPr>
        <p:spPr>
          <a:xfrm>
            <a:off x="6172200" y="1772239"/>
            <a:ext cx="5183188" cy="65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800"/>
              <a:buNone/>
              <a:defRPr sz="2800" b="1">
                <a:solidFill>
                  <a:srgbClr val="0E60AC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0" name="Google Shape;190;p4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6"/>
          <p:cNvSpPr txBox="1">
            <a:spLocks noGrp="1"/>
          </p:cNvSpPr>
          <p:nvPr>
            <p:ph type="title"/>
          </p:nvPr>
        </p:nvSpPr>
        <p:spPr>
          <a:xfrm>
            <a:off x="838200" y="960120"/>
            <a:ext cx="10515600" cy="1931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2">
  <p:cSld name="Picture with Caption 2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7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7" name="Google Shape;197;p47"/>
          <p:cNvSpPr/>
          <p:nvPr/>
        </p:nvSpPr>
        <p:spPr>
          <a:xfrm>
            <a:off x="1061967" y="466091"/>
            <a:ext cx="4066216" cy="284304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8" name="Google Shape;198;p47"/>
          <p:cNvSpPr>
            <a:spLocks noGrp="1"/>
          </p:cNvSpPr>
          <p:nvPr>
            <p:ph type="pic" idx="2"/>
          </p:nvPr>
        </p:nvSpPr>
        <p:spPr>
          <a:xfrm>
            <a:off x="1135825" y="526915"/>
            <a:ext cx="3918815" cy="2710584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47"/>
          <p:cNvSpPr txBox="1">
            <a:spLocks noGrp="1"/>
          </p:cNvSpPr>
          <p:nvPr>
            <p:ph type="title"/>
          </p:nvPr>
        </p:nvSpPr>
        <p:spPr>
          <a:xfrm>
            <a:off x="5817139" y="867524"/>
            <a:ext cx="4740881" cy="121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>
                <a:solidFill>
                  <a:srgbClr val="0E60A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47"/>
          <p:cNvSpPr txBox="1">
            <a:spLocks noGrp="1"/>
          </p:cNvSpPr>
          <p:nvPr>
            <p:ph type="body" idx="1"/>
          </p:nvPr>
        </p:nvSpPr>
        <p:spPr>
          <a:xfrm>
            <a:off x="5817139" y="2245386"/>
            <a:ext cx="4740881" cy="364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000"/>
              <a:buNone/>
              <a:defRPr sz="2000">
                <a:solidFill>
                  <a:srgbClr val="151515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2" name="Google Shape;202;p47"/>
          <p:cNvSpPr/>
          <p:nvPr/>
        </p:nvSpPr>
        <p:spPr>
          <a:xfrm>
            <a:off x="1061967" y="3560439"/>
            <a:ext cx="4066216" cy="284304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3" name="Google Shape;203;p47"/>
          <p:cNvSpPr>
            <a:spLocks noGrp="1"/>
          </p:cNvSpPr>
          <p:nvPr>
            <p:ph type="pic" idx="3"/>
          </p:nvPr>
        </p:nvSpPr>
        <p:spPr>
          <a:xfrm>
            <a:off x="1135825" y="3621263"/>
            <a:ext cx="3918815" cy="271058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Uraian Materi">
  <p:cSld name="Slide Uraian Materi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8"/>
          <p:cNvSpPr txBox="1">
            <a:spLocks noGrp="1"/>
          </p:cNvSpPr>
          <p:nvPr>
            <p:ph type="title"/>
          </p:nvPr>
        </p:nvSpPr>
        <p:spPr>
          <a:xfrm>
            <a:off x="838200" y="640080"/>
            <a:ext cx="10515600" cy="98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8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3">
  <p:cSld name="Picture with Caption 3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9"/>
          <p:cNvSpPr>
            <a:spLocks noGrp="1"/>
          </p:cNvSpPr>
          <p:nvPr>
            <p:ph type="pic" idx="2"/>
          </p:nvPr>
        </p:nvSpPr>
        <p:spPr>
          <a:xfrm>
            <a:off x="770701" y="1491242"/>
            <a:ext cx="3356431" cy="3405612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49"/>
          <p:cNvSpPr txBox="1">
            <a:spLocks noGrp="1"/>
          </p:cNvSpPr>
          <p:nvPr>
            <p:ph type="title"/>
          </p:nvPr>
        </p:nvSpPr>
        <p:spPr>
          <a:xfrm>
            <a:off x="770701" y="605658"/>
            <a:ext cx="10851171" cy="701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49"/>
          <p:cNvSpPr>
            <a:spLocks noGrp="1"/>
          </p:cNvSpPr>
          <p:nvPr>
            <p:ph type="pic" idx="3"/>
          </p:nvPr>
        </p:nvSpPr>
        <p:spPr>
          <a:xfrm>
            <a:off x="4518071" y="1491242"/>
            <a:ext cx="3356431" cy="3405612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49"/>
          <p:cNvSpPr>
            <a:spLocks noGrp="1"/>
          </p:cNvSpPr>
          <p:nvPr>
            <p:ph type="pic" idx="4"/>
          </p:nvPr>
        </p:nvSpPr>
        <p:spPr>
          <a:xfrm>
            <a:off x="8265441" y="1491242"/>
            <a:ext cx="3356431" cy="3405612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49"/>
          <p:cNvSpPr txBox="1">
            <a:spLocks noGrp="1"/>
          </p:cNvSpPr>
          <p:nvPr>
            <p:ph type="body" idx="1"/>
          </p:nvPr>
        </p:nvSpPr>
        <p:spPr>
          <a:xfrm>
            <a:off x="770700" y="5080981"/>
            <a:ext cx="3356432" cy="104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000"/>
              <a:buNone/>
              <a:defRPr sz="2000" b="0">
                <a:solidFill>
                  <a:srgbClr val="151515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49"/>
          <p:cNvSpPr txBox="1">
            <a:spLocks noGrp="1"/>
          </p:cNvSpPr>
          <p:nvPr>
            <p:ph type="body" idx="5"/>
          </p:nvPr>
        </p:nvSpPr>
        <p:spPr>
          <a:xfrm>
            <a:off x="4518071" y="5080981"/>
            <a:ext cx="3356432" cy="104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000"/>
              <a:buNone/>
              <a:defRPr sz="2000" b="0">
                <a:solidFill>
                  <a:srgbClr val="151515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49"/>
          <p:cNvSpPr txBox="1">
            <a:spLocks noGrp="1"/>
          </p:cNvSpPr>
          <p:nvPr>
            <p:ph type="body" idx="6"/>
          </p:nvPr>
        </p:nvSpPr>
        <p:spPr>
          <a:xfrm>
            <a:off x="8265441" y="5080981"/>
            <a:ext cx="3356432" cy="104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000"/>
              <a:buNone/>
              <a:defRPr sz="2000" b="0">
                <a:solidFill>
                  <a:srgbClr val="151515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sert Video">
  <p:cSld name="Insert Video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0"/>
          <p:cNvSpPr txBox="1">
            <a:spLocks noGrp="1"/>
          </p:cNvSpPr>
          <p:nvPr>
            <p:ph type="title"/>
          </p:nvPr>
        </p:nvSpPr>
        <p:spPr>
          <a:xfrm>
            <a:off x="1576887" y="404617"/>
            <a:ext cx="9184670" cy="701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50"/>
          <p:cNvSpPr>
            <a:spLocks noGrp="1"/>
          </p:cNvSpPr>
          <p:nvPr>
            <p:ph type="media" idx="2"/>
          </p:nvPr>
        </p:nvSpPr>
        <p:spPr>
          <a:xfrm>
            <a:off x="1576887" y="1319017"/>
            <a:ext cx="9184670" cy="5166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Twentieth Century"/>
              <a:buNone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Twentieth Century"/>
              <a:buAutoNum type="alphaLcPeriod"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tihan">
  <p:cSld name="Latihan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2"/>
          <p:cNvSpPr/>
          <p:nvPr/>
        </p:nvSpPr>
        <p:spPr>
          <a:xfrm>
            <a:off x="1282045" y="716437"/>
            <a:ext cx="5555504" cy="51847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4" name="Google Shape;224;p52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52"/>
          <p:cNvSpPr/>
          <p:nvPr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7" name="Google Shape;227;p52"/>
          <p:cNvSpPr/>
          <p:nvPr/>
        </p:nvSpPr>
        <p:spPr>
          <a:xfrm>
            <a:off x="1654410" y="569942"/>
            <a:ext cx="192398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Latihan</a:t>
            </a:r>
            <a:endParaRPr sz="4400" b="1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28" name="Google Shape;228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7419" y="581911"/>
            <a:ext cx="650450" cy="74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ftar Pustaka">
  <p:cSld name="Daftar Pustaka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3"/>
          <p:cNvSpPr/>
          <p:nvPr/>
        </p:nvSpPr>
        <p:spPr>
          <a:xfrm>
            <a:off x="1282045" y="716437"/>
            <a:ext cx="5555504" cy="51847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1" name="Google Shape;231;p53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53"/>
          <p:cNvSpPr/>
          <p:nvPr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4" name="Google Shape;234;p53"/>
          <p:cNvSpPr/>
          <p:nvPr/>
        </p:nvSpPr>
        <p:spPr>
          <a:xfrm>
            <a:off x="1654410" y="569942"/>
            <a:ext cx="364074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Daftar Pustaka</a:t>
            </a:r>
            <a:endParaRPr sz="4400" b="1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35" name="Google Shape;235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017" y="661014"/>
            <a:ext cx="606720" cy="629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osen Pengamp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1745563" y="1842892"/>
            <a:ext cx="3063907" cy="306390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aseline="0"/>
            </a:lvl1pPr>
          </a:lstStyle>
          <a:p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154979" y="2275496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Nama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Gelar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Title 1"/>
          <p:cNvSpPr txBox="1">
            <a:spLocks/>
          </p:cNvSpPr>
          <p:nvPr userDrawn="1"/>
        </p:nvSpPr>
        <p:spPr>
          <a:xfrm>
            <a:off x="5164108" y="1988095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 err="1"/>
              <a:t>Dosen</a:t>
            </a:r>
            <a:r>
              <a:rPr lang="en-US" sz="2000" dirty="0"/>
              <a:t> </a:t>
            </a:r>
            <a:r>
              <a:rPr lang="en-US" sz="2000" dirty="0" err="1"/>
              <a:t>Koordinator</a:t>
            </a:r>
            <a:r>
              <a:rPr lang="en-US" sz="2000" dirty="0"/>
              <a:t>: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54979" y="3176643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NID</a:t>
            </a:r>
          </a:p>
        </p:txBody>
      </p:sp>
      <p:sp>
        <p:nvSpPr>
          <p:cNvPr id="16" name="Title 1"/>
          <p:cNvSpPr txBox="1">
            <a:spLocks/>
          </p:cNvSpPr>
          <p:nvPr userDrawn="1"/>
        </p:nvSpPr>
        <p:spPr>
          <a:xfrm>
            <a:off x="5164108" y="2889242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NID: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54979" y="4077790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E-mail</a:t>
            </a:r>
          </a:p>
        </p:txBody>
      </p:sp>
      <p:sp>
        <p:nvSpPr>
          <p:cNvPr id="18" name="Title 1"/>
          <p:cNvSpPr txBox="1">
            <a:spLocks/>
          </p:cNvSpPr>
          <p:nvPr userDrawn="1"/>
        </p:nvSpPr>
        <p:spPr>
          <a:xfrm>
            <a:off x="5164108" y="3790389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E-mail: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038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1" name="Google Shape;11;p25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0" y="5470264"/>
            <a:ext cx="12110720" cy="140073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5"/>
          <p:cNvSpPr txBox="1">
            <a:spLocks noGrp="1"/>
          </p:cNvSpPr>
          <p:nvPr>
            <p:ph type="title"/>
          </p:nvPr>
        </p:nvSpPr>
        <p:spPr>
          <a:xfrm>
            <a:off x="838200" y="2991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  <a:defRPr sz="3600" b="1" i="0" u="none" strike="noStrike" cap="none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Twentieth Century"/>
              <a:buAutoNum type="arabicPeriod"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Twentieth Century"/>
              <a:buAutoNum type="alphaLcPeriod"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5"/>
          <p:cNvGrpSpPr/>
          <p:nvPr/>
        </p:nvGrpSpPr>
        <p:grpSpPr>
          <a:xfrm>
            <a:off x="10071739" y="152987"/>
            <a:ext cx="1971606" cy="729735"/>
            <a:chOff x="648649" y="653143"/>
            <a:chExt cx="2138362" cy="791455"/>
          </a:xfrm>
        </p:grpSpPr>
        <p:sp>
          <p:nvSpPr>
            <p:cNvPr id="16" name="Google Shape;16;p25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7" name="Google Shape;17;p25"/>
            <p:cNvPicPr preferRelativeResize="0"/>
            <p:nvPr/>
          </p:nvPicPr>
          <p:blipFill rotWithShape="1">
            <a:blip r:embed="rId31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"/>
          <p:cNvSpPr txBox="1">
            <a:spLocks noGrp="1"/>
          </p:cNvSpPr>
          <p:nvPr>
            <p:ph type="title"/>
          </p:nvPr>
        </p:nvSpPr>
        <p:spPr>
          <a:xfrm>
            <a:off x="588970" y="1773946"/>
            <a:ext cx="686966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Machine</a:t>
            </a:r>
            <a:b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Learning</a:t>
            </a:r>
            <a:endParaRPr i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1" name="Google Shape;241;p1"/>
          <p:cNvSpPr txBox="1">
            <a:spLocks noGrp="1"/>
          </p:cNvSpPr>
          <p:nvPr>
            <p:ph type="body" idx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b="1"/>
              <a:t>Algoritma Unsupervised Learning</a:t>
            </a:r>
            <a:endParaRPr/>
          </a:p>
        </p:txBody>
      </p:sp>
      <p:sp>
        <p:nvSpPr>
          <p:cNvPr id="242" name="Google Shape;242;p1"/>
          <p:cNvSpPr txBox="1">
            <a:spLocks noGrp="1"/>
          </p:cNvSpPr>
          <p:nvPr>
            <p:ph type="body" idx="3"/>
          </p:nvPr>
        </p:nvSpPr>
        <p:spPr>
          <a:xfrm>
            <a:off x="588970" y="419808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r>
              <a:rPr lang="en-US"/>
              <a:t>Sesi 4</a:t>
            </a:r>
            <a:endParaRPr/>
          </a:p>
        </p:txBody>
      </p:sp>
      <p:sp>
        <p:nvSpPr>
          <p:cNvPr id="243" name="Google Shape;243;p1"/>
          <p:cNvSpPr txBox="1">
            <a:spLocks noGrp="1"/>
          </p:cNvSpPr>
          <p:nvPr>
            <p:ph type="body" idx="4"/>
          </p:nvPr>
        </p:nvSpPr>
        <p:spPr>
          <a:xfrm>
            <a:off x="588969" y="126889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r>
              <a:rPr lang="en-US"/>
              <a:t>CIE407</a:t>
            </a:r>
            <a:endParaRPr/>
          </a:p>
        </p:txBody>
      </p:sp>
      <p:pic>
        <p:nvPicPr>
          <p:cNvPr id="244" name="Google Shape;244;p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6635" r="26636"/>
          <a:stretch/>
        </p:blipFill>
        <p:spPr>
          <a:xfrm flipH="1">
            <a:off x="7384744" y="0"/>
            <a:ext cx="4807256" cy="6858000"/>
          </a:xfrm>
          <a:prstGeom prst="flowChartDelay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5154979" y="2248625"/>
            <a:ext cx="6198821" cy="40677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Dr. Rahmat Budiarsa, </a:t>
            </a:r>
            <a:r>
              <a:rPr lang="en-US" dirty="0" err="1"/>
              <a:t>S.Kom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D49BF15-A3C7-8807-54BE-DD9F243DEA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D"/>
              <a:t>rahmat.budiarsa@esaunggul.ac.id</a:t>
            </a:r>
          </a:p>
          <a:p>
            <a:endParaRPr lang="en-ID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5CCF90-E809-9E7D-836F-C4D3D4F3AF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D" dirty="0"/>
              <a:t>8482</a:t>
            </a:r>
          </a:p>
          <a:p>
            <a:endParaRPr lang="en-ID" dirty="0"/>
          </a:p>
        </p:txBody>
      </p:sp>
      <p:pic>
        <p:nvPicPr>
          <p:cNvPr id="26" name="Picture Placeholder 2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DE1D53B0-E00D-EA8D-1E4A-F8F7FAC420B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" b="20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1028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"/>
          <p:cNvSpPr txBox="1">
            <a:spLocks noGrp="1"/>
          </p:cNvSpPr>
          <p:nvPr>
            <p:ph type="body" idx="1"/>
          </p:nvPr>
        </p:nvSpPr>
        <p:spPr>
          <a:xfrm>
            <a:off x="801277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Pengenalan Machine Learning</a:t>
            </a:r>
            <a:endParaRPr/>
          </a:p>
        </p:txBody>
      </p:sp>
      <p:sp>
        <p:nvSpPr>
          <p:cNvPr id="258" name="Google Shape;258;p3"/>
          <p:cNvSpPr txBox="1">
            <a:spLocks noGrp="1"/>
          </p:cNvSpPr>
          <p:nvPr>
            <p:ph type="body" idx="2"/>
          </p:nvPr>
        </p:nvSpPr>
        <p:spPr>
          <a:xfrm>
            <a:off x="3593182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Supervised Learning vs Unsupervised Learning</a:t>
            </a:r>
            <a:endParaRPr/>
          </a:p>
        </p:txBody>
      </p:sp>
      <p:sp>
        <p:nvSpPr>
          <p:cNvPr id="259" name="Google Shape;259;p3"/>
          <p:cNvSpPr txBox="1">
            <a:spLocks noGrp="1"/>
          </p:cNvSpPr>
          <p:nvPr>
            <p:ph type="body" idx="3"/>
          </p:nvPr>
        </p:nvSpPr>
        <p:spPr>
          <a:xfrm>
            <a:off x="6387656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Algoritma Supervised Learning</a:t>
            </a:r>
            <a:endParaRPr/>
          </a:p>
        </p:txBody>
      </p:sp>
      <p:sp>
        <p:nvSpPr>
          <p:cNvPr id="260" name="Google Shape;260;p3"/>
          <p:cNvSpPr txBox="1">
            <a:spLocks noGrp="1"/>
          </p:cNvSpPr>
          <p:nvPr>
            <p:ph type="body" idx="4"/>
          </p:nvPr>
        </p:nvSpPr>
        <p:spPr>
          <a:xfrm>
            <a:off x="9179561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 b="1"/>
              <a:t>Algoritma Unsupervised Learning</a:t>
            </a:r>
            <a:endParaRPr/>
          </a:p>
        </p:txBody>
      </p:sp>
      <p:sp>
        <p:nvSpPr>
          <p:cNvPr id="261" name="Google Shape;261;p3"/>
          <p:cNvSpPr txBox="1">
            <a:spLocks noGrp="1"/>
          </p:cNvSpPr>
          <p:nvPr>
            <p:ph type="body" idx="5"/>
          </p:nvPr>
        </p:nvSpPr>
        <p:spPr>
          <a:xfrm>
            <a:off x="801277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Supervised Learning: Classification dan Regresi</a:t>
            </a:r>
            <a:endParaRPr/>
          </a:p>
        </p:txBody>
      </p:sp>
      <p:sp>
        <p:nvSpPr>
          <p:cNvPr id="262" name="Google Shape;262;p3"/>
          <p:cNvSpPr txBox="1">
            <a:spLocks noGrp="1"/>
          </p:cNvSpPr>
          <p:nvPr>
            <p:ph type="body" idx="6"/>
          </p:nvPr>
        </p:nvSpPr>
        <p:spPr>
          <a:xfrm>
            <a:off x="3593182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Supervised Learning: Decision Tree (DT)</a:t>
            </a:r>
            <a:endParaRPr/>
          </a:p>
        </p:txBody>
      </p:sp>
      <p:sp>
        <p:nvSpPr>
          <p:cNvPr id="263" name="Google Shape;263;p3"/>
          <p:cNvSpPr txBox="1">
            <a:spLocks noGrp="1"/>
          </p:cNvSpPr>
          <p:nvPr>
            <p:ph type="body" idx="7"/>
          </p:nvPr>
        </p:nvSpPr>
        <p:spPr>
          <a:xfrm>
            <a:off x="6387656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Supervised Machine Learning Algorithm: Support Vector Machine (SVM)</a:t>
            </a:r>
            <a:endParaRPr/>
          </a:p>
        </p:txBody>
      </p:sp>
      <p:sp>
        <p:nvSpPr>
          <p:cNvPr id="264" name="Google Shape;264;p3"/>
          <p:cNvSpPr/>
          <p:nvPr/>
        </p:nvSpPr>
        <p:spPr>
          <a:xfrm>
            <a:off x="8968711" y="1867301"/>
            <a:ext cx="2531165" cy="1588168"/>
          </a:xfrm>
          <a:prstGeom prst="rect">
            <a:avLst/>
          </a:prstGeom>
          <a:noFill/>
          <a:ln w="57150" cap="flat" cmpd="sng">
            <a:solidFill>
              <a:srgbClr val="0E60A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"/>
          <p:cNvSpPr txBox="1">
            <a:spLocks noGrp="1"/>
          </p:cNvSpPr>
          <p:nvPr>
            <p:ph type="body" idx="1"/>
          </p:nvPr>
        </p:nvSpPr>
        <p:spPr>
          <a:xfrm>
            <a:off x="801277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Supervised Learning: Neural Network (Deep Learning)</a:t>
            </a:r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2"/>
          </p:nvPr>
        </p:nvSpPr>
        <p:spPr>
          <a:xfrm>
            <a:off x="3593182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Supervised Learning: K-Nearest Neighbor</a:t>
            </a:r>
            <a:endParaRPr/>
          </a:p>
        </p:txBody>
      </p:sp>
      <p:sp>
        <p:nvSpPr>
          <p:cNvPr id="271" name="Google Shape;271;p4"/>
          <p:cNvSpPr txBox="1">
            <a:spLocks noGrp="1"/>
          </p:cNvSpPr>
          <p:nvPr>
            <p:ph type="body" idx="3"/>
          </p:nvPr>
        </p:nvSpPr>
        <p:spPr>
          <a:xfrm>
            <a:off x="6387656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Unsupervised Learning: Clustering</a:t>
            </a:r>
            <a:endParaRPr/>
          </a:p>
        </p:txBody>
      </p:sp>
      <p:sp>
        <p:nvSpPr>
          <p:cNvPr id="272" name="Google Shape;272;p4"/>
          <p:cNvSpPr txBox="1">
            <a:spLocks noGrp="1"/>
          </p:cNvSpPr>
          <p:nvPr>
            <p:ph type="body" idx="4"/>
          </p:nvPr>
        </p:nvSpPr>
        <p:spPr>
          <a:xfrm>
            <a:off x="9179561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Unsupervised Learning: Principal Component Analysis</a:t>
            </a:r>
            <a:endParaRPr/>
          </a:p>
        </p:txBody>
      </p:sp>
      <p:sp>
        <p:nvSpPr>
          <p:cNvPr id="273" name="Google Shape;273;p4"/>
          <p:cNvSpPr txBox="1">
            <a:spLocks noGrp="1"/>
          </p:cNvSpPr>
          <p:nvPr>
            <p:ph type="body" idx="5"/>
          </p:nvPr>
        </p:nvSpPr>
        <p:spPr>
          <a:xfrm>
            <a:off x="801277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Fitur Representasi dan Rekayasa Data</a:t>
            </a:r>
            <a:endParaRPr/>
          </a:p>
        </p:txBody>
      </p:sp>
      <p:sp>
        <p:nvSpPr>
          <p:cNvPr id="274" name="Google Shape;274;p4"/>
          <p:cNvSpPr txBox="1">
            <a:spLocks noGrp="1"/>
          </p:cNvSpPr>
          <p:nvPr>
            <p:ph type="body" idx="6"/>
          </p:nvPr>
        </p:nvSpPr>
        <p:spPr>
          <a:xfrm>
            <a:off x="3593182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Evaluasi dan Perbaikan Model</a:t>
            </a:r>
            <a:endParaRPr/>
          </a:p>
        </p:txBody>
      </p:sp>
      <p:sp>
        <p:nvSpPr>
          <p:cNvPr id="275" name="Google Shape;275;p4"/>
          <p:cNvSpPr txBox="1">
            <a:spLocks noGrp="1"/>
          </p:cNvSpPr>
          <p:nvPr>
            <p:ph type="body" idx="7"/>
          </p:nvPr>
        </p:nvSpPr>
        <p:spPr>
          <a:xfrm>
            <a:off x="6387656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Tantangan dalam Machine Learning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6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200"/>
              <a:buNone/>
            </a:pPr>
            <a:r>
              <a:rPr lang="en-US" b="1"/>
              <a:t>Setelah mempelajari materi pada sesi ini, diharapkan mahasiswa:</a:t>
            </a:r>
            <a:endParaRPr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</a:pPr>
            <a:r>
              <a:rPr lang="en-US"/>
              <a:t>Mampu menjelaskan algoritma-algoritma yang termasuk dalam unsupervised learning.</a:t>
            </a:r>
            <a:endParaRPr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</a:pPr>
            <a:r>
              <a:rPr lang="en-US"/>
              <a:t>Mampu menjelaskan contoh dan jenis dalam unsupervised learning.</a:t>
            </a:r>
            <a:endParaRPr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</a:pPr>
            <a:r>
              <a:rPr lang="en-US"/>
              <a:t>Mampu menguraikan tantangan dalam unsupervised learning.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"/>
          <p:cNvSpPr txBox="1">
            <a:spLocks noGrp="1"/>
          </p:cNvSpPr>
          <p:nvPr>
            <p:ph type="ctrTitle"/>
          </p:nvPr>
        </p:nvSpPr>
        <p:spPr>
          <a:xfrm>
            <a:off x="5907730" y="2467662"/>
            <a:ext cx="5529197" cy="192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</a:pPr>
            <a:r>
              <a:rPr lang="en-US" sz="5400"/>
              <a:t>ALGORITMA UNSUPERVISED LEARNING</a:t>
            </a:r>
            <a:endParaRPr/>
          </a:p>
        </p:txBody>
      </p:sp>
      <p:pic>
        <p:nvPicPr>
          <p:cNvPr id="286" name="Google Shape;286;p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9738" r="19739"/>
          <a:stretch/>
        </p:blipFill>
        <p:spPr>
          <a:xfrm>
            <a:off x="0" y="499621"/>
            <a:ext cx="5316718" cy="5856730"/>
          </a:xfrm>
          <a:prstGeom prst="flowChartDelay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"/>
          <p:cNvSpPr/>
          <p:nvPr/>
        </p:nvSpPr>
        <p:spPr>
          <a:xfrm>
            <a:off x="4329113" y="0"/>
            <a:ext cx="227171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92" name="Google Shape;292;p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4087" r="14086"/>
          <a:stretch/>
        </p:blipFill>
        <p:spPr>
          <a:xfrm>
            <a:off x="6325466" y="1387827"/>
            <a:ext cx="5172075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7"/>
          <p:cNvSpPr txBox="1">
            <a:spLocks noGrp="1"/>
          </p:cNvSpPr>
          <p:nvPr>
            <p:ph type="title"/>
          </p:nvPr>
        </p:nvSpPr>
        <p:spPr>
          <a:xfrm>
            <a:off x="337736" y="989390"/>
            <a:ext cx="5127233" cy="79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ct val="100000"/>
              <a:buFont typeface="Twentieth Century"/>
              <a:buNone/>
            </a:pPr>
            <a:r>
              <a:rPr lang="en-US"/>
              <a:t>Pengertian Unsupervised learning </a:t>
            </a:r>
            <a:endParaRPr/>
          </a:p>
        </p:txBody>
      </p:sp>
      <p:sp>
        <p:nvSpPr>
          <p:cNvPr id="294" name="Google Shape;294;p7"/>
          <p:cNvSpPr txBox="1">
            <a:spLocks noGrp="1"/>
          </p:cNvSpPr>
          <p:nvPr>
            <p:ph type="body" idx="1"/>
          </p:nvPr>
        </p:nvSpPr>
        <p:spPr>
          <a:xfrm>
            <a:off x="446375" y="1898668"/>
            <a:ext cx="5649625" cy="267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Unsupervised learning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adalah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semua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jenis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machine learning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dengan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output yang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tidak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diketahui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serta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tidak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adanya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pelabelan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data yang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menginstruksikan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algoritma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pembelajaran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. </a:t>
            </a: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sz="24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Metode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ini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diterapkan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membangun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representasi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data yang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ringkas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sehingga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kita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dapat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memperoleh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konten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imajinatif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dari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data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tersebut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b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</a:br>
            <a:b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</a:br>
            <a:b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</a:b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"/>
          <p:cNvSpPr/>
          <p:nvPr/>
        </p:nvSpPr>
        <p:spPr>
          <a:xfrm>
            <a:off x="4329113" y="0"/>
            <a:ext cx="227171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0" name="Google Shape;300;p8"/>
          <p:cNvSpPr txBox="1">
            <a:spLocks noGrp="1"/>
          </p:cNvSpPr>
          <p:nvPr>
            <p:ph type="title"/>
          </p:nvPr>
        </p:nvSpPr>
        <p:spPr>
          <a:xfrm>
            <a:off x="337736" y="848738"/>
            <a:ext cx="5127233" cy="79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ct val="100000"/>
              <a:buFont typeface="Twentieth Century"/>
              <a:buNone/>
            </a:pPr>
            <a:r>
              <a:rPr lang="en-US"/>
              <a:t>Contoh dan Jenis</a:t>
            </a:r>
            <a:br>
              <a:rPr lang="en-US"/>
            </a:br>
            <a:r>
              <a:rPr lang="en-US"/>
              <a:t>Unsupervised learning </a:t>
            </a:r>
            <a:endParaRPr/>
          </a:p>
        </p:txBody>
      </p:sp>
      <p:sp>
        <p:nvSpPr>
          <p:cNvPr id="301" name="Google Shape;301;p8"/>
          <p:cNvSpPr txBox="1">
            <a:spLocks noGrp="1"/>
          </p:cNvSpPr>
          <p:nvPr>
            <p:ph type="body" idx="1"/>
          </p:nvPr>
        </p:nvSpPr>
        <p:spPr>
          <a:xfrm>
            <a:off x="337736" y="2109340"/>
            <a:ext cx="5888182" cy="267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Contoh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dari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penerapan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metode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ini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adalah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mengidentifikasi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siapa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target pasar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produk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baru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dirilis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: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hal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ini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karena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tidak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ada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informasi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historis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tentang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siapa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target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pelanggan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dan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demografi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mereka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b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</a:br>
            <a:endParaRPr sz="24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Jenis-</a:t>
            </a:r>
            <a:r>
              <a:rPr lang="en-US" sz="24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jenis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 :</a:t>
            </a:r>
            <a:endParaRPr dirty="0"/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Clustering</a:t>
            </a:r>
            <a:endParaRPr dirty="0"/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Association Rule Mining</a:t>
            </a:r>
            <a:endParaRPr dirty="0"/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Dimensionality Reduction</a:t>
            </a: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b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</a:b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02" name="Google Shape;302;p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6090" r="6091"/>
          <a:stretch/>
        </p:blipFill>
        <p:spPr>
          <a:xfrm>
            <a:off x="6871752" y="1529577"/>
            <a:ext cx="4669084" cy="3798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"/>
          <p:cNvSpPr/>
          <p:nvPr/>
        </p:nvSpPr>
        <p:spPr>
          <a:xfrm>
            <a:off x="4329113" y="0"/>
            <a:ext cx="227171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8" name="Google Shape;308;p9"/>
          <p:cNvSpPr txBox="1">
            <a:spLocks noGrp="1"/>
          </p:cNvSpPr>
          <p:nvPr>
            <p:ph type="title"/>
          </p:nvPr>
        </p:nvSpPr>
        <p:spPr>
          <a:xfrm>
            <a:off x="6701215" y="870898"/>
            <a:ext cx="5127233" cy="79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</a:pPr>
            <a:r>
              <a:rPr lang="en-US">
                <a:solidFill>
                  <a:srgbClr val="0E60AC"/>
                </a:solidFill>
              </a:rPr>
              <a:t>Clustering</a:t>
            </a:r>
            <a:endParaRPr/>
          </a:p>
        </p:txBody>
      </p:sp>
      <p:sp>
        <p:nvSpPr>
          <p:cNvPr id="309" name="Google Shape;309;p9"/>
          <p:cNvSpPr txBox="1">
            <a:spLocks noGrp="1"/>
          </p:cNvSpPr>
          <p:nvPr>
            <p:ph type="body" idx="1"/>
          </p:nvPr>
        </p:nvSpPr>
        <p:spPr>
          <a:xfrm>
            <a:off x="6701215" y="1847509"/>
            <a:ext cx="5309937" cy="30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2000"/>
              <a:buNone/>
            </a:pPr>
            <a:r>
              <a:rPr lang="en-US" dirty="0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Clustering </a:t>
            </a:r>
            <a:r>
              <a:rPr lang="en-US" dirty="0" err="1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adalah</a:t>
            </a:r>
            <a:r>
              <a:rPr lang="en-US" dirty="0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jenis</a:t>
            </a:r>
            <a:r>
              <a:rPr lang="en-US" dirty="0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pendekatan</a:t>
            </a:r>
            <a:r>
              <a:rPr lang="en-US" dirty="0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unsupervised learning yang </a:t>
            </a:r>
            <a:r>
              <a:rPr lang="en-US" dirty="0" err="1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populer</a:t>
            </a:r>
            <a:r>
              <a:rPr lang="en-US" dirty="0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 Kita </a:t>
            </a:r>
            <a:r>
              <a:rPr lang="en-US" dirty="0" err="1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dapat</a:t>
            </a:r>
            <a:r>
              <a:rPr lang="en-US" dirty="0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memecahnya</a:t>
            </a:r>
            <a:r>
              <a:rPr lang="en-US" dirty="0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lebih</a:t>
            </a:r>
            <a:r>
              <a:rPr lang="en-US" dirty="0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jauh</a:t>
            </a:r>
            <a:r>
              <a:rPr lang="en-US" dirty="0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menjadi</a:t>
            </a:r>
            <a:r>
              <a:rPr lang="en-US" dirty="0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berbagai</a:t>
            </a:r>
            <a:r>
              <a:rPr lang="en-US" dirty="0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jenis</a:t>
            </a:r>
            <a:r>
              <a:rPr lang="en-US" dirty="0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pengelompokan</a:t>
            </a:r>
            <a:r>
              <a:rPr lang="en-US" dirty="0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</a:t>
            </a:r>
            <a:r>
              <a:rPr lang="en-US" dirty="0" err="1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misalnya</a:t>
            </a:r>
            <a:r>
              <a:rPr lang="en-US" dirty="0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</a:t>
            </a: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 dirty="0">
              <a:solidFill>
                <a:srgbClr val="0E60AC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</a:rPr>
              <a:t>Pengelompokan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eksklusif</a:t>
            </a:r>
            <a:endParaRPr dirty="0">
              <a:solidFill>
                <a:schemeClr val="dk1"/>
              </a:solidFill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</a:rPr>
              <a:t>Pengelompokan</a:t>
            </a:r>
            <a:r>
              <a:rPr lang="en-US" dirty="0">
                <a:solidFill>
                  <a:schemeClr val="dk1"/>
                </a:solidFill>
              </a:rPr>
              <a:t> yang </a:t>
            </a:r>
            <a:r>
              <a:rPr lang="en-US" dirty="0" err="1">
                <a:solidFill>
                  <a:schemeClr val="dk1"/>
                </a:solidFill>
              </a:rPr>
              <a:t>tumpang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tindih</a:t>
            </a:r>
            <a:endParaRPr dirty="0">
              <a:solidFill>
                <a:schemeClr val="dk1"/>
              </a:solidFill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</a:rPr>
              <a:t>Pengelompokan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hierarki</a:t>
            </a:r>
            <a:endParaRPr dirty="0">
              <a:solidFill>
                <a:schemeClr val="dk1"/>
              </a:solidFill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</a:rPr>
              <a:t>Pengelompokan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probalistik</a:t>
            </a:r>
            <a:endParaRPr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 dirty="0">
              <a:solidFill>
                <a:srgbClr val="0E60AC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10" name="Google Shape;310;p9" descr="Unsupervised Learn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0009" y="1321062"/>
            <a:ext cx="5946631" cy="421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"/>
          <p:cNvSpPr txBox="1">
            <a:spLocks noGrp="1"/>
          </p:cNvSpPr>
          <p:nvPr>
            <p:ph type="body" idx="1"/>
          </p:nvPr>
        </p:nvSpPr>
        <p:spPr>
          <a:xfrm>
            <a:off x="5084735" y="1094926"/>
            <a:ext cx="6813508" cy="3110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2000"/>
              <a:buFont typeface="Arial"/>
              <a:buChar char="•"/>
            </a:pPr>
            <a:r>
              <a:rPr lang="en-US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Pengelompokan eksklusif: Data dikelompokkan sedemikian rupa sehingga satu titik data secara eksklusif dimiliki oleh satu cluster.</a:t>
            </a:r>
            <a:endParaRPr/>
          </a:p>
          <a:p>
            <a:pPr marL="342900" lvl="0" indent="-215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>
              <a:solidFill>
                <a:srgbClr val="0E60AC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2000"/>
              <a:buFont typeface="Arial"/>
              <a:buChar char="•"/>
            </a:pPr>
            <a:r>
              <a:rPr lang="en-US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Pengelompokan yang tumpang tindih: Sebuah klaster lunak di mana satu titik data mungkin dimiliki oleh beberapa klaster dengan tingkat keanggotaan yang berbeda-beda.</a:t>
            </a:r>
            <a:endParaRPr/>
          </a:p>
          <a:p>
            <a:pPr marL="342900" lvl="0" indent="-215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>
              <a:solidFill>
                <a:srgbClr val="0E60AC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2000"/>
              <a:buFont typeface="Arial"/>
              <a:buChar char="•"/>
            </a:pPr>
            <a:r>
              <a:rPr lang="en-US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Pengelompokan hierarki: Suatu jenis pengelompokan di mana grup dibuat sedemikian rupa sehingga kejadian serupa berada dalam grup yang sama dan objek berbeda berada di grup lain.</a:t>
            </a:r>
            <a:endParaRPr/>
          </a:p>
          <a:p>
            <a:pPr marL="342900" lvl="0" indent="-215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>
              <a:solidFill>
                <a:srgbClr val="0E60AC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2000"/>
              <a:buFont typeface="Arial"/>
              <a:buChar char="•"/>
            </a:pPr>
            <a:r>
              <a:rPr lang="en-US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Pengelompokan probalistik: Cluster dibuat menggunakan distribusi probabilitas.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>
              <a:solidFill>
                <a:srgbClr val="0E60AC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16" name="Google Shape;316;p10" descr="Unsupervised Learn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3757" y="1873832"/>
            <a:ext cx="4387232" cy="3110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1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7562" r="17562"/>
          <a:stretch/>
        </p:blipFill>
        <p:spPr>
          <a:xfrm>
            <a:off x="569913" y="1114425"/>
            <a:ext cx="4887912" cy="502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1"/>
          <p:cNvSpPr txBox="1">
            <a:spLocks noGrp="1"/>
          </p:cNvSpPr>
          <p:nvPr>
            <p:ph type="body" idx="1"/>
          </p:nvPr>
        </p:nvSpPr>
        <p:spPr>
          <a:xfrm>
            <a:off x="5918476" y="1817008"/>
            <a:ext cx="5949674" cy="432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marR="15113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Jenis unsupervised learning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menggunakan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pendekatan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berbasis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aturan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menemukan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hubungan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menarik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antar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fitur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dalam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kumpulan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data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tertentu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bekerja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dengan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menggunakan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ukuran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kepentingan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mengidentifikasi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aturan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kuat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ditemukan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dalam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kumpulan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data.</a:t>
            </a:r>
            <a:endParaRPr dirty="0"/>
          </a:p>
          <a:p>
            <a:pPr marL="0" marR="151130" lvl="0" indent="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Association Rule Mining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biasa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digunakan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analisis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market basket. Association Rule Mining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adalah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teknik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i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mining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digunakan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penjual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mendapatkan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pemahaman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lebih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baik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tentang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pola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pembelian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pelanggan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berdasarkan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hubungan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antara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berbagai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produk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endParaRPr dirty="0"/>
          </a:p>
          <a:p>
            <a:pPr marL="0" marR="151130" lvl="0" indent="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ct val="100000"/>
              <a:buNone/>
            </a:pPr>
            <a:endParaRPr sz="22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3" name="Google Shape;323;p11"/>
          <p:cNvSpPr txBox="1">
            <a:spLocks noGrp="1"/>
          </p:cNvSpPr>
          <p:nvPr>
            <p:ph type="title"/>
          </p:nvPr>
        </p:nvSpPr>
        <p:spPr>
          <a:xfrm>
            <a:off x="5918476" y="1101777"/>
            <a:ext cx="5280566" cy="618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</a:pPr>
            <a:r>
              <a:rPr lang="en-US" dirty="0"/>
              <a:t>Association Rule Mining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12" descr="Basic Concepts of Association Rule Min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6256" y="780097"/>
            <a:ext cx="9399487" cy="5297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"/>
          <p:cNvSpPr txBox="1">
            <a:spLocks noGrp="1"/>
          </p:cNvSpPr>
          <p:nvPr>
            <p:ph type="ctrTitle"/>
          </p:nvPr>
        </p:nvSpPr>
        <p:spPr>
          <a:xfrm>
            <a:off x="5907730" y="2467662"/>
            <a:ext cx="5529197" cy="192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</a:pPr>
            <a:r>
              <a:rPr lang="en-US" sz="5400"/>
              <a:t>Dimentionality Reduction</a:t>
            </a:r>
            <a:endParaRPr/>
          </a:p>
        </p:txBody>
      </p:sp>
      <p:pic>
        <p:nvPicPr>
          <p:cNvPr id="334" name="Google Shape;334;p1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9693" r="19692"/>
          <a:stretch/>
        </p:blipFill>
        <p:spPr>
          <a:xfrm>
            <a:off x="0" y="499621"/>
            <a:ext cx="5316718" cy="5856730"/>
          </a:xfrm>
          <a:prstGeom prst="flowChartDelay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"/>
          <p:cNvSpPr txBox="1">
            <a:spLocks noGrp="1"/>
          </p:cNvSpPr>
          <p:nvPr>
            <p:ph type="body" idx="1"/>
          </p:nvPr>
        </p:nvSpPr>
        <p:spPr>
          <a:xfrm>
            <a:off x="5918476" y="1817008"/>
            <a:ext cx="5949674" cy="432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marR="15113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Algoritma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populer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digunakan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reduksi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dimensi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termasuk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Principal Component Analysis (PCA) dan Singular Value Decomposition (SVD). Algoritma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berupaya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mengubah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data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dari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ruang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berdimensi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tinggi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ruang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berdimensi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rendah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tanpa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mengorbankan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properti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bermakna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dalam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data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asli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 Teknik-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teknik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biasanya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diterapkan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selama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Exploratory Data Analysis (EDA)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atau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pemrosesan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data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mempersiapkan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data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pemodelan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endParaRPr dirty="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ct val="100000"/>
              <a:buNone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3200" dirty="0">
              <a:latin typeface="Calibri"/>
              <a:ea typeface="Calibri"/>
              <a:cs typeface="Calibri"/>
              <a:sym typeface="Calibri"/>
            </a:endParaRPr>
          </a:p>
          <a:p>
            <a:pPr marL="0" marR="151130" lvl="0" indent="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ct val="100000"/>
              <a:buNone/>
            </a:pPr>
            <a:endParaRPr sz="29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0" name="Google Shape;340;p14"/>
          <p:cNvSpPr txBox="1">
            <a:spLocks noGrp="1"/>
          </p:cNvSpPr>
          <p:nvPr>
            <p:ph type="title"/>
          </p:nvPr>
        </p:nvSpPr>
        <p:spPr>
          <a:xfrm>
            <a:off x="5918476" y="1101777"/>
            <a:ext cx="5280566" cy="618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</a:pPr>
            <a:r>
              <a:rPr lang="en-US"/>
              <a:t>Dimentionality Reduction</a:t>
            </a:r>
            <a:endParaRPr/>
          </a:p>
        </p:txBody>
      </p:sp>
      <p:pic>
        <p:nvPicPr>
          <p:cNvPr id="341" name="Google Shape;341;p1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7562" r="17562"/>
          <a:stretch/>
        </p:blipFill>
        <p:spPr>
          <a:xfrm>
            <a:off x="569929" y="886379"/>
            <a:ext cx="4888191" cy="5021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"/>
          <p:cNvSpPr txBox="1">
            <a:spLocks noGrp="1"/>
          </p:cNvSpPr>
          <p:nvPr>
            <p:ph type="body" idx="1"/>
          </p:nvPr>
        </p:nvSpPr>
        <p:spPr>
          <a:xfrm>
            <a:off x="5918476" y="1817008"/>
            <a:ext cx="5949674" cy="432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marR="15113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Mengurangi dimensi kumpulan data selama EDA akan sangat membantu untuk membantu memvisualisasikan data: hal ini karena sulit untuk memvisualisasikan data dalam lebih dari tiga dimensi. </a:t>
            </a:r>
            <a:endParaRPr/>
          </a:p>
          <a:p>
            <a:pPr marL="0" marR="151130" lvl="0" indent="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Dari perspektif pemrosesan data, manfaat PCA:</a:t>
            </a:r>
            <a:endParaRPr/>
          </a:p>
          <a:p>
            <a:pPr marL="457200" marR="151130" lvl="0" indent="-45720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9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mengurangi dimensi data </a:t>
            </a:r>
            <a:endParaRPr/>
          </a:p>
          <a:p>
            <a:pPr marL="457200" marR="151130" lvl="0" indent="-45720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9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menyederhanakan masalah pemodelan</a:t>
            </a:r>
            <a:endParaRPr sz="29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7" name="Google Shape;347;p15"/>
          <p:cNvSpPr txBox="1">
            <a:spLocks noGrp="1"/>
          </p:cNvSpPr>
          <p:nvPr>
            <p:ph type="title"/>
          </p:nvPr>
        </p:nvSpPr>
        <p:spPr>
          <a:xfrm>
            <a:off x="5918475" y="1101777"/>
            <a:ext cx="5703611" cy="618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ct val="100000"/>
              <a:buFont typeface="Twentieth Century"/>
              <a:buNone/>
            </a:pPr>
            <a:r>
              <a:rPr lang="en-US"/>
              <a:t>Manfaat Dimentionality Reduction</a:t>
            </a:r>
            <a:endParaRPr/>
          </a:p>
        </p:txBody>
      </p:sp>
      <p:pic>
        <p:nvPicPr>
          <p:cNvPr id="348" name="Google Shape;348;p1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7562" r="17562"/>
          <a:stretch/>
        </p:blipFill>
        <p:spPr>
          <a:xfrm>
            <a:off x="569929" y="886379"/>
            <a:ext cx="4888191" cy="5021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16" descr="Principal Component Analysis in R - Walk Through | Machine Learn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5490" y="1265764"/>
            <a:ext cx="8258419" cy="3270334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6"/>
          <p:cNvSpPr/>
          <p:nvPr/>
        </p:nvSpPr>
        <p:spPr>
          <a:xfrm>
            <a:off x="601540" y="5130571"/>
            <a:ext cx="1050631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Ketika lebih banyak fitur masukan dimasukkan ke dalam model, model harus mempelajari fungsi perkiraan yang lebih kompleks. Fenomena ini dapat diringkas dengan pepatah yang disebut “kutukan dimensi”.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"/>
          <p:cNvSpPr txBox="1">
            <a:spLocks noGrp="1"/>
          </p:cNvSpPr>
          <p:nvPr>
            <p:ph type="ctrTitle"/>
          </p:nvPr>
        </p:nvSpPr>
        <p:spPr>
          <a:xfrm>
            <a:off x="5907730" y="2467662"/>
            <a:ext cx="5529197" cy="192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</a:pPr>
            <a:r>
              <a:rPr lang="en-US" sz="5400"/>
              <a:t>Aplikasi dalam Unsupervised Learning</a:t>
            </a:r>
            <a:br>
              <a:rPr lang="en-US" sz="5400"/>
            </a:br>
            <a:endParaRPr sz="5400"/>
          </a:p>
        </p:txBody>
      </p:sp>
      <p:pic>
        <p:nvPicPr>
          <p:cNvPr id="360" name="Google Shape;360;p1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9738" r="19739"/>
          <a:stretch/>
        </p:blipFill>
        <p:spPr>
          <a:xfrm>
            <a:off x="0" y="499621"/>
            <a:ext cx="5316718" cy="5856730"/>
          </a:xfrm>
          <a:prstGeom prst="flowChartDelay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1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7562" r="17562"/>
          <a:stretch/>
        </p:blipFill>
        <p:spPr>
          <a:xfrm>
            <a:off x="569913" y="1114425"/>
            <a:ext cx="4887912" cy="502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8"/>
          <p:cNvSpPr txBox="1">
            <a:spLocks noGrp="1"/>
          </p:cNvSpPr>
          <p:nvPr>
            <p:ph type="body" idx="1"/>
          </p:nvPr>
        </p:nvSpPr>
        <p:spPr>
          <a:xfrm>
            <a:off x="5918476" y="2007508"/>
            <a:ext cx="5949674" cy="432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marR="15113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Sebagian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besar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eksekutif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tidak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kesulitan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mengidentifikasi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kasus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penggunaan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tugas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Supervised Learning;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hal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sama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tidak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berlaku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Unsupervised Learning,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alasannya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adalah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karena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sifat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risikonya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sederhana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 Unsupervised learning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menimbulkan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lebih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banyak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risiko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dibandingkan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supervised learning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karena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tidak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cara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jelas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mengukur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hasil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berdasarkan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kebenaran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secara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offline, dan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mungkin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terlalu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berisiko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melakukan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evaluasi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online.</a:t>
            </a:r>
            <a:endParaRPr dirty="0"/>
          </a:p>
          <a:p>
            <a:pPr marL="0" marR="151130" lvl="0" indent="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Meskipun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demikian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beberapa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kasus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penggunaan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unsupervised learning yang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berharga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di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tingkat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perusahaan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 Selain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menggunakan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teknik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tanpa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pengawasan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mengeksplorasi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data</a:t>
            </a:r>
            <a:r>
              <a:rPr lang="en-US" sz="2900" dirty="0">
                <a:solidFill>
                  <a:schemeClr val="dk1"/>
                </a:solidFill>
              </a:rPr>
              <a:t>.</a:t>
            </a:r>
            <a:endParaRPr sz="29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67" name="Google Shape;367;p18"/>
          <p:cNvSpPr txBox="1">
            <a:spLocks noGrp="1"/>
          </p:cNvSpPr>
          <p:nvPr>
            <p:ph type="title"/>
          </p:nvPr>
        </p:nvSpPr>
        <p:spPr>
          <a:xfrm>
            <a:off x="5918476" y="1101777"/>
            <a:ext cx="5280566" cy="618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ct val="100000"/>
              <a:buFont typeface="Twentieth Century"/>
              <a:buNone/>
            </a:pPr>
            <a:r>
              <a:rPr lang="en-US"/>
              <a:t>Aplikasi dalam Unsupervised Learning</a:t>
            </a:r>
            <a:br>
              <a:rPr lang="en-US"/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1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7562" r="17562"/>
          <a:stretch/>
        </p:blipFill>
        <p:spPr>
          <a:xfrm>
            <a:off x="569913" y="1114425"/>
            <a:ext cx="4887912" cy="502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9"/>
          <p:cNvSpPr txBox="1">
            <a:spLocks noGrp="1"/>
          </p:cNvSpPr>
          <p:nvPr>
            <p:ph type="body" idx="1"/>
          </p:nvPr>
        </p:nvSpPr>
        <p:spPr>
          <a:xfrm>
            <a:off x="5842276" y="1710968"/>
            <a:ext cx="5949674" cy="432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marR="15113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Beberapa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kasus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penggunaan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umum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di dunia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nyata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meliputi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</a:t>
            </a:r>
            <a:endParaRPr dirty="0"/>
          </a:p>
          <a:p>
            <a:pPr marL="514350" marR="151130" lvl="0" indent="-51435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29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Natural Language Processing (NLP). 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Google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memanfaatkan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unsupervised learning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mengkategorikan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artikel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berdasarkan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berita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sama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dari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berbagai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outlet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berita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Misalnya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hasil</a:t>
            </a:r>
            <a:r>
              <a:rPr lang="en-US" sz="2900" dirty="0">
                <a:solidFill>
                  <a:schemeClr val="dk1"/>
                </a:solidFill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pencarian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tentang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sepak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bola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semuanya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dapat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dikategorikan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dalam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sepak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bola.</a:t>
            </a:r>
            <a:endParaRPr dirty="0"/>
          </a:p>
          <a:p>
            <a:pPr marL="514350" marR="151130" lvl="0" indent="-51435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2900" b="1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Analisis</a:t>
            </a:r>
            <a:r>
              <a:rPr lang="en-US" sz="29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b="1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gambar</a:t>
            </a:r>
            <a:r>
              <a:rPr lang="en-US" sz="29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dan video.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Tugas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Persepsi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Visual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seperti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pengenalan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objek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memanfaatkan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unsupervised learning.</a:t>
            </a:r>
            <a:endParaRPr dirty="0"/>
          </a:p>
          <a:p>
            <a:pPr marL="514350" marR="151130" lvl="0" indent="-51435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2900" b="1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Deteksi</a:t>
            </a:r>
            <a:r>
              <a:rPr lang="en-US" sz="29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b="1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anomali</a:t>
            </a:r>
            <a:r>
              <a:rPr lang="en-US" sz="29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 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Unsupervised learning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digunakan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mengidentifikasi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titik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data,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peristiwa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dan/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atau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observasi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menyimpang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dari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perilaku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normal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kumpulan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data.</a:t>
            </a:r>
            <a:endParaRPr dirty="0"/>
          </a:p>
          <a:p>
            <a:pPr marL="514350" marR="151130" lvl="0" indent="-51435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2900" b="1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Segmentasi</a:t>
            </a:r>
            <a:r>
              <a:rPr lang="en-US" sz="29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b="1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pelanggan</a:t>
            </a:r>
            <a:r>
              <a:rPr lang="en-US" sz="29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Profil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personal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pembeli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menarik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dapat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dibuat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menggunakan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unsupervised learning. Hal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membantu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bisnis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memahami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ciri-ciri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umum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dan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kebiasaan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pembelian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pelanggan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9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mereka</a:t>
            </a:r>
            <a:r>
              <a:rPr lang="en-US" sz="29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endParaRPr dirty="0"/>
          </a:p>
          <a:p>
            <a:pPr marL="0" marR="151130" lvl="0" indent="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ct val="100000"/>
              <a:buNone/>
            </a:pPr>
            <a:endParaRPr sz="29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4" name="Google Shape;374;p19"/>
          <p:cNvSpPr txBox="1">
            <a:spLocks noGrp="1"/>
          </p:cNvSpPr>
          <p:nvPr>
            <p:ph type="title"/>
          </p:nvPr>
        </p:nvSpPr>
        <p:spPr>
          <a:xfrm>
            <a:off x="5842276" y="805237"/>
            <a:ext cx="5280566" cy="618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ct val="100000"/>
              <a:buFont typeface="Twentieth Century"/>
              <a:buNone/>
            </a:pPr>
            <a:r>
              <a:rPr lang="en-US"/>
              <a:t>Aplikasi dalam Unsupervised Learning</a:t>
            </a:r>
            <a:br>
              <a:rPr lang="en-US"/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"/>
          <p:cNvSpPr txBox="1">
            <a:spLocks noGrp="1"/>
          </p:cNvSpPr>
          <p:nvPr>
            <p:ph type="ctrTitle"/>
          </p:nvPr>
        </p:nvSpPr>
        <p:spPr>
          <a:xfrm>
            <a:off x="5907730" y="2467662"/>
            <a:ext cx="5529197" cy="192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</a:pPr>
            <a:r>
              <a:rPr lang="en-US" sz="5400"/>
              <a:t>Tantangan dalam Unsupervised Learning</a:t>
            </a:r>
            <a:br>
              <a:rPr lang="en-US" sz="5400"/>
            </a:br>
            <a:endParaRPr sz="5400"/>
          </a:p>
        </p:txBody>
      </p:sp>
      <p:pic>
        <p:nvPicPr>
          <p:cNvPr id="380" name="Google Shape;380;p2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678" r="20678"/>
          <a:stretch/>
        </p:blipFill>
        <p:spPr>
          <a:xfrm>
            <a:off x="0" y="499621"/>
            <a:ext cx="5316718" cy="5856730"/>
          </a:xfrm>
          <a:prstGeom prst="flowChartDelay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1"/>
          <p:cNvSpPr/>
          <p:nvPr/>
        </p:nvSpPr>
        <p:spPr>
          <a:xfrm>
            <a:off x="4329113" y="0"/>
            <a:ext cx="227171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6" name="Google Shape;386;p21"/>
          <p:cNvSpPr txBox="1">
            <a:spLocks noGrp="1"/>
          </p:cNvSpPr>
          <p:nvPr>
            <p:ph type="body" idx="1"/>
          </p:nvPr>
        </p:nvSpPr>
        <p:spPr>
          <a:xfrm>
            <a:off x="672458" y="1905626"/>
            <a:ext cx="5127232" cy="270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Tantangan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utama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dalam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unsupervised learning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adalah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b="1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mengevaluasi</a:t>
            </a:r>
            <a:r>
              <a:rPr lang="en-US" sz="2200" b="1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b="1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apakah</a:t>
            </a:r>
            <a:r>
              <a:rPr lang="en-US" sz="2200" b="1" dirty="0">
                <a:latin typeface="Twentieth Century"/>
                <a:ea typeface="Twentieth Century"/>
                <a:cs typeface="Twentieth Century"/>
                <a:sym typeface="Twentieth Century"/>
              </a:rPr>
              <a:t> algoritma </a:t>
            </a:r>
            <a:r>
              <a:rPr lang="en-US" sz="2200" b="1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tersebut</a:t>
            </a:r>
            <a:r>
              <a:rPr lang="en-US" sz="2200" b="1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b="1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mempelajari</a:t>
            </a:r>
            <a:r>
              <a:rPr lang="en-US" sz="2200" b="1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b="1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sesuatu</a:t>
            </a:r>
            <a:r>
              <a:rPr lang="en-US" sz="2200" b="1" dirty="0"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2200" b="1" dirty="0" err="1">
                <a:latin typeface="Twentieth Century"/>
                <a:ea typeface="Twentieth Century"/>
                <a:cs typeface="Twentieth Century"/>
                <a:sym typeface="Twentieth Century"/>
              </a:rPr>
              <a:t>berguna</a:t>
            </a:r>
            <a:r>
              <a:rPr lang="en-US" sz="2200" b="1" dirty="0">
                <a:latin typeface="Twentieth Century"/>
                <a:ea typeface="Twentieth Century"/>
                <a:cs typeface="Twentieth Century"/>
                <a:sym typeface="Twentieth Century"/>
              </a:rPr>
              <a:t>. 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Algoritma unsupervised learning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biasanya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diterapkan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pada data yang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tidak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mengandung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informasi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label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apa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pun,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jadi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kita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tidak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tahu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apa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keluaran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tepat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. Oleh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karena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itu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, sangat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sulit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mengatakan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apakah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sebuah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model "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bekerja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dengan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baik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". </a:t>
            </a:r>
            <a:endParaRPr dirty="0"/>
          </a:p>
        </p:txBody>
      </p:sp>
      <p:pic>
        <p:nvPicPr>
          <p:cNvPr id="387" name="Google Shape;387;p2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9027" r="9028"/>
          <a:stretch/>
        </p:blipFill>
        <p:spPr>
          <a:xfrm>
            <a:off x="6232132" y="1428697"/>
            <a:ext cx="5287410" cy="4301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2"/>
          <p:cNvSpPr/>
          <p:nvPr/>
        </p:nvSpPr>
        <p:spPr>
          <a:xfrm>
            <a:off x="4329113" y="0"/>
            <a:ext cx="227171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93" name="Google Shape;393;p22"/>
          <p:cNvSpPr txBox="1">
            <a:spLocks noGrp="1"/>
          </p:cNvSpPr>
          <p:nvPr>
            <p:ph type="body" idx="1"/>
          </p:nvPr>
        </p:nvSpPr>
        <p:spPr>
          <a:xfrm>
            <a:off x="748658" y="1448426"/>
            <a:ext cx="5127232" cy="270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Sebagai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contoh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, algoritma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pengelompokan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hipotetis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kami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dapat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mengelompokkan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semua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gambar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menunjukkan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wajah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dalam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profil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dan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semua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gambar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wajah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penuh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. Ini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tentu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saja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merupakan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cara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memungkinkan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membagi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koleksi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foto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wajah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orang,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tetapi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bukan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itu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yang kami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cari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.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Namun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,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tidak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ada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cara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bagi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kita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"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memberi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tahu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" algoritma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apa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kita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cari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, dan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sering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kali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satu-satunya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cara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mengevaluasi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hasil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unsupervised learning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adalah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dengan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memeriksanya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secara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manual.</a:t>
            </a:r>
            <a:endParaRPr dirty="0"/>
          </a:p>
        </p:txBody>
      </p:sp>
      <p:pic>
        <p:nvPicPr>
          <p:cNvPr id="394" name="Google Shape;394;p2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9027" r="9028"/>
          <a:stretch/>
        </p:blipFill>
        <p:spPr>
          <a:xfrm>
            <a:off x="6232132" y="1428697"/>
            <a:ext cx="5287410" cy="4301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3"/>
          <p:cNvSpPr/>
          <p:nvPr/>
        </p:nvSpPr>
        <p:spPr>
          <a:xfrm>
            <a:off x="4329113" y="0"/>
            <a:ext cx="227171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0" name="Google Shape;400;p23"/>
          <p:cNvSpPr txBox="1">
            <a:spLocks noGrp="1"/>
          </p:cNvSpPr>
          <p:nvPr>
            <p:ph type="body" idx="1"/>
          </p:nvPr>
        </p:nvSpPr>
        <p:spPr>
          <a:xfrm>
            <a:off x="786758" y="2075789"/>
            <a:ext cx="5127232" cy="270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Aplikasi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umum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lainnya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algoritma unsupervised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adalah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sebagai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langkah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persiapan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algoritma supervised.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Mempelajari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representasi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baru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dari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data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terkadang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dapat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meningkatkan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akurasi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>
                <a:latin typeface="Twentieth Century"/>
                <a:ea typeface="Twentieth Century"/>
                <a:cs typeface="Twentieth Century"/>
                <a:sym typeface="Twentieth Century"/>
              </a:rPr>
              <a:t>algoritma supervised,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atau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dapat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mengurangi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konsumsi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memori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 dan </a:t>
            </a:r>
            <a:r>
              <a:rPr lang="en-US" sz="22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waktu</a:t>
            </a:r>
            <a:r>
              <a:rPr lang="en-US" sz="2200" dirty="0"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endParaRPr dirty="0"/>
          </a:p>
        </p:txBody>
      </p:sp>
      <p:pic>
        <p:nvPicPr>
          <p:cNvPr id="401" name="Google Shape;401;p2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9027" r="9028"/>
          <a:stretch/>
        </p:blipFill>
        <p:spPr>
          <a:xfrm>
            <a:off x="6232132" y="1428697"/>
            <a:ext cx="5287410" cy="4301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C45D1AC-FD1E-A30C-42FC-BDCC42B4F1D6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78040F-C5D3-59AB-D3B9-B73F0311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5E6C4-5885-4136-240A-99081BDDF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88D238-C448-F3BC-C870-42AA71065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42237"/>
              </p:ext>
            </p:extLst>
          </p:nvPr>
        </p:nvGraphicFramePr>
        <p:xfrm>
          <a:off x="1754188" y="3324953"/>
          <a:ext cx="6858000" cy="36576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147241799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3265381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D" dirty="0">
                          <a:effectLst/>
                        </a:rPr>
                        <a:t>20230801449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>
                          <a:effectLst/>
                        </a:rPr>
                        <a:t>HAIKAL JAMIL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988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23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4"/>
          <p:cNvSpPr/>
          <p:nvPr/>
        </p:nvSpPr>
        <p:spPr>
          <a:xfrm>
            <a:off x="3501190" y="0"/>
            <a:ext cx="869081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407" name="Google Shape;40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0183" y="727157"/>
            <a:ext cx="9585157" cy="5391651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4"/>
          <p:cNvSpPr/>
          <p:nvPr/>
        </p:nvSpPr>
        <p:spPr>
          <a:xfrm>
            <a:off x="1491916" y="1335505"/>
            <a:ext cx="3759868" cy="417495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9" name="Google Shape;409;p24"/>
          <p:cNvSpPr txBox="1">
            <a:spLocks noGrp="1"/>
          </p:cNvSpPr>
          <p:nvPr>
            <p:ph type="ctrTitle"/>
          </p:nvPr>
        </p:nvSpPr>
        <p:spPr>
          <a:xfrm>
            <a:off x="1847850" y="2538561"/>
            <a:ext cx="3048000" cy="1768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</a:pPr>
            <a:r>
              <a:rPr lang="en-US"/>
              <a:t>Terima</a:t>
            </a:r>
            <a:br>
              <a:rPr lang="en-US"/>
            </a:br>
            <a:r>
              <a:rPr lang="en-US"/>
              <a:t>Kasih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3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UEU Color">
      <a:dk1>
        <a:srgbClr val="0E60AC"/>
      </a:dk1>
      <a:lt1>
        <a:srgbClr val="FFFFFF"/>
      </a:lt1>
      <a:dk2>
        <a:srgbClr val="0E60AC"/>
      </a:dk2>
      <a:lt2>
        <a:srgbClr val="FFFFFF"/>
      </a:lt2>
      <a:accent1>
        <a:srgbClr val="0B4E8B"/>
      </a:accent1>
      <a:accent2>
        <a:srgbClr val="EF7220"/>
      </a:accent2>
      <a:accent3>
        <a:srgbClr val="0F68B9"/>
      </a:accent3>
      <a:accent4>
        <a:srgbClr val="DA6210"/>
      </a:accent4>
      <a:accent5>
        <a:srgbClr val="D8D8D8"/>
      </a:accent5>
      <a:accent6>
        <a:srgbClr val="0B4E8B"/>
      </a:accent6>
      <a:hlink>
        <a:srgbClr val="DA6210"/>
      </a:hlink>
      <a:folHlink>
        <a:srgbClr val="EF722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1035</Words>
  <Application>Microsoft Office PowerPoint</Application>
  <PresentationFormat>Widescreen</PresentationFormat>
  <Paragraphs>88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aipi-imperial</vt:lpstr>
      <vt:lpstr>Arial</vt:lpstr>
      <vt:lpstr>Calibri</vt:lpstr>
      <vt:lpstr>Google Sans</vt:lpstr>
      <vt:lpstr>Twentieth Century</vt:lpstr>
      <vt:lpstr>Office Theme</vt:lpstr>
      <vt:lpstr>Machine Learning</vt:lpstr>
      <vt:lpstr>PowerPoint Presentation</vt:lpstr>
      <vt:lpstr>PowerPoint Presentation</vt:lpstr>
      <vt:lpstr>PowerPoint Presentation</vt:lpstr>
      <vt:lpstr>PowerPoint Presentation</vt:lpstr>
      <vt:lpstr>ALGORITMA UNSUPERVISED LEARNING</vt:lpstr>
      <vt:lpstr>Pengertian Unsupervised learning </vt:lpstr>
      <vt:lpstr>Contoh dan Jenis Unsupervised learning </vt:lpstr>
      <vt:lpstr>Clustering</vt:lpstr>
      <vt:lpstr>PowerPoint Presentation</vt:lpstr>
      <vt:lpstr>Association Rule Mining</vt:lpstr>
      <vt:lpstr>PowerPoint Presentation</vt:lpstr>
      <vt:lpstr>Dimentionality Reduction</vt:lpstr>
      <vt:lpstr>Dimentionality Reduction</vt:lpstr>
      <vt:lpstr>Manfaat Dimentionality Reduction</vt:lpstr>
      <vt:lpstr>PowerPoint Presentation</vt:lpstr>
      <vt:lpstr>Aplikasi dalam Unsupervised Learning </vt:lpstr>
      <vt:lpstr>Aplikasi dalam Unsupervised Learning </vt:lpstr>
      <vt:lpstr>Aplikasi dalam Unsupervised Learning </vt:lpstr>
      <vt:lpstr>Tantangan dalam Unsupervised Learning 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Ari Candra</dc:creator>
  <cp:lastModifiedBy>Rahmat Budiarsa</cp:lastModifiedBy>
  <cp:revision>16</cp:revision>
  <dcterms:created xsi:type="dcterms:W3CDTF">2023-08-22T04:51:45Z</dcterms:created>
  <dcterms:modified xsi:type="dcterms:W3CDTF">2025-04-22T04:14:48Z</dcterms:modified>
</cp:coreProperties>
</file>