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026" r:id="rId2"/>
    <p:sldId id="2230" r:id="rId3"/>
    <p:sldId id="288" r:id="rId4"/>
    <p:sldId id="289" r:id="rId5"/>
    <p:sldId id="2000" r:id="rId6"/>
    <p:sldId id="2067" r:id="rId7"/>
    <p:sldId id="2085" r:id="rId8"/>
    <p:sldId id="2194" r:id="rId9"/>
    <p:sldId id="2195" r:id="rId10"/>
    <p:sldId id="2196" r:id="rId11"/>
    <p:sldId id="2220" r:id="rId12"/>
    <p:sldId id="2197" r:id="rId13"/>
    <p:sldId id="2221" r:id="rId14"/>
    <p:sldId id="2222" r:id="rId15"/>
    <p:sldId id="2223" r:id="rId16"/>
    <p:sldId id="2225" r:id="rId17"/>
    <p:sldId id="2226" r:id="rId18"/>
    <p:sldId id="2227" r:id="rId19"/>
    <p:sldId id="2228" r:id="rId20"/>
    <p:sldId id="2181" r:id="rId21"/>
    <p:sldId id="2229" r:id="rId22"/>
    <p:sldId id="219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2F2"/>
    <a:srgbClr val="0E60AC"/>
    <a:srgbClr val="EC7C30"/>
    <a:srgbClr val="EB7020"/>
    <a:srgbClr val="FBE6E1"/>
    <a:srgbClr val="FCEDEA"/>
    <a:srgbClr val="D8EBFC"/>
    <a:srgbClr val="DA6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34" autoAdjust="0"/>
    <p:restoredTop sz="91284" autoAdjust="0"/>
  </p:normalViewPr>
  <p:slideViewPr>
    <p:cSldViewPr snapToGrid="0">
      <p:cViewPr varScale="1">
        <p:scale>
          <a:sx n="105" d="100"/>
          <a:sy n="105" d="100"/>
        </p:scale>
        <p:origin x="60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99B36-CD3C-4742-8734-9CFCCB2C53C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FC5BE-90A7-4C94-B934-7C7D6C897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8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4512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FC5BE-90A7-4C94-B934-7C7D6C897B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08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FC5BE-90A7-4C94-B934-7C7D6C897B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34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814192"/>
            <a:ext cx="4509370" cy="523587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itle 15"/>
          <p:cNvSpPr>
            <a:spLocks noGrp="1"/>
          </p:cNvSpPr>
          <p:nvPr>
            <p:ph type="title" hasCustomPrompt="1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rgbClr val="0E60AC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4968465" y="403445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9" name="Rounded Rectangle 18"/>
          <p:cNvSpPr/>
          <p:nvPr userDrawn="1"/>
        </p:nvSpPr>
        <p:spPr>
          <a:xfrm>
            <a:off x="4968465" y="3811581"/>
            <a:ext cx="1659545" cy="45719"/>
          </a:xfrm>
          <a:prstGeom prst="roundRect">
            <a:avLst/>
          </a:prstGeom>
          <a:solidFill>
            <a:srgbClr val="EC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4968464" y="110526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9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4" name="Rounded Rectangle 3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  <p:sp>
        <p:nvSpPr>
          <p:cNvPr id="12" name="Title 15"/>
          <p:cNvSpPr>
            <a:spLocks noGrp="1"/>
          </p:cNvSpPr>
          <p:nvPr>
            <p:ph type="title" hasCustomPrompt="1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588970" y="419808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7" name="Rounded Rectangle 16"/>
          <p:cNvSpPr/>
          <p:nvPr userDrawn="1"/>
        </p:nvSpPr>
        <p:spPr>
          <a:xfrm>
            <a:off x="588970" y="3975211"/>
            <a:ext cx="165954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588969" y="126889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47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en Pengamp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</a:lstStyle>
          <a:p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154979" y="2275496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Gelar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5164108" y="1988095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Dosen</a:t>
            </a:r>
            <a:r>
              <a:rPr lang="en-US" sz="2000" dirty="0"/>
              <a:t> </a:t>
            </a:r>
            <a:r>
              <a:rPr lang="en-US" sz="2000" dirty="0" err="1"/>
              <a:t>Koordinator</a:t>
            </a:r>
            <a:r>
              <a:rPr lang="en-US" sz="2000" dirty="0"/>
              <a:t>: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54979" y="3176643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NID</a:t>
            </a:r>
          </a:p>
        </p:txBody>
      </p:sp>
      <p:sp>
        <p:nvSpPr>
          <p:cNvPr id="16" name="Title 1"/>
          <p:cNvSpPr txBox="1">
            <a:spLocks/>
          </p:cNvSpPr>
          <p:nvPr userDrawn="1"/>
        </p:nvSpPr>
        <p:spPr>
          <a:xfrm>
            <a:off x="5164108" y="2889242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NID: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54979" y="4077790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E-mail</a:t>
            </a:r>
          </a:p>
        </p:txBody>
      </p:sp>
      <p:sp>
        <p:nvSpPr>
          <p:cNvPr id="18" name="Title 1"/>
          <p:cNvSpPr txBox="1">
            <a:spLocks/>
          </p:cNvSpPr>
          <p:nvPr userDrawn="1"/>
        </p:nvSpPr>
        <p:spPr>
          <a:xfrm>
            <a:off x="5164108" y="3790389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E-mail:</a:t>
            </a:r>
          </a:p>
        </p:txBody>
      </p:sp>
    </p:spTree>
    <p:extLst>
      <p:ext uri="{BB962C8B-B14F-4D97-AF65-F5344CB8AC3E}">
        <p14:creationId xmlns:p14="http://schemas.microsoft.com/office/powerpoint/2010/main" val="43242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Tengah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1756" y="804529"/>
            <a:ext cx="3824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Topik</a:t>
            </a:r>
            <a:r>
              <a:rPr lang="en-US" sz="3600" b="1" dirty="0"/>
              <a:t> </a:t>
            </a:r>
            <a:r>
              <a:rPr lang="en-US" sz="3600" b="1" dirty="0" err="1"/>
              <a:t>Sebelum</a:t>
            </a:r>
            <a:r>
              <a:rPr lang="en-US" sz="3600" b="1" dirty="0"/>
              <a:t> UTS</a:t>
            </a:r>
          </a:p>
        </p:txBody>
      </p:sp>
    </p:spTree>
    <p:extLst>
      <p:ext uri="{BB962C8B-B14F-4D97-AF65-F5344CB8AC3E}">
        <p14:creationId xmlns:p14="http://schemas.microsoft.com/office/powerpoint/2010/main" val="77245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Akhir</a:t>
            </a:r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571756" y="804529"/>
            <a:ext cx="39118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Topik</a:t>
            </a:r>
            <a:r>
              <a:rPr lang="en-US" sz="3600" b="1" dirty="0"/>
              <a:t> </a:t>
            </a:r>
            <a:r>
              <a:rPr lang="en-US" sz="3600" b="1" dirty="0" err="1"/>
              <a:t>Sebelum</a:t>
            </a:r>
            <a:r>
              <a:rPr lang="en-US" sz="3600" b="1" dirty="0"/>
              <a:t> UAS</a:t>
            </a:r>
          </a:p>
        </p:txBody>
      </p:sp>
    </p:spTree>
    <p:extLst>
      <p:ext uri="{BB962C8B-B14F-4D97-AF65-F5344CB8AC3E}">
        <p14:creationId xmlns:p14="http://schemas.microsoft.com/office/powerpoint/2010/main" val="389121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dahulu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327352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Pendahuluan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77" y="544975"/>
            <a:ext cx="665176" cy="76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0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juan Pembelajar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4" y="716437"/>
            <a:ext cx="5910035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5537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Capaian</a:t>
            </a:r>
            <a:r>
              <a:rPr lang="en-US" sz="4400" b="1" dirty="0"/>
              <a:t> </a:t>
            </a:r>
            <a:r>
              <a:rPr lang="en-US" sz="4400" b="1" dirty="0" err="1"/>
              <a:t>Pembelajaran</a:t>
            </a:r>
            <a:endParaRPr lang="en-US" sz="4400" b="1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75" y="649446"/>
            <a:ext cx="791900" cy="63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6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mponen Penila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50687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Komponen</a:t>
            </a:r>
            <a:r>
              <a:rPr lang="en-US" sz="4400" b="1" dirty="0"/>
              <a:t> </a:t>
            </a:r>
            <a:r>
              <a:rPr lang="en-US" sz="4400" b="1" dirty="0" err="1"/>
              <a:t>Penilaian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12" y="616587"/>
            <a:ext cx="589305" cy="675421"/>
          </a:xfrm>
          <a:prstGeom prst="rect">
            <a:avLst/>
          </a:prstGeom>
        </p:spPr>
      </p:pic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3774122" y="1943100"/>
            <a:ext cx="4836478" cy="3228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6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824826"/>
            <a:ext cx="9144000" cy="176884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err="1"/>
              <a:t>Judul</a:t>
            </a:r>
            <a:r>
              <a:rPr lang="en-US" dirty="0"/>
              <a:t> 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2843408"/>
            <a:ext cx="9144000" cy="3376417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27261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24603" y="2217851"/>
            <a:ext cx="5529197" cy="1920647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 err="1"/>
              <a:t>Judul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57535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Tw Cen MT" panose="020B06020201040206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41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49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72239"/>
            <a:ext cx="5157787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72239"/>
            <a:ext cx="5183188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28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0120"/>
            <a:ext cx="10515600" cy="193167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7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105706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21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107481"/>
            <a:ext cx="5900448" cy="48007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02081" y="886379"/>
            <a:ext cx="3751066" cy="1218156"/>
          </a:xfrm>
        </p:spPr>
        <p:txBody>
          <a:bodyPr anchor="b"/>
          <a:lstStyle>
            <a:lvl1pPr>
              <a:defRPr sz="3200">
                <a:solidFill>
                  <a:srgbClr val="FFC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02081" y="2264241"/>
            <a:ext cx="3751066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99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061967" y="466091"/>
            <a:ext cx="4066216" cy="284304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5825" y="526915"/>
            <a:ext cx="3918815" cy="27105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817139" y="867524"/>
            <a:ext cx="4740881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7139" y="2245386"/>
            <a:ext cx="4740881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1061967" y="3560439"/>
            <a:ext cx="4066216" cy="284304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1135825" y="3621263"/>
            <a:ext cx="3918815" cy="27105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1813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9929" y="886379"/>
            <a:ext cx="4888191" cy="50218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918477" y="886379"/>
            <a:ext cx="5280565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7" y="2264241"/>
            <a:ext cx="5280565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395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Uraian Mat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9846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759637"/>
            <a:ext cx="10515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7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70701" y="1491242"/>
            <a:ext cx="3356431" cy="340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70701" y="605658"/>
            <a:ext cx="10851171" cy="701457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518071" y="1491242"/>
            <a:ext cx="3356431" cy="3405612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265441" y="1491242"/>
            <a:ext cx="3356431" cy="3405612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70700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4518071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265441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350358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30198" y="688159"/>
            <a:ext cx="8495847" cy="39094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30197" y="4751111"/>
            <a:ext cx="8495850" cy="1451728"/>
          </a:xfrm>
        </p:spPr>
        <p:txBody>
          <a:bodyPr>
            <a:normAutofit/>
          </a:bodyPr>
          <a:lstStyle>
            <a:lvl1pPr marL="0" indent="0" algn="just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2575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76887" y="404617"/>
            <a:ext cx="9184670" cy="701457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Media Placeholder 3"/>
          <p:cNvSpPr>
            <a:spLocks noGrp="1"/>
          </p:cNvSpPr>
          <p:nvPr>
            <p:ph type="media" sz="quarter" idx="13" hasCustomPrompt="1"/>
          </p:nvPr>
        </p:nvSpPr>
        <p:spPr>
          <a:xfrm>
            <a:off x="1576887" y="1319017"/>
            <a:ext cx="9184670" cy="5166377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Insert Video</a:t>
            </a:r>
          </a:p>
        </p:txBody>
      </p:sp>
    </p:spTree>
    <p:extLst>
      <p:ext uri="{BB962C8B-B14F-4D97-AF65-F5344CB8AC3E}">
        <p14:creationId xmlns:p14="http://schemas.microsoft.com/office/powerpoint/2010/main" val="383617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93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tih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19239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Latihan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19" y="581911"/>
            <a:ext cx="650450" cy="74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3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ftar Pusta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364074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Daftar</a:t>
            </a:r>
            <a:r>
              <a:rPr lang="en-US" sz="4400" b="1" dirty="0"/>
              <a:t> </a:t>
            </a:r>
            <a:r>
              <a:rPr lang="en-US" sz="4400" b="1" dirty="0" err="1"/>
              <a:t>Pustaka</a:t>
            </a:r>
            <a:endParaRPr lang="en-US" sz="4400" b="1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7" y="661014"/>
            <a:ext cx="606720" cy="6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4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u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siness people  clapping their hands at the meeting Premium Photo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530"/>
          <a:stretch/>
        </p:blipFill>
        <p:spPr bwMode="auto">
          <a:xfrm>
            <a:off x="2790216" y="-5350"/>
            <a:ext cx="9401784" cy="686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 userDrawn="1"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2333732" y="2541902"/>
            <a:ext cx="3048000" cy="176884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Terima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Kasih</a:t>
            </a:r>
            <a:r>
              <a:rPr lang="en-US" dirty="0"/>
              <a:t>.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9" name="Rounded Rectangle 8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987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ujuan Pembelajar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753475" y="1125069"/>
            <a:ext cx="6438605" cy="769441"/>
            <a:chOff x="753475" y="569942"/>
            <a:chExt cx="6438605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4" y="716437"/>
              <a:ext cx="5910035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553767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Capaian</a:t>
              </a:r>
              <a:r>
                <a:rPr lang="en-US" sz="4400" b="1" dirty="0">
                  <a:solidFill>
                    <a:schemeClr val="accent3"/>
                  </a:solidFill>
                </a:rPr>
                <a:t> </a:t>
              </a:r>
              <a:r>
                <a:rPr lang="en-US" sz="4400" b="1" dirty="0" err="1">
                  <a:solidFill>
                    <a:schemeClr val="accent3"/>
                  </a:solidFill>
                </a:rPr>
                <a:t>Pembelajaran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475" y="649446"/>
              <a:ext cx="791900" cy="632821"/>
            </a:xfrm>
            <a:prstGeom prst="rect">
              <a:avLst/>
            </a:prstGeom>
          </p:spPr>
        </p:pic>
      </p:grp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838200" y="2139885"/>
            <a:ext cx="10515600" cy="3971090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22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2">
  <p:cSld name="1_Cover 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16;p20"/>
          <p:cNvSpPr>
            <a:spLocks noGrp="1"/>
          </p:cNvSpPr>
          <p:nvPr>
            <p:ph type="pic" idx="2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sp>
      <p:grpSp>
        <p:nvGrpSpPr>
          <p:cNvPr id="17" name="Google Shape;17;p20"/>
          <p:cNvGrpSpPr/>
          <p:nvPr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18" name="Google Shape;18;p20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9" name="Google Shape;19;p20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20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  <a:defRPr sz="5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/>
          <p:nvPr/>
        </p:nvSpPr>
        <p:spPr>
          <a:xfrm>
            <a:off x="588970" y="3975211"/>
            <a:ext cx="1659545" cy="4571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389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osen Pengamp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</a:lstStyle>
          <a:p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154979" y="2275496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Gelar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5164108" y="1988095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Dosen</a:t>
            </a:r>
            <a:r>
              <a:rPr lang="en-US" sz="2000" dirty="0"/>
              <a:t> </a:t>
            </a:r>
            <a:r>
              <a:rPr lang="en-US" sz="2000" dirty="0" err="1"/>
              <a:t>Koordinator</a:t>
            </a:r>
            <a:r>
              <a:rPr lang="en-US" sz="2000" dirty="0"/>
              <a:t>: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54979" y="3176643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NID</a:t>
            </a:r>
          </a:p>
        </p:txBody>
      </p:sp>
      <p:sp>
        <p:nvSpPr>
          <p:cNvPr id="16" name="Title 1"/>
          <p:cNvSpPr txBox="1">
            <a:spLocks/>
          </p:cNvSpPr>
          <p:nvPr userDrawn="1"/>
        </p:nvSpPr>
        <p:spPr>
          <a:xfrm>
            <a:off x="5164108" y="2889242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NID: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54979" y="4077790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E-mail</a:t>
            </a:r>
          </a:p>
        </p:txBody>
      </p:sp>
      <p:sp>
        <p:nvSpPr>
          <p:cNvPr id="18" name="Title 1"/>
          <p:cNvSpPr txBox="1">
            <a:spLocks/>
          </p:cNvSpPr>
          <p:nvPr userDrawn="1"/>
        </p:nvSpPr>
        <p:spPr>
          <a:xfrm>
            <a:off x="5164108" y="3790389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E-mail: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8753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70264"/>
            <a:ext cx="12110720" cy="140073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10071739" y="152987"/>
            <a:ext cx="1971606" cy="729735"/>
            <a:chOff x="648649" y="653143"/>
            <a:chExt cx="2138362" cy="791455"/>
          </a:xfrm>
        </p:grpSpPr>
        <p:sp>
          <p:nvSpPr>
            <p:cNvPr id="10" name="Rounded Rectangle 9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 rotWithShape="1"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888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0" r:id="rId2"/>
    <p:sldLayoutId id="2147483664" r:id="rId3"/>
    <p:sldLayoutId id="2147483676" r:id="rId4"/>
    <p:sldLayoutId id="2147483677" r:id="rId5"/>
    <p:sldLayoutId id="2147483674" r:id="rId6"/>
    <p:sldLayoutId id="2147483671" r:id="rId7"/>
    <p:sldLayoutId id="2147483675" r:id="rId8"/>
    <p:sldLayoutId id="2147483649" r:id="rId9"/>
    <p:sldLayoutId id="2147483665" r:id="rId10"/>
    <p:sldLayoutId id="2147483651" r:id="rId11"/>
    <p:sldLayoutId id="2147483652" r:id="rId12"/>
    <p:sldLayoutId id="2147483653" r:id="rId13"/>
    <p:sldLayoutId id="2147483654" r:id="rId14"/>
    <p:sldLayoutId id="2147483650" r:id="rId15"/>
    <p:sldLayoutId id="2147483657" r:id="rId16"/>
    <p:sldLayoutId id="2147483668" r:id="rId17"/>
    <p:sldLayoutId id="2147483678" r:id="rId18"/>
    <p:sldLayoutId id="2147483681" r:id="rId19"/>
    <p:sldLayoutId id="2147483666" r:id="rId20"/>
    <p:sldLayoutId id="2147483669" r:id="rId21"/>
    <p:sldLayoutId id="2147483667" r:id="rId22"/>
    <p:sldLayoutId id="2147483655" r:id="rId23"/>
    <p:sldLayoutId id="2147483672" r:id="rId24"/>
    <p:sldLayoutId id="2147483673" r:id="rId25"/>
    <p:sldLayoutId id="2147483663" r:id="rId26"/>
    <p:sldLayoutId id="2147483682" r:id="rId27"/>
    <p:sldLayoutId id="2147483683" r:id="rId28"/>
    <p:sldLayoutId id="2147483684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E60AC"/>
          </a:solidFill>
          <a:latin typeface="Tw Cen MT" panose="020B0602020104020603" pitchFamily="34" charset="0"/>
          <a:ea typeface="+mj-ea"/>
          <a:cs typeface="+mj-cs"/>
        </a:defRPr>
      </a:lvl1pPr>
    </p:titleStyle>
    <p:bodyStyle>
      <a:lvl1pPr marL="514350" indent="-514350" algn="just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1pPr>
      <a:lvl2pPr marL="914400" indent="-457200" algn="just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lphaL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86966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Machine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</a:t>
            </a:r>
            <a:endParaRPr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218" name="Google Shape;218;p1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822483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68275" indent="0"/>
            <a:r>
              <a:rPr lang="en-US" b="1" dirty="0" err="1"/>
              <a:t>Tantangan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endParaRPr lang="en-US" b="1" dirty="0"/>
          </a:p>
          <a:p>
            <a:pPr marL="168275" indent="0"/>
            <a:r>
              <a:rPr lang="en-US" b="1" dirty="0"/>
              <a:t>Machine Learning</a:t>
            </a:r>
          </a:p>
          <a:p>
            <a:endParaRPr lang="en-US" b="1" dirty="0"/>
          </a:p>
        </p:txBody>
      </p:sp>
      <p:sp>
        <p:nvSpPr>
          <p:cNvPr id="219" name="Google Shape;219;p1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 dirty="0" err="1"/>
              <a:t>Sesi</a:t>
            </a:r>
            <a:r>
              <a:rPr lang="en-US" dirty="0"/>
              <a:t> 14</a:t>
            </a:r>
            <a:endParaRPr dirty="0"/>
          </a:p>
        </p:txBody>
      </p:sp>
      <p:sp>
        <p:nvSpPr>
          <p:cNvPr id="220" name="Google Shape;220;p1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 dirty="0"/>
              <a:t>PTI411</a:t>
            </a:r>
            <a:endParaRPr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6" r="2663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9944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154979" y="2248625"/>
            <a:ext cx="6198821" cy="406777"/>
          </a:xfrm>
        </p:spPr>
        <p:txBody>
          <a:bodyPr>
            <a:normAutofit/>
          </a:bodyPr>
          <a:lstStyle/>
          <a:p>
            <a:r>
              <a:rPr lang="en-US" dirty="0"/>
              <a:t>Dr. Rahmat Budiarsa, </a:t>
            </a:r>
            <a:r>
              <a:rPr lang="en-US" dirty="0" err="1"/>
              <a:t>S.Kom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AD49BF15-A3C7-8807-54BE-DD9F243DEA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ID"/>
              <a:t>rahmat.budiarsa@esaunggul.ac.id</a:t>
            </a:r>
          </a:p>
          <a:p>
            <a:endParaRPr lang="en-ID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855CCF90-E809-9E7D-836F-C4D3D4F3AF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ID" dirty="0"/>
              <a:t>8482</a:t>
            </a:r>
          </a:p>
          <a:p>
            <a:endParaRPr lang="en-ID" dirty="0"/>
          </a:p>
        </p:txBody>
      </p:sp>
      <p:pic>
        <p:nvPicPr>
          <p:cNvPr id="26" name="Picture Placeholder 25" descr="A person in a suit and tie&#10;&#10;AI-generated content may be incorrect.">
            <a:extLst>
              <a:ext uri="{FF2B5EF4-FFF2-40B4-BE49-F238E27FC236}">
                <a16:creationId xmlns:a16="http://schemas.microsoft.com/office/drawing/2014/main" xmlns="" id="{DE1D53B0-E00D-EA8D-1E4A-F8F7FAC420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" b="20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91297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Pengenalan</a:t>
            </a:r>
            <a:r>
              <a:rPr lang="en-US" dirty="0"/>
              <a:t> 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Supervised Learning vs Unsupervised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Algoritma</a:t>
            </a:r>
            <a:r>
              <a:rPr lang="en-US" dirty="0"/>
              <a:t> Supervised Learning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Algoritma</a:t>
            </a:r>
            <a:r>
              <a:rPr lang="en-US" dirty="0"/>
              <a:t> Unsupervised Learning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Supervised Learning: Classification dan </a:t>
            </a:r>
            <a:r>
              <a:rPr lang="en-US" dirty="0" err="1"/>
              <a:t>Regresi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Supervised Learning: Decision Tree (DT)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Supervised Machine Learning Algorithm: Support Vector Machine (SVM)</a:t>
            </a:r>
          </a:p>
        </p:txBody>
      </p:sp>
    </p:spTree>
    <p:extLst>
      <p:ext uri="{BB962C8B-B14F-4D97-AF65-F5344CB8AC3E}">
        <p14:creationId xmlns:p14="http://schemas.microsoft.com/office/powerpoint/2010/main" val="123714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Supervised Learning: Neural Network (Deep Learning)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Supervised Learning: K-Nearest Neighbor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Unsupervised Learning: Clustering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Unsupervised Learning: Principal Component Analysis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 dan </a:t>
            </a:r>
            <a:r>
              <a:rPr lang="en-US" dirty="0" err="1"/>
              <a:t>Rekayasa</a:t>
            </a:r>
            <a:r>
              <a:rPr lang="en-US" dirty="0"/>
              <a:t> Data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Evaluasi</a:t>
            </a:r>
            <a:r>
              <a:rPr lang="en-US" dirty="0"/>
              <a:t> dan </a:t>
            </a:r>
            <a:r>
              <a:rPr lang="en-US" dirty="0" err="1"/>
              <a:t>Perbaikan</a:t>
            </a:r>
            <a:r>
              <a:rPr lang="en-US" dirty="0"/>
              <a:t> Model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b="1" dirty="0" err="1"/>
              <a:t>Tantangan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Machine Learning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706FE28-2403-696B-B710-7C97D8373120}"/>
              </a:ext>
            </a:extLst>
          </p:cNvPr>
          <p:cNvSpPr/>
          <p:nvPr/>
        </p:nvSpPr>
        <p:spPr>
          <a:xfrm>
            <a:off x="6243862" y="3611188"/>
            <a:ext cx="2531165" cy="1588168"/>
          </a:xfrm>
          <a:prstGeom prst="rect">
            <a:avLst/>
          </a:prstGeom>
          <a:noFill/>
          <a:ln w="57150">
            <a:solidFill>
              <a:srgbClr val="0E60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1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3"/>
          </p:nvPr>
        </p:nvSpPr>
        <p:spPr>
          <a:xfrm>
            <a:off x="838200" y="2139885"/>
            <a:ext cx="10515600" cy="3960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Setelah</a:t>
            </a:r>
            <a:r>
              <a:rPr lang="en-US" b="1" dirty="0"/>
              <a:t> </a:t>
            </a:r>
            <a:r>
              <a:rPr lang="en-US" b="1" dirty="0" err="1"/>
              <a:t>mempelajari</a:t>
            </a:r>
            <a:r>
              <a:rPr lang="en-US" b="1" dirty="0"/>
              <a:t> </a:t>
            </a:r>
            <a:r>
              <a:rPr lang="en-US" b="1" dirty="0" err="1"/>
              <a:t>materi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</a:t>
            </a:r>
            <a:r>
              <a:rPr lang="en-US" b="1" dirty="0" err="1"/>
              <a:t>sesi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, </a:t>
            </a:r>
            <a:r>
              <a:rPr lang="en-US" b="1" dirty="0" err="1"/>
              <a:t>diharapkan</a:t>
            </a:r>
            <a:r>
              <a:rPr lang="en-US" b="1" dirty="0"/>
              <a:t> </a:t>
            </a:r>
            <a:r>
              <a:rPr lang="en-US" b="1" dirty="0" err="1"/>
              <a:t>mahasiswa</a:t>
            </a:r>
            <a:r>
              <a:rPr lang="en-US" b="1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Mampu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tantangan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Mampu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siapa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terlibat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regulasi</a:t>
            </a:r>
            <a:r>
              <a:rPr lang="en-US" dirty="0"/>
              <a:t> 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Mampu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siapa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bertanggungjawab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/>
              <a:t> 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67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8432" y="2275158"/>
            <a:ext cx="6232357" cy="1920647"/>
          </a:xfrm>
        </p:spPr>
        <p:txBody>
          <a:bodyPr>
            <a:noAutofit/>
          </a:bodyPr>
          <a:lstStyle/>
          <a:p>
            <a:r>
              <a:rPr lang="sv-SE" sz="5400" dirty="0"/>
              <a:t>TANTANGAN DALAM </a:t>
            </a:r>
            <a:br>
              <a:rPr lang="sv-SE" sz="5400" dirty="0"/>
            </a:br>
            <a:r>
              <a:rPr lang="sv-SE" sz="5400" dirty="0"/>
              <a:t>MACHINE LEARNING</a:t>
            </a:r>
            <a:br>
              <a:rPr lang="sv-SE" sz="5400" dirty="0"/>
            </a:br>
            <a:endParaRPr lang="sv-SE" sz="54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xmlns="" id="{9EFAA193-4A13-4EF1-8FD0-E9CD547E716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9" r="197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8615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90563" y="750583"/>
            <a:ext cx="5127233" cy="796874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E60AC"/>
                </a:solidFill>
              </a:rPr>
              <a:t>Tantangan</a:t>
            </a:r>
            <a:r>
              <a:rPr lang="en-US" dirty="0">
                <a:solidFill>
                  <a:srgbClr val="0E60AC"/>
                </a:solidFill>
              </a:rPr>
              <a:t> </a:t>
            </a:r>
            <a:r>
              <a:rPr lang="en-US" dirty="0" err="1">
                <a:solidFill>
                  <a:srgbClr val="0E60AC"/>
                </a:solidFill>
              </a:rPr>
              <a:t>dalam</a:t>
            </a:r>
            <a:r>
              <a:rPr lang="en-US" dirty="0">
                <a:solidFill>
                  <a:srgbClr val="0E60AC"/>
                </a:solidFill>
              </a:rPr>
              <a:t> 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4843" y="1645173"/>
            <a:ext cx="6187868" cy="343215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D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alam</a:t>
            </a:r>
            <a:r>
              <a:rPr lang="id-ID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jenis</a:t>
            </a:r>
            <a:r>
              <a:rPr lang="id-ID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en-US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ML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apa</a:t>
            </a:r>
            <a:r>
              <a:rPr lang="id-ID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pun,</a:t>
            </a:r>
            <a:r>
              <a:rPr lang="id-ID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en-US" sz="2400" spc="15" dirty="0" err="1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harus</a:t>
            </a:r>
            <a:r>
              <a:rPr lang="en-US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en-US" sz="2400" spc="15" dirty="0" err="1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dipertimbangkan</a:t>
            </a:r>
            <a:r>
              <a:rPr lang="en-US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en-US" sz="2400" spc="15" dirty="0" err="1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beberapa</a:t>
            </a:r>
            <a:r>
              <a:rPr lang="en-US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en-US" sz="2400" spc="15" dirty="0" err="1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hal</a:t>
            </a:r>
            <a:r>
              <a:rPr lang="en-US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penting</a:t>
            </a:r>
            <a:r>
              <a:rPr lang="id-ID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tentang</a:t>
            </a:r>
            <a:r>
              <a:rPr lang="en-US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: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AutoNum type="arabicParenR"/>
            </a:pP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bagaimana</a:t>
            </a:r>
            <a:r>
              <a:rPr lang="en-US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m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emutuskan</a:t>
            </a:r>
            <a:r>
              <a:rPr lang="en-US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,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AutoNum type="arabicParenR"/>
            </a:pP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kapan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akan</a:t>
            </a:r>
            <a:r>
              <a:rPr lang="id-ID" sz="2400" spc="1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mengaturnya, </a:t>
            </a:r>
            <a:endParaRPr lang="en-US" sz="2400" dirty="0">
              <a:solidFill>
                <a:srgbClr val="000000"/>
              </a:solidFill>
              <a:latin typeface="+mn-lt"/>
              <a:ea typeface="Arial MT"/>
              <a:cs typeface="Arial M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AutoNum type="arabicParenR"/>
            </a:pP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siapa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yang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harus</a:t>
            </a:r>
            <a:r>
              <a:rPr lang="id-ID" sz="2400" spc="1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mengaturnya dan setiap</a:t>
            </a:r>
            <a:r>
              <a:rPr lang="id-ID" sz="2400" spc="1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model</a:t>
            </a:r>
            <a:r>
              <a:rPr lang="id-ID" sz="2400" spc="1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yang</a:t>
            </a:r>
            <a:r>
              <a:rPr lang="id-ID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dihasilkan</a:t>
            </a:r>
            <a:r>
              <a:rPr lang="id-ID" sz="2400" spc="1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oleh</a:t>
            </a:r>
            <a:r>
              <a:rPr lang="id-ID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suatu</a:t>
            </a:r>
            <a:r>
              <a:rPr lang="id-ID" sz="2400" spc="1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algoritma</a:t>
            </a:r>
            <a:r>
              <a:rPr lang="id-ID" sz="2400" spc="15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disusun,</a:t>
            </a:r>
            <a:r>
              <a:rPr lang="id-ID" sz="2400" spc="1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endParaRPr lang="en-US" sz="2400" spc="10" dirty="0">
              <a:solidFill>
                <a:srgbClr val="000000"/>
              </a:solidFill>
              <a:latin typeface="+mn-lt"/>
              <a:ea typeface="Arial MT"/>
              <a:cs typeface="Arial MT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AutoNum type="arabicParenR"/>
            </a:pP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bagaimana merancang peraturan yang diterapkan pada pengembangan dan</a:t>
            </a:r>
            <a:r>
              <a:rPr lang="id-ID" sz="2400" spc="-19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Arial MT"/>
                <a:cs typeface="Arial MT"/>
              </a:rPr>
              <a:t>penggunaannya.</a:t>
            </a:r>
            <a:endParaRPr lang="en-ID" sz="2400" dirty="0">
              <a:solidFill>
                <a:srgbClr val="000000"/>
              </a:solidFill>
              <a:effectLst/>
              <a:latin typeface="+mn-lt"/>
              <a:ea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3200" dirty="0">
              <a:solidFill>
                <a:srgbClr val="000000"/>
              </a:solidFill>
              <a:latin typeface="+mn-lt"/>
              <a:ea typeface="Times New Roman" panose="02020603050405020304" pitchFamily="18" charset="0"/>
            </a:endParaRPr>
          </a:p>
        </p:txBody>
      </p:sp>
      <p:pic>
        <p:nvPicPr>
          <p:cNvPr id="7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62" r="17562"/>
          <a:stretch>
            <a:fillRect/>
          </a:stretch>
        </p:blipFill>
        <p:spPr>
          <a:xfrm>
            <a:off x="449598" y="1138488"/>
            <a:ext cx="4887912" cy="5022850"/>
          </a:xfrm>
        </p:spPr>
      </p:pic>
    </p:spTree>
    <p:extLst>
      <p:ext uri="{BB962C8B-B14F-4D97-AF65-F5344CB8AC3E}">
        <p14:creationId xmlns:p14="http://schemas.microsoft.com/office/powerpoint/2010/main" val="56345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90563" y="750583"/>
            <a:ext cx="5127233" cy="79687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E60AC"/>
                </a:solidFill>
              </a:rPr>
              <a:t>HETEROGENITAS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4843" y="1645173"/>
            <a:ext cx="6187868" cy="3432154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Salah satu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sumber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terpenting heterogenitas pembelajaran mesin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berasal dari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beragamnya kegunaannya.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endParaRPr lang="en-US" sz="2400" spc="5" dirty="0">
              <a:solidFill>
                <a:srgbClr val="000000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Penggunaan</a:t>
            </a:r>
            <a:r>
              <a:rPr lang="en-US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ML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sangat</a:t>
            </a:r>
            <a:r>
              <a:rPr lang="id-ID" sz="2400" spc="1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bervariasi.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Pertimbangkan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contoh kecil cara berbagai entitas menggunakan</a:t>
            </a:r>
            <a:r>
              <a:rPr lang="id-ID" sz="2400" spc="-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algoritma</a:t>
            </a:r>
            <a:r>
              <a:rPr lang="id-ID" sz="2400" spc="-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pembelajaran mesin</a:t>
            </a:r>
            <a:r>
              <a:rPr lang="en-US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pada </a:t>
            </a:r>
            <a:r>
              <a:rPr lang="en-US" sz="2400" dirty="0" err="1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halaman</a:t>
            </a:r>
            <a:r>
              <a:rPr lang="en-US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berikut</a:t>
            </a:r>
            <a:r>
              <a:rPr lang="en-US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.</a:t>
            </a:r>
            <a:endParaRPr lang="en-ID" sz="2400" dirty="0">
              <a:solidFill>
                <a:srgbClr val="000000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3200" dirty="0">
              <a:solidFill>
                <a:srgbClr val="000000"/>
              </a:solidFill>
              <a:latin typeface="+mn-lt"/>
              <a:ea typeface="Times New Roman" panose="02020603050405020304" pitchFamily="18" charset="0"/>
            </a:endParaRPr>
          </a:p>
        </p:txBody>
      </p:sp>
      <p:pic>
        <p:nvPicPr>
          <p:cNvPr id="7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62" r="17562"/>
          <a:stretch>
            <a:fillRect/>
          </a:stretch>
        </p:blipFill>
        <p:spPr>
          <a:xfrm>
            <a:off x="449598" y="1138488"/>
            <a:ext cx="4887912" cy="5022850"/>
          </a:xfrm>
        </p:spPr>
      </p:pic>
    </p:spTree>
    <p:extLst>
      <p:ext uri="{BB962C8B-B14F-4D97-AF65-F5344CB8AC3E}">
        <p14:creationId xmlns:p14="http://schemas.microsoft.com/office/powerpoint/2010/main" val="165863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35541" y="2275158"/>
            <a:ext cx="5529197" cy="1920647"/>
          </a:xfrm>
        </p:spPr>
        <p:txBody>
          <a:bodyPr>
            <a:noAutofit/>
          </a:bodyPr>
          <a:lstStyle/>
          <a:p>
            <a:r>
              <a:rPr lang="sv-SE" sz="5400" dirty="0"/>
              <a:t>Contoh Heterogenitas ML</a:t>
            </a:r>
            <a:br>
              <a:rPr lang="sv-SE" sz="5400" dirty="0"/>
            </a:br>
            <a:endParaRPr lang="sv-SE" sz="54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xmlns="" id="{9EFAA193-4A13-4EF1-8FD0-E9CD547E716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9" r="197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7446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90563" y="750583"/>
            <a:ext cx="5883816" cy="79687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E60AC"/>
                </a:solidFill>
              </a:rPr>
              <a:t>HETEROGENITAS 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4843" y="1645173"/>
            <a:ext cx="6187868" cy="3432154"/>
          </a:xfrm>
        </p:spPr>
        <p:txBody>
          <a:bodyPr>
            <a:noAutofit/>
          </a:bodyPr>
          <a:lstStyle/>
          <a:p>
            <a:pPr marL="742950" lvl="1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  <a:tabLst>
                <a:tab pos="667385" algn="l"/>
              </a:tabLst>
            </a:pP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Platform media sosial menggunakannya untuk memilih dan</a:t>
            </a:r>
            <a:r>
              <a:rPr lang="id-ID" sz="2400" spc="-19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US" sz="2400" spc="-190" dirty="0" err="1">
                <a:latin typeface="+mn-lt"/>
                <a:ea typeface="Calibri" panose="020F0502020204030204" pitchFamily="34" charset="0"/>
              </a:rPr>
              <a:t>merekomendasikan</a:t>
            </a:r>
            <a:r>
              <a:rPr lang="en-US" sz="2400" spc="-190" dirty="0"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konten untuk pengguna;</a:t>
            </a:r>
            <a:endParaRPr lang="en-ID" sz="2400" dirty="0">
              <a:effectLst/>
              <a:latin typeface="+mn-lt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  <a:tabLst>
                <a:tab pos="667385" algn="l"/>
              </a:tabLst>
            </a:pP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Departemen radiologi rumah sakit menggunakannya untuk mendeteksi</a:t>
            </a:r>
            <a:r>
              <a:rPr lang="id-ID" sz="2400" spc="-19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kanker pada pasien;</a:t>
            </a:r>
            <a:endParaRPr lang="en-ID" sz="2400" dirty="0">
              <a:effectLst/>
              <a:latin typeface="+mn-lt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  <a:tabLst>
                <a:tab pos="667385" algn="l"/>
              </a:tabLst>
            </a:pP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Perusahaan kartu kredit menggunakannya untuk mengidentifikasi</a:t>
            </a:r>
            <a:r>
              <a:rPr lang="id-ID" sz="2400" spc="-19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US" sz="2400" spc="-190" dirty="0">
                <a:latin typeface="+mn-lt"/>
                <a:ea typeface="Calibri" panose="020F0502020204030204" pitchFamily="34" charset="0"/>
              </a:rPr>
              <a:t>fraud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;</a:t>
            </a:r>
            <a:endParaRPr lang="en-ID" sz="2400" dirty="0">
              <a:effectLst/>
              <a:latin typeface="+mn-lt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  <a:tabLst>
                <a:tab pos="659130" algn="l"/>
              </a:tabLst>
            </a:pP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Maskapai</a:t>
            </a:r>
            <a:r>
              <a:rPr lang="id-ID" sz="2400" spc="7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penerbangan</a:t>
            </a:r>
            <a:r>
              <a:rPr lang="id-ID" sz="2400" spc="7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komersial</a:t>
            </a:r>
            <a:r>
              <a:rPr lang="id-ID" sz="2400" spc="7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menggunakannya</a:t>
            </a:r>
            <a:r>
              <a:rPr lang="id-ID" sz="2400" spc="7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untuk</a:t>
            </a:r>
            <a:r>
              <a:rPr lang="id-ID" sz="2400" spc="7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mengoperasikan</a:t>
            </a:r>
            <a:r>
              <a:rPr lang="id-ID" sz="2400" spc="7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pesawat dengan sistem</a:t>
            </a:r>
            <a:r>
              <a:rPr lang="id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uji</a:t>
            </a:r>
            <a:r>
              <a:rPr lang="id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coba</a:t>
            </a:r>
            <a:r>
              <a:rPr lang="id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otomatis;</a:t>
            </a:r>
            <a:endParaRPr lang="en-ID" sz="2400" dirty="0">
              <a:effectLst/>
              <a:latin typeface="+mn-lt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id-ID" sz="2400" dirty="0">
              <a:solidFill>
                <a:srgbClr val="000000"/>
              </a:solidFill>
              <a:effectLst/>
              <a:latin typeface="+mn-lt"/>
              <a:ea typeface="Calibri" panose="020F0502020204030204" pitchFamily="34" charset="0"/>
            </a:endParaRPr>
          </a:p>
        </p:txBody>
      </p:sp>
      <p:pic>
        <p:nvPicPr>
          <p:cNvPr id="7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62" r="17562"/>
          <a:stretch>
            <a:fillRect/>
          </a:stretch>
        </p:blipFill>
        <p:spPr>
          <a:xfrm>
            <a:off x="449598" y="1138488"/>
            <a:ext cx="4887912" cy="5022850"/>
          </a:xfrm>
        </p:spPr>
      </p:pic>
    </p:spTree>
    <p:extLst>
      <p:ext uri="{BB962C8B-B14F-4D97-AF65-F5344CB8AC3E}">
        <p14:creationId xmlns:p14="http://schemas.microsoft.com/office/powerpoint/2010/main" val="3233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90563" y="750583"/>
            <a:ext cx="5883816" cy="79687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E60AC"/>
                </a:solidFill>
              </a:rPr>
              <a:t>CHATGPT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4534" y="2306910"/>
            <a:ext cx="6187868" cy="3432154"/>
          </a:xfrm>
        </p:spPr>
        <p:txBody>
          <a:bodyPr>
            <a:noAutofit/>
          </a:bodyPr>
          <a:lstStyle/>
          <a:p>
            <a:pPr marL="252730" indent="-5715" algn="just">
              <a:lnSpc>
                <a:spcPct val="100000"/>
              </a:lnSpc>
              <a:spcBef>
                <a:spcPts val="0"/>
              </a:spcBef>
            </a:pP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ChatGPT saat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ini,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misalnya, berjalan pada model yang sangat berbeda dari model bahasa sebelumnya, dan hanya</a:t>
            </a:r>
            <a:r>
              <a:rPr lang="id-ID" sz="2400" spc="-19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akan diperbarui, ditingkatkan, dan dimodifikasi berulang kali di tahun-tahun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mendatang</a:t>
            </a:r>
            <a:r>
              <a:rPr lang="en-US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. B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eberapa algoritma, performanya dapat terus berkembang</a:t>
            </a:r>
            <a:r>
              <a:rPr lang="id-ID" sz="2400" spc="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seiring</a:t>
            </a:r>
            <a:r>
              <a:rPr lang="id-ID" sz="2400" spc="15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dengan</a:t>
            </a:r>
            <a:r>
              <a:rPr lang="id-ID" sz="2400" spc="2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ditemukan</a:t>
            </a:r>
            <a:r>
              <a:rPr lang="id-ID" sz="2400" spc="2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dan</a:t>
            </a:r>
            <a:r>
              <a:rPr lang="id-ID" sz="2400" spc="2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diprosesnya</a:t>
            </a:r>
            <a:r>
              <a:rPr lang="id-ID" sz="2400" spc="2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data</a:t>
            </a:r>
            <a:r>
              <a:rPr lang="id-ID" sz="2400" spc="2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baru.</a:t>
            </a:r>
            <a:endParaRPr lang="en-ID" sz="2400" dirty="0">
              <a:solidFill>
                <a:srgbClr val="000000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id-ID" sz="2400" dirty="0">
              <a:solidFill>
                <a:srgbClr val="000000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>
              <a:solidFill>
                <a:srgbClr val="000000"/>
              </a:solidFill>
              <a:latin typeface="+mn-lt"/>
              <a:ea typeface="Times New Roman" panose="02020603050405020304" pitchFamily="18" charset="0"/>
            </a:endParaRPr>
          </a:p>
        </p:txBody>
      </p:sp>
      <p:pic>
        <p:nvPicPr>
          <p:cNvPr id="7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62" r="17562"/>
          <a:stretch>
            <a:fillRect/>
          </a:stretch>
        </p:blipFill>
        <p:spPr>
          <a:xfrm>
            <a:off x="449598" y="1138488"/>
            <a:ext cx="4887912" cy="5022850"/>
          </a:xfrm>
        </p:spPr>
      </p:pic>
      <p:pic>
        <p:nvPicPr>
          <p:cNvPr id="1026" name="Picture 2" descr="ChatGPT - Wikipedia">
            <a:extLst>
              <a:ext uri="{FF2B5EF4-FFF2-40B4-BE49-F238E27FC236}">
                <a16:creationId xmlns:a16="http://schemas.microsoft.com/office/drawing/2014/main" xmlns="" id="{E80A5971-5FD9-5B9A-18F0-3BED47605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368" y="328968"/>
            <a:ext cx="1316205" cy="131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63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81489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Algoritma</a:t>
            </a:r>
            <a:r>
              <a:rPr lang="id-ID" sz="2400" spc="23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pembelajaran</a:t>
            </a:r>
            <a:r>
              <a:rPr lang="id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mesin</a:t>
            </a:r>
            <a:r>
              <a:rPr lang="id-ID" sz="2400" spc="6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yang</a:t>
            </a:r>
            <a:r>
              <a:rPr lang="id-ID" sz="2400" spc="6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digunakan</a:t>
            </a:r>
            <a:r>
              <a:rPr lang="id-ID" sz="2400" spc="6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sebagai</a:t>
            </a:r>
            <a:r>
              <a:rPr lang="id-ID" sz="2400" spc="6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bagian</a:t>
            </a:r>
            <a:r>
              <a:rPr lang="id-ID" sz="2400" spc="6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dari</a:t>
            </a:r>
            <a:r>
              <a:rPr lang="id-ID" sz="2400" spc="6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sistem</a:t>
            </a:r>
            <a:r>
              <a:rPr lang="id-ID" sz="2400" spc="6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penetapan</a:t>
            </a:r>
            <a:r>
              <a:rPr lang="id-ID" sz="2400" spc="6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harga </a:t>
            </a:r>
            <a:r>
              <a:rPr lang="id-ID" sz="2400" spc="-22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otomatis</a:t>
            </a:r>
            <a:r>
              <a:rPr lang="id-ID" sz="2400" spc="3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oleh</a:t>
            </a:r>
            <a:r>
              <a:rPr lang="id-ID" sz="2400" spc="2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pengecer</a:t>
            </a:r>
            <a:r>
              <a:rPr lang="id-ID" sz="2400" spc="2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online,</a:t>
            </a:r>
            <a:r>
              <a:rPr lang="id-ID" sz="2400" spc="2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misalnya,</a:t>
            </a:r>
            <a:r>
              <a:rPr lang="id-ID" sz="2400" spc="2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dapat</a:t>
            </a:r>
            <a:r>
              <a:rPr lang="id-ID" sz="2400" spc="3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berkontribusi terhadap</a:t>
            </a:r>
            <a:r>
              <a:rPr lang="id-ID" sz="2400" spc="6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perilaku</a:t>
            </a:r>
            <a:r>
              <a:rPr lang="id-ID" sz="2400" spc="6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anti-persaingan</a:t>
            </a:r>
            <a:r>
              <a:rPr lang="id-ID" sz="2400" spc="6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di</a:t>
            </a:r>
            <a:r>
              <a:rPr lang="id-ID" sz="2400" spc="7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pasar.</a:t>
            </a:r>
            <a:r>
              <a:rPr lang="id-ID" sz="2400" spc="70" dirty="0">
                <a:effectLst/>
                <a:latin typeface="+mn-lt"/>
                <a:ea typeface="Calibri" panose="020F0502020204030204" pitchFamily="34" charset="0"/>
              </a:rPr>
              <a:t> </a:t>
            </a:r>
            <a:endParaRPr lang="en-ID" sz="2400" dirty="0">
              <a:effectLst/>
              <a:latin typeface="+mn-lt"/>
              <a:ea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d-ID" sz="1800" dirty="0">
              <a:solidFill>
                <a:srgbClr val="000000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390"/>
              </a:spcBef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3769"/>
            <a:ext cx="10515600" cy="1057062"/>
          </a:xfrm>
        </p:spPr>
        <p:txBody>
          <a:bodyPr>
            <a:normAutofit/>
          </a:bodyPr>
          <a:lstStyle/>
          <a:p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Beberapa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contoh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penerapan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ML yang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membutuhkan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regulasi</a:t>
            </a:r>
            <a:endParaRPr lang="en-ID" sz="5400" dirty="0">
              <a:latin typeface="+mn-lt"/>
            </a:endParaRPr>
          </a:p>
        </p:txBody>
      </p:sp>
      <p:pic>
        <p:nvPicPr>
          <p:cNvPr id="2050" name="Picture 2" descr="Bouncing price' technique – good or bad? – Price2Spy® Blog">
            <a:extLst>
              <a:ext uri="{FF2B5EF4-FFF2-40B4-BE49-F238E27FC236}">
                <a16:creationId xmlns:a16="http://schemas.microsoft.com/office/drawing/2014/main" xmlns="" id="{5D6C50CF-2618-844C-D6EC-91E5BB60A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092" y="3633537"/>
            <a:ext cx="2932697" cy="185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81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81489"/>
            <a:ext cx="10515600" cy="435133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Algoritma</a:t>
            </a:r>
            <a:r>
              <a:rPr lang="id-ID" sz="2400" spc="6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pembelajaran</a:t>
            </a:r>
            <a:r>
              <a:rPr lang="id-ID" sz="2400" spc="-22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mesin</a:t>
            </a:r>
            <a:r>
              <a:rPr lang="id-ID" sz="2400" spc="3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yang</a:t>
            </a:r>
            <a:r>
              <a:rPr lang="id-ID" sz="2400" spc="3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digunakan</a:t>
            </a:r>
            <a:r>
              <a:rPr lang="id-ID" sz="2400" spc="3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dalam</a:t>
            </a:r>
            <a:r>
              <a:rPr lang="id-ID" sz="2400" spc="3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perawatan</a:t>
            </a:r>
            <a:r>
              <a:rPr lang="id-ID" sz="2400" spc="3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medis</a:t>
            </a:r>
            <a:r>
              <a:rPr lang="id-ID" sz="2400" spc="3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dan</a:t>
            </a:r>
            <a:r>
              <a:rPr lang="id-ID" sz="2400" spc="3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produk</a:t>
            </a:r>
            <a:r>
              <a:rPr lang="id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konsumen</a:t>
            </a:r>
            <a:r>
              <a:rPr lang="id-ID" sz="2400" spc="2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dapat</a:t>
            </a:r>
            <a:r>
              <a:rPr lang="id-ID" sz="2400" spc="2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berkontribusi</a:t>
            </a:r>
            <a:r>
              <a:rPr lang="id-ID" sz="2400" spc="2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terhadap</a:t>
            </a:r>
            <a:r>
              <a:rPr lang="id-ID" sz="2400" spc="2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hal</a:t>
            </a:r>
            <a:r>
              <a:rPr lang="id-ID" sz="2400" spc="2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tersebut.</a:t>
            </a:r>
            <a:r>
              <a:rPr lang="id-ID" sz="2400" spc="3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asimetri</a:t>
            </a:r>
            <a:r>
              <a:rPr lang="id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informasi</a:t>
            </a:r>
            <a:r>
              <a:rPr lang="id-ID" sz="2400" spc="3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yang</a:t>
            </a:r>
            <a:r>
              <a:rPr lang="id-ID" sz="2400" spc="3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biasanya</a:t>
            </a:r>
            <a:r>
              <a:rPr lang="id-ID" sz="2400" spc="3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membenarkan</a:t>
            </a:r>
            <a:r>
              <a:rPr lang="id-ID" sz="2400" spc="3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peraturan</a:t>
            </a:r>
            <a:r>
              <a:rPr lang="id-ID" sz="2400" spc="3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perlindungan</a:t>
            </a:r>
            <a:r>
              <a:rPr lang="id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konsumen.</a:t>
            </a:r>
            <a:endParaRPr lang="en-ID" sz="2400" dirty="0">
              <a:effectLst/>
              <a:latin typeface="+mn-lt"/>
              <a:ea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d-ID" sz="1800" dirty="0">
              <a:solidFill>
                <a:srgbClr val="000000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390"/>
              </a:spcBef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3769"/>
            <a:ext cx="10515600" cy="1057062"/>
          </a:xfrm>
        </p:spPr>
        <p:txBody>
          <a:bodyPr>
            <a:normAutofit/>
          </a:bodyPr>
          <a:lstStyle/>
          <a:p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Beberapa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contoh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penerapan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ML yang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membutuhkan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regulasi</a:t>
            </a:r>
            <a:endParaRPr lang="en-ID" sz="5400" dirty="0">
              <a:latin typeface="+mn-lt"/>
            </a:endParaRPr>
          </a:p>
        </p:txBody>
      </p:sp>
      <p:pic>
        <p:nvPicPr>
          <p:cNvPr id="3074" name="Picture 2" descr="The 9 Biggest Technology Trends That Will Transform Medicine And Healthcare  In 2020">
            <a:extLst>
              <a:ext uri="{FF2B5EF4-FFF2-40B4-BE49-F238E27FC236}">
                <a16:creationId xmlns:a16="http://schemas.microsoft.com/office/drawing/2014/main" xmlns="" id="{4A4936A2-E534-3C0B-5E70-3F64CCAB8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865" y="3313196"/>
            <a:ext cx="4053890" cy="2702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643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363" y="1900989"/>
            <a:ext cx="10724436" cy="443183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Algoritma ML yang digunakan untuk kendaraan tanpa sopir dapat menjamin keselamatan pe</a:t>
            </a:r>
            <a:r>
              <a:rPr lang="en-US" sz="2400" dirty="0">
                <a:effectLst/>
                <a:latin typeface="+mn-lt"/>
                <a:ea typeface="Calibri" panose="020F0502020204030204" pitchFamily="34" charset="0"/>
              </a:rPr>
              <a:t>j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alan</a:t>
            </a:r>
            <a:r>
              <a:rPr lang="id-ID" sz="2400" spc="4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kaki</a:t>
            </a:r>
            <a:r>
              <a:rPr lang="id-ID" sz="2400" spc="4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yang</a:t>
            </a:r>
            <a:r>
              <a:rPr lang="id-ID" sz="2400" spc="3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berada</a:t>
            </a:r>
            <a:r>
              <a:rPr lang="id-ID" sz="2400" spc="4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pada</a:t>
            </a:r>
            <a:r>
              <a:rPr lang="id-ID" sz="2400" spc="4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risiko</a:t>
            </a:r>
            <a:r>
              <a:rPr lang="id-ID" sz="2400" spc="4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yang</a:t>
            </a:r>
            <a:r>
              <a:rPr lang="id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lebih</a:t>
            </a:r>
            <a:r>
              <a:rPr lang="id-ID" sz="2400" spc="5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tinggi</a:t>
            </a:r>
            <a:r>
              <a:rPr lang="id-ID" sz="2400" spc="6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akibat</a:t>
            </a:r>
            <a:r>
              <a:rPr lang="id-ID" sz="2400" spc="6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mobil</a:t>
            </a:r>
            <a:r>
              <a:rPr lang="id-ID" sz="2400" spc="5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tanpa</a:t>
            </a:r>
            <a:r>
              <a:rPr lang="id-ID" sz="2400" spc="6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id-ID" sz="2400" dirty="0">
                <a:effectLst/>
                <a:latin typeface="+mn-lt"/>
                <a:ea typeface="Calibri" panose="020F0502020204030204" pitchFamily="34" charset="0"/>
              </a:rPr>
              <a:t>pengemudi.</a:t>
            </a:r>
            <a:endParaRPr lang="en-ID" sz="2400" dirty="0">
              <a:effectLst/>
              <a:latin typeface="+mn-lt"/>
              <a:ea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d-ID" sz="1800" dirty="0">
              <a:solidFill>
                <a:srgbClr val="000000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390"/>
              </a:spcBef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3769"/>
            <a:ext cx="10515600" cy="1057062"/>
          </a:xfrm>
        </p:spPr>
        <p:txBody>
          <a:bodyPr>
            <a:normAutofit/>
          </a:bodyPr>
          <a:lstStyle/>
          <a:p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Beberapa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contoh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penerapan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ML yang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membutuhkan</a:t>
            </a:r>
            <a:r>
              <a:rPr lang="en-ID" sz="32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3200" dirty="0" err="1">
                <a:effectLst/>
                <a:latin typeface="+mn-lt"/>
                <a:ea typeface="Calibri" panose="020F0502020204030204" pitchFamily="34" charset="0"/>
              </a:rPr>
              <a:t>regulasi</a:t>
            </a:r>
            <a:endParaRPr lang="en-ID" sz="5400" dirty="0">
              <a:latin typeface="+mn-lt"/>
            </a:endParaRPr>
          </a:p>
        </p:txBody>
      </p:sp>
      <p:pic>
        <p:nvPicPr>
          <p:cNvPr id="4098" name="Picture 2" descr="Driverless cars: what technology do they need apart from being 'driverless'?  – Robotics &amp; Automation News">
            <a:extLst>
              <a:ext uri="{FF2B5EF4-FFF2-40B4-BE49-F238E27FC236}">
                <a16:creationId xmlns:a16="http://schemas.microsoft.com/office/drawing/2014/main" xmlns="" id="{A6E8F6FF-737F-15D4-D61F-A41F57500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219" y="3589303"/>
            <a:ext cx="4611838" cy="2594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36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8510"/>
            <a:ext cx="10515600" cy="435133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Privasi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adalah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masalah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hak-hak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sipil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lainnya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yang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sering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diangkat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dalam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konteks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seruan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regulasi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pembelajaran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mesin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. Salah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satu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kekhawatirannya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adalah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melindungi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informasi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pribadi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yang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terkandung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dalam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data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ekstensif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yang</a:t>
            </a:r>
            <a:r>
              <a:rPr lang="en-ID" sz="2400" spc="-4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digunakan</a:t>
            </a:r>
            <a:r>
              <a:rPr lang="en-ID" sz="2400" spc="-4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oleh</a:t>
            </a:r>
            <a:r>
              <a:rPr lang="en-ID" sz="2400" spc="-4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algoritma</a:t>
            </a:r>
            <a:r>
              <a:rPr lang="en-ID" sz="2400" spc="-4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ini</a:t>
            </a:r>
            <a:r>
              <a:rPr lang="en-ID" sz="2400" spc="-4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–</a:t>
            </a:r>
            <a:r>
              <a:rPr lang="en-ID" sz="2400" spc="-4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serta</a:t>
            </a:r>
            <a:r>
              <a:rPr lang="en-ID" sz="2400" spc="-4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memastikan</a:t>
            </a:r>
            <a:r>
              <a:rPr lang="en-ID" sz="2400" spc="-4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adanya</a:t>
            </a:r>
            <a:r>
              <a:rPr lang="en-ID" sz="2400" spc="-4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pemberitahuan</a:t>
            </a:r>
            <a:r>
              <a:rPr lang="en-ID" sz="2400" spc="-20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atau</a:t>
            </a:r>
            <a:r>
              <a:rPr lang="en-ID" sz="2400" spc="-2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persetujuan</a:t>
            </a:r>
            <a:r>
              <a:rPr lang="en-ID" sz="2400" spc="-2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individu</a:t>
            </a:r>
            <a:r>
              <a:rPr lang="en-ID" sz="2400" spc="-1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terhadap</a:t>
            </a:r>
            <a:r>
              <a:rPr lang="en-ID" sz="2400" spc="-2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penggunaan</a:t>
            </a:r>
            <a:r>
              <a:rPr lang="en-ID" sz="2400" spc="-1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informasi</a:t>
            </a:r>
            <a:r>
              <a:rPr lang="en-ID" sz="2400" spc="-2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tersebut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.</a:t>
            </a:r>
            <a:endParaRPr lang="id-ID" sz="2400" dirty="0">
              <a:solidFill>
                <a:srgbClr val="000000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390"/>
              </a:spcBef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3769"/>
            <a:ext cx="10515600" cy="10570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  <a:ea typeface="Calibri" panose="020F0502020204030204" pitchFamily="34" charset="0"/>
              </a:rPr>
              <a:t>M</a:t>
            </a:r>
            <a:r>
              <a:rPr lang="en-ID" sz="3200" dirty="0" err="1">
                <a:latin typeface="+mn-lt"/>
                <a:ea typeface="Calibri" panose="020F0502020204030204" pitchFamily="34" charset="0"/>
              </a:rPr>
              <a:t>asalah</a:t>
            </a:r>
            <a:r>
              <a:rPr lang="en-ID" sz="3200" dirty="0">
                <a:latin typeface="+mn-lt"/>
                <a:ea typeface="Calibri" panose="020F0502020204030204" pitchFamily="34" charset="0"/>
              </a:rPr>
              <a:t> lain</a:t>
            </a:r>
            <a:endParaRPr lang="en-ID" sz="5400" dirty="0">
              <a:latin typeface="+mn-lt"/>
            </a:endParaRPr>
          </a:p>
        </p:txBody>
      </p:sp>
      <p:pic>
        <p:nvPicPr>
          <p:cNvPr id="5122" name="Picture 2" descr="Can AI, Ethics, and Privacy Work in Harmony? - Hitachi Systems Security">
            <a:extLst>
              <a:ext uri="{FF2B5EF4-FFF2-40B4-BE49-F238E27FC236}">
                <a16:creationId xmlns:a16="http://schemas.microsoft.com/office/drawing/2014/main" xmlns="" id="{F1C13C6F-D2CC-06B3-762D-0E58F43BF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051" y="3573379"/>
            <a:ext cx="2811379" cy="226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97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6163"/>
            <a:ext cx="10515600" cy="4351338"/>
          </a:xfrm>
        </p:spPr>
        <p:txBody>
          <a:bodyPr>
            <a:noAutofit/>
          </a:bodyPr>
          <a:lstStyle/>
          <a:p>
            <a:pPr marL="258445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2400" kern="1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anyaknya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cara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pembelajaran</a:t>
            </a:r>
            <a:r>
              <a:rPr lang="en-ID" sz="2400" kern="100" spc="4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mesin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saling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terkait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400" kern="100" spc="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permasalahan</a:t>
            </a:r>
            <a:r>
              <a:rPr lang="en-ID" sz="2400" kern="100" spc="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sz="2400" kern="100" spc="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berbeda-beda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D" sz="2400" kern="100" spc="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banyak</a:t>
            </a:r>
            <a:r>
              <a:rPr lang="en-ID" sz="2400" kern="100" spc="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</a:t>
            </a:r>
            <a:r>
              <a:rPr lang="en-ID" sz="2400" kern="100" spc="3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antaranya</a:t>
            </a:r>
            <a:r>
              <a:rPr lang="en-ID" sz="2400" kern="100" spc="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ditangani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oleh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badan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pengawas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mengherankan</a:t>
            </a:r>
            <a:r>
              <a:rPr lang="en-ID" sz="2400" kern="100" spc="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jika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regulator</a:t>
            </a:r>
            <a:r>
              <a:rPr lang="en-ID" sz="2400" kern="100" spc="4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sz="2400" kern="100" spc="4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ada</a:t>
            </a:r>
            <a:r>
              <a:rPr lang="en-ID" sz="2400" kern="100" spc="4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sejauh</a:t>
            </a:r>
            <a:r>
              <a:rPr lang="en-ID" sz="2400" kern="100" spc="4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2400" kern="100" spc="4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ID" sz="2400" kern="100" spc="4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memimpin</a:t>
            </a:r>
            <a:r>
              <a:rPr lang="en-ID" sz="2400" kern="100" spc="4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2400" kern="100" spc="4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menanggapi</a:t>
            </a:r>
            <a:r>
              <a:rPr lang="en-ID" sz="2400" kern="100" spc="4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potensi</a:t>
            </a:r>
            <a:r>
              <a:rPr lang="en-ID" sz="2400" kern="100" spc="-20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masalah</a:t>
            </a:r>
            <a:r>
              <a:rPr lang="en-ID" sz="2400" kern="100" spc="4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terkait</a:t>
            </a:r>
            <a:r>
              <a:rPr lang="en-ID" sz="2400" kern="100" spc="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kern="100" spc="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pembelajaran</a:t>
            </a:r>
            <a:r>
              <a:rPr lang="en-ID" sz="2400" kern="100" spc="4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mesin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ID" sz="2400" kern="100" spc="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58445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</a:t>
            </a:r>
            <a:r>
              <a:rPr lang="en-ID" sz="2400" kern="100" spc="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Departemen</a:t>
            </a:r>
            <a:r>
              <a:rPr lang="en-ID" sz="2400" kern="100" spc="4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Perhubungan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USA (NHTSA),</a:t>
            </a:r>
            <a:r>
              <a:rPr lang="en-ID" sz="2400" kern="100" spc="-20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misalnya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mengeluarkan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pedoman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peraturan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bagi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produsen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mobil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mengenai</a:t>
            </a:r>
            <a:r>
              <a:rPr lang="en-ID" sz="2400" kern="100" spc="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penilaian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keselamatan</a:t>
            </a:r>
            <a:r>
              <a:rPr lang="en-ID" sz="2400" kern="100" spc="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kern="100" spc="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teknologi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kendaraan</a:t>
            </a:r>
            <a:r>
              <a:rPr lang="en-ID" sz="2400" kern="100" spc="6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otonom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ID" sz="2400" kern="100" spc="6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NHTSA</a:t>
            </a:r>
            <a:r>
              <a:rPr lang="en-ID" sz="2400" kern="100" spc="6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memerintahkan</a:t>
            </a:r>
            <a:r>
              <a:rPr lang="en-ID" sz="2400" kern="100" spc="6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produsen</a:t>
            </a:r>
            <a:r>
              <a:rPr lang="en-ID" sz="2400" kern="100" spc="6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tersebut</a:t>
            </a:r>
            <a:r>
              <a:rPr lang="en-ID" sz="2400" kern="100" spc="6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kern="100" spc="-2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mengajukan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laporan</a:t>
            </a:r>
            <a:r>
              <a:rPr lang="en-ID" sz="2400" kern="100" spc="4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tentang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kecelakaan</a:t>
            </a:r>
            <a:r>
              <a:rPr lang="en-ID" sz="2400" kern="100" spc="4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sz="2400" kern="100" spc="4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melibatkan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kendaraan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otonom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mereka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58445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contoh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NHTSA</a:t>
            </a:r>
            <a:r>
              <a:rPr lang="en-ID" sz="2400" kern="100" spc="3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mendesak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Tesla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menarik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kembali</a:t>
            </a:r>
            <a:r>
              <a:rPr lang="en-ID" sz="2400" kern="100" spc="3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lebih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sz="2400" kern="100" spc="4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350.000</a:t>
            </a:r>
            <a:r>
              <a:rPr lang="en-ID" sz="2400" kern="100" spc="4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kendaraannya</a:t>
            </a:r>
            <a:r>
              <a:rPr lang="en-ID" sz="2400" kern="100" spc="4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karena</a:t>
            </a:r>
            <a:r>
              <a:rPr lang="en-ID" sz="2400" kern="100" spc="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masalah</a:t>
            </a:r>
            <a:r>
              <a:rPr lang="en-ID" sz="2400" kern="100" spc="4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keselamatan</a:t>
            </a:r>
            <a:r>
              <a:rPr lang="en-ID" sz="2400" kern="100" spc="4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terkait</a:t>
            </a:r>
            <a:r>
              <a:rPr lang="en-ID" sz="2400" kern="100" spc="-20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perangkat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lunak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bantuan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pengemudinya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>
              <a:lnSpc>
                <a:spcPct val="150000"/>
              </a:lnSpc>
              <a:spcBef>
                <a:spcPts val="390"/>
              </a:spcBef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3769"/>
            <a:ext cx="10515600" cy="1057062"/>
          </a:xfrm>
        </p:spPr>
        <p:txBody>
          <a:bodyPr>
            <a:normAutofit fontScale="90000"/>
          </a:bodyPr>
          <a:lstStyle/>
          <a:p>
            <a:r>
              <a:rPr lang="en-ID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SIAPA</a:t>
            </a:r>
            <a:r>
              <a:rPr lang="en-ID" b="1" kern="100" spc="-3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b="1" kern="100" spc="-3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HARUS MENGATUR</a:t>
            </a:r>
            <a:r>
              <a:rPr lang="en-ID" b="1" kern="100" spc="-5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PEMBELAJARAN</a:t>
            </a:r>
            <a:r>
              <a:rPr lang="en-ID" b="1" kern="100" spc="-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MESIN?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D" sz="5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042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81489"/>
            <a:ext cx="10515600" cy="4351338"/>
          </a:xfrm>
        </p:spPr>
        <p:txBody>
          <a:bodyPr>
            <a:noAutofit/>
          </a:bodyPr>
          <a:lstStyle/>
          <a:p>
            <a:pPr marL="601345" indent="-3429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Kantor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Ilmu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Pengetahuan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dan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Teknologi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Gedung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Putih</a:t>
            </a:r>
            <a:r>
              <a:rPr lang="en-ID" sz="2400" spc="1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dan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Konferensi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Administratif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Amerika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Serikat</a:t>
            </a:r>
            <a:r>
              <a:rPr lang="en-US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libri" panose="020F0502020204030204" pitchFamily="34" charset="0"/>
              </a:rPr>
              <a:t>maupun</a:t>
            </a:r>
            <a:r>
              <a:rPr lang="en-US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Pemerintah federal juga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telah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mendirikan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Pusat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Keunggulan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AI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di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dalam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Administrasi</a:t>
            </a:r>
            <a:r>
              <a:rPr lang="en-ID" sz="2400" spc="5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Pelayanan</a:t>
            </a:r>
            <a:r>
              <a:rPr lang="en-ID" sz="2400" spc="-18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ID" sz="2400" dirty="0" err="1">
                <a:effectLst/>
                <a:latin typeface="+mn-lt"/>
                <a:ea typeface="Calibri" panose="020F0502020204030204" pitchFamily="34" charset="0"/>
              </a:rPr>
              <a:t>Umum</a:t>
            </a:r>
            <a:r>
              <a:rPr lang="en-ID" sz="2400" dirty="0">
                <a:effectLst/>
                <a:latin typeface="+mn-lt"/>
                <a:ea typeface="Calibri" panose="020F0502020204030204" pitchFamily="34" charset="0"/>
              </a:rPr>
              <a:t>.</a:t>
            </a:r>
          </a:p>
          <a:p>
            <a:pPr marL="601345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Hal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memerlukan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pembangunan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infrastruktur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teknologi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internal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regulator dan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sumber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daya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memiliki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keahlian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di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bidang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ilmu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data.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601345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Hal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juga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berarti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menemukan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cara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terlibat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mengumpulkan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ID" sz="2400" kern="100" spc="-19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industri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Industri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pada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akhirnya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akan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berada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posisi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terbaik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mengetahui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lebih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banyak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tentang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mereka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bagaimana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tersebut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601345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Regulator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menghindari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keterlibatan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aktif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400" kern="100" spc="-19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industri</a:t>
            </a:r>
            <a:r>
              <a:rPr lang="en-ID" sz="2400" kern="100" spc="-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jika</a:t>
            </a:r>
            <a:r>
              <a:rPr lang="en-ID" sz="2400" kern="100" spc="-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mereka</a:t>
            </a:r>
            <a:r>
              <a:rPr lang="en-ID" sz="2400" kern="100" spc="-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ingin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mengadopsi</a:t>
            </a:r>
            <a:r>
              <a:rPr lang="en-ID" sz="2400" kern="100" spc="-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pendekatan</a:t>
            </a:r>
            <a:r>
              <a:rPr lang="en-ID" sz="2400" kern="100" spc="-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regulasi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yang</a:t>
            </a:r>
            <a:r>
              <a:rPr lang="en-ID" sz="2400" kern="100" spc="-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cerdas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58445" indent="0" algn="just">
              <a:lnSpc>
                <a:spcPct val="150000"/>
              </a:lnSpc>
              <a:spcAft>
                <a:spcPts val="800"/>
              </a:spcAft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3769"/>
            <a:ext cx="10515600" cy="1057062"/>
          </a:xfrm>
        </p:spPr>
        <p:txBody>
          <a:bodyPr>
            <a:normAutofit fontScale="90000"/>
          </a:bodyPr>
          <a:lstStyle/>
          <a:p>
            <a:r>
              <a:rPr lang="en-ID" b="1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KETERLIBATAN PEMERINTAH SEBAGAI REGULATOR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D" sz="5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584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81489"/>
            <a:ext cx="10515600" cy="4351338"/>
          </a:xfrm>
        </p:spPr>
        <p:txBody>
          <a:bodyPr>
            <a:noAutofit/>
          </a:bodyPr>
          <a:lstStyle/>
          <a:p>
            <a:pPr marL="588645" indent="-3429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Mungkin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gagasan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tentang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robot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pengatur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tampak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sedikit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khayalan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namun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hal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sudah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kenyataan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meskipun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cara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tampak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biasa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saja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Sistem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regulasi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otomatis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sudah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di salah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satu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tempat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yang paling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dikenal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kehidupan</a:t>
            </a:r>
            <a:r>
              <a:rPr lang="en-ID" sz="2400" kern="100" spc="-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sehari-hari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D" sz="2400" kern="100" spc="-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jalan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raya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ID" sz="2400" kern="100" spc="-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588645" indent="-3429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Beberapa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kota</a:t>
            </a:r>
            <a:r>
              <a:rPr lang="en-ID" sz="2400" kern="100" spc="-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</a:t>
            </a:r>
            <a:r>
              <a:rPr lang="en-ID" sz="2400" kern="100" spc="-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Amerika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Serikat</a:t>
            </a:r>
            <a:r>
              <a:rPr lang="en-ID" sz="2400" kern="100" spc="-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memasang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pembuat</a:t>
            </a:r>
            <a:r>
              <a:rPr lang="en-ID" sz="2400" kern="100" spc="-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aturan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otomatis</a:t>
            </a:r>
            <a:r>
              <a:rPr lang="en-ID" sz="2400" kern="100" spc="-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penegak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aturan</a:t>
            </a:r>
            <a:r>
              <a:rPr lang="en-ID" sz="2400" kern="100" spc="-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jalan-jalan</a:t>
            </a:r>
            <a:r>
              <a:rPr lang="en-ID" sz="2400" kern="100" spc="-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jalan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raya</a:t>
            </a:r>
            <a:r>
              <a:rPr lang="en-ID" sz="2400" kern="100" spc="-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mereka</a:t>
            </a:r>
            <a:r>
              <a:rPr lang="en-ID" sz="2400" kern="100" spc="-17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mengoptimalkan</a:t>
            </a:r>
            <a:r>
              <a:rPr lang="en-ID" sz="2400" kern="100" spc="-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arus</a:t>
            </a:r>
            <a:r>
              <a:rPr lang="en-ID" sz="2400" kern="100" spc="-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lalu</a:t>
            </a:r>
            <a:r>
              <a:rPr lang="en-ID" sz="2400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lintas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58445" indent="0" algn="just">
              <a:lnSpc>
                <a:spcPct val="150000"/>
              </a:lnSpc>
              <a:spcAft>
                <a:spcPts val="800"/>
              </a:spcAft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3769"/>
            <a:ext cx="10515600" cy="1057062"/>
          </a:xfrm>
        </p:spPr>
        <p:txBody>
          <a:bodyPr>
            <a:normAutofit fontScale="90000"/>
          </a:bodyPr>
          <a:lstStyle/>
          <a:p>
            <a:r>
              <a:rPr lang="en-ID" b="1" kern="100" dirty="0">
                <a:solidFill>
                  <a:srgbClr val="2F5496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MENGATUR PEMBELAJARAN</a:t>
            </a:r>
            <a:r>
              <a:rPr lang="en-ID" b="1" kern="100" spc="50" dirty="0">
                <a:solidFill>
                  <a:srgbClr val="2F5496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kern="100" dirty="0">
                <a:solidFill>
                  <a:srgbClr val="2F5496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MESIN DENGAN</a:t>
            </a:r>
            <a:r>
              <a:rPr lang="en-ID" b="1" kern="100" spc="50" dirty="0">
                <a:solidFill>
                  <a:srgbClr val="2F5496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kern="100" dirty="0">
                <a:solidFill>
                  <a:srgbClr val="2F5496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ID" b="1" kern="100" spc="50" dirty="0">
                <a:solidFill>
                  <a:srgbClr val="2F5496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1" kern="100" dirty="0">
                <a:solidFill>
                  <a:srgbClr val="2F5496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MESIN?</a:t>
            </a:r>
            <a:r>
              <a:rPr lang="en-ID" sz="18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D" sz="18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D" sz="5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011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81489"/>
            <a:ext cx="10515600" cy="4351338"/>
          </a:xfrm>
        </p:spPr>
        <p:txBody>
          <a:bodyPr>
            <a:noAutofit/>
          </a:bodyPr>
          <a:lstStyle/>
          <a:p>
            <a:pPr marL="601345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sz="2400" i="1" kern="1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ID" sz="24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eterogenitas</a:t>
            </a:r>
            <a:r>
              <a:rPr lang="en-ID" sz="2400" i="1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pembelajaran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mesin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menimbulkan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tantangan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terbesar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bagi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regulator.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Bentuk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bervariasi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kegunaan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beragam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sifat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dinamisnya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membuat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sebagian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besar</a:t>
            </a:r>
            <a:r>
              <a:rPr lang="en-ID" sz="2400" kern="100" spc="-2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strategi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regulasi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konvensional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ketinggalan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jaman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ID" sz="2400" kern="100" spc="1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601345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Tradisi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badan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pengatur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menetapkan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kemudian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menerapkan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perintah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umum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kaku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akan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cocok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dunia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memiliki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alat</a:t>
            </a:r>
            <a:r>
              <a:rPr lang="en-ID" sz="2400" kern="100" spc="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digital</a:t>
            </a:r>
            <a:r>
              <a:rPr lang="en-ID" sz="2400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sz="2400" kern="100" spc="-20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berkembang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pesat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dan sangat </a:t>
            </a:r>
            <a:r>
              <a:rPr lang="en-ID" sz="24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beragam</a:t>
            </a:r>
            <a:r>
              <a:rPr lang="en-ID" sz="24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58445" indent="0" algn="just">
              <a:lnSpc>
                <a:spcPct val="150000"/>
              </a:lnSpc>
              <a:spcAft>
                <a:spcPts val="800"/>
              </a:spcAft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3769"/>
            <a:ext cx="10515600" cy="1057062"/>
          </a:xfrm>
        </p:spPr>
        <p:txBody>
          <a:bodyPr>
            <a:normAutofit fontScale="90000"/>
          </a:bodyPr>
          <a:lstStyle/>
          <a:p>
            <a:r>
              <a:rPr lang="en-ID" b="1" kern="100" dirty="0">
                <a:solidFill>
                  <a:srgbClr val="2F5496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MMEMENUHI TANTANGAN HETEROGENITAS</a:t>
            </a:r>
            <a:r>
              <a:rPr lang="en-ID" sz="18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D" sz="18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D" sz="5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967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9604" y="2227031"/>
            <a:ext cx="5529197" cy="1920647"/>
          </a:xfrm>
        </p:spPr>
        <p:txBody>
          <a:bodyPr>
            <a:noAutofit/>
          </a:bodyPr>
          <a:lstStyle/>
          <a:p>
            <a:r>
              <a:rPr lang="fi-FI" sz="5400" dirty="0"/>
              <a:t>PENUTUP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xmlns="" id="{9EFAA193-4A13-4EF1-8FD0-E9CD547E716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9" r="197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3035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8CE27B-0175-CC64-6FB6-48D8D822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873CB8-15CF-C561-4E82-DFF437E0B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D" sz="3600" i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Mengatur</a:t>
            </a:r>
            <a:r>
              <a:rPr lang="en-ID" sz="3600" i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pembelajaran</a:t>
            </a:r>
            <a:r>
              <a:rPr lang="en-ID" sz="3600" i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mesin</a:t>
            </a:r>
            <a:r>
              <a:rPr lang="en-ID" sz="3600" i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3600" i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baik</a:t>
            </a:r>
            <a:r>
              <a:rPr lang="en-ID" sz="3600" i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harus</a:t>
            </a:r>
            <a:r>
              <a:rPr lang="en-ID" sz="3600" i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memanfaatkan</a:t>
            </a:r>
            <a:r>
              <a:rPr lang="en-ID" sz="3600" i="1" kern="100" spc="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keahlian</a:t>
            </a:r>
            <a:r>
              <a:rPr lang="en-ID" sz="3600" i="1" kern="100" spc="-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sz="3600" i="1" kern="100" spc="-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berbagai</a:t>
            </a:r>
            <a:r>
              <a:rPr lang="en-ID" sz="3600" i="1" kern="100" spc="-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lembaga</a:t>
            </a:r>
            <a:r>
              <a:rPr lang="en-ID" sz="3600" i="1" kern="100" spc="-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pengatur</a:t>
            </a:r>
            <a:r>
              <a:rPr lang="en-ID" sz="3600" i="1" kern="100" spc="-2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yang</a:t>
            </a:r>
            <a:r>
              <a:rPr lang="en-ID" sz="3600" i="1" kern="100" spc="-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ID" sz="3600" i="1" kern="100" spc="-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menargetkan</a:t>
            </a:r>
            <a:r>
              <a:rPr lang="en-ID" sz="3600" i="1" kern="100" spc="-22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berbagai</a:t>
            </a:r>
            <a:r>
              <a:rPr lang="en-ID" sz="3600" i="1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spc="-1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manfaat</a:t>
            </a:r>
            <a:r>
              <a:rPr lang="en-ID" sz="3600" i="1" kern="100" spc="-1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pembelajaran</a:t>
            </a:r>
            <a:r>
              <a:rPr lang="en-ID" sz="3600" i="1" kern="100" spc="-5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mesin</a:t>
            </a:r>
            <a:r>
              <a:rPr lang="en-ID" sz="3600" i="1" kern="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Hal </a:t>
            </a:r>
            <a:r>
              <a:rPr lang="en-ID" sz="3600" i="1" kern="1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3600" i="1" kern="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i="1" kern="1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melibatkan</a:t>
            </a:r>
            <a:r>
              <a:rPr lang="en-ID" sz="3600" i="1" kern="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Pemerintah, </a:t>
            </a:r>
            <a:r>
              <a:rPr lang="en-ID" sz="3600" i="1" kern="1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Industri</a:t>
            </a:r>
            <a:r>
              <a:rPr lang="en-ID" sz="3600" i="1" kern="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3600" i="1" kern="10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dan Masyarakat”</a:t>
            </a:r>
            <a:endParaRPr lang="en-ID" sz="36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0065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Kasih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56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UEU Color">
      <a:dk1>
        <a:srgbClr val="0E60AC"/>
      </a:dk1>
      <a:lt1>
        <a:sysClr val="window" lastClr="FFFFFF"/>
      </a:lt1>
      <a:dk2>
        <a:srgbClr val="0E60AC"/>
      </a:dk2>
      <a:lt2>
        <a:srgbClr val="FFFFFF"/>
      </a:lt2>
      <a:accent1>
        <a:srgbClr val="0B4E8B"/>
      </a:accent1>
      <a:accent2>
        <a:srgbClr val="EF7220"/>
      </a:accent2>
      <a:accent3>
        <a:srgbClr val="0F68B9"/>
      </a:accent3>
      <a:accent4>
        <a:srgbClr val="DA6210"/>
      </a:accent4>
      <a:accent5>
        <a:srgbClr val="D8D8D8"/>
      </a:accent5>
      <a:accent6>
        <a:srgbClr val="0B4E8B"/>
      </a:accent6>
      <a:hlink>
        <a:srgbClr val="DA6210"/>
      </a:hlink>
      <a:folHlink>
        <a:srgbClr val="EF7220"/>
      </a:folHlink>
    </a:clrScheme>
    <a:fontScheme name="Font UEU Basic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 PPT (Sudah Transform)" id="{4A1D9D93-713F-459F-BBFB-1DE982FF7424}" vid="{69288B8F-0A48-4C79-93C3-AC0192282F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 PPT (Sudah Transform)</Template>
  <TotalTime>4802</TotalTime>
  <Words>846</Words>
  <Application>Microsoft Office PowerPoint</Application>
  <PresentationFormat>Widescreen</PresentationFormat>
  <Paragraphs>72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MT</vt:lpstr>
      <vt:lpstr>Calibri</vt:lpstr>
      <vt:lpstr>Calibri Light</vt:lpstr>
      <vt:lpstr>Times New Roman</vt:lpstr>
      <vt:lpstr>Tw Cen MT</vt:lpstr>
      <vt:lpstr>Twentieth Century</vt:lpstr>
      <vt:lpstr>Wingdings</vt:lpstr>
      <vt:lpstr>Office Theme</vt:lpstr>
      <vt:lpstr>Machine Learning</vt:lpstr>
      <vt:lpstr>PowerPoint Presentation</vt:lpstr>
      <vt:lpstr>PowerPoint Presentation</vt:lpstr>
      <vt:lpstr>PowerPoint Presentation</vt:lpstr>
      <vt:lpstr>PowerPoint Presentation</vt:lpstr>
      <vt:lpstr>TANTANGAN DALAM  MACHINE LEARNING </vt:lpstr>
      <vt:lpstr>Tantangan dalam ML</vt:lpstr>
      <vt:lpstr>HETEROGENITAS</vt:lpstr>
      <vt:lpstr>Contoh Heterogenitas ML </vt:lpstr>
      <vt:lpstr>HETEROGENITAS ML</vt:lpstr>
      <vt:lpstr>CHATGPT </vt:lpstr>
      <vt:lpstr>Beberapa contoh penerapan ML yang membutuhkan regulasi</vt:lpstr>
      <vt:lpstr>Beberapa contoh penerapan ML yang membutuhkan regulasi</vt:lpstr>
      <vt:lpstr>Beberapa contoh penerapan ML yang membutuhkan regulasi</vt:lpstr>
      <vt:lpstr>Masalah lain</vt:lpstr>
      <vt:lpstr>SIAPA YANG HARUS MENGATUR PEMBELAJARAN MESIN? </vt:lpstr>
      <vt:lpstr>KETERLIBATAN PEMERINTAH SEBAGAI REGULATOR </vt:lpstr>
      <vt:lpstr>MENGATUR PEMBELAJARAN MESIN DENGAN PEMBELAJARAN MESIN?  </vt:lpstr>
      <vt:lpstr>MMEMENUHI TANTANGAN HETEROGENITAS  </vt:lpstr>
      <vt:lpstr>PENUTUP</vt:lpstr>
      <vt:lpstr>PowerPoint Presentation</vt:lpstr>
      <vt:lpstr>Terima Kasih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Network</dc:title>
  <dc:creator>Ari Candra</dc:creator>
  <cp:keywords>Jaringan Komputer</cp:keywords>
  <cp:lastModifiedBy>MAHASISWA</cp:lastModifiedBy>
  <cp:revision>18</cp:revision>
  <dcterms:created xsi:type="dcterms:W3CDTF">2023-08-22T04:51:45Z</dcterms:created>
  <dcterms:modified xsi:type="dcterms:W3CDTF">2026-07-18T07:10:37Z</dcterms:modified>
  <cp:category>Modul Jaringan Komputer</cp:category>
</cp:coreProperties>
</file>