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66" d="100"/>
          <a:sy n="66" d="100"/>
        </p:scale>
        <p:origin x="6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8461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jelaskan bahwa proyek ini fokus pada prediksi adopsi AI developer. Dataset berasal dari Stack Overflow Developer Survey 2025. Targetnya ada dua, yaitu AISelect untuk AI Tools umum dan AIAgents untuk AI Agent. Model yang dibandingkan adalah Logistic Regression, Random Forest, dan CatBoost. Evaluasi utama menggunakan F1-score karena distribusi kelas tidak seimbang.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agenda secara singkat. Audiens akan dibawa dari latar belakang, dataset, fitur, preprocessing, model, evaluasi, grafik, tabel, sampai kesimpulan. Tekankan bahwa fokusnya adalah memahami alur, bukan sekadar membaca output notebook.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bahwa AI Tools mulai masuk ke pekerjaan developer, tetapi adopsinya tidak seragam. Data survei developer cocok untuk dianalisis karena berisi umur, pengalaman, teknologi, tools, kompensasi, dan sentimen terhadap AI.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dataset awal besar, tetapi notebook hanya memilih kolom yang relevan dengan prediksi penggunaan AI. Kolom lain tidak dipakai agar model lebih fokus dan proses lebih efisien.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dua target secara jelas. AISelect adalah penggunaan AI secara umum. AIAgents lebih spesifik pada penggunaan AI Agent. Karena targetnya berbeda, hasil model juga berbeda.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data survei mentah tidak langsung bisa dipakai. Rentang umur, pengalaman, target teks, nilai kosong, dan kompensasi perlu diubah supaya model bisa membaca data dengan benar.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alur dari kiri ke kanan. Ini penting agar audiens paham bahwa hasil model berasal dari proses yang sistematis.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grafik bar. Sumbu Y adalah kategori sentimen, sumbu X adalah jumlah responden. Kategori dengan bar paling panjang berarti paling banyak muncul. Sentimen dipakai sebagai fitur karena sikap terhadap AI masuk akal berhubungan dengan adopsi AI.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alasan pemilihan model. Logistic Regression sebagai baseline sederhana, Random Forest sebagai model pohon ensemble, CatBoost sebagai model boosting yang cocok untuk data kategorikal.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slide ini untuk menjelaskan istilah evaluasi. Tekankan bahwa accuracy bisa menipu pada data imbalance. F1 Macro lebih adil karena menghitung kinerja kelas Tidak dan Ya secara seimbang.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skenario AISelect, CatBoost menjadi model terbaik dengan F1 Macro 0,7901 dan accuracy 0,8562. F1 Ya sangat tinggi, yaitu 0,9079. Ini menunjukkan penggunaan AI Tools secara umum relatif lebih mudah diprediksi.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diagonal adalah prediksi benar. Untuk AISelect, CatBoost benar memprediksi kelas Ya sebanyak 4.779 dan salah mengira 515 pengguna sebagai Tidak. Namun CatBoost juga membuat 455 non-pengguna diprediksi Ya.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grafik feature importance CatBoost. Fitur di bagian atas memiliki kontribusi prediktif paling besar. WorkExp dan YearsCode paling dominan, disusul AISent dan Age. Tekankan bahwa ini bukan bukti sebab-akibat, tetapi sinyal asosiasi model.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target AIAgents, performa lebih rendah dibanding AISelect. CatBoost memiliki F1 Macro tertinggi 0,6371, tetapi F1 Ya hanya 0,4861. Ini menunjukkan pengguna AI Agent lebih sulit dikenali.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confusion matrix AIAgents. CatBoost benar mengenali kelas Tidak sebanyak 3.562, tetapi hanya benar mengenali kelas Ya sebanyak 906. Artinya model cenderung lebih kuat pada non-pengguna AI Agent.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YearsCode dan WorkExp mendominasi prediksi AIAgents. Ini konsisten dengan AISelect, tetapi pada AIAgents dominasi pengalaman bahkan lebih kuat.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AIAgents adalah skenario paling sulit. Karena itu notebook mencoba optimasi melalui class weight, under-sampling, dan hyperparameter tuning. Tujuannya bukan hanya menaikkan accuracy, tetapi memperbaiki F1 Ya dan F1 Macro.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tabel optimasi. CatBoost Tuned memiliki F1 Macro tertinggi 0,6501 dan F1 Ya 0,5633. Artinya optimasi berhasil memperbaiki kemampuan mengenali pengguna AI Agent.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under-sampling menyeimbangkan training dengan mengurangi kelas mayoritas. Pada test asli, CatBoost under-sampling benar mengenali 1.367 kelas Ya, lebih tinggi dari CatBoost awal 906, tetapi kesalahan pada kelas Tidak juga meningkat.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grafik Random Forest. Berbeda dari CatBoost, fitur kategori AISent muncul sangat kuat. Ini menunjukkan sentimen terhadap AI sangat membantu Random Forest membedakan adopsi AI Agent.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tabel ringkasan. Semua skenario terbaik dipegang CatBoost. AISelect paling tinggi, AIAgents awal lebih rendah, dan AIAgents optimasi meningkat setelah tuning dan class weighting.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slide ini sebagai rangkuman sebelum kesimpulan. Tiga temuan penting: CatBoost konsisten, AISelect lebih mudah, pengalaman dan sentimen AI penting.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presentasi dengan kesimpulan ringkas. Tekankan bahwa hasil bersifat prediktif, bukan kausal. Saran pengembangan: SHAP, tuning lebih luas, stratifikasi negara/DevType, dan validasi tahun berikutnya.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ucapkan terima kasih. Ringkas kembali satu kalimat utama: AISelect lebih mudah diprediksi, AIAgents lebih menantang, dan CatBoost menjadi model paling konsisten. Setelah itu buka sesi pertanyaan.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a_clean_modern_tech_themed_abstract_background.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950976"/>
            <a:ext cx="7086600" cy="749808"/>
          </a:xfrm>
          <a:prstGeom prst="rect">
            <a:avLst/>
          </a:prstGeom>
          <a:noFill/>
          <a:ln/>
        </p:spPr>
        <p:txBody>
          <a:bodyPr wrap="square" lIns="0" tIns="0" rIns="0" bIns="0" rtlCol="0" anchor="t">
            <a:normAutofit/>
          </a:bodyPr>
          <a:lstStyle/>
          <a:p>
            <a:pPr marL="0" indent="0" algn="l">
              <a:buNone/>
            </a:pPr>
            <a:r>
              <a:rPr lang="en-US" sz="3400" b="1" dirty="0">
                <a:solidFill>
                  <a:srgbClr val="1F2937"/>
                </a:solidFill>
                <a:latin typeface="Aptos Display" pitchFamily="34" charset="0"/>
                <a:ea typeface="Aptos Display" pitchFamily="34" charset="-122"/>
                <a:cs typeface="Aptos Display" pitchFamily="34" charset="-120"/>
              </a:rPr>
              <a:t>Prediksi Adopsi AI pada Developer</a:t>
            </a:r>
            <a:endParaRPr lang="en-US" sz="3400" dirty="0"/>
          </a:p>
        </p:txBody>
      </p:sp>
      <p:sp>
        <p:nvSpPr>
          <p:cNvPr id="4" name="Text 1"/>
          <p:cNvSpPr/>
          <p:nvPr/>
        </p:nvSpPr>
        <p:spPr>
          <a:xfrm>
            <a:off x="658368" y="1755648"/>
            <a:ext cx="6675120" cy="530352"/>
          </a:xfrm>
          <a:prstGeom prst="rect">
            <a:avLst/>
          </a:prstGeom>
          <a:noFill/>
          <a:ln/>
        </p:spPr>
        <p:txBody>
          <a:bodyPr wrap="square" lIns="0" tIns="0" rIns="0" bIns="0" rtlCol="0" anchor="t">
            <a:normAutofit/>
          </a:bodyPr>
          <a:lstStyle/>
          <a:p>
            <a:pPr marL="0" indent="0" algn="l">
              <a:buNone/>
            </a:pPr>
            <a:r>
              <a:rPr lang="en-US" sz="1600" dirty="0">
                <a:solidFill>
                  <a:srgbClr val="5E6B7A"/>
                </a:solidFill>
                <a:latin typeface="Aptos" pitchFamily="34" charset="0"/>
                <a:ea typeface="Aptos" pitchFamily="34" charset="-122"/>
                <a:cs typeface="Aptos" pitchFamily="34" charset="-120"/>
              </a:rPr>
              <a:t>Analisis penggunaan AI Tools dan AI Agents berdasarkan Stack Overflow Developer Survey 2025</a:t>
            </a:r>
            <a:endParaRPr lang="en-US" sz="1600" dirty="0"/>
          </a:p>
        </p:txBody>
      </p:sp>
      <p:sp>
        <p:nvSpPr>
          <p:cNvPr id="5" name="Text 2"/>
          <p:cNvSpPr/>
          <p:nvPr/>
        </p:nvSpPr>
        <p:spPr>
          <a:xfrm>
            <a:off x="658368" y="2578608"/>
            <a:ext cx="1444752" cy="256032"/>
          </a:xfrm>
          <a:prstGeom prst="rect">
            <a:avLst/>
          </a:prstGeom>
          <a:solidFill>
            <a:srgbClr val="EAF4FF"/>
          </a:solidFill>
          <a:ln w="12700">
            <a:solidFill>
              <a:srgbClr val="EAF4FF"/>
            </a:solidFill>
          </a:ln>
        </p:spPr>
        <p:txBody>
          <a:bodyPr wrap="square" lIns="254" tIns="254" rIns="254" bIns="254" rtlCol="0" anchor="ctr">
            <a:normAutofit/>
          </a:bodyPr>
          <a:lstStyle/>
          <a:p>
            <a:pPr marL="0" indent="0" algn="ctr">
              <a:buNone/>
            </a:pPr>
            <a:r>
              <a:rPr lang="en-US" sz="950" b="1" dirty="0">
                <a:solidFill>
                  <a:srgbClr val="2563EB"/>
                </a:solidFill>
                <a:latin typeface="Aptos" pitchFamily="34" charset="0"/>
                <a:ea typeface="Aptos" pitchFamily="34" charset="-122"/>
                <a:cs typeface="Aptos" pitchFamily="34" charset="-120"/>
              </a:rPr>
              <a:t>Supervised Learning</a:t>
            </a:r>
            <a:endParaRPr lang="en-US" sz="950" dirty="0"/>
          </a:p>
        </p:txBody>
      </p:sp>
      <p:sp>
        <p:nvSpPr>
          <p:cNvPr id="6" name="Text 3"/>
          <p:cNvSpPr/>
          <p:nvPr/>
        </p:nvSpPr>
        <p:spPr>
          <a:xfrm>
            <a:off x="2267712" y="2578608"/>
            <a:ext cx="1152144" cy="256032"/>
          </a:xfrm>
          <a:prstGeom prst="rect">
            <a:avLst/>
          </a:prstGeom>
          <a:solidFill>
            <a:srgbClr val="EAF8F0"/>
          </a:solidFill>
          <a:ln w="12700">
            <a:solidFill>
              <a:srgbClr val="EAF8F0"/>
            </a:solidFill>
          </a:ln>
        </p:spPr>
        <p:txBody>
          <a:bodyPr wrap="square" lIns="254" tIns="254" rIns="254" bIns="254" rtlCol="0" anchor="ctr">
            <a:normAutofit/>
          </a:bodyPr>
          <a:lstStyle/>
          <a:p>
            <a:pPr marL="0" indent="0" algn="ctr">
              <a:buNone/>
            </a:pPr>
            <a:r>
              <a:rPr lang="en-US" sz="950" b="1" dirty="0">
                <a:solidFill>
                  <a:srgbClr val="16A34A"/>
                </a:solidFill>
                <a:latin typeface="Aptos" pitchFamily="34" charset="0"/>
                <a:ea typeface="Aptos" pitchFamily="34" charset="-122"/>
                <a:cs typeface="Aptos" pitchFamily="34" charset="-120"/>
              </a:rPr>
              <a:t>Classification</a:t>
            </a:r>
            <a:endParaRPr lang="en-US" sz="950" dirty="0"/>
          </a:p>
        </p:txBody>
      </p:sp>
      <p:sp>
        <p:nvSpPr>
          <p:cNvPr id="7" name="Text 4"/>
          <p:cNvSpPr/>
          <p:nvPr/>
        </p:nvSpPr>
        <p:spPr>
          <a:xfrm>
            <a:off x="3566160" y="2578608"/>
            <a:ext cx="3090672" cy="256032"/>
          </a:xfrm>
          <a:prstGeom prst="rect">
            <a:avLst/>
          </a:prstGeom>
          <a:solidFill>
            <a:srgbClr val="FFF7E6"/>
          </a:solidFill>
          <a:ln w="12700">
            <a:solidFill>
              <a:srgbClr val="FFF7E6"/>
            </a:solidFill>
          </a:ln>
        </p:spPr>
        <p:txBody>
          <a:bodyPr wrap="square" lIns="254" tIns="254" rIns="254" bIns="254" rtlCol="0" anchor="ctr">
            <a:normAutofit/>
          </a:bodyPr>
          <a:lstStyle/>
          <a:p>
            <a:pPr marL="0" indent="0" algn="ctr">
              <a:buNone/>
            </a:pPr>
            <a:r>
              <a:rPr lang="en-US" sz="950" b="1" dirty="0">
                <a:solidFill>
                  <a:srgbClr val="F59E0B"/>
                </a:solidFill>
                <a:latin typeface="Aptos" pitchFamily="34" charset="0"/>
                <a:ea typeface="Aptos" pitchFamily="34" charset="-122"/>
                <a:cs typeface="Aptos" pitchFamily="34" charset="-120"/>
              </a:rPr>
              <a:t>CatBoost · Random Forest · Logistic Regression</a:t>
            </a:r>
            <a:endParaRPr lang="en-US" sz="950" dirty="0"/>
          </a:p>
        </p:txBody>
      </p:sp>
      <p:sp>
        <p:nvSpPr>
          <p:cNvPr id="8" name="Shape 5"/>
          <p:cNvSpPr/>
          <p:nvPr/>
        </p:nvSpPr>
        <p:spPr>
          <a:xfrm>
            <a:off x="658368" y="5120640"/>
            <a:ext cx="1444752" cy="713232"/>
          </a:xfrm>
          <a:prstGeom prst="roundRect">
            <a:avLst/>
          </a:prstGeom>
          <a:solidFill>
            <a:srgbClr val="FFFFFF"/>
          </a:solidFill>
          <a:ln w="12700">
            <a:solidFill>
              <a:srgbClr val="DDEAF7"/>
            </a:solidFill>
            <a:prstDash val="solid"/>
          </a:ln>
          <a:effectLst>
            <a:outerShdw blurRad="12700" dist="50800" dir="2700000" algn="bl" rotWithShape="0">
              <a:srgbClr val="B8C8DA">
                <a:alpha val="10000"/>
              </a:srgbClr>
            </a:outerShdw>
          </a:effectLst>
        </p:spPr>
      </p:sp>
      <p:sp>
        <p:nvSpPr>
          <p:cNvPr id="9" name="Text 6"/>
          <p:cNvSpPr/>
          <p:nvPr/>
        </p:nvSpPr>
        <p:spPr>
          <a:xfrm>
            <a:off x="731520" y="5221224"/>
            <a:ext cx="1298448" cy="292608"/>
          </a:xfrm>
          <a:prstGeom prst="rect">
            <a:avLst/>
          </a:prstGeom>
          <a:noFill/>
          <a:ln/>
        </p:spPr>
        <p:txBody>
          <a:bodyPr wrap="square" lIns="0" tIns="0" rIns="0" bIns="0" rtlCol="0" anchor="t">
            <a:normAutofit/>
          </a:bodyPr>
          <a:lstStyle/>
          <a:p>
            <a:pPr marL="0" indent="0" algn="ctr">
              <a:buNone/>
            </a:pPr>
            <a:r>
              <a:rPr lang="en-US" sz="1800" b="1" dirty="0">
                <a:solidFill>
                  <a:srgbClr val="2563EB"/>
                </a:solidFill>
                <a:latin typeface="Aptos" pitchFamily="34" charset="0"/>
                <a:ea typeface="Aptos" pitchFamily="34" charset="-122"/>
                <a:cs typeface="Aptos" pitchFamily="34" charset="-120"/>
              </a:rPr>
              <a:t>49.191</a:t>
            </a:r>
            <a:endParaRPr lang="en-US" sz="1800" dirty="0"/>
          </a:p>
        </p:txBody>
      </p:sp>
      <p:sp>
        <p:nvSpPr>
          <p:cNvPr id="10" name="Text 7"/>
          <p:cNvSpPr/>
          <p:nvPr/>
        </p:nvSpPr>
        <p:spPr>
          <a:xfrm>
            <a:off x="731520" y="5559552"/>
            <a:ext cx="1298448" cy="182880"/>
          </a:xfrm>
          <a:prstGeom prst="rect">
            <a:avLst/>
          </a:prstGeom>
          <a:noFill/>
          <a:ln/>
        </p:spPr>
        <p:txBody>
          <a:bodyPr wrap="square" lIns="0" tIns="0" rIns="0" bIns="0" rtlCol="0" anchor="t">
            <a:normAutofit/>
          </a:bodyPr>
          <a:lstStyle/>
          <a:p>
            <a:pPr marL="0" indent="0" algn="ctr">
              <a:buNone/>
            </a:pPr>
            <a:r>
              <a:rPr lang="en-US" sz="820" dirty="0">
                <a:solidFill>
                  <a:srgbClr val="5E6B7A"/>
                </a:solidFill>
                <a:latin typeface="Aptos" pitchFamily="34" charset="0"/>
                <a:ea typeface="Aptos" pitchFamily="34" charset="-122"/>
                <a:cs typeface="Aptos" pitchFamily="34" charset="-120"/>
              </a:rPr>
              <a:t>Dataset responden</a:t>
            </a:r>
            <a:endParaRPr lang="en-US" sz="820" dirty="0"/>
          </a:p>
        </p:txBody>
      </p:sp>
      <p:sp>
        <p:nvSpPr>
          <p:cNvPr id="11" name="Shape 8"/>
          <p:cNvSpPr/>
          <p:nvPr/>
        </p:nvSpPr>
        <p:spPr>
          <a:xfrm>
            <a:off x="2240280" y="5120640"/>
            <a:ext cx="1234440" cy="713232"/>
          </a:xfrm>
          <a:prstGeom prst="roundRect">
            <a:avLst/>
          </a:prstGeom>
          <a:solidFill>
            <a:srgbClr val="FFFFFF"/>
          </a:solidFill>
          <a:ln w="12700">
            <a:solidFill>
              <a:srgbClr val="DDEAF7"/>
            </a:solidFill>
            <a:prstDash val="solid"/>
          </a:ln>
          <a:effectLst>
            <a:outerShdw blurRad="12700" dist="50800" dir="2700000" algn="bl" rotWithShape="0">
              <a:srgbClr val="B8C8DA">
                <a:alpha val="10000"/>
              </a:srgbClr>
            </a:outerShdw>
          </a:effectLst>
        </p:spPr>
      </p:sp>
      <p:sp>
        <p:nvSpPr>
          <p:cNvPr id="12" name="Text 9"/>
          <p:cNvSpPr/>
          <p:nvPr/>
        </p:nvSpPr>
        <p:spPr>
          <a:xfrm>
            <a:off x="2313432" y="5221224"/>
            <a:ext cx="1088136" cy="292608"/>
          </a:xfrm>
          <a:prstGeom prst="rect">
            <a:avLst/>
          </a:prstGeom>
          <a:noFill/>
          <a:ln/>
        </p:spPr>
        <p:txBody>
          <a:bodyPr wrap="square" lIns="0" tIns="0" rIns="0" bIns="0" rtlCol="0" anchor="t">
            <a:normAutofit/>
          </a:bodyPr>
          <a:lstStyle/>
          <a:p>
            <a:pPr marL="0" indent="0" algn="ctr">
              <a:buNone/>
            </a:pPr>
            <a:r>
              <a:rPr lang="en-US" sz="1800" b="1" dirty="0">
                <a:solidFill>
                  <a:srgbClr val="16A34A"/>
                </a:solidFill>
                <a:latin typeface="Aptos" pitchFamily="34" charset="0"/>
                <a:ea typeface="Aptos" pitchFamily="34" charset="-122"/>
                <a:cs typeface="Aptos" pitchFamily="34" charset="-120"/>
              </a:rPr>
              <a:t>11</a:t>
            </a:r>
            <a:endParaRPr lang="en-US" sz="1800" dirty="0"/>
          </a:p>
        </p:txBody>
      </p:sp>
      <p:sp>
        <p:nvSpPr>
          <p:cNvPr id="13" name="Text 10"/>
          <p:cNvSpPr/>
          <p:nvPr/>
        </p:nvSpPr>
        <p:spPr>
          <a:xfrm>
            <a:off x="2313432" y="5559552"/>
            <a:ext cx="1088136" cy="182880"/>
          </a:xfrm>
          <a:prstGeom prst="rect">
            <a:avLst/>
          </a:prstGeom>
          <a:noFill/>
          <a:ln/>
        </p:spPr>
        <p:txBody>
          <a:bodyPr wrap="square" lIns="0" tIns="0" rIns="0" bIns="0" rtlCol="0" anchor="t">
            <a:normAutofit/>
          </a:bodyPr>
          <a:lstStyle/>
          <a:p>
            <a:pPr marL="0" indent="0" algn="ctr">
              <a:buNone/>
            </a:pPr>
            <a:r>
              <a:rPr lang="en-US" sz="820" dirty="0">
                <a:solidFill>
                  <a:srgbClr val="5E6B7A"/>
                </a:solidFill>
                <a:latin typeface="Aptos" pitchFamily="34" charset="0"/>
                <a:ea typeface="Aptos" pitchFamily="34" charset="-122"/>
                <a:cs typeface="Aptos" pitchFamily="34" charset="-120"/>
              </a:rPr>
              <a:t>Fitur prediksi</a:t>
            </a:r>
            <a:endParaRPr lang="en-US" sz="820" dirty="0"/>
          </a:p>
        </p:txBody>
      </p:sp>
      <p:sp>
        <p:nvSpPr>
          <p:cNvPr id="14" name="Shape 11"/>
          <p:cNvSpPr/>
          <p:nvPr/>
        </p:nvSpPr>
        <p:spPr>
          <a:xfrm>
            <a:off x="3621024" y="5120640"/>
            <a:ext cx="1234440" cy="713232"/>
          </a:xfrm>
          <a:prstGeom prst="roundRect">
            <a:avLst/>
          </a:prstGeom>
          <a:solidFill>
            <a:srgbClr val="FFFFFF"/>
          </a:solidFill>
          <a:ln w="12700">
            <a:solidFill>
              <a:srgbClr val="DDEAF7"/>
            </a:solidFill>
            <a:prstDash val="solid"/>
          </a:ln>
          <a:effectLst>
            <a:outerShdw blurRad="12700" dist="50800" dir="2700000" algn="bl" rotWithShape="0">
              <a:srgbClr val="B8C8DA">
                <a:alpha val="10000"/>
              </a:srgbClr>
            </a:outerShdw>
          </a:effectLst>
        </p:spPr>
      </p:sp>
      <p:sp>
        <p:nvSpPr>
          <p:cNvPr id="15" name="Text 12"/>
          <p:cNvSpPr/>
          <p:nvPr/>
        </p:nvSpPr>
        <p:spPr>
          <a:xfrm>
            <a:off x="3694176" y="5221224"/>
            <a:ext cx="1088136" cy="292608"/>
          </a:xfrm>
          <a:prstGeom prst="rect">
            <a:avLst/>
          </a:prstGeom>
          <a:noFill/>
          <a:ln/>
        </p:spPr>
        <p:txBody>
          <a:bodyPr wrap="square" lIns="0" tIns="0" rIns="0" bIns="0" rtlCol="0" anchor="t">
            <a:normAutofit/>
          </a:bodyPr>
          <a:lstStyle/>
          <a:p>
            <a:pPr marL="0" indent="0" algn="ctr">
              <a:buNone/>
            </a:pPr>
            <a:r>
              <a:rPr lang="en-US" sz="1800" b="1" dirty="0">
                <a:solidFill>
                  <a:srgbClr val="F59E0B"/>
                </a:solidFill>
                <a:latin typeface="Aptos" pitchFamily="34" charset="0"/>
                <a:ea typeface="Aptos" pitchFamily="34" charset="-122"/>
                <a:cs typeface="Aptos" pitchFamily="34" charset="-120"/>
              </a:rPr>
              <a:t>2</a:t>
            </a:r>
            <a:endParaRPr lang="en-US" sz="1800" dirty="0"/>
          </a:p>
        </p:txBody>
      </p:sp>
      <p:sp>
        <p:nvSpPr>
          <p:cNvPr id="16" name="Text 13"/>
          <p:cNvSpPr/>
          <p:nvPr/>
        </p:nvSpPr>
        <p:spPr>
          <a:xfrm>
            <a:off x="3694176" y="5559552"/>
            <a:ext cx="1088136" cy="182880"/>
          </a:xfrm>
          <a:prstGeom prst="rect">
            <a:avLst/>
          </a:prstGeom>
          <a:noFill/>
          <a:ln/>
        </p:spPr>
        <p:txBody>
          <a:bodyPr wrap="square" lIns="0" tIns="0" rIns="0" bIns="0" rtlCol="0" anchor="t">
            <a:normAutofit/>
          </a:bodyPr>
          <a:lstStyle/>
          <a:p>
            <a:pPr marL="0" indent="0" algn="ctr">
              <a:buNone/>
            </a:pPr>
            <a:r>
              <a:rPr lang="en-US" sz="820" dirty="0">
                <a:solidFill>
                  <a:srgbClr val="5E6B7A"/>
                </a:solidFill>
                <a:latin typeface="Aptos" pitchFamily="34" charset="0"/>
                <a:ea typeface="Aptos" pitchFamily="34" charset="-122"/>
                <a:cs typeface="Aptos" pitchFamily="34" charset="-120"/>
              </a:rPr>
              <a:t>Target klasifikasi</a:t>
            </a:r>
            <a:endParaRPr lang="en-US" sz="820" dirty="0"/>
          </a:p>
        </p:txBody>
      </p:sp>
      <p:sp>
        <p:nvSpPr>
          <p:cNvPr id="17" name="Shape 14"/>
          <p:cNvSpPr/>
          <p:nvPr/>
        </p:nvSpPr>
        <p:spPr>
          <a:xfrm>
            <a:off x="4992624" y="5120640"/>
            <a:ext cx="1783080" cy="713232"/>
          </a:xfrm>
          <a:prstGeom prst="roundRect">
            <a:avLst/>
          </a:prstGeom>
          <a:solidFill>
            <a:srgbClr val="FFFFFF"/>
          </a:solidFill>
          <a:ln w="12700">
            <a:solidFill>
              <a:srgbClr val="DDEAF7"/>
            </a:solidFill>
            <a:prstDash val="solid"/>
          </a:ln>
          <a:effectLst>
            <a:outerShdw blurRad="12700" dist="50800" dir="2700000" algn="bl" rotWithShape="0">
              <a:srgbClr val="B8C8DA">
                <a:alpha val="10000"/>
              </a:srgbClr>
            </a:outerShdw>
          </a:effectLst>
        </p:spPr>
      </p:sp>
      <p:sp>
        <p:nvSpPr>
          <p:cNvPr id="18" name="Text 15"/>
          <p:cNvSpPr/>
          <p:nvPr/>
        </p:nvSpPr>
        <p:spPr>
          <a:xfrm>
            <a:off x="5065776" y="5221224"/>
            <a:ext cx="1636776" cy="292608"/>
          </a:xfrm>
          <a:prstGeom prst="rect">
            <a:avLst/>
          </a:prstGeom>
          <a:noFill/>
          <a:ln/>
        </p:spPr>
        <p:txBody>
          <a:bodyPr wrap="square" lIns="0" tIns="0" rIns="0" bIns="0" rtlCol="0" anchor="t">
            <a:normAutofit/>
          </a:bodyPr>
          <a:lstStyle/>
          <a:p>
            <a:pPr marL="0" indent="0" algn="ctr">
              <a:buNone/>
            </a:pPr>
            <a:r>
              <a:rPr lang="en-US" sz="1800" b="1" dirty="0">
                <a:solidFill>
                  <a:srgbClr val="D1495B"/>
                </a:solidFill>
                <a:latin typeface="Aptos" pitchFamily="34" charset="0"/>
                <a:ea typeface="Aptos" pitchFamily="34" charset="-122"/>
                <a:cs typeface="Aptos" pitchFamily="34" charset="-120"/>
              </a:rPr>
              <a:t>CatBoost</a:t>
            </a:r>
            <a:endParaRPr lang="en-US" sz="1800" dirty="0"/>
          </a:p>
        </p:txBody>
      </p:sp>
      <p:sp>
        <p:nvSpPr>
          <p:cNvPr id="19" name="Text 16"/>
          <p:cNvSpPr/>
          <p:nvPr/>
        </p:nvSpPr>
        <p:spPr>
          <a:xfrm>
            <a:off x="5065776" y="5559552"/>
            <a:ext cx="1636776" cy="182880"/>
          </a:xfrm>
          <a:prstGeom prst="rect">
            <a:avLst/>
          </a:prstGeom>
          <a:noFill/>
          <a:ln/>
        </p:spPr>
        <p:txBody>
          <a:bodyPr wrap="square" lIns="0" tIns="0" rIns="0" bIns="0" rtlCol="0" anchor="t">
            <a:normAutofit/>
          </a:bodyPr>
          <a:lstStyle/>
          <a:p>
            <a:pPr marL="0" indent="0" algn="ctr">
              <a:buNone/>
            </a:pPr>
            <a:r>
              <a:rPr lang="en-US" sz="820" dirty="0">
                <a:solidFill>
                  <a:srgbClr val="5E6B7A"/>
                </a:solidFill>
                <a:latin typeface="Aptos" pitchFamily="34" charset="0"/>
                <a:ea typeface="Aptos" pitchFamily="34" charset="-122"/>
                <a:cs typeface="Aptos" pitchFamily="34" charset="-120"/>
              </a:rPr>
              <a:t>Model paling konsisten</a:t>
            </a:r>
            <a:endParaRPr lang="en-US" sz="8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02</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Alur Presentasi</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Roadmap</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Text 7"/>
          <p:cNvSpPr/>
          <p:nvPr/>
        </p:nvSpPr>
        <p:spPr>
          <a:xfrm>
            <a:off x="713232" y="1188720"/>
            <a:ext cx="475488" cy="475488"/>
          </a:xfrm>
          <a:prstGeom prst="rect">
            <a:avLst/>
          </a:prstGeom>
          <a:solidFill>
            <a:srgbClr val="2563EB"/>
          </a:solidFill>
          <a:ln w="12700">
            <a:solidFill>
              <a:srgbClr val="2563EB"/>
            </a:solidFill>
          </a:ln>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01</a:t>
            </a:r>
            <a:endParaRPr lang="en-US" sz="1700" dirty="0"/>
          </a:p>
        </p:txBody>
      </p:sp>
      <p:sp>
        <p:nvSpPr>
          <p:cNvPr id="11" name="Text 8"/>
          <p:cNvSpPr/>
          <p:nvPr/>
        </p:nvSpPr>
        <p:spPr>
          <a:xfrm>
            <a:off x="1417320" y="1207008"/>
            <a:ext cx="1965960" cy="228600"/>
          </a:xfrm>
          <a:prstGeom prst="rect">
            <a:avLst/>
          </a:prstGeom>
          <a:noFill/>
          <a:ln/>
        </p:spPr>
        <p:txBody>
          <a:bodyPr wrap="square" lIns="0" tIns="0" rIns="0" bIns="0" rtlCol="0" anchor="t">
            <a:normAutofit/>
          </a:bodyPr>
          <a:lstStyle/>
          <a:p>
            <a:pPr marL="0" indent="0" algn="l">
              <a:buNone/>
            </a:pPr>
            <a:r>
              <a:rPr lang="en-US" sz="1500" b="1" dirty="0">
                <a:solidFill>
                  <a:srgbClr val="1F2937"/>
                </a:solidFill>
                <a:latin typeface="Aptos" pitchFamily="34" charset="0"/>
                <a:ea typeface="Aptos" pitchFamily="34" charset="-122"/>
                <a:cs typeface="Aptos" pitchFamily="34" charset="-120"/>
              </a:rPr>
              <a:t>Latar belakang</a:t>
            </a:r>
            <a:endParaRPr lang="en-US" sz="1500" dirty="0"/>
          </a:p>
        </p:txBody>
      </p:sp>
      <p:sp>
        <p:nvSpPr>
          <p:cNvPr id="12" name="Text 9"/>
          <p:cNvSpPr/>
          <p:nvPr/>
        </p:nvSpPr>
        <p:spPr>
          <a:xfrm>
            <a:off x="3401568" y="1207008"/>
            <a:ext cx="6172200" cy="292608"/>
          </a:xfrm>
          <a:prstGeom prst="rect">
            <a:avLst/>
          </a:prstGeom>
          <a:noFill/>
          <a:ln/>
        </p:spPr>
        <p:txBody>
          <a:bodyPr wrap="square" lIns="0" tIns="0" rIns="0" bIns="0" rtlCol="0" anchor="t">
            <a:normAutofit/>
          </a:bodyPr>
          <a:lstStyle/>
          <a:p>
            <a:pPr marL="0" indent="0" algn="l">
              <a:buNone/>
            </a:pPr>
            <a:r>
              <a:rPr lang="en-US" sz="1250" dirty="0">
                <a:solidFill>
                  <a:srgbClr val="5E6B7A"/>
                </a:solidFill>
                <a:latin typeface="Aptos" pitchFamily="34" charset="0"/>
                <a:ea typeface="Aptos" pitchFamily="34" charset="-122"/>
                <a:cs typeface="Aptos" pitchFamily="34" charset="-120"/>
              </a:rPr>
              <a:t>Mengapa adopsi AI developer perlu dianalisis</a:t>
            </a:r>
            <a:endParaRPr lang="en-US" sz="1250" dirty="0"/>
          </a:p>
        </p:txBody>
      </p:sp>
      <p:sp>
        <p:nvSpPr>
          <p:cNvPr id="13" name="Shape 10"/>
          <p:cNvSpPr/>
          <p:nvPr/>
        </p:nvSpPr>
        <p:spPr>
          <a:xfrm>
            <a:off x="950976" y="1664208"/>
            <a:ext cx="0" cy="393192"/>
          </a:xfrm>
          <a:prstGeom prst="line">
            <a:avLst/>
          </a:prstGeom>
          <a:noFill/>
          <a:ln w="25400">
            <a:solidFill>
              <a:srgbClr val="D6E4F2"/>
            </a:solidFill>
            <a:prstDash val="solid"/>
          </a:ln>
        </p:spPr>
      </p:sp>
      <p:sp>
        <p:nvSpPr>
          <p:cNvPr id="14" name="Text 11"/>
          <p:cNvSpPr/>
          <p:nvPr/>
        </p:nvSpPr>
        <p:spPr>
          <a:xfrm>
            <a:off x="713232" y="2130552"/>
            <a:ext cx="475488" cy="475488"/>
          </a:xfrm>
          <a:prstGeom prst="rect">
            <a:avLst/>
          </a:prstGeom>
          <a:solidFill>
            <a:srgbClr val="2563EB"/>
          </a:solidFill>
          <a:ln w="12700">
            <a:solidFill>
              <a:srgbClr val="2563EB"/>
            </a:solidFill>
          </a:ln>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02</a:t>
            </a:r>
            <a:endParaRPr lang="en-US" sz="1700" dirty="0"/>
          </a:p>
        </p:txBody>
      </p:sp>
      <p:sp>
        <p:nvSpPr>
          <p:cNvPr id="15" name="Text 12"/>
          <p:cNvSpPr/>
          <p:nvPr/>
        </p:nvSpPr>
        <p:spPr>
          <a:xfrm>
            <a:off x="1417320" y="2148840"/>
            <a:ext cx="1965960" cy="228600"/>
          </a:xfrm>
          <a:prstGeom prst="rect">
            <a:avLst/>
          </a:prstGeom>
          <a:noFill/>
          <a:ln/>
        </p:spPr>
        <p:txBody>
          <a:bodyPr wrap="square" lIns="0" tIns="0" rIns="0" bIns="0" rtlCol="0" anchor="t">
            <a:normAutofit/>
          </a:bodyPr>
          <a:lstStyle/>
          <a:p>
            <a:pPr marL="0" indent="0" algn="l">
              <a:buNone/>
            </a:pPr>
            <a:r>
              <a:rPr lang="en-US" sz="1500" b="1" dirty="0">
                <a:solidFill>
                  <a:srgbClr val="1F2937"/>
                </a:solidFill>
                <a:latin typeface="Aptos" pitchFamily="34" charset="0"/>
                <a:ea typeface="Aptos" pitchFamily="34" charset="-122"/>
                <a:cs typeface="Aptos" pitchFamily="34" charset="-120"/>
              </a:rPr>
              <a:t>Data &amp; fitur</a:t>
            </a:r>
            <a:endParaRPr lang="en-US" sz="1500" dirty="0"/>
          </a:p>
        </p:txBody>
      </p:sp>
      <p:sp>
        <p:nvSpPr>
          <p:cNvPr id="16" name="Text 13"/>
          <p:cNvSpPr/>
          <p:nvPr/>
        </p:nvSpPr>
        <p:spPr>
          <a:xfrm>
            <a:off x="3401568" y="2148840"/>
            <a:ext cx="6172200" cy="292608"/>
          </a:xfrm>
          <a:prstGeom prst="rect">
            <a:avLst/>
          </a:prstGeom>
          <a:noFill/>
          <a:ln/>
        </p:spPr>
        <p:txBody>
          <a:bodyPr wrap="square" lIns="0" tIns="0" rIns="0" bIns="0" rtlCol="0" anchor="t">
            <a:normAutofit/>
          </a:bodyPr>
          <a:lstStyle/>
          <a:p>
            <a:pPr marL="0" indent="0" algn="l">
              <a:buNone/>
            </a:pPr>
            <a:r>
              <a:rPr lang="en-US" sz="1250" dirty="0">
                <a:solidFill>
                  <a:srgbClr val="5E6B7A"/>
                </a:solidFill>
                <a:latin typeface="Aptos" pitchFamily="34" charset="0"/>
                <a:ea typeface="Aptos" pitchFamily="34" charset="-122"/>
                <a:cs typeface="Aptos" pitchFamily="34" charset="-120"/>
              </a:rPr>
              <a:t>Kolom yang dipakai dan cara target dibuat</a:t>
            </a:r>
            <a:endParaRPr lang="en-US" sz="1250" dirty="0"/>
          </a:p>
        </p:txBody>
      </p:sp>
      <p:sp>
        <p:nvSpPr>
          <p:cNvPr id="17" name="Shape 14"/>
          <p:cNvSpPr/>
          <p:nvPr/>
        </p:nvSpPr>
        <p:spPr>
          <a:xfrm>
            <a:off x="950976" y="2606040"/>
            <a:ext cx="0" cy="393192"/>
          </a:xfrm>
          <a:prstGeom prst="line">
            <a:avLst/>
          </a:prstGeom>
          <a:noFill/>
          <a:ln w="25400">
            <a:solidFill>
              <a:srgbClr val="D6E4F2"/>
            </a:solidFill>
            <a:prstDash val="solid"/>
          </a:ln>
        </p:spPr>
      </p:sp>
      <p:sp>
        <p:nvSpPr>
          <p:cNvPr id="18" name="Text 15"/>
          <p:cNvSpPr/>
          <p:nvPr/>
        </p:nvSpPr>
        <p:spPr>
          <a:xfrm>
            <a:off x="713232" y="3072384"/>
            <a:ext cx="475488" cy="475488"/>
          </a:xfrm>
          <a:prstGeom prst="rect">
            <a:avLst/>
          </a:prstGeom>
          <a:solidFill>
            <a:srgbClr val="16A34A"/>
          </a:solidFill>
          <a:ln w="12700">
            <a:solidFill>
              <a:srgbClr val="16A34A"/>
            </a:solidFill>
          </a:ln>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03</a:t>
            </a:r>
            <a:endParaRPr lang="en-US" sz="1700" dirty="0"/>
          </a:p>
        </p:txBody>
      </p:sp>
      <p:sp>
        <p:nvSpPr>
          <p:cNvPr id="19" name="Text 16"/>
          <p:cNvSpPr/>
          <p:nvPr/>
        </p:nvSpPr>
        <p:spPr>
          <a:xfrm>
            <a:off x="1417320" y="3090672"/>
            <a:ext cx="1965960" cy="228600"/>
          </a:xfrm>
          <a:prstGeom prst="rect">
            <a:avLst/>
          </a:prstGeom>
          <a:noFill/>
          <a:ln/>
        </p:spPr>
        <p:txBody>
          <a:bodyPr wrap="square" lIns="0" tIns="0" rIns="0" bIns="0" rtlCol="0" anchor="t">
            <a:normAutofit/>
          </a:bodyPr>
          <a:lstStyle/>
          <a:p>
            <a:pPr marL="0" indent="0" algn="l">
              <a:buNone/>
            </a:pPr>
            <a:r>
              <a:rPr lang="en-US" sz="1500" b="1" dirty="0">
                <a:solidFill>
                  <a:srgbClr val="1F2937"/>
                </a:solidFill>
                <a:latin typeface="Aptos" pitchFamily="34" charset="0"/>
                <a:ea typeface="Aptos" pitchFamily="34" charset="-122"/>
                <a:cs typeface="Aptos" pitchFamily="34" charset="-120"/>
              </a:rPr>
              <a:t>Metode model</a:t>
            </a:r>
            <a:endParaRPr lang="en-US" sz="1500" dirty="0"/>
          </a:p>
        </p:txBody>
      </p:sp>
      <p:sp>
        <p:nvSpPr>
          <p:cNvPr id="20" name="Text 17"/>
          <p:cNvSpPr/>
          <p:nvPr/>
        </p:nvSpPr>
        <p:spPr>
          <a:xfrm>
            <a:off x="3401568" y="3090672"/>
            <a:ext cx="6172200" cy="292608"/>
          </a:xfrm>
          <a:prstGeom prst="rect">
            <a:avLst/>
          </a:prstGeom>
          <a:noFill/>
          <a:ln/>
        </p:spPr>
        <p:txBody>
          <a:bodyPr wrap="square" lIns="0" tIns="0" rIns="0" bIns="0" rtlCol="0" anchor="t">
            <a:normAutofit/>
          </a:bodyPr>
          <a:lstStyle/>
          <a:p>
            <a:pPr marL="0" indent="0" algn="l">
              <a:buNone/>
            </a:pPr>
            <a:r>
              <a:rPr lang="en-US" sz="1250" dirty="0">
                <a:solidFill>
                  <a:srgbClr val="5E6B7A"/>
                </a:solidFill>
                <a:latin typeface="Aptos" pitchFamily="34" charset="0"/>
                <a:ea typeface="Aptos" pitchFamily="34" charset="-122"/>
                <a:cs typeface="Aptos" pitchFamily="34" charset="-120"/>
              </a:rPr>
              <a:t>Logistic Regression, Random Forest, CatBoost</a:t>
            </a:r>
            <a:endParaRPr lang="en-US" sz="1250" dirty="0"/>
          </a:p>
        </p:txBody>
      </p:sp>
      <p:sp>
        <p:nvSpPr>
          <p:cNvPr id="21" name="Shape 18"/>
          <p:cNvSpPr/>
          <p:nvPr/>
        </p:nvSpPr>
        <p:spPr>
          <a:xfrm>
            <a:off x="950976" y="3547872"/>
            <a:ext cx="0" cy="393192"/>
          </a:xfrm>
          <a:prstGeom prst="line">
            <a:avLst/>
          </a:prstGeom>
          <a:noFill/>
          <a:ln w="25400">
            <a:solidFill>
              <a:srgbClr val="D6E4F2"/>
            </a:solidFill>
            <a:prstDash val="solid"/>
          </a:ln>
        </p:spPr>
      </p:sp>
      <p:sp>
        <p:nvSpPr>
          <p:cNvPr id="22" name="Text 19"/>
          <p:cNvSpPr/>
          <p:nvPr/>
        </p:nvSpPr>
        <p:spPr>
          <a:xfrm>
            <a:off x="713232" y="4014216"/>
            <a:ext cx="475488" cy="475488"/>
          </a:xfrm>
          <a:prstGeom prst="rect">
            <a:avLst/>
          </a:prstGeom>
          <a:solidFill>
            <a:srgbClr val="16A34A"/>
          </a:solidFill>
          <a:ln w="12700">
            <a:solidFill>
              <a:srgbClr val="16A34A"/>
            </a:solidFill>
          </a:ln>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04</a:t>
            </a:r>
            <a:endParaRPr lang="en-US" sz="1700" dirty="0"/>
          </a:p>
        </p:txBody>
      </p:sp>
      <p:sp>
        <p:nvSpPr>
          <p:cNvPr id="23" name="Text 20"/>
          <p:cNvSpPr/>
          <p:nvPr/>
        </p:nvSpPr>
        <p:spPr>
          <a:xfrm>
            <a:off x="1417320" y="4032504"/>
            <a:ext cx="1965960" cy="228600"/>
          </a:xfrm>
          <a:prstGeom prst="rect">
            <a:avLst/>
          </a:prstGeom>
          <a:noFill/>
          <a:ln/>
        </p:spPr>
        <p:txBody>
          <a:bodyPr wrap="square" lIns="0" tIns="0" rIns="0" bIns="0" rtlCol="0" anchor="t">
            <a:normAutofit/>
          </a:bodyPr>
          <a:lstStyle/>
          <a:p>
            <a:pPr marL="0" indent="0" algn="l">
              <a:buNone/>
            </a:pPr>
            <a:r>
              <a:rPr lang="en-US" sz="1500" b="1" dirty="0">
                <a:solidFill>
                  <a:srgbClr val="1F2937"/>
                </a:solidFill>
                <a:latin typeface="Aptos" pitchFamily="34" charset="0"/>
                <a:ea typeface="Aptos" pitchFamily="34" charset="-122"/>
                <a:cs typeface="Aptos" pitchFamily="34" charset="-120"/>
              </a:rPr>
              <a:t>Hasil eksperimen</a:t>
            </a:r>
            <a:endParaRPr lang="en-US" sz="1500" dirty="0"/>
          </a:p>
        </p:txBody>
      </p:sp>
      <p:sp>
        <p:nvSpPr>
          <p:cNvPr id="24" name="Text 21"/>
          <p:cNvSpPr/>
          <p:nvPr/>
        </p:nvSpPr>
        <p:spPr>
          <a:xfrm>
            <a:off x="3401568" y="4032504"/>
            <a:ext cx="6172200" cy="292608"/>
          </a:xfrm>
          <a:prstGeom prst="rect">
            <a:avLst/>
          </a:prstGeom>
          <a:noFill/>
          <a:ln/>
        </p:spPr>
        <p:txBody>
          <a:bodyPr wrap="square" lIns="0" tIns="0" rIns="0" bIns="0" rtlCol="0" anchor="t">
            <a:normAutofit/>
          </a:bodyPr>
          <a:lstStyle/>
          <a:p>
            <a:pPr marL="0" indent="0" algn="l">
              <a:buNone/>
            </a:pPr>
            <a:r>
              <a:rPr lang="en-US" sz="1250" dirty="0">
                <a:solidFill>
                  <a:srgbClr val="5E6B7A"/>
                </a:solidFill>
                <a:latin typeface="Aptos" pitchFamily="34" charset="0"/>
                <a:ea typeface="Aptos" pitchFamily="34" charset="-122"/>
                <a:cs typeface="Aptos" pitchFamily="34" charset="-120"/>
              </a:rPr>
              <a:t>AISelect, AIAgents, optimasi model</a:t>
            </a:r>
            <a:endParaRPr lang="en-US" sz="1250" dirty="0"/>
          </a:p>
        </p:txBody>
      </p:sp>
      <p:sp>
        <p:nvSpPr>
          <p:cNvPr id="25" name="Shape 22"/>
          <p:cNvSpPr/>
          <p:nvPr/>
        </p:nvSpPr>
        <p:spPr>
          <a:xfrm>
            <a:off x="950976" y="4489704"/>
            <a:ext cx="0" cy="393192"/>
          </a:xfrm>
          <a:prstGeom prst="line">
            <a:avLst/>
          </a:prstGeom>
          <a:noFill/>
          <a:ln w="25400">
            <a:solidFill>
              <a:srgbClr val="D6E4F2"/>
            </a:solidFill>
            <a:prstDash val="solid"/>
          </a:ln>
        </p:spPr>
      </p:sp>
      <p:sp>
        <p:nvSpPr>
          <p:cNvPr id="26" name="Text 23"/>
          <p:cNvSpPr/>
          <p:nvPr/>
        </p:nvSpPr>
        <p:spPr>
          <a:xfrm>
            <a:off x="713232" y="4956048"/>
            <a:ext cx="475488" cy="475488"/>
          </a:xfrm>
          <a:prstGeom prst="rect">
            <a:avLst/>
          </a:prstGeom>
          <a:solidFill>
            <a:srgbClr val="D1495B"/>
          </a:solidFill>
          <a:ln w="12700">
            <a:solidFill>
              <a:srgbClr val="D1495B"/>
            </a:solidFill>
          </a:ln>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05</a:t>
            </a:r>
            <a:endParaRPr lang="en-US" sz="1700" dirty="0"/>
          </a:p>
        </p:txBody>
      </p:sp>
      <p:sp>
        <p:nvSpPr>
          <p:cNvPr id="27" name="Text 24"/>
          <p:cNvSpPr/>
          <p:nvPr/>
        </p:nvSpPr>
        <p:spPr>
          <a:xfrm>
            <a:off x="1417320" y="4974336"/>
            <a:ext cx="1965960" cy="228600"/>
          </a:xfrm>
          <a:prstGeom prst="rect">
            <a:avLst/>
          </a:prstGeom>
          <a:noFill/>
          <a:ln/>
        </p:spPr>
        <p:txBody>
          <a:bodyPr wrap="square" lIns="0" tIns="0" rIns="0" bIns="0" rtlCol="0" anchor="t">
            <a:normAutofit/>
          </a:bodyPr>
          <a:lstStyle/>
          <a:p>
            <a:pPr marL="0" indent="0" algn="l">
              <a:buNone/>
            </a:pPr>
            <a:r>
              <a:rPr lang="en-US" sz="1500" b="1" dirty="0">
                <a:solidFill>
                  <a:srgbClr val="1F2937"/>
                </a:solidFill>
                <a:latin typeface="Aptos" pitchFamily="34" charset="0"/>
                <a:ea typeface="Aptos" pitchFamily="34" charset="-122"/>
                <a:cs typeface="Aptos" pitchFamily="34" charset="-120"/>
              </a:rPr>
              <a:t>Interpretasi</a:t>
            </a:r>
            <a:endParaRPr lang="en-US" sz="1500" dirty="0"/>
          </a:p>
        </p:txBody>
      </p:sp>
      <p:sp>
        <p:nvSpPr>
          <p:cNvPr id="28" name="Text 25"/>
          <p:cNvSpPr/>
          <p:nvPr/>
        </p:nvSpPr>
        <p:spPr>
          <a:xfrm>
            <a:off x="3401568" y="4974336"/>
            <a:ext cx="6172200" cy="292608"/>
          </a:xfrm>
          <a:prstGeom prst="rect">
            <a:avLst/>
          </a:prstGeom>
          <a:noFill/>
          <a:ln/>
        </p:spPr>
        <p:txBody>
          <a:bodyPr wrap="square" lIns="0" tIns="0" rIns="0" bIns="0" rtlCol="0" anchor="t">
            <a:normAutofit/>
          </a:bodyPr>
          <a:lstStyle/>
          <a:p>
            <a:pPr marL="0" indent="0" algn="l">
              <a:buNone/>
            </a:pPr>
            <a:r>
              <a:rPr lang="en-US" sz="1250" dirty="0">
                <a:solidFill>
                  <a:srgbClr val="5E6B7A"/>
                </a:solidFill>
                <a:latin typeface="Aptos" pitchFamily="34" charset="0"/>
                <a:ea typeface="Aptos" pitchFamily="34" charset="-122"/>
                <a:cs typeface="Aptos" pitchFamily="34" charset="-120"/>
              </a:rPr>
              <a:t>Confusion matrix, feature importance, kesimpulan</a:t>
            </a:r>
            <a:endParaRPr lang="en-US" sz="1250" dirty="0"/>
          </a:p>
        </p:txBody>
      </p:sp>
      <p:sp>
        <p:nvSpPr>
          <p:cNvPr id="29" name="Shape 26"/>
          <p:cNvSpPr/>
          <p:nvPr/>
        </p:nvSpPr>
        <p:spPr>
          <a:xfrm>
            <a:off x="7543800" y="5486400"/>
            <a:ext cx="3767328" cy="594360"/>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30" name="Text 27"/>
          <p:cNvSpPr/>
          <p:nvPr/>
        </p:nvSpPr>
        <p:spPr>
          <a:xfrm>
            <a:off x="7708392" y="5632704"/>
            <a:ext cx="3438144"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Cara menggunakan PPT</a:t>
            </a:r>
            <a:endParaRPr lang="en-US" sz="1200" dirty="0"/>
          </a:p>
        </p:txBody>
      </p:sp>
      <p:sp>
        <p:nvSpPr>
          <p:cNvPr id="31" name="Text 28"/>
          <p:cNvSpPr/>
          <p:nvPr/>
        </p:nvSpPr>
        <p:spPr>
          <a:xfrm>
            <a:off x="7708392" y="5925312"/>
            <a:ext cx="3438144" cy="6400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Bagian “cara membaca” dapat dipakai sebagai panduan saat presentasi.</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03</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Latar Belakang</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Konteks masalah</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640080" y="1170432"/>
            <a:ext cx="5303520" cy="393192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sp>
        <p:nvSpPr>
          <p:cNvPr id="11" name="Text 8"/>
          <p:cNvSpPr/>
          <p:nvPr/>
        </p:nvSpPr>
        <p:spPr>
          <a:xfrm>
            <a:off x="914400" y="1426464"/>
            <a:ext cx="4480560" cy="292608"/>
          </a:xfrm>
          <a:prstGeom prst="rect">
            <a:avLst/>
          </a:prstGeom>
          <a:noFill/>
          <a:ln/>
        </p:spPr>
        <p:txBody>
          <a:bodyPr wrap="square" lIns="0" tIns="0" rIns="0" bIns="0" rtlCol="0" anchor="t">
            <a:normAutofit/>
          </a:bodyPr>
          <a:lstStyle/>
          <a:p>
            <a:pPr marL="0" indent="0" algn="l">
              <a:buNone/>
            </a:pPr>
            <a:r>
              <a:rPr lang="en-US" sz="1700" b="1" dirty="0">
                <a:solidFill>
                  <a:srgbClr val="14345B"/>
                </a:solidFill>
                <a:latin typeface="Aptos" pitchFamily="34" charset="0"/>
                <a:ea typeface="Aptos" pitchFamily="34" charset="-122"/>
                <a:cs typeface="Aptos" pitchFamily="34" charset="-120"/>
              </a:rPr>
              <a:t>Mengapa topik ini penting?</a:t>
            </a:r>
            <a:endParaRPr lang="en-US" sz="1700" dirty="0"/>
          </a:p>
        </p:txBody>
      </p:sp>
      <p:sp>
        <p:nvSpPr>
          <p:cNvPr id="12" name="Text 9"/>
          <p:cNvSpPr/>
          <p:nvPr/>
        </p:nvSpPr>
        <p:spPr>
          <a:xfrm>
            <a:off x="914400" y="1920240"/>
            <a:ext cx="4617720" cy="2103120"/>
          </a:xfrm>
          <a:prstGeom prst="rect">
            <a:avLst/>
          </a:prstGeom>
          <a:noFill/>
          <a:ln/>
        </p:spPr>
        <p:txBody>
          <a:bodyPr wrap="square" lIns="635" tIns="635" rIns="635" bIns="635" rtlCol="0" anchor="ctr">
            <a:normAutofit/>
          </a:bodyPr>
          <a:lstStyle/>
          <a:p>
            <a:pPr marL="139700" indent="-139700">
              <a:buSzPct val="100000"/>
              <a:buChar char="•"/>
            </a:pPr>
            <a:r>
              <a:rPr lang="en-US" sz="1320" dirty="0">
                <a:solidFill>
                  <a:srgbClr val="1F2937"/>
                </a:solidFill>
              </a:rPr>
              <a:t>AI Tools membantu coding, debugging, dokumentasi, dan pencarian solusi.</a:t>
            </a:r>
            <a:endParaRPr lang="en-US" sz="1320" dirty="0"/>
          </a:p>
          <a:p>
            <a:pPr marL="139700" indent="-139700">
              <a:buSzPct val="100000"/>
              <a:buChar char="•"/>
            </a:pPr>
            <a:r>
              <a:rPr lang="en-US" sz="1320" dirty="0">
                <a:solidFill>
                  <a:srgbClr val="1F2937"/>
                </a:solidFill>
              </a:rPr>
              <a:t>Tidak semua developer memakai AI dengan intensitas dan cara yang sama.</a:t>
            </a:r>
            <a:endParaRPr lang="en-US" sz="1320" dirty="0"/>
          </a:p>
          <a:p>
            <a:pPr marL="139700" indent="-139700">
              <a:buSzPct val="100000"/>
              <a:buChar char="•"/>
            </a:pPr>
            <a:r>
              <a:rPr lang="en-US" sz="1320" dirty="0">
                <a:solidFill>
                  <a:srgbClr val="1F2937"/>
                </a:solidFill>
              </a:rPr>
              <a:t>Faktor pengalaman, teknologi, lingkungan kerja, dan sentimen dapat menjadi sinyal prediktif.</a:t>
            </a:r>
            <a:endParaRPr lang="en-US" sz="1320" dirty="0"/>
          </a:p>
          <a:p>
            <a:pPr marL="139700" indent="-139700">
              <a:buSzPct val="100000"/>
              <a:buChar char="•"/>
            </a:pPr>
            <a:r>
              <a:rPr lang="en-US" sz="1320" dirty="0">
                <a:solidFill>
                  <a:srgbClr val="1F2937"/>
                </a:solidFill>
              </a:rPr>
              <a:t>Machine Learning membantu membaca pola dari data besar secara lebih sistematis.</a:t>
            </a:r>
            <a:endParaRPr lang="en-US" sz="1320" dirty="0"/>
          </a:p>
        </p:txBody>
      </p:sp>
      <p:sp>
        <p:nvSpPr>
          <p:cNvPr id="13" name="Shape 10"/>
          <p:cNvSpPr/>
          <p:nvPr/>
        </p:nvSpPr>
        <p:spPr>
          <a:xfrm>
            <a:off x="914400" y="4315968"/>
            <a:ext cx="4617720" cy="566928"/>
          </a:xfrm>
          <a:prstGeom prst="roundRect">
            <a:avLst/>
          </a:prstGeom>
          <a:solidFill>
            <a:srgbClr val="FFF0F3"/>
          </a:solidFill>
          <a:ln w="12700">
            <a:solidFill>
              <a:srgbClr val="C9DFFF"/>
            </a:solidFill>
            <a:prstDash val="solid"/>
          </a:ln>
          <a:effectLst>
            <a:outerShdw blurRad="12700" dist="50800" dir="2700000" algn="bl" rotWithShape="0">
              <a:srgbClr val="B8C8DA">
                <a:alpha val="10000"/>
              </a:srgbClr>
            </a:outerShdw>
          </a:effectLst>
        </p:spPr>
      </p:sp>
      <p:sp>
        <p:nvSpPr>
          <p:cNvPr id="14" name="Text 11"/>
          <p:cNvSpPr/>
          <p:nvPr/>
        </p:nvSpPr>
        <p:spPr>
          <a:xfrm>
            <a:off x="1078992" y="4462272"/>
            <a:ext cx="4288536" cy="219456"/>
          </a:xfrm>
          <a:prstGeom prst="rect">
            <a:avLst/>
          </a:prstGeom>
          <a:noFill/>
          <a:ln/>
        </p:spPr>
        <p:txBody>
          <a:bodyPr wrap="square" lIns="0" tIns="0" rIns="0" bIns="0" rtlCol="0" anchor="t">
            <a:normAutofit/>
          </a:bodyPr>
          <a:lstStyle/>
          <a:p>
            <a:pPr marL="0" indent="0" algn="l">
              <a:buNone/>
            </a:pPr>
            <a:r>
              <a:rPr lang="en-US" sz="1200" b="1" dirty="0">
                <a:solidFill>
                  <a:srgbClr val="D1495B"/>
                </a:solidFill>
                <a:latin typeface="Aptos" pitchFamily="34" charset="0"/>
                <a:ea typeface="Aptos" pitchFamily="34" charset="-122"/>
                <a:cs typeface="Aptos" pitchFamily="34" charset="-120"/>
              </a:rPr>
              <a:t>Masalah utama</a:t>
            </a:r>
            <a:endParaRPr lang="en-US" sz="1200" dirty="0"/>
          </a:p>
        </p:txBody>
      </p:sp>
      <p:sp>
        <p:nvSpPr>
          <p:cNvPr id="15" name="Text 12"/>
          <p:cNvSpPr/>
          <p:nvPr/>
        </p:nvSpPr>
        <p:spPr>
          <a:xfrm>
            <a:off x="1078992" y="4754880"/>
            <a:ext cx="4288536" cy="36576"/>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Bagaimana memprediksi apakah developer menggunakan AI Tools atau AI Agent berdasarkan karakteristik mereka?</a:t>
            </a:r>
            <a:endParaRPr lang="en-US" sz="1100" dirty="0"/>
          </a:p>
        </p:txBody>
      </p:sp>
      <p:sp>
        <p:nvSpPr>
          <p:cNvPr id="16" name="Shape 13"/>
          <p:cNvSpPr/>
          <p:nvPr/>
        </p:nvSpPr>
        <p:spPr>
          <a:xfrm>
            <a:off x="6446520" y="1170432"/>
            <a:ext cx="4709160" cy="3931920"/>
          </a:xfrm>
          <a:prstGeom prst="roundRect">
            <a:avLst/>
          </a:prstGeom>
          <a:solidFill>
            <a:srgbClr val="F3F9FF"/>
          </a:solidFill>
          <a:ln w="12700">
            <a:solidFill>
              <a:srgbClr val="CFE0F3"/>
            </a:solidFill>
            <a:prstDash val="solid"/>
          </a:ln>
          <a:effectLst>
            <a:outerShdw blurRad="12700" dist="50800" dir="2700000" algn="bl" rotWithShape="0">
              <a:srgbClr val="B8C8DA">
                <a:alpha val="10000"/>
              </a:srgbClr>
            </a:outerShdw>
          </a:effectLst>
        </p:spPr>
      </p:sp>
      <p:sp>
        <p:nvSpPr>
          <p:cNvPr id="17" name="Shape 14"/>
          <p:cNvSpPr/>
          <p:nvPr/>
        </p:nvSpPr>
        <p:spPr>
          <a:xfrm>
            <a:off x="6766560" y="1664208"/>
            <a:ext cx="1645920" cy="713232"/>
          </a:xfrm>
          <a:prstGeom prst="roundRect">
            <a:avLst/>
          </a:prstGeom>
          <a:solidFill>
            <a:srgbClr val="FFFFFF"/>
          </a:solidFill>
          <a:ln w="12700">
            <a:solidFill>
              <a:srgbClr val="DDEAF7"/>
            </a:solidFill>
            <a:prstDash val="solid"/>
          </a:ln>
          <a:effectLst>
            <a:outerShdw blurRad="12700" dist="50800" dir="2700000" algn="bl" rotWithShape="0">
              <a:srgbClr val="B8C8DA">
                <a:alpha val="10000"/>
              </a:srgbClr>
            </a:outerShdw>
          </a:effectLst>
        </p:spPr>
      </p:sp>
      <p:sp>
        <p:nvSpPr>
          <p:cNvPr id="18" name="Text 15"/>
          <p:cNvSpPr/>
          <p:nvPr/>
        </p:nvSpPr>
        <p:spPr>
          <a:xfrm>
            <a:off x="6839712" y="1764792"/>
            <a:ext cx="1499616" cy="292608"/>
          </a:xfrm>
          <a:prstGeom prst="rect">
            <a:avLst/>
          </a:prstGeom>
          <a:noFill/>
          <a:ln/>
        </p:spPr>
        <p:txBody>
          <a:bodyPr wrap="square" lIns="0" tIns="0" rIns="0" bIns="0" rtlCol="0" anchor="t">
            <a:normAutofit/>
          </a:bodyPr>
          <a:lstStyle/>
          <a:p>
            <a:pPr marL="0" indent="0" algn="ctr">
              <a:buNone/>
            </a:pPr>
            <a:r>
              <a:rPr lang="en-US" sz="1800" b="1" dirty="0">
                <a:solidFill>
                  <a:srgbClr val="2563EB"/>
                </a:solidFill>
                <a:latin typeface="Aptos" pitchFamily="34" charset="0"/>
                <a:ea typeface="Aptos" pitchFamily="34" charset="-122"/>
                <a:cs typeface="Aptos" pitchFamily="34" charset="-120"/>
              </a:rPr>
              <a:t>49.191 baris</a:t>
            </a:r>
            <a:endParaRPr lang="en-US" sz="1800" dirty="0"/>
          </a:p>
        </p:txBody>
      </p:sp>
      <p:sp>
        <p:nvSpPr>
          <p:cNvPr id="19" name="Text 16"/>
          <p:cNvSpPr/>
          <p:nvPr/>
        </p:nvSpPr>
        <p:spPr>
          <a:xfrm>
            <a:off x="6839712" y="2103120"/>
            <a:ext cx="1499616" cy="182880"/>
          </a:xfrm>
          <a:prstGeom prst="rect">
            <a:avLst/>
          </a:prstGeom>
          <a:noFill/>
          <a:ln/>
        </p:spPr>
        <p:txBody>
          <a:bodyPr wrap="square" lIns="0" tIns="0" rIns="0" bIns="0" rtlCol="0" anchor="t">
            <a:normAutofit/>
          </a:bodyPr>
          <a:lstStyle/>
          <a:p>
            <a:pPr marL="0" indent="0" algn="ctr">
              <a:buNone/>
            </a:pPr>
            <a:r>
              <a:rPr lang="en-US" sz="820" dirty="0">
                <a:solidFill>
                  <a:srgbClr val="5E6B7A"/>
                </a:solidFill>
                <a:latin typeface="Aptos" pitchFamily="34" charset="0"/>
                <a:ea typeface="Aptos" pitchFamily="34" charset="-122"/>
                <a:cs typeface="Aptos" pitchFamily="34" charset="-120"/>
              </a:rPr>
              <a:t>Data awal</a:t>
            </a:r>
            <a:endParaRPr lang="en-US" sz="820" dirty="0"/>
          </a:p>
        </p:txBody>
      </p:sp>
      <p:sp>
        <p:nvSpPr>
          <p:cNvPr id="20" name="Shape 17"/>
          <p:cNvSpPr/>
          <p:nvPr/>
        </p:nvSpPr>
        <p:spPr>
          <a:xfrm>
            <a:off x="8577072" y="1664208"/>
            <a:ext cx="1444752" cy="713232"/>
          </a:xfrm>
          <a:prstGeom prst="roundRect">
            <a:avLst/>
          </a:prstGeom>
          <a:solidFill>
            <a:srgbClr val="FFFFFF"/>
          </a:solidFill>
          <a:ln w="12700">
            <a:solidFill>
              <a:srgbClr val="DDEAF7"/>
            </a:solidFill>
            <a:prstDash val="solid"/>
          </a:ln>
          <a:effectLst>
            <a:outerShdw blurRad="12700" dist="50800" dir="2700000" algn="bl" rotWithShape="0">
              <a:srgbClr val="B8C8DA">
                <a:alpha val="10000"/>
              </a:srgbClr>
            </a:outerShdw>
          </a:effectLst>
        </p:spPr>
      </p:sp>
      <p:sp>
        <p:nvSpPr>
          <p:cNvPr id="21" name="Text 18"/>
          <p:cNvSpPr/>
          <p:nvPr/>
        </p:nvSpPr>
        <p:spPr>
          <a:xfrm>
            <a:off x="8650224" y="1764792"/>
            <a:ext cx="1298448" cy="292608"/>
          </a:xfrm>
          <a:prstGeom prst="rect">
            <a:avLst/>
          </a:prstGeom>
          <a:noFill/>
          <a:ln/>
        </p:spPr>
        <p:txBody>
          <a:bodyPr wrap="square" lIns="0" tIns="0" rIns="0" bIns="0" rtlCol="0" anchor="t">
            <a:normAutofit/>
          </a:bodyPr>
          <a:lstStyle/>
          <a:p>
            <a:pPr marL="0" indent="0" algn="ctr">
              <a:buNone/>
            </a:pPr>
            <a:r>
              <a:rPr lang="en-US" sz="1800" b="1" dirty="0">
                <a:solidFill>
                  <a:srgbClr val="16A34A"/>
                </a:solidFill>
                <a:latin typeface="Aptos" pitchFamily="34" charset="0"/>
                <a:ea typeface="Aptos" pitchFamily="34" charset="-122"/>
                <a:cs typeface="Aptos" pitchFamily="34" charset="-120"/>
              </a:rPr>
              <a:t>172 kolom</a:t>
            </a:r>
            <a:endParaRPr lang="en-US" sz="1800" dirty="0"/>
          </a:p>
        </p:txBody>
      </p:sp>
      <p:sp>
        <p:nvSpPr>
          <p:cNvPr id="22" name="Text 19"/>
          <p:cNvSpPr/>
          <p:nvPr/>
        </p:nvSpPr>
        <p:spPr>
          <a:xfrm>
            <a:off x="8650224" y="2103120"/>
            <a:ext cx="1298448" cy="182880"/>
          </a:xfrm>
          <a:prstGeom prst="rect">
            <a:avLst/>
          </a:prstGeom>
          <a:noFill/>
          <a:ln/>
        </p:spPr>
        <p:txBody>
          <a:bodyPr wrap="square" lIns="0" tIns="0" rIns="0" bIns="0" rtlCol="0" anchor="t">
            <a:normAutofit/>
          </a:bodyPr>
          <a:lstStyle/>
          <a:p>
            <a:pPr marL="0" indent="0" algn="ctr">
              <a:buNone/>
            </a:pPr>
            <a:r>
              <a:rPr lang="en-US" sz="820" dirty="0">
                <a:solidFill>
                  <a:srgbClr val="5E6B7A"/>
                </a:solidFill>
                <a:latin typeface="Aptos" pitchFamily="34" charset="0"/>
                <a:ea typeface="Aptos" pitchFamily="34" charset="-122"/>
                <a:cs typeface="Aptos" pitchFamily="34" charset="-120"/>
              </a:rPr>
              <a:t>Fitur awal</a:t>
            </a:r>
            <a:endParaRPr lang="en-US" sz="820" dirty="0"/>
          </a:p>
        </p:txBody>
      </p:sp>
      <p:sp>
        <p:nvSpPr>
          <p:cNvPr id="23" name="Shape 20"/>
          <p:cNvSpPr/>
          <p:nvPr/>
        </p:nvSpPr>
        <p:spPr>
          <a:xfrm>
            <a:off x="6766560" y="2670048"/>
            <a:ext cx="1645920" cy="713232"/>
          </a:xfrm>
          <a:prstGeom prst="roundRect">
            <a:avLst/>
          </a:prstGeom>
          <a:solidFill>
            <a:srgbClr val="FFFFFF"/>
          </a:solidFill>
          <a:ln w="12700">
            <a:solidFill>
              <a:srgbClr val="DDEAF7"/>
            </a:solidFill>
            <a:prstDash val="solid"/>
          </a:ln>
          <a:effectLst>
            <a:outerShdw blurRad="12700" dist="50800" dir="2700000" algn="bl" rotWithShape="0">
              <a:srgbClr val="B8C8DA">
                <a:alpha val="10000"/>
              </a:srgbClr>
            </a:outerShdw>
          </a:effectLst>
        </p:spPr>
      </p:sp>
      <p:sp>
        <p:nvSpPr>
          <p:cNvPr id="24" name="Text 21"/>
          <p:cNvSpPr/>
          <p:nvPr/>
        </p:nvSpPr>
        <p:spPr>
          <a:xfrm>
            <a:off x="6839712" y="2770632"/>
            <a:ext cx="1499616" cy="292608"/>
          </a:xfrm>
          <a:prstGeom prst="rect">
            <a:avLst/>
          </a:prstGeom>
          <a:noFill/>
          <a:ln/>
        </p:spPr>
        <p:txBody>
          <a:bodyPr wrap="square" lIns="0" tIns="0" rIns="0" bIns="0" rtlCol="0" anchor="t">
            <a:normAutofit/>
          </a:bodyPr>
          <a:lstStyle/>
          <a:p>
            <a:pPr marL="0" indent="0" algn="ctr">
              <a:buNone/>
            </a:pPr>
            <a:r>
              <a:rPr lang="en-US" sz="1800" b="1" dirty="0">
                <a:solidFill>
                  <a:srgbClr val="F59E0B"/>
                </a:solidFill>
                <a:latin typeface="Aptos" pitchFamily="34" charset="0"/>
                <a:ea typeface="Aptos" pitchFamily="34" charset="-122"/>
                <a:cs typeface="Aptos" pitchFamily="34" charset="-120"/>
              </a:rPr>
              <a:t>2 kelas biner</a:t>
            </a:r>
            <a:endParaRPr lang="en-US" sz="1800" dirty="0"/>
          </a:p>
        </p:txBody>
      </p:sp>
      <p:sp>
        <p:nvSpPr>
          <p:cNvPr id="25" name="Text 22"/>
          <p:cNvSpPr/>
          <p:nvPr/>
        </p:nvSpPr>
        <p:spPr>
          <a:xfrm>
            <a:off x="6839712" y="3108960"/>
            <a:ext cx="1499616" cy="182880"/>
          </a:xfrm>
          <a:prstGeom prst="rect">
            <a:avLst/>
          </a:prstGeom>
          <a:noFill/>
          <a:ln/>
        </p:spPr>
        <p:txBody>
          <a:bodyPr wrap="square" lIns="0" tIns="0" rIns="0" bIns="0" rtlCol="0" anchor="t">
            <a:normAutofit/>
          </a:bodyPr>
          <a:lstStyle/>
          <a:p>
            <a:pPr marL="0" indent="0" algn="ctr">
              <a:buNone/>
            </a:pPr>
            <a:r>
              <a:rPr lang="en-US" sz="820" dirty="0">
                <a:solidFill>
                  <a:srgbClr val="5E6B7A"/>
                </a:solidFill>
                <a:latin typeface="Aptos" pitchFamily="34" charset="0"/>
                <a:ea typeface="Aptos" pitchFamily="34" charset="-122"/>
                <a:cs typeface="Aptos" pitchFamily="34" charset="-120"/>
              </a:rPr>
              <a:t>Target</a:t>
            </a:r>
            <a:endParaRPr lang="en-US" sz="820" dirty="0"/>
          </a:p>
        </p:txBody>
      </p:sp>
      <p:sp>
        <p:nvSpPr>
          <p:cNvPr id="26" name="Shape 23"/>
          <p:cNvSpPr/>
          <p:nvPr/>
        </p:nvSpPr>
        <p:spPr>
          <a:xfrm>
            <a:off x="8577072" y="2670048"/>
            <a:ext cx="1444752" cy="713232"/>
          </a:xfrm>
          <a:prstGeom prst="roundRect">
            <a:avLst/>
          </a:prstGeom>
          <a:solidFill>
            <a:srgbClr val="FFFFFF"/>
          </a:solidFill>
          <a:ln w="12700">
            <a:solidFill>
              <a:srgbClr val="DDEAF7"/>
            </a:solidFill>
            <a:prstDash val="solid"/>
          </a:ln>
          <a:effectLst>
            <a:outerShdw blurRad="12700" dist="50800" dir="2700000" algn="bl" rotWithShape="0">
              <a:srgbClr val="B8C8DA">
                <a:alpha val="10000"/>
              </a:srgbClr>
            </a:outerShdw>
          </a:effectLst>
        </p:spPr>
      </p:sp>
      <p:sp>
        <p:nvSpPr>
          <p:cNvPr id="27" name="Text 24"/>
          <p:cNvSpPr/>
          <p:nvPr/>
        </p:nvSpPr>
        <p:spPr>
          <a:xfrm>
            <a:off x="8650224" y="2770632"/>
            <a:ext cx="1298448" cy="292608"/>
          </a:xfrm>
          <a:prstGeom prst="rect">
            <a:avLst/>
          </a:prstGeom>
          <a:noFill/>
          <a:ln/>
        </p:spPr>
        <p:txBody>
          <a:bodyPr wrap="square" lIns="0" tIns="0" rIns="0" bIns="0" rtlCol="0" anchor="t">
            <a:normAutofit/>
          </a:bodyPr>
          <a:lstStyle/>
          <a:p>
            <a:pPr marL="0" indent="0" algn="ctr">
              <a:buNone/>
            </a:pPr>
            <a:r>
              <a:rPr lang="en-US" sz="1800" b="1" dirty="0">
                <a:solidFill>
                  <a:srgbClr val="D1495B"/>
                </a:solidFill>
                <a:latin typeface="Aptos" pitchFamily="34" charset="0"/>
                <a:ea typeface="Aptos" pitchFamily="34" charset="-122"/>
                <a:cs typeface="Aptos" pitchFamily="34" charset="-120"/>
              </a:rPr>
              <a:t>3 model</a:t>
            </a:r>
            <a:endParaRPr lang="en-US" sz="1800" dirty="0"/>
          </a:p>
        </p:txBody>
      </p:sp>
      <p:sp>
        <p:nvSpPr>
          <p:cNvPr id="28" name="Text 25"/>
          <p:cNvSpPr/>
          <p:nvPr/>
        </p:nvSpPr>
        <p:spPr>
          <a:xfrm>
            <a:off x="8650224" y="3108960"/>
            <a:ext cx="1298448" cy="182880"/>
          </a:xfrm>
          <a:prstGeom prst="rect">
            <a:avLst/>
          </a:prstGeom>
          <a:noFill/>
          <a:ln/>
        </p:spPr>
        <p:txBody>
          <a:bodyPr wrap="square" lIns="0" tIns="0" rIns="0" bIns="0" rtlCol="0" anchor="t">
            <a:normAutofit/>
          </a:bodyPr>
          <a:lstStyle/>
          <a:p>
            <a:pPr marL="0" indent="0" algn="ctr">
              <a:buNone/>
            </a:pPr>
            <a:r>
              <a:rPr lang="en-US" sz="820" dirty="0">
                <a:solidFill>
                  <a:srgbClr val="5E6B7A"/>
                </a:solidFill>
                <a:latin typeface="Aptos" pitchFamily="34" charset="0"/>
                <a:ea typeface="Aptos" pitchFamily="34" charset="-122"/>
                <a:cs typeface="Aptos" pitchFamily="34" charset="-120"/>
              </a:rPr>
              <a:t>Model</a:t>
            </a:r>
            <a:endParaRPr lang="en-US" sz="820" dirty="0"/>
          </a:p>
        </p:txBody>
      </p:sp>
      <p:sp>
        <p:nvSpPr>
          <p:cNvPr id="29" name="Text 26"/>
          <p:cNvSpPr/>
          <p:nvPr/>
        </p:nvSpPr>
        <p:spPr>
          <a:xfrm>
            <a:off x="6766560" y="3895344"/>
            <a:ext cx="3877056" cy="621792"/>
          </a:xfrm>
          <a:prstGeom prst="rect">
            <a:avLst/>
          </a:prstGeom>
          <a:noFill/>
          <a:ln/>
        </p:spPr>
        <p:txBody>
          <a:bodyPr wrap="square" lIns="254" tIns="254" rIns="254" bIns="254" rtlCol="0" anchor="t">
            <a:normAutofit/>
          </a:bodyPr>
          <a:lstStyle/>
          <a:p>
            <a:pPr marL="0" indent="0" algn="l">
              <a:buNone/>
            </a:pPr>
            <a:r>
              <a:rPr lang="en-US" sz="1360" b="1" dirty="0">
                <a:solidFill>
                  <a:srgbClr val="1F2937"/>
                </a:solidFill>
                <a:latin typeface="Aptos" pitchFamily="34" charset="0"/>
                <a:ea typeface="Aptos" pitchFamily="34" charset="-122"/>
                <a:cs typeface="Aptos" pitchFamily="34" charset="-120"/>
              </a:rPr>
              <a:t>Inti analisis: mencari model yang paling stabil, lalu membaca fitur yang membantu model membedakan pengguna dan non-pengguna AI.</a:t>
            </a:r>
            <a:endParaRPr lang="en-US" sz="13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04</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Dataset dan Variabel Utama</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results.csv</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658368" y="1097280"/>
            <a:ext cx="1572768" cy="713232"/>
          </a:xfrm>
          <a:prstGeom prst="roundRect">
            <a:avLst/>
          </a:prstGeom>
          <a:solidFill>
            <a:srgbClr val="FFFFFF"/>
          </a:solidFill>
          <a:ln w="12700">
            <a:solidFill>
              <a:srgbClr val="DDEAF7"/>
            </a:solidFill>
            <a:prstDash val="solid"/>
          </a:ln>
          <a:effectLst>
            <a:outerShdw blurRad="12700" dist="50800" dir="2700000" algn="bl" rotWithShape="0">
              <a:srgbClr val="B8C8DA">
                <a:alpha val="10000"/>
              </a:srgbClr>
            </a:outerShdw>
          </a:effectLst>
        </p:spPr>
      </p:sp>
      <p:sp>
        <p:nvSpPr>
          <p:cNvPr id="11" name="Text 8"/>
          <p:cNvSpPr/>
          <p:nvPr/>
        </p:nvSpPr>
        <p:spPr>
          <a:xfrm>
            <a:off x="731520" y="1197864"/>
            <a:ext cx="1426464" cy="292608"/>
          </a:xfrm>
          <a:prstGeom prst="rect">
            <a:avLst/>
          </a:prstGeom>
          <a:noFill/>
          <a:ln/>
        </p:spPr>
        <p:txBody>
          <a:bodyPr wrap="square" lIns="0" tIns="0" rIns="0" bIns="0" rtlCol="0" anchor="t">
            <a:normAutofit/>
          </a:bodyPr>
          <a:lstStyle/>
          <a:p>
            <a:pPr marL="0" indent="0" algn="ctr">
              <a:buNone/>
            </a:pPr>
            <a:r>
              <a:rPr lang="en-US" sz="1800" b="1" dirty="0">
                <a:solidFill>
                  <a:srgbClr val="2563EB"/>
                </a:solidFill>
                <a:latin typeface="Aptos" pitchFamily="34" charset="0"/>
                <a:ea typeface="Aptos" pitchFamily="34" charset="-122"/>
                <a:cs typeface="Aptos" pitchFamily="34" charset="-120"/>
              </a:rPr>
              <a:t>49.191</a:t>
            </a:r>
            <a:endParaRPr lang="en-US" sz="1800" dirty="0"/>
          </a:p>
        </p:txBody>
      </p:sp>
      <p:sp>
        <p:nvSpPr>
          <p:cNvPr id="12" name="Text 9"/>
          <p:cNvSpPr/>
          <p:nvPr/>
        </p:nvSpPr>
        <p:spPr>
          <a:xfrm>
            <a:off x="731520" y="1536192"/>
            <a:ext cx="1426464" cy="182880"/>
          </a:xfrm>
          <a:prstGeom prst="rect">
            <a:avLst/>
          </a:prstGeom>
          <a:noFill/>
          <a:ln/>
        </p:spPr>
        <p:txBody>
          <a:bodyPr wrap="square" lIns="0" tIns="0" rIns="0" bIns="0" rtlCol="0" anchor="t">
            <a:normAutofit/>
          </a:bodyPr>
          <a:lstStyle/>
          <a:p>
            <a:pPr marL="0" indent="0" algn="ctr">
              <a:buNone/>
            </a:pPr>
            <a:r>
              <a:rPr lang="en-US" sz="820" dirty="0">
                <a:solidFill>
                  <a:srgbClr val="5E6B7A"/>
                </a:solidFill>
                <a:latin typeface="Aptos" pitchFamily="34" charset="0"/>
                <a:ea typeface="Aptos" pitchFamily="34" charset="-122"/>
                <a:cs typeface="Aptos" pitchFamily="34" charset="-120"/>
              </a:rPr>
              <a:t>Jumlah responden</a:t>
            </a:r>
            <a:endParaRPr lang="en-US" sz="820" dirty="0"/>
          </a:p>
        </p:txBody>
      </p:sp>
      <p:sp>
        <p:nvSpPr>
          <p:cNvPr id="13" name="Shape 10"/>
          <p:cNvSpPr/>
          <p:nvPr/>
        </p:nvSpPr>
        <p:spPr>
          <a:xfrm>
            <a:off x="2414016" y="1097280"/>
            <a:ext cx="1280160" cy="713232"/>
          </a:xfrm>
          <a:prstGeom prst="roundRect">
            <a:avLst/>
          </a:prstGeom>
          <a:solidFill>
            <a:srgbClr val="FFFFFF"/>
          </a:solidFill>
          <a:ln w="12700">
            <a:solidFill>
              <a:srgbClr val="DDEAF7"/>
            </a:solidFill>
            <a:prstDash val="solid"/>
          </a:ln>
          <a:effectLst>
            <a:outerShdw blurRad="12700" dist="50800" dir="2700000" algn="bl" rotWithShape="0">
              <a:srgbClr val="B8C8DA">
                <a:alpha val="10000"/>
              </a:srgbClr>
            </a:outerShdw>
          </a:effectLst>
        </p:spPr>
      </p:sp>
      <p:sp>
        <p:nvSpPr>
          <p:cNvPr id="14" name="Text 11"/>
          <p:cNvSpPr/>
          <p:nvPr/>
        </p:nvSpPr>
        <p:spPr>
          <a:xfrm>
            <a:off x="2487168" y="1197864"/>
            <a:ext cx="1133856" cy="292608"/>
          </a:xfrm>
          <a:prstGeom prst="rect">
            <a:avLst/>
          </a:prstGeom>
          <a:noFill/>
          <a:ln/>
        </p:spPr>
        <p:txBody>
          <a:bodyPr wrap="square" lIns="0" tIns="0" rIns="0" bIns="0" rtlCol="0" anchor="t">
            <a:normAutofit/>
          </a:bodyPr>
          <a:lstStyle/>
          <a:p>
            <a:pPr marL="0" indent="0" algn="ctr">
              <a:buNone/>
            </a:pPr>
            <a:r>
              <a:rPr lang="en-US" sz="1800" b="1" dirty="0">
                <a:solidFill>
                  <a:srgbClr val="16A34A"/>
                </a:solidFill>
                <a:latin typeface="Aptos" pitchFamily="34" charset="0"/>
                <a:ea typeface="Aptos" pitchFamily="34" charset="-122"/>
                <a:cs typeface="Aptos" pitchFamily="34" charset="-120"/>
              </a:rPr>
              <a:t>11</a:t>
            </a:r>
            <a:endParaRPr lang="en-US" sz="1800" dirty="0"/>
          </a:p>
        </p:txBody>
      </p:sp>
      <p:sp>
        <p:nvSpPr>
          <p:cNvPr id="15" name="Text 12"/>
          <p:cNvSpPr/>
          <p:nvPr/>
        </p:nvSpPr>
        <p:spPr>
          <a:xfrm>
            <a:off x="2487168" y="1536192"/>
            <a:ext cx="1133856" cy="182880"/>
          </a:xfrm>
          <a:prstGeom prst="rect">
            <a:avLst/>
          </a:prstGeom>
          <a:noFill/>
          <a:ln/>
        </p:spPr>
        <p:txBody>
          <a:bodyPr wrap="square" lIns="0" tIns="0" rIns="0" bIns="0" rtlCol="0" anchor="t">
            <a:normAutofit/>
          </a:bodyPr>
          <a:lstStyle/>
          <a:p>
            <a:pPr marL="0" indent="0" algn="ctr">
              <a:buNone/>
            </a:pPr>
            <a:r>
              <a:rPr lang="en-US" sz="820" dirty="0">
                <a:solidFill>
                  <a:srgbClr val="5E6B7A"/>
                </a:solidFill>
                <a:latin typeface="Aptos" pitchFamily="34" charset="0"/>
                <a:ea typeface="Aptos" pitchFamily="34" charset="-122"/>
                <a:cs typeface="Aptos" pitchFamily="34" charset="-120"/>
              </a:rPr>
              <a:t>Fitur prediktor</a:t>
            </a:r>
            <a:endParaRPr lang="en-US" sz="820" dirty="0"/>
          </a:p>
        </p:txBody>
      </p:sp>
      <p:sp>
        <p:nvSpPr>
          <p:cNvPr id="16" name="Shape 13"/>
          <p:cNvSpPr/>
          <p:nvPr/>
        </p:nvSpPr>
        <p:spPr>
          <a:xfrm>
            <a:off x="3877056" y="1097280"/>
            <a:ext cx="1234440" cy="713232"/>
          </a:xfrm>
          <a:prstGeom prst="roundRect">
            <a:avLst/>
          </a:prstGeom>
          <a:solidFill>
            <a:srgbClr val="FFFFFF"/>
          </a:solidFill>
          <a:ln w="12700">
            <a:solidFill>
              <a:srgbClr val="DDEAF7"/>
            </a:solidFill>
            <a:prstDash val="solid"/>
          </a:ln>
          <a:effectLst>
            <a:outerShdw blurRad="12700" dist="50800" dir="2700000" algn="bl" rotWithShape="0">
              <a:srgbClr val="B8C8DA">
                <a:alpha val="10000"/>
              </a:srgbClr>
            </a:outerShdw>
          </a:effectLst>
        </p:spPr>
      </p:sp>
      <p:sp>
        <p:nvSpPr>
          <p:cNvPr id="17" name="Text 14"/>
          <p:cNvSpPr/>
          <p:nvPr/>
        </p:nvSpPr>
        <p:spPr>
          <a:xfrm>
            <a:off x="3950208" y="1197864"/>
            <a:ext cx="1088136" cy="292608"/>
          </a:xfrm>
          <a:prstGeom prst="rect">
            <a:avLst/>
          </a:prstGeom>
          <a:noFill/>
          <a:ln/>
        </p:spPr>
        <p:txBody>
          <a:bodyPr wrap="square" lIns="0" tIns="0" rIns="0" bIns="0" rtlCol="0" anchor="t">
            <a:normAutofit/>
          </a:bodyPr>
          <a:lstStyle/>
          <a:p>
            <a:pPr marL="0" indent="0" algn="ctr">
              <a:buNone/>
            </a:pPr>
            <a:r>
              <a:rPr lang="en-US" sz="1800" b="1" dirty="0">
                <a:solidFill>
                  <a:srgbClr val="F59E0B"/>
                </a:solidFill>
                <a:latin typeface="Aptos" pitchFamily="34" charset="0"/>
                <a:ea typeface="Aptos" pitchFamily="34" charset="-122"/>
                <a:cs typeface="Aptos" pitchFamily="34" charset="-120"/>
              </a:rPr>
              <a:t>2</a:t>
            </a:r>
            <a:endParaRPr lang="en-US" sz="1800" dirty="0"/>
          </a:p>
        </p:txBody>
      </p:sp>
      <p:sp>
        <p:nvSpPr>
          <p:cNvPr id="18" name="Text 15"/>
          <p:cNvSpPr/>
          <p:nvPr/>
        </p:nvSpPr>
        <p:spPr>
          <a:xfrm>
            <a:off x="3950208" y="1536192"/>
            <a:ext cx="1088136" cy="182880"/>
          </a:xfrm>
          <a:prstGeom prst="rect">
            <a:avLst/>
          </a:prstGeom>
          <a:noFill/>
          <a:ln/>
        </p:spPr>
        <p:txBody>
          <a:bodyPr wrap="square" lIns="0" tIns="0" rIns="0" bIns="0" rtlCol="0" anchor="t">
            <a:normAutofit/>
          </a:bodyPr>
          <a:lstStyle/>
          <a:p>
            <a:pPr marL="0" indent="0" algn="ctr">
              <a:buNone/>
            </a:pPr>
            <a:r>
              <a:rPr lang="en-US" sz="820" dirty="0">
                <a:solidFill>
                  <a:srgbClr val="5E6B7A"/>
                </a:solidFill>
                <a:latin typeface="Aptos" pitchFamily="34" charset="0"/>
                <a:ea typeface="Aptos" pitchFamily="34" charset="-122"/>
                <a:cs typeface="Aptos" pitchFamily="34" charset="-120"/>
              </a:rPr>
              <a:t>Target prediksi</a:t>
            </a:r>
            <a:endParaRPr lang="en-US" sz="820" dirty="0"/>
          </a:p>
        </p:txBody>
      </p:sp>
      <p:sp>
        <p:nvSpPr>
          <p:cNvPr id="19" name="Shape 16"/>
          <p:cNvSpPr/>
          <p:nvPr/>
        </p:nvSpPr>
        <p:spPr>
          <a:xfrm>
            <a:off x="5303520" y="1097280"/>
            <a:ext cx="1325880" cy="713232"/>
          </a:xfrm>
          <a:prstGeom prst="roundRect">
            <a:avLst/>
          </a:prstGeom>
          <a:solidFill>
            <a:srgbClr val="FFFFFF"/>
          </a:solidFill>
          <a:ln w="12700">
            <a:solidFill>
              <a:srgbClr val="DDEAF7"/>
            </a:solidFill>
            <a:prstDash val="solid"/>
          </a:ln>
          <a:effectLst>
            <a:outerShdw blurRad="12700" dist="50800" dir="2700000" algn="bl" rotWithShape="0">
              <a:srgbClr val="B8C8DA">
                <a:alpha val="10000"/>
              </a:srgbClr>
            </a:outerShdw>
          </a:effectLst>
        </p:spPr>
      </p:sp>
      <p:sp>
        <p:nvSpPr>
          <p:cNvPr id="20" name="Text 17"/>
          <p:cNvSpPr/>
          <p:nvPr/>
        </p:nvSpPr>
        <p:spPr>
          <a:xfrm>
            <a:off x="5376672" y="1197864"/>
            <a:ext cx="1179576" cy="292608"/>
          </a:xfrm>
          <a:prstGeom prst="rect">
            <a:avLst/>
          </a:prstGeom>
          <a:noFill/>
          <a:ln/>
        </p:spPr>
        <p:txBody>
          <a:bodyPr wrap="square" lIns="0" tIns="0" rIns="0" bIns="0" rtlCol="0" anchor="t">
            <a:normAutofit/>
          </a:bodyPr>
          <a:lstStyle/>
          <a:p>
            <a:pPr marL="0" indent="0" algn="ctr">
              <a:buNone/>
            </a:pPr>
            <a:r>
              <a:rPr lang="en-US" sz="1800" b="1" dirty="0">
                <a:solidFill>
                  <a:srgbClr val="D1495B"/>
                </a:solidFill>
                <a:latin typeface="Aptos" pitchFamily="34" charset="0"/>
                <a:ea typeface="Aptos" pitchFamily="34" charset="-122"/>
                <a:cs typeface="Aptos" pitchFamily="34" charset="-120"/>
              </a:rPr>
              <a:t>80:20</a:t>
            </a:r>
            <a:endParaRPr lang="en-US" sz="1800" dirty="0"/>
          </a:p>
        </p:txBody>
      </p:sp>
      <p:sp>
        <p:nvSpPr>
          <p:cNvPr id="21" name="Text 18"/>
          <p:cNvSpPr/>
          <p:nvPr/>
        </p:nvSpPr>
        <p:spPr>
          <a:xfrm>
            <a:off x="5376672" y="1536192"/>
            <a:ext cx="1179576" cy="182880"/>
          </a:xfrm>
          <a:prstGeom prst="rect">
            <a:avLst/>
          </a:prstGeom>
          <a:noFill/>
          <a:ln/>
        </p:spPr>
        <p:txBody>
          <a:bodyPr wrap="square" lIns="0" tIns="0" rIns="0" bIns="0" rtlCol="0" anchor="t">
            <a:normAutofit/>
          </a:bodyPr>
          <a:lstStyle/>
          <a:p>
            <a:pPr marL="0" indent="0" algn="ctr">
              <a:buNone/>
            </a:pPr>
            <a:r>
              <a:rPr lang="en-US" sz="820" dirty="0">
                <a:solidFill>
                  <a:srgbClr val="5E6B7A"/>
                </a:solidFill>
                <a:latin typeface="Aptos" pitchFamily="34" charset="0"/>
                <a:ea typeface="Aptos" pitchFamily="34" charset="-122"/>
                <a:cs typeface="Aptos" pitchFamily="34" charset="-120"/>
              </a:rPr>
              <a:t>Split evaluasi</a:t>
            </a:r>
            <a:endParaRPr lang="en-US" sz="820" dirty="0"/>
          </a:p>
        </p:txBody>
      </p:sp>
      <p:sp>
        <p:nvSpPr>
          <p:cNvPr id="22" name="Shape 19"/>
          <p:cNvSpPr/>
          <p:nvPr/>
        </p:nvSpPr>
        <p:spPr>
          <a:xfrm>
            <a:off x="658368" y="2103120"/>
            <a:ext cx="10771632" cy="493776"/>
          </a:xfrm>
          <a:prstGeom prst="rect">
            <a:avLst/>
          </a:prstGeom>
          <a:solidFill>
            <a:srgbClr val="1D4ED8"/>
          </a:solidFill>
          <a:ln w="6350">
            <a:solidFill>
              <a:srgbClr val="D6E4F2"/>
            </a:solidFill>
            <a:prstDash val="solid"/>
          </a:ln>
        </p:spPr>
      </p:sp>
      <p:sp>
        <p:nvSpPr>
          <p:cNvPr id="23" name="Text 20"/>
          <p:cNvSpPr/>
          <p:nvPr/>
        </p:nvSpPr>
        <p:spPr>
          <a:xfrm>
            <a:off x="704088" y="2135124"/>
            <a:ext cx="1632021" cy="429768"/>
          </a:xfrm>
          <a:prstGeom prst="rect">
            <a:avLst/>
          </a:prstGeom>
          <a:noFill/>
          <a:ln/>
        </p:spPr>
        <p:txBody>
          <a:bodyPr wrap="square" lIns="127" tIns="127" rIns="127" bIns="127" rtlCol="0" anchor="ctr">
            <a:normAutofit/>
          </a:bodyPr>
          <a:lstStyle/>
          <a:p>
            <a:pPr marL="0" indent="0" algn="l">
              <a:buNone/>
            </a:pPr>
            <a:r>
              <a:rPr lang="en-US" sz="950" b="1" dirty="0">
                <a:solidFill>
                  <a:srgbClr val="FFFFFF"/>
                </a:solidFill>
                <a:latin typeface="Aptos" pitchFamily="34" charset="0"/>
                <a:ea typeface="Aptos" pitchFamily="34" charset="-122"/>
                <a:cs typeface="Aptos" pitchFamily="34" charset="-120"/>
              </a:rPr>
              <a:t>Kelompok</a:t>
            </a:r>
            <a:endParaRPr lang="en-US" sz="950" dirty="0"/>
          </a:p>
        </p:txBody>
      </p:sp>
      <p:sp>
        <p:nvSpPr>
          <p:cNvPr id="24" name="Text 21"/>
          <p:cNvSpPr/>
          <p:nvPr/>
        </p:nvSpPr>
        <p:spPr>
          <a:xfrm>
            <a:off x="2427549" y="2135124"/>
            <a:ext cx="3355482" cy="429768"/>
          </a:xfrm>
          <a:prstGeom prst="rect">
            <a:avLst/>
          </a:prstGeom>
          <a:noFill/>
          <a:ln/>
        </p:spPr>
        <p:txBody>
          <a:bodyPr wrap="square" lIns="127" tIns="127" rIns="127" bIns="127"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Variabel</a:t>
            </a:r>
            <a:endParaRPr lang="en-US" sz="950" dirty="0"/>
          </a:p>
        </p:txBody>
      </p:sp>
      <p:sp>
        <p:nvSpPr>
          <p:cNvPr id="25" name="Text 22"/>
          <p:cNvSpPr/>
          <p:nvPr/>
        </p:nvSpPr>
        <p:spPr>
          <a:xfrm>
            <a:off x="5874471" y="2135124"/>
            <a:ext cx="5509809" cy="429768"/>
          </a:xfrm>
          <a:prstGeom prst="rect">
            <a:avLst/>
          </a:prstGeom>
          <a:noFill/>
          <a:ln/>
        </p:spPr>
        <p:txBody>
          <a:bodyPr wrap="square" lIns="127" tIns="127" rIns="127" bIns="127"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Fungsi dalam analisis</a:t>
            </a:r>
            <a:endParaRPr lang="en-US" sz="950" dirty="0"/>
          </a:p>
        </p:txBody>
      </p:sp>
      <p:sp>
        <p:nvSpPr>
          <p:cNvPr id="26" name="Shape 23"/>
          <p:cNvSpPr/>
          <p:nvPr/>
        </p:nvSpPr>
        <p:spPr>
          <a:xfrm>
            <a:off x="658368" y="2596896"/>
            <a:ext cx="10771632" cy="493776"/>
          </a:xfrm>
          <a:prstGeom prst="rect">
            <a:avLst/>
          </a:prstGeom>
          <a:solidFill>
            <a:srgbClr val="FFFFFF"/>
          </a:solidFill>
          <a:ln w="6350">
            <a:solidFill>
              <a:srgbClr val="D6E4F2"/>
            </a:solidFill>
            <a:prstDash val="solid"/>
          </a:ln>
        </p:spPr>
      </p:sp>
      <p:sp>
        <p:nvSpPr>
          <p:cNvPr id="27" name="Text 24"/>
          <p:cNvSpPr/>
          <p:nvPr/>
        </p:nvSpPr>
        <p:spPr>
          <a:xfrm>
            <a:off x="704088" y="2628900"/>
            <a:ext cx="1632021" cy="429768"/>
          </a:xfrm>
          <a:prstGeom prst="rect">
            <a:avLst/>
          </a:prstGeom>
          <a:noFill/>
          <a:ln/>
        </p:spPr>
        <p:txBody>
          <a:bodyPr wrap="square" lIns="127" tIns="127" rIns="127" bIns="127" rtlCol="0" anchor="ctr">
            <a:normAutofit/>
          </a:bodyPr>
          <a:lstStyle/>
          <a:p>
            <a:pPr marL="0" indent="0" algn="l">
              <a:buNone/>
            </a:pPr>
            <a:r>
              <a:rPr lang="en-US" sz="950" b="1" dirty="0">
                <a:solidFill>
                  <a:srgbClr val="1F2937"/>
                </a:solidFill>
                <a:latin typeface="Aptos" pitchFamily="34" charset="0"/>
                <a:ea typeface="Aptos" pitchFamily="34" charset="-122"/>
                <a:cs typeface="Aptos" pitchFamily="34" charset="-120"/>
              </a:rPr>
              <a:t>Demografi</a:t>
            </a:r>
            <a:endParaRPr lang="en-US" sz="950" dirty="0"/>
          </a:p>
        </p:txBody>
      </p:sp>
      <p:sp>
        <p:nvSpPr>
          <p:cNvPr id="28" name="Text 25"/>
          <p:cNvSpPr/>
          <p:nvPr/>
        </p:nvSpPr>
        <p:spPr>
          <a:xfrm>
            <a:off x="2427549" y="2628900"/>
            <a:ext cx="3355482" cy="429768"/>
          </a:xfrm>
          <a:prstGeom prst="rect">
            <a:avLst/>
          </a:prstGeom>
          <a:noFill/>
          <a:ln/>
        </p:spPr>
        <p:txBody>
          <a:bodyPr wrap="square" lIns="127" tIns="127" rIns="127" bIns="127" rtlCol="0" anchor="ctr">
            <a:normAutofit/>
          </a:bodyPr>
          <a:lstStyle/>
          <a:p>
            <a:pPr marL="0" indent="0" algn="ctr">
              <a:buNone/>
            </a:pPr>
            <a:r>
              <a:rPr lang="en-US" sz="950" dirty="0">
                <a:solidFill>
                  <a:srgbClr val="5E6B7A"/>
                </a:solidFill>
                <a:latin typeface="Aptos" pitchFamily="34" charset="0"/>
                <a:ea typeface="Aptos" pitchFamily="34" charset="-122"/>
                <a:cs typeface="Aptos" pitchFamily="34" charset="-120"/>
              </a:rPr>
              <a:t>Age</a:t>
            </a:r>
            <a:endParaRPr lang="en-US" sz="950" dirty="0"/>
          </a:p>
        </p:txBody>
      </p:sp>
      <p:sp>
        <p:nvSpPr>
          <p:cNvPr id="29" name="Text 26"/>
          <p:cNvSpPr/>
          <p:nvPr/>
        </p:nvSpPr>
        <p:spPr>
          <a:xfrm>
            <a:off x="5874471" y="2628900"/>
            <a:ext cx="5509809" cy="429768"/>
          </a:xfrm>
          <a:prstGeom prst="rect">
            <a:avLst/>
          </a:prstGeom>
          <a:noFill/>
          <a:ln/>
        </p:spPr>
        <p:txBody>
          <a:bodyPr wrap="square" lIns="127" tIns="127" rIns="127" bIns="127" rtlCol="0" anchor="ctr">
            <a:normAutofit/>
          </a:bodyPr>
          <a:lstStyle/>
          <a:p>
            <a:pPr marL="0" indent="0" algn="ctr">
              <a:buNone/>
            </a:pPr>
            <a:r>
              <a:rPr lang="en-US" sz="950" dirty="0">
                <a:solidFill>
                  <a:srgbClr val="5E6B7A"/>
                </a:solidFill>
                <a:latin typeface="Aptos" pitchFamily="34" charset="0"/>
                <a:ea typeface="Aptos" pitchFamily="34" charset="-122"/>
                <a:cs typeface="Aptos" pitchFamily="34" charset="-120"/>
              </a:rPr>
              <a:t>Membaca perbedaan usia developer</a:t>
            </a:r>
            <a:endParaRPr lang="en-US" sz="950" dirty="0"/>
          </a:p>
        </p:txBody>
      </p:sp>
      <p:sp>
        <p:nvSpPr>
          <p:cNvPr id="30" name="Shape 27"/>
          <p:cNvSpPr/>
          <p:nvPr/>
        </p:nvSpPr>
        <p:spPr>
          <a:xfrm>
            <a:off x="658368" y="3090672"/>
            <a:ext cx="10771632" cy="493776"/>
          </a:xfrm>
          <a:prstGeom prst="rect">
            <a:avLst/>
          </a:prstGeom>
          <a:solidFill>
            <a:srgbClr val="F3F9FF"/>
          </a:solidFill>
          <a:ln w="6350">
            <a:solidFill>
              <a:srgbClr val="D6E4F2"/>
            </a:solidFill>
            <a:prstDash val="solid"/>
          </a:ln>
        </p:spPr>
      </p:sp>
      <p:sp>
        <p:nvSpPr>
          <p:cNvPr id="31" name="Text 28"/>
          <p:cNvSpPr/>
          <p:nvPr/>
        </p:nvSpPr>
        <p:spPr>
          <a:xfrm>
            <a:off x="704088" y="3122676"/>
            <a:ext cx="1632021" cy="429768"/>
          </a:xfrm>
          <a:prstGeom prst="rect">
            <a:avLst/>
          </a:prstGeom>
          <a:noFill/>
          <a:ln/>
        </p:spPr>
        <p:txBody>
          <a:bodyPr wrap="square" lIns="127" tIns="127" rIns="127" bIns="127" rtlCol="0" anchor="ctr">
            <a:normAutofit/>
          </a:bodyPr>
          <a:lstStyle/>
          <a:p>
            <a:pPr marL="0" indent="0" algn="l">
              <a:buNone/>
            </a:pPr>
            <a:r>
              <a:rPr lang="en-US" sz="950" b="1" dirty="0">
                <a:solidFill>
                  <a:srgbClr val="1F2937"/>
                </a:solidFill>
                <a:latin typeface="Aptos" pitchFamily="34" charset="0"/>
                <a:ea typeface="Aptos" pitchFamily="34" charset="-122"/>
                <a:cs typeface="Aptos" pitchFamily="34" charset="-120"/>
              </a:rPr>
              <a:t>Pengalaman</a:t>
            </a:r>
            <a:endParaRPr lang="en-US" sz="950" dirty="0"/>
          </a:p>
        </p:txBody>
      </p:sp>
      <p:sp>
        <p:nvSpPr>
          <p:cNvPr id="32" name="Text 29"/>
          <p:cNvSpPr/>
          <p:nvPr/>
        </p:nvSpPr>
        <p:spPr>
          <a:xfrm>
            <a:off x="2427549" y="3122676"/>
            <a:ext cx="3355482" cy="429768"/>
          </a:xfrm>
          <a:prstGeom prst="rect">
            <a:avLst/>
          </a:prstGeom>
          <a:noFill/>
          <a:ln/>
        </p:spPr>
        <p:txBody>
          <a:bodyPr wrap="square" lIns="127" tIns="127" rIns="127" bIns="127" rtlCol="0" anchor="ctr">
            <a:normAutofit/>
          </a:bodyPr>
          <a:lstStyle/>
          <a:p>
            <a:pPr marL="0" indent="0" algn="ctr">
              <a:buNone/>
            </a:pPr>
            <a:r>
              <a:rPr lang="en-US" sz="950" dirty="0">
                <a:solidFill>
                  <a:srgbClr val="5E6B7A"/>
                </a:solidFill>
                <a:latin typeface="Aptos" pitchFamily="34" charset="0"/>
                <a:ea typeface="Aptos" pitchFamily="34" charset="-122"/>
                <a:cs typeface="Aptos" pitchFamily="34" charset="-120"/>
              </a:rPr>
              <a:t>YearsCode, WorkExp</a:t>
            </a:r>
            <a:endParaRPr lang="en-US" sz="950" dirty="0"/>
          </a:p>
        </p:txBody>
      </p:sp>
      <p:sp>
        <p:nvSpPr>
          <p:cNvPr id="33" name="Text 30"/>
          <p:cNvSpPr/>
          <p:nvPr/>
        </p:nvSpPr>
        <p:spPr>
          <a:xfrm>
            <a:off x="5874471" y="3122676"/>
            <a:ext cx="5509809" cy="429768"/>
          </a:xfrm>
          <a:prstGeom prst="rect">
            <a:avLst/>
          </a:prstGeom>
          <a:noFill/>
          <a:ln/>
        </p:spPr>
        <p:txBody>
          <a:bodyPr wrap="square" lIns="127" tIns="127" rIns="127" bIns="127" rtlCol="0" anchor="ctr">
            <a:normAutofit/>
          </a:bodyPr>
          <a:lstStyle/>
          <a:p>
            <a:pPr marL="0" indent="0" algn="ctr">
              <a:buNone/>
            </a:pPr>
            <a:r>
              <a:rPr lang="en-US" sz="950" dirty="0">
                <a:solidFill>
                  <a:srgbClr val="5E6B7A"/>
                </a:solidFill>
                <a:latin typeface="Aptos" pitchFamily="34" charset="0"/>
                <a:ea typeface="Aptos" pitchFamily="34" charset="-122"/>
                <a:cs typeface="Aptos" pitchFamily="34" charset="-120"/>
              </a:rPr>
              <a:t>Mengukur senioritas dan jam terbang</a:t>
            </a:r>
            <a:endParaRPr lang="en-US" sz="950" dirty="0"/>
          </a:p>
        </p:txBody>
      </p:sp>
      <p:sp>
        <p:nvSpPr>
          <p:cNvPr id="34" name="Shape 31"/>
          <p:cNvSpPr/>
          <p:nvPr/>
        </p:nvSpPr>
        <p:spPr>
          <a:xfrm>
            <a:off x="658368" y="3584448"/>
            <a:ext cx="10771632" cy="493776"/>
          </a:xfrm>
          <a:prstGeom prst="rect">
            <a:avLst/>
          </a:prstGeom>
          <a:solidFill>
            <a:srgbClr val="FFFFFF"/>
          </a:solidFill>
          <a:ln w="6350">
            <a:solidFill>
              <a:srgbClr val="D6E4F2"/>
            </a:solidFill>
            <a:prstDash val="solid"/>
          </a:ln>
        </p:spPr>
      </p:sp>
      <p:sp>
        <p:nvSpPr>
          <p:cNvPr id="35" name="Text 32"/>
          <p:cNvSpPr/>
          <p:nvPr/>
        </p:nvSpPr>
        <p:spPr>
          <a:xfrm>
            <a:off x="704088" y="3616452"/>
            <a:ext cx="1632021" cy="429768"/>
          </a:xfrm>
          <a:prstGeom prst="rect">
            <a:avLst/>
          </a:prstGeom>
          <a:noFill/>
          <a:ln/>
        </p:spPr>
        <p:txBody>
          <a:bodyPr wrap="square" lIns="127" tIns="127" rIns="127" bIns="127" rtlCol="0" anchor="ctr">
            <a:normAutofit/>
          </a:bodyPr>
          <a:lstStyle/>
          <a:p>
            <a:pPr marL="0" indent="0" algn="l">
              <a:buNone/>
            </a:pPr>
            <a:r>
              <a:rPr lang="en-US" sz="950" b="1" dirty="0">
                <a:solidFill>
                  <a:srgbClr val="1F2937"/>
                </a:solidFill>
                <a:latin typeface="Aptos" pitchFamily="34" charset="0"/>
                <a:ea typeface="Aptos" pitchFamily="34" charset="-122"/>
                <a:cs typeface="Aptos" pitchFamily="34" charset="-120"/>
              </a:rPr>
              <a:t>Kompensasi</a:t>
            </a:r>
            <a:endParaRPr lang="en-US" sz="950" dirty="0"/>
          </a:p>
        </p:txBody>
      </p:sp>
      <p:sp>
        <p:nvSpPr>
          <p:cNvPr id="36" name="Text 33"/>
          <p:cNvSpPr/>
          <p:nvPr/>
        </p:nvSpPr>
        <p:spPr>
          <a:xfrm>
            <a:off x="2427549" y="3616452"/>
            <a:ext cx="3355482" cy="429768"/>
          </a:xfrm>
          <a:prstGeom prst="rect">
            <a:avLst/>
          </a:prstGeom>
          <a:noFill/>
          <a:ln/>
        </p:spPr>
        <p:txBody>
          <a:bodyPr wrap="square" lIns="127" tIns="127" rIns="127" bIns="127" rtlCol="0" anchor="ctr">
            <a:normAutofit/>
          </a:bodyPr>
          <a:lstStyle/>
          <a:p>
            <a:pPr marL="0" indent="0" algn="ctr">
              <a:buNone/>
            </a:pPr>
            <a:r>
              <a:rPr lang="en-US" sz="950" dirty="0">
                <a:solidFill>
                  <a:srgbClr val="5E6B7A"/>
                </a:solidFill>
                <a:latin typeface="Aptos" pitchFamily="34" charset="0"/>
                <a:ea typeface="Aptos" pitchFamily="34" charset="-122"/>
                <a:cs typeface="Aptos" pitchFamily="34" charset="-120"/>
              </a:rPr>
              <a:t>CompTotal</a:t>
            </a:r>
            <a:endParaRPr lang="en-US" sz="950" dirty="0"/>
          </a:p>
        </p:txBody>
      </p:sp>
      <p:sp>
        <p:nvSpPr>
          <p:cNvPr id="37" name="Text 34"/>
          <p:cNvSpPr/>
          <p:nvPr/>
        </p:nvSpPr>
        <p:spPr>
          <a:xfrm>
            <a:off x="5874471" y="3616452"/>
            <a:ext cx="5509809" cy="429768"/>
          </a:xfrm>
          <a:prstGeom prst="rect">
            <a:avLst/>
          </a:prstGeom>
          <a:noFill/>
          <a:ln/>
        </p:spPr>
        <p:txBody>
          <a:bodyPr wrap="square" lIns="127" tIns="127" rIns="127" bIns="127" rtlCol="0" anchor="ctr">
            <a:normAutofit/>
          </a:bodyPr>
          <a:lstStyle/>
          <a:p>
            <a:pPr marL="0" indent="0" algn="ctr">
              <a:buNone/>
            </a:pPr>
            <a:r>
              <a:rPr lang="en-US" sz="950" dirty="0">
                <a:solidFill>
                  <a:srgbClr val="5E6B7A"/>
                </a:solidFill>
                <a:latin typeface="Aptos" pitchFamily="34" charset="0"/>
                <a:ea typeface="Aptos" pitchFamily="34" charset="-122"/>
                <a:cs typeface="Aptos" pitchFamily="34" charset="-120"/>
              </a:rPr>
              <a:t>Sinyal level posisi dan kondisi kerja</a:t>
            </a:r>
            <a:endParaRPr lang="en-US" sz="950" dirty="0"/>
          </a:p>
        </p:txBody>
      </p:sp>
      <p:sp>
        <p:nvSpPr>
          <p:cNvPr id="38" name="Shape 35"/>
          <p:cNvSpPr/>
          <p:nvPr/>
        </p:nvSpPr>
        <p:spPr>
          <a:xfrm>
            <a:off x="658368" y="4078224"/>
            <a:ext cx="10771632" cy="493776"/>
          </a:xfrm>
          <a:prstGeom prst="rect">
            <a:avLst/>
          </a:prstGeom>
          <a:solidFill>
            <a:srgbClr val="F3F9FF"/>
          </a:solidFill>
          <a:ln w="6350">
            <a:solidFill>
              <a:srgbClr val="D6E4F2"/>
            </a:solidFill>
            <a:prstDash val="solid"/>
          </a:ln>
        </p:spPr>
      </p:sp>
      <p:sp>
        <p:nvSpPr>
          <p:cNvPr id="39" name="Text 36"/>
          <p:cNvSpPr/>
          <p:nvPr/>
        </p:nvSpPr>
        <p:spPr>
          <a:xfrm>
            <a:off x="704088" y="4110228"/>
            <a:ext cx="1632021" cy="429768"/>
          </a:xfrm>
          <a:prstGeom prst="rect">
            <a:avLst/>
          </a:prstGeom>
          <a:noFill/>
          <a:ln/>
        </p:spPr>
        <p:txBody>
          <a:bodyPr wrap="square" lIns="127" tIns="127" rIns="127" bIns="127" rtlCol="0" anchor="ctr">
            <a:normAutofit/>
          </a:bodyPr>
          <a:lstStyle/>
          <a:p>
            <a:pPr marL="0" indent="0" algn="l">
              <a:buNone/>
            </a:pPr>
            <a:r>
              <a:rPr lang="en-US" sz="950" b="1" dirty="0">
                <a:solidFill>
                  <a:srgbClr val="1F2937"/>
                </a:solidFill>
                <a:latin typeface="Aptos" pitchFamily="34" charset="0"/>
                <a:ea typeface="Aptos" pitchFamily="34" charset="-122"/>
                <a:cs typeface="Aptos" pitchFamily="34" charset="-120"/>
              </a:rPr>
              <a:t>Teknologi</a:t>
            </a:r>
            <a:endParaRPr lang="en-US" sz="950" dirty="0"/>
          </a:p>
        </p:txBody>
      </p:sp>
      <p:sp>
        <p:nvSpPr>
          <p:cNvPr id="40" name="Text 37"/>
          <p:cNvSpPr/>
          <p:nvPr/>
        </p:nvSpPr>
        <p:spPr>
          <a:xfrm>
            <a:off x="2427549" y="4110228"/>
            <a:ext cx="3355482" cy="429768"/>
          </a:xfrm>
          <a:prstGeom prst="rect">
            <a:avLst/>
          </a:prstGeom>
          <a:noFill/>
          <a:ln/>
        </p:spPr>
        <p:txBody>
          <a:bodyPr wrap="square" lIns="127" tIns="127" rIns="127" bIns="127" rtlCol="0" anchor="ctr">
            <a:normAutofit/>
          </a:bodyPr>
          <a:lstStyle/>
          <a:p>
            <a:pPr marL="0" indent="0" algn="ctr">
              <a:buNone/>
            </a:pPr>
            <a:r>
              <a:rPr lang="en-US" sz="950" dirty="0">
                <a:solidFill>
                  <a:srgbClr val="5E6B7A"/>
                </a:solidFill>
                <a:latin typeface="Aptos" pitchFamily="34" charset="0"/>
                <a:ea typeface="Aptos" pitchFamily="34" charset="-122"/>
                <a:cs typeface="Aptos" pitchFamily="34" charset="-120"/>
              </a:rPr>
              <a:t>Language, Webframe, Database, DevEnvs, OpSys</a:t>
            </a:r>
            <a:endParaRPr lang="en-US" sz="950" dirty="0"/>
          </a:p>
        </p:txBody>
      </p:sp>
      <p:sp>
        <p:nvSpPr>
          <p:cNvPr id="41" name="Text 38"/>
          <p:cNvSpPr/>
          <p:nvPr/>
        </p:nvSpPr>
        <p:spPr>
          <a:xfrm>
            <a:off x="5874471" y="4110228"/>
            <a:ext cx="5509809" cy="429768"/>
          </a:xfrm>
          <a:prstGeom prst="rect">
            <a:avLst/>
          </a:prstGeom>
          <a:noFill/>
          <a:ln/>
        </p:spPr>
        <p:txBody>
          <a:bodyPr wrap="square" lIns="127" tIns="127" rIns="127" bIns="127" rtlCol="0" anchor="ctr">
            <a:normAutofit/>
          </a:bodyPr>
          <a:lstStyle/>
          <a:p>
            <a:pPr marL="0" indent="0" algn="ctr">
              <a:buNone/>
            </a:pPr>
            <a:r>
              <a:rPr lang="en-US" sz="950" dirty="0">
                <a:solidFill>
                  <a:srgbClr val="5E6B7A"/>
                </a:solidFill>
                <a:latin typeface="Aptos" pitchFamily="34" charset="0"/>
                <a:ea typeface="Aptos" pitchFamily="34" charset="-122"/>
                <a:cs typeface="Aptos" pitchFamily="34" charset="-120"/>
              </a:rPr>
              <a:t>Membaca ekosistem kerja developer</a:t>
            </a:r>
            <a:endParaRPr lang="en-US" sz="950" dirty="0"/>
          </a:p>
        </p:txBody>
      </p:sp>
      <p:sp>
        <p:nvSpPr>
          <p:cNvPr id="42" name="Shape 39"/>
          <p:cNvSpPr/>
          <p:nvPr/>
        </p:nvSpPr>
        <p:spPr>
          <a:xfrm>
            <a:off x="658368" y="4572000"/>
            <a:ext cx="10771632" cy="493776"/>
          </a:xfrm>
          <a:prstGeom prst="rect">
            <a:avLst/>
          </a:prstGeom>
          <a:solidFill>
            <a:srgbClr val="FFFFFF"/>
          </a:solidFill>
          <a:ln w="6350">
            <a:solidFill>
              <a:srgbClr val="D6E4F2"/>
            </a:solidFill>
            <a:prstDash val="solid"/>
          </a:ln>
        </p:spPr>
      </p:sp>
      <p:sp>
        <p:nvSpPr>
          <p:cNvPr id="43" name="Text 40"/>
          <p:cNvSpPr/>
          <p:nvPr/>
        </p:nvSpPr>
        <p:spPr>
          <a:xfrm>
            <a:off x="704088" y="4604004"/>
            <a:ext cx="1632021" cy="429768"/>
          </a:xfrm>
          <a:prstGeom prst="rect">
            <a:avLst/>
          </a:prstGeom>
          <a:noFill/>
          <a:ln/>
        </p:spPr>
        <p:txBody>
          <a:bodyPr wrap="square" lIns="127" tIns="127" rIns="127" bIns="127" rtlCol="0" anchor="ctr">
            <a:normAutofit/>
          </a:bodyPr>
          <a:lstStyle/>
          <a:p>
            <a:pPr marL="0" indent="0" algn="l">
              <a:buNone/>
            </a:pPr>
            <a:r>
              <a:rPr lang="en-US" sz="950" b="1" dirty="0">
                <a:solidFill>
                  <a:srgbClr val="1F2937"/>
                </a:solidFill>
                <a:latin typeface="Aptos" pitchFamily="34" charset="0"/>
                <a:ea typeface="Aptos" pitchFamily="34" charset="-122"/>
                <a:cs typeface="Aptos" pitchFamily="34" charset="-120"/>
              </a:rPr>
              <a:t>AI</a:t>
            </a:r>
            <a:endParaRPr lang="en-US" sz="950" dirty="0"/>
          </a:p>
        </p:txBody>
      </p:sp>
      <p:sp>
        <p:nvSpPr>
          <p:cNvPr id="44" name="Text 41"/>
          <p:cNvSpPr/>
          <p:nvPr/>
        </p:nvSpPr>
        <p:spPr>
          <a:xfrm>
            <a:off x="2427549" y="4604004"/>
            <a:ext cx="3355482" cy="429768"/>
          </a:xfrm>
          <a:prstGeom prst="rect">
            <a:avLst/>
          </a:prstGeom>
          <a:noFill/>
          <a:ln/>
        </p:spPr>
        <p:txBody>
          <a:bodyPr wrap="square" lIns="127" tIns="127" rIns="127" bIns="127" rtlCol="0" anchor="ctr">
            <a:normAutofit/>
          </a:bodyPr>
          <a:lstStyle/>
          <a:p>
            <a:pPr marL="0" indent="0" algn="ctr">
              <a:buNone/>
            </a:pPr>
            <a:r>
              <a:rPr lang="en-US" sz="950" dirty="0">
                <a:solidFill>
                  <a:srgbClr val="5E6B7A"/>
                </a:solidFill>
                <a:latin typeface="Aptos" pitchFamily="34" charset="0"/>
                <a:ea typeface="Aptos" pitchFamily="34" charset="-122"/>
                <a:cs typeface="Aptos" pitchFamily="34" charset="-120"/>
              </a:rPr>
              <a:t>AISelect, AIAgents, AISent</a:t>
            </a:r>
            <a:endParaRPr lang="en-US" sz="950" dirty="0"/>
          </a:p>
        </p:txBody>
      </p:sp>
      <p:sp>
        <p:nvSpPr>
          <p:cNvPr id="45" name="Text 42"/>
          <p:cNvSpPr/>
          <p:nvPr/>
        </p:nvSpPr>
        <p:spPr>
          <a:xfrm>
            <a:off x="5874471" y="4604004"/>
            <a:ext cx="5509809" cy="429768"/>
          </a:xfrm>
          <a:prstGeom prst="rect">
            <a:avLst/>
          </a:prstGeom>
          <a:noFill/>
          <a:ln/>
        </p:spPr>
        <p:txBody>
          <a:bodyPr wrap="square" lIns="127" tIns="127" rIns="127" bIns="127" rtlCol="0" anchor="ctr">
            <a:normAutofit/>
          </a:bodyPr>
          <a:lstStyle/>
          <a:p>
            <a:pPr marL="0" indent="0" algn="ctr">
              <a:buNone/>
            </a:pPr>
            <a:r>
              <a:rPr lang="en-US" sz="950" dirty="0">
                <a:solidFill>
                  <a:srgbClr val="5E6B7A"/>
                </a:solidFill>
                <a:latin typeface="Aptos" pitchFamily="34" charset="0"/>
                <a:ea typeface="Aptos" pitchFamily="34" charset="-122"/>
                <a:cs typeface="Aptos" pitchFamily="34" charset="-120"/>
              </a:rPr>
              <a:t>Target prediksi dan sentimen terhadap AI</a:t>
            </a:r>
            <a:endParaRPr lang="en-US" sz="950" dirty="0"/>
          </a:p>
        </p:txBody>
      </p:sp>
      <p:sp>
        <p:nvSpPr>
          <p:cNvPr id="46" name="Shape 43"/>
          <p:cNvSpPr/>
          <p:nvPr/>
        </p:nvSpPr>
        <p:spPr>
          <a:xfrm>
            <a:off x="658368" y="5413248"/>
            <a:ext cx="10771632" cy="594360"/>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47" name="Text 44"/>
          <p:cNvSpPr/>
          <p:nvPr/>
        </p:nvSpPr>
        <p:spPr>
          <a:xfrm>
            <a:off x="822960" y="5559552"/>
            <a:ext cx="10442448"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Catatan penting</a:t>
            </a:r>
            <a:endParaRPr lang="en-US" sz="1200" dirty="0"/>
          </a:p>
        </p:txBody>
      </p:sp>
      <p:sp>
        <p:nvSpPr>
          <p:cNvPr id="48" name="Text 45"/>
          <p:cNvSpPr/>
          <p:nvPr/>
        </p:nvSpPr>
        <p:spPr>
          <a:xfrm>
            <a:off x="822960" y="5852160"/>
            <a:ext cx="10442448" cy="6400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Kolom multi-value seperti Language dan Database berisi banyak jawaban dalam satu sel, sehingga perlu dipadatkan agar bisa dipakai model.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05</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Target Prediksi</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AISelect dan AIAgents</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777240" y="1225296"/>
            <a:ext cx="5074920" cy="329184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sp>
        <p:nvSpPr>
          <p:cNvPr id="11" name="Text 8"/>
          <p:cNvSpPr/>
          <p:nvPr/>
        </p:nvSpPr>
        <p:spPr>
          <a:xfrm>
            <a:off x="1051560" y="1517904"/>
            <a:ext cx="1828800" cy="320040"/>
          </a:xfrm>
          <a:prstGeom prst="rect">
            <a:avLst/>
          </a:prstGeom>
          <a:noFill/>
          <a:ln/>
        </p:spPr>
        <p:txBody>
          <a:bodyPr wrap="square" lIns="0" tIns="0" rIns="0" bIns="0" rtlCol="0" anchor="t">
            <a:normAutofit/>
          </a:bodyPr>
          <a:lstStyle/>
          <a:p>
            <a:pPr marL="0" indent="0" algn="l">
              <a:buNone/>
            </a:pPr>
            <a:r>
              <a:rPr lang="en-US" sz="1900" b="1" dirty="0">
                <a:solidFill>
                  <a:srgbClr val="2563EB"/>
                </a:solidFill>
                <a:latin typeface="Aptos" pitchFamily="34" charset="0"/>
                <a:ea typeface="Aptos" pitchFamily="34" charset="-122"/>
                <a:cs typeface="Aptos" pitchFamily="34" charset="-120"/>
              </a:rPr>
              <a:t>AISelect</a:t>
            </a:r>
            <a:endParaRPr lang="en-US" sz="1900" dirty="0"/>
          </a:p>
        </p:txBody>
      </p:sp>
      <p:sp>
        <p:nvSpPr>
          <p:cNvPr id="12" name="Text 9"/>
          <p:cNvSpPr/>
          <p:nvPr/>
        </p:nvSpPr>
        <p:spPr>
          <a:xfrm>
            <a:off x="1051560" y="1993392"/>
            <a:ext cx="4389120" cy="457200"/>
          </a:xfrm>
          <a:prstGeom prst="rect">
            <a:avLst/>
          </a:prstGeom>
          <a:noFill/>
          <a:ln/>
        </p:spPr>
        <p:txBody>
          <a:bodyPr wrap="square" lIns="254" tIns="254" rIns="254" bIns="254" rtlCol="0" anchor="t">
            <a:normAutofit/>
          </a:bodyPr>
          <a:lstStyle/>
          <a:p>
            <a:pPr marL="0" indent="0" algn="l">
              <a:buNone/>
            </a:pPr>
            <a:r>
              <a:rPr lang="en-US" sz="1400" dirty="0">
                <a:solidFill>
                  <a:srgbClr val="1F2937"/>
                </a:solidFill>
                <a:latin typeface="Aptos" pitchFamily="34" charset="0"/>
                <a:ea typeface="Aptos" pitchFamily="34" charset="-122"/>
                <a:cs typeface="Aptos" pitchFamily="34" charset="-120"/>
              </a:rPr>
              <a:t>Mengukur apakah developer menggunakan AI Tools secara umum.</a:t>
            </a:r>
            <a:endParaRPr lang="en-US" sz="1400" dirty="0"/>
          </a:p>
        </p:txBody>
      </p:sp>
      <p:sp>
        <p:nvSpPr>
          <p:cNvPr id="13" name="Text 10"/>
          <p:cNvSpPr/>
          <p:nvPr/>
        </p:nvSpPr>
        <p:spPr>
          <a:xfrm>
            <a:off x="1051560" y="2761488"/>
            <a:ext cx="4343400" cy="1234440"/>
          </a:xfrm>
          <a:prstGeom prst="rect">
            <a:avLst/>
          </a:prstGeom>
          <a:noFill/>
          <a:ln/>
        </p:spPr>
        <p:txBody>
          <a:bodyPr wrap="square" lIns="635" tIns="635" rIns="635" bIns="635" rtlCol="0" anchor="ctr">
            <a:normAutofit/>
          </a:bodyPr>
          <a:lstStyle/>
          <a:p>
            <a:pPr marL="139700" indent="-139700">
              <a:buSzPct val="100000"/>
              <a:buChar char="•"/>
            </a:pPr>
            <a:r>
              <a:rPr lang="en-US" sz="1250" dirty="0">
                <a:solidFill>
                  <a:srgbClr val="1F2937"/>
                </a:solidFill>
              </a:rPr>
              <a:t>Jawaban diawali “Yes” menjadi kelas Ya atau 1.</a:t>
            </a:r>
            <a:endParaRPr lang="en-US" sz="1250" dirty="0"/>
          </a:p>
          <a:p>
            <a:pPr marL="139700" indent="-139700">
              <a:buSzPct val="100000"/>
              <a:buChar char="•"/>
            </a:pPr>
            <a:r>
              <a:rPr lang="en-US" sz="1250" dirty="0">
                <a:solidFill>
                  <a:srgbClr val="1F2937"/>
                </a:solidFill>
              </a:rPr>
              <a:t>Jawaban diawali “No” menjadi kelas Tidak atau 0.</a:t>
            </a:r>
            <a:endParaRPr lang="en-US" sz="1250" dirty="0"/>
          </a:p>
          <a:p>
            <a:pPr marL="139700" indent="-139700">
              <a:buSzPct val="100000"/>
              <a:buChar char="•"/>
            </a:pPr>
            <a:r>
              <a:rPr lang="en-US" sz="1250" dirty="0">
                <a:solidFill>
                  <a:srgbClr val="1F2937"/>
                </a:solidFill>
              </a:rPr>
              <a:t>Target ini lebih umum, sehingga pola prediksinya lebih mudah ditangkap.</a:t>
            </a:r>
            <a:endParaRPr lang="en-US" sz="1250" dirty="0"/>
          </a:p>
        </p:txBody>
      </p:sp>
      <p:sp>
        <p:nvSpPr>
          <p:cNvPr id="14" name="Shape 11"/>
          <p:cNvSpPr/>
          <p:nvPr/>
        </p:nvSpPr>
        <p:spPr>
          <a:xfrm>
            <a:off x="6355080" y="1225296"/>
            <a:ext cx="5074920" cy="329184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sp>
        <p:nvSpPr>
          <p:cNvPr id="15" name="Text 12"/>
          <p:cNvSpPr/>
          <p:nvPr/>
        </p:nvSpPr>
        <p:spPr>
          <a:xfrm>
            <a:off x="6629400" y="1517904"/>
            <a:ext cx="1828800" cy="320040"/>
          </a:xfrm>
          <a:prstGeom prst="rect">
            <a:avLst/>
          </a:prstGeom>
          <a:noFill/>
          <a:ln/>
        </p:spPr>
        <p:txBody>
          <a:bodyPr wrap="square" lIns="0" tIns="0" rIns="0" bIns="0" rtlCol="0" anchor="t">
            <a:normAutofit/>
          </a:bodyPr>
          <a:lstStyle/>
          <a:p>
            <a:pPr marL="0" indent="0" algn="l">
              <a:buNone/>
            </a:pPr>
            <a:r>
              <a:rPr lang="en-US" sz="1900" b="1" dirty="0">
                <a:solidFill>
                  <a:srgbClr val="D1495B"/>
                </a:solidFill>
                <a:latin typeface="Aptos" pitchFamily="34" charset="0"/>
                <a:ea typeface="Aptos" pitchFamily="34" charset="-122"/>
                <a:cs typeface="Aptos" pitchFamily="34" charset="-120"/>
              </a:rPr>
              <a:t>AIAgents</a:t>
            </a:r>
            <a:endParaRPr lang="en-US" sz="1900" dirty="0"/>
          </a:p>
        </p:txBody>
      </p:sp>
      <p:sp>
        <p:nvSpPr>
          <p:cNvPr id="16" name="Text 13"/>
          <p:cNvSpPr/>
          <p:nvPr/>
        </p:nvSpPr>
        <p:spPr>
          <a:xfrm>
            <a:off x="6629400" y="1993392"/>
            <a:ext cx="4389120" cy="457200"/>
          </a:xfrm>
          <a:prstGeom prst="rect">
            <a:avLst/>
          </a:prstGeom>
          <a:noFill/>
          <a:ln/>
        </p:spPr>
        <p:txBody>
          <a:bodyPr wrap="square" lIns="254" tIns="254" rIns="254" bIns="254" rtlCol="0" anchor="t">
            <a:normAutofit/>
          </a:bodyPr>
          <a:lstStyle/>
          <a:p>
            <a:pPr marL="0" indent="0" algn="l">
              <a:buNone/>
            </a:pPr>
            <a:r>
              <a:rPr lang="en-US" sz="1400" dirty="0">
                <a:solidFill>
                  <a:srgbClr val="1F2937"/>
                </a:solidFill>
                <a:latin typeface="Aptos" pitchFamily="34" charset="0"/>
                <a:ea typeface="Aptos" pitchFamily="34" charset="-122"/>
                <a:cs typeface="Aptos" pitchFamily="34" charset="-120"/>
              </a:rPr>
              <a:t>Mengukur apakah developer mengadopsi AI Agent di pekerjaan.</a:t>
            </a:r>
            <a:endParaRPr lang="en-US" sz="1400" dirty="0"/>
          </a:p>
        </p:txBody>
      </p:sp>
      <p:sp>
        <p:nvSpPr>
          <p:cNvPr id="17" name="Text 14"/>
          <p:cNvSpPr/>
          <p:nvPr/>
        </p:nvSpPr>
        <p:spPr>
          <a:xfrm>
            <a:off x="6629400" y="2761488"/>
            <a:ext cx="4343400" cy="1234440"/>
          </a:xfrm>
          <a:prstGeom prst="rect">
            <a:avLst/>
          </a:prstGeom>
          <a:noFill/>
          <a:ln/>
        </p:spPr>
        <p:txBody>
          <a:bodyPr wrap="square" lIns="635" tIns="635" rIns="635" bIns="635" rtlCol="0" anchor="ctr">
            <a:normAutofit/>
          </a:bodyPr>
          <a:lstStyle/>
          <a:p>
            <a:pPr marL="139700" indent="-139700">
              <a:buSzPct val="100000"/>
              <a:buChar char="•"/>
            </a:pPr>
            <a:r>
              <a:rPr lang="en-US" sz="1250" dirty="0">
                <a:solidFill>
                  <a:srgbClr val="1F2937"/>
                </a:solidFill>
              </a:rPr>
              <a:t>Lebih spesifik daripada AISelect.</a:t>
            </a:r>
            <a:endParaRPr lang="en-US" sz="1250" dirty="0"/>
          </a:p>
          <a:p>
            <a:pPr marL="139700" indent="-139700">
              <a:buSzPct val="100000"/>
              <a:buChar char="•"/>
            </a:pPr>
            <a:r>
              <a:rPr lang="en-US" sz="1250" dirty="0">
                <a:solidFill>
                  <a:srgbClr val="1F2937"/>
                </a:solidFill>
              </a:rPr>
              <a:t>Jumlah pengguna lebih kecil dibanding kelas Tidak.</a:t>
            </a:r>
            <a:endParaRPr lang="en-US" sz="1250" dirty="0"/>
          </a:p>
          <a:p>
            <a:pPr marL="139700" indent="-139700">
              <a:buSzPct val="100000"/>
              <a:buChar char="•"/>
            </a:pPr>
            <a:r>
              <a:rPr lang="en-US" sz="1250" dirty="0">
                <a:solidFill>
                  <a:srgbClr val="1F2937"/>
                </a:solidFill>
              </a:rPr>
              <a:t>Target ini lebih sulit karena perilakunya belum seumum AI Tools.</a:t>
            </a:r>
            <a:endParaRPr lang="en-US" sz="1250" dirty="0"/>
          </a:p>
        </p:txBody>
      </p:sp>
      <p:sp>
        <p:nvSpPr>
          <p:cNvPr id="18" name="Shape 15"/>
          <p:cNvSpPr/>
          <p:nvPr/>
        </p:nvSpPr>
        <p:spPr>
          <a:xfrm>
            <a:off x="777240" y="5029200"/>
            <a:ext cx="10652760" cy="822960"/>
          </a:xfrm>
          <a:prstGeom prst="roundRect">
            <a:avLst/>
          </a:prstGeom>
          <a:solidFill>
            <a:srgbClr val="F3EFFF"/>
          </a:solidFill>
          <a:ln w="12700">
            <a:solidFill>
              <a:srgbClr val="C9DFFF"/>
            </a:solidFill>
            <a:prstDash val="solid"/>
          </a:ln>
          <a:effectLst>
            <a:outerShdw blurRad="12700" dist="50800" dir="2700000" algn="bl" rotWithShape="0">
              <a:srgbClr val="B8C8DA">
                <a:alpha val="10000"/>
              </a:srgbClr>
            </a:outerShdw>
          </a:effectLst>
        </p:spPr>
      </p:sp>
      <p:sp>
        <p:nvSpPr>
          <p:cNvPr id="19" name="Text 16"/>
          <p:cNvSpPr/>
          <p:nvPr/>
        </p:nvSpPr>
        <p:spPr>
          <a:xfrm>
            <a:off x="941832" y="5175504"/>
            <a:ext cx="10323576" cy="219456"/>
          </a:xfrm>
          <a:prstGeom prst="rect">
            <a:avLst/>
          </a:prstGeom>
          <a:noFill/>
          <a:ln/>
        </p:spPr>
        <p:txBody>
          <a:bodyPr wrap="square" lIns="0" tIns="0" rIns="0" bIns="0" rtlCol="0" anchor="t">
            <a:normAutofit/>
          </a:bodyPr>
          <a:lstStyle/>
          <a:p>
            <a:pPr marL="0" indent="0" algn="l">
              <a:buNone/>
            </a:pPr>
            <a:r>
              <a:rPr lang="en-US" sz="1200" b="1" dirty="0">
                <a:solidFill>
                  <a:srgbClr val="7C3AED"/>
                </a:solidFill>
                <a:latin typeface="Aptos" pitchFamily="34" charset="0"/>
                <a:ea typeface="Aptos" pitchFamily="34" charset="-122"/>
                <a:cs typeface="Aptos" pitchFamily="34" charset="-120"/>
              </a:rPr>
              <a:t>Cara menjelaskan</a:t>
            </a:r>
            <a:endParaRPr lang="en-US" sz="1200" dirty="0"/>
          </a:p>
        </p:txBody>
      </p:sp>
      <p:sp>
        <p:nvSpPr>
          <p:cNvPr id="20" name="Text 17"/>
          <p:cNvSpPr/>
          <p:nvPr/>
        </p:nvSpPr>
        <p:spPr>
          <a:xfrm>
            <a:off x="941832" y="5468112"/>
            <a:ext cx="10323576" cy="29260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AISelect menjawab “apakah memakai AI tools?”. AIAgents menjawab “apakah memakai AI agent?”. Jadi AIAgents bukan sekadar AI umum, tetapi bentuk adopsi yang lebih spesifik.</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06</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Feature Engineering dan Cleaning</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Data dibuat siap model</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731520" y="1234440"/>
            <a:ext cx="4800600" cy="1417320"/>
          </a:xfrm>
          <a:prstGeom prst="roundRect">
            <a:avLst/>
          </a:prstGeom>
          <a:solidFill>
            <a:srgbClr val="EAF4FF"/>
          </a:solidFill>
          <a:ln w="12700">
            <a:solidFill>
              <a:srgbClr val="D8E7F5"/>
            </a:solidFill>
            <a:prstDash val="solid"/>
          </a:ln>
          <a:effectLst>
            <a:outerShdw blurRad="12700" dist="50800" dir="2700000" algn="bl" rotWithShape="0">
              <a:srgbClr val="B8C8DA">
                <a:alpha val="10000"/>
              </a:srgbClr>
            </a:outerShdw>
          </a:effectLst>
        </p:spPr>
      </p:sp>
      <p:sp>
        <p:nvSpPr>
          <p:cNvPr id="11" name="Text 8"/>
          <p:cNvSpPr/>
          <p:nvPr/>
        </p:nvSpPr>
        <p:spPr>
          <a:xfrm>
            <a:off x="960120" y="1399032"/>
            <a:ext cx="2011680" cy="256032"/>
          </a:xfrm>
          <a:prstGeom prst="rect">
            <a:avLst/>
          </a:prstGeom>
          <a:noFill/>
          <a:ln/>
        </p:spPr>
        <p:txBody>
          <a:bodyPr wrap="square" lIns="0" tIns="0" rIns="0" bIns="0" rtlCol="0" anchor="t">
            <a:normAutofit/>
          </a:bodyPr>
          <a:lstStyle/>
          <a:p>
            <a:pPr marL="0" indent="0" algn="l">
              <a:buNone/>
            </a:pPr>
            <a:r>
              <a:rPr lang="en-US" sz="1450" b="1" dirty="0">
                <a:solidFill>
                  <a:srgbClr val="2563EB"/>
                </a:solidFill>
                <a:latin typeface="Aptos" pitchFamily="34" charset="0"/>
                <a:ea typeface="Aptos" pitchFamily="34" charset="-122"/>
                <a:cs typeface="Aptos" pitchFamily="34" charset="-120"/>
              </a:rPr>
              <a:t>Target encoding</a:t>
            </a:r>
            <a:endParaRPr lang="en-US" sz="1450" dirty="0"/>
          </a:p>
        </p:txBody>
      </p:sp>
      <p:sp>
        <p:nvSpPr>
          <p:cNvPr id="12" name="Text 9"/>
          <p:cNvSpPr/>
          <p:nvPr/>
        </p:nvSpPr>
        <p:spPr>
          <a:xfrm>
            <a:off x="960120" y="1764792"/>
            <a:ext cx="2697480" cy="228600"/>
          </a:xfrm>
          <a:prstGeom prst="rect">
            <a:avLst/>
          </a:prstGeom>
          <a:noFill/>
          <a:ln/>
        </p:spPr>
        <p:txBody>
          <a:bodyPr wrap="square" lIns="0" tIns="0" rIns="0" bIns="0" rtlCol="0" anchor="t">
            <a:normAutofit/>
          </a:bodyPr>
          <a:lstStyle/>
          <a:p>
            <a:pPr marL="0" indent="0" algn="l">
              <a:buNone/>
            </a:pPr>
            <a:r>
              <a:rPr lang="en-US" sz="1250" b="1" dirty="0">
                <a:solidFill>
                  <a:srgbClr val="1F2937"/>
                </a:solidFill>
                <a:latin typeface="Aptos" pitchFamily="34" charset="0"/>
                <a:ea typeface="Aptos" pitchFamily="34" charset="-122"/>
                <a:cs typeface="Aptos" pitchFamily="34" charset="-120"/>
              </a:rPr>
              <a:t>Yes → 1, No → 0</a:t>
            </a:r>
            <a:endParaRPr lang="en-US" sz="1250" dirty="0"/>
          </a:p>
        </p:txBody>
      </p:sp>
      <p:sp>
        <p:nvSpPr>
          <p:cNvPr id="13" name="Text 10"/>
          <p:cNvSpPr/>
          <p:nvPr/>
        </p:nvSpPr>
        <p:spPr>
          <a:xfrm>
            <a:off x="960120" y="2112264"/>
            <a:ext cx="4160520" cy="320040"/>
          </a:xfrm>
          <a:prstGeom prst="rect">
            <a:avLst/>
          </a:prstGeom>
          <a:noFill/>
          <a:ln/>
        </p:spPr>
        <p:txBody>
          <a:bodyPr wrap="square" lIns="0" tIns="0" rIns="0" bIns="0" rtlCol="0" anchor="t">
            <a:normAutofit/>
          </a:bodyPr>
          <a:lstStyle/>
          <a:p>
            <a:pPr marL="0" indent="0" algn="l">
              <a:buNone/>
            </a:pPr>
            <a:r>
              <a:rPr lang="en-US" sz="1120" dirty="0">
                <a:solidFill>
                  <a:srgbClr val="5E6B7A"/>
                </a:solidFill>
                <a:latin typeface="Aptos" pitchFamily="34" charset="0"/>
                <a:ea typeface="Aptos" pitchFamily="34" charset="-122"/>
                <a:cs typeface="Aptos" pitchFamily="34" charset="-120"/>
              </a:rPr>
              <a:t>Target teks diubah menjadi angka biner untuk klasifikasi.</a:t>
            </a:r>
            <a:endParaRPr lang="en-US" sz="1120" dirty="0"/>
          </a:p>
        </p:txBody>
      </p:sp>
      <p:sp>
        <p:nvSpPr>
          <p:cNvPr id="14" name="Shape 11"/>
          <p:cNvSpPr/>
          <p:nvPr/>
        </p:nvSpPr>
        <p:spPr>
          <a:xfrm>
            <a:off x="6126480" y="1234440"/>
            <a:ext cx="4800600" cy="1417320"/>
          </a:xfrm>
          <a:prstGeom prst="roundRect">
            <a:avLst/>
          </a:prstGeom>
          <a:solidFill>
            <a:srgbClr val="EAF8F0"/>
          </a:solidFill>
          <a:ln w="12700">
            <a:solidFill>
              <a:srgbClr val="D8E7F5"/>
            </a:solidFill>
            <a:prstDash val="solid"/>
          </a:ln>
          <a:effectLst>
            <a:outerShdw blurRad="12700" dist="50800" dir="2700000" algn="bl" rotWithShape="0">
              <a:srgbClr val="B8C8DA">
                <a:alpha val="10000"/>
              </a:srgbClr>
            </a:outerShdw>
          </a:effectLst>
        </p:spPr>
      </p:sp>
      <p:sp>
        <p:nvSpPr>
          <p:cNvPr id="15" name="Text 12"/>
          <p:cNvSpPr/>
          <p:nvPr/>
        </p:nvSpPr>
        <p:spPr>
          <a:xfrm>
            <a:off x="6355080" y="1399032"/>
            <a:ext cx="2011680" cy="256032"/>
          </a:xfrm>
          <a:prstGeom prst="rect">
            <a:avLst/>
          </a:prstGeom>
          <a:noFill/>
          <a:ln/>
        </p:spPr>
        <p:txBody>
          <a:bodyPr wrap="square" lIns="0" tIns="0" rIns="0" bIns="0" rtlCol="0" anchor="t">
            <a:normAutofit/>
          </a:bodyPr>
          <a:lstStyle/>
          <a:p>
            <a:pPr marL="0" indent="0" algn="l">
              <a:buNone/>
            </a:pPr>
            <a:r>
              <a:rPr lang="en-US" sz="1450" b="1" dirty="0">
                <a:solidFill>
                  <a:srgbClr val="16A34A"/>
                </a:solidFill>
                <a:latin typeface="Aptos" pitchFamily="34" charset="0"/>
                <a:ea typeface="Aptos" pitchFamily="34" charset="-122"/>
                <a:cs typeface="Aptos" pitchFamily="34" charset="-120"/>
              </a:rPr>
              <a:t>Umur</a:t>
            </a:r>
            <a:endParaRPr lang="en-US" sz="1450" dirty="0"/>
          </a:p>
        </p:txBody>
      </p:sp>
      <p:sp>
        <p:nvSpPr>
          <p:cNvPr id="16" name="Text 13"/>
          <p:cNvSpPr/>
          <p:nvPr/>
        </p:nvSpPr>
        <p:spPr>
          <a:xfrm>
            <a:off x="6355080" y="1764792"/>
            <a:ext cx="2697480" cy="228600"/>
          </a:xfrm>
          <a:prstGeom prst="rect">
            <a:avLst/>
          </a:prstGeom>
          <a:noFill/>
          <a:ln/>
        </p:spPr>
        <p:txBody>
          <a:bodyPr wrap="square" lIns="0" tIns="0" rIns="0" bIns="0" rtlCol="0" anchor="t">
            <a:normAutofit/>
          </a:bodyPr>
          <a:lstStyle/>
          <a:p>
            <a:pPr marL="0" indent="0" algn="l">
              <a:buNone/>
            </a:pPr>
            <a:r>
              <a:rPr lang="en-US" sz="1250" b="1" dirty="0">
                <a:solidFill>
                  <a:srgbClr val="1F2937"/>
                </a:solidFill>
                <a:latin typeface="Aptos" pitchFamily="34" charset="0"/>
                <a:ea typeface="Aptos" pitchFamily="34" charset="-122"/>
                <a:cs typeface="Aptos" pitchFamily="34" charset="-120"/>
              </a:rPr>
              <a:t>Age range → angka tengah</a:t>
            </a:r>
            <a:endParaRPr lang="en-US" sz="1250" dirty="0"/>
          </a:p>
        </p:txBody>
      </p:sp>
      <p:sp>
        <p:nvSpPr>
          <p:cNvPr id="17" name="Text 14"/>
          <p:cNvSpPr/>
          <p:nvPr/>
        </p:nvSpPr>
        <p:spPr>
          <a:xfrm>
            <a:off x="6355080" y="2112264"/>
            <a:ext cx="4160520" cy="320040"/>
          </a:xfrm>
          <a:prstGeom prst="rect">
            <a:avLst/>
          </a:prstGeom>
          <a:noFill/>
          <a:ln/>
        </p:spPr>
        <p:txBody>
          <a:bodyPr wrap="square" lIns="0" tIns="0" rIns="0" bIns="0" rtlCol="0" anchor="t">
            <a:normAutofit/>
          </a:bodyPr>
          <a:lstStyle/>
          <a:p>
            <a:pPr marL="0" indent="0" algn="l">
              <a:buNone/>
            </a:pPr>
            <a:r>
              <a:rPr lang="en-US" sz="1120" dirty="0">
                <a:solidFill>
                  <a:srgbClr val="5E6B7A"/>
                </a:solidFill>
                <a:latin typeface="Aptos" pitchFamily="34" charset="0"/>
                <a:ea typeface="Aptos" pitchFamily="34" charset="-122"/>
                <a:cs typeface="Aptos" pitchFamily="34" charset="-120"/>
              </a:rPr>
              <a:t>Contoh: 25-34 tahun menjadi 29,5 agar bisa diproses numerik.</a:t>
            </a:r>
            <a:endParaRPr lang="en-US" sz="1120" dirty="0"/>
          </a:p>
        </p:txBody>
      </p:sp>
      <p:sp>
        <p:nvSpPr>
          <p:cNvPr id="18" name="Shape 15"/>
          <p:cNvSpPr/>
          <p:nvPr/>
        </p:nvSpPr>
        <p:spPr>
          <a:xfrm>
            <a:off x="731520" y="3154680"/>
            <a:ext cx="4800600" cy="1417320"/>
          </a:xfrm>
          <a:prstGeom prst="roundRect">
            <a:avLst/>
          </a:prstGeom>
          <a:solidFill>
            <a:srgbClr val="FFF7E6"/>
          </a:solidFill>
          <a:ln w="12700">
            <a:solidFill>
              <a:srgbClr val="D8E7F5"/>
            </a:solidFill>
            <a:prstDash val="solid"/>
          </a:ln>
          <a:effectLst>
            <a:outerShdw blurRad="12700" dist="50800" dir="2700000" algn="bl" rotWithShape="0">
              <a:srgbClr val="B8C8DA">
                <a:alpha val="10000"/>
              </a:srgbClr>
            </a:outerShdw>
          </a:effectLst>
        </p:spPr>
      </p:sp>
      <p:sp>
        <p:nvSpPr>
          <p:cNvPr id="19" name="Text 16"/>
          <p:cNvSpPr/>
          <p:nvPr/>
        </p:nvSpPr>
        <p:spPr>
          <a:xfrm>
            <a:off x="960120" y="3319272"/>
            <a:ext cx="2011680" cy="256032"/>
          </a:xfrm>
          <a:prstGeom prst="rect">
            <a:avLst/>
          </a:prstGeom>
          <a:noFill/>
          <a:ln/>
        </p:spPr>
        <p:txBody>
          <a:bodyPr wrap="square" lIns="0" tIns="0" rIns="0" bIns="0" rtlCol="0" anchor="t">
            <a:normAutofit/>
          </a:bodyPr>
          <a:lstStyle/>
          <a:p>
            <a:pPr marL="0" indent="0" algn="l">
              <a:buNone/>
            </a:pPr>
            <a:r>
              <a:rPr lang="en-US" sz="1450" b="1" dirty="0">
                <a:solidFill>
                  <a:srgbClr val="F59E0B"/>
                </a:solidFill>
                <a:latin typeface="Aptos" pitchFamily="34" charset="0"/>
                <a:ea typeface="Aptos" pitchFamily="34" charset="-122"/>
                <a:cs typeface="Aptos" pitchFamily="34" charset="-120"/>
              </a:rPr>
              <a:t>Kompensasi</a:t>
            </a:r>
            <a:endParaRPr lang="en-US" sz="1450" dirty="0"/>
          </a:p>
        </p:txBody>
      </p:sp>
      <p:sp>
        <p:nvSpPr>
          <p:cNvPr id="20" name="Text 17"/>
          <p:cNvSpPr/>
          <p:nvPr/>
        </p:nvSpPr>
        <p:spPr>
          <a:xfrm>
            <a:off x="960120" y="3685032"/>
            <a:ext cx="2697480" cy="228600"/>
          </a:xfrm>
          <a:prstGeom prst="rect">
            <a:avLst/>
          </a:prstGeom>
          <a:noFill/>
          <a:ln/>
        </p:spPr>
        <p:txBody>
          <a:bodyPr wrap="square" lIns="0" tIns="0" rIns="0" bIns="0" rtlCol="0" anchor="t">
            <a:normAutofit/>
          </a:bodyPr>
          <a:lstStyle/>
          <a:p>
            <a:pPr marL="0" indent="0" algn="l">
              <a:buNone/>
            </a:pPr>
            <a:r>
              <a:rPr lang="en-US" sz="1250" b="1" dirty="0">
                <a:solidFill>
                  <a:srgbClr val="1F2937"/>
                </a:solidFill>
                <a:latin typeface="Aptos" pitchFamily="34" charset="0"/>
                <a:ea typeface="Aptos" pitchFamily="34" charset="-122"/>
                <a:cs typeface="Aptos" pitchFamily="34" charset="-120"/>
              </a:rPr>
              <a:t>clipping + log1p</a:t>
            </a:r>
            <a:endParaRPr lang="en-US" sz="1250" dirty="0"/>
          </a:p>
        </p:txBody>
      </p:sp>
      <p:sp>
        <p:nvSpPr>
          <p:cNvPr id="21" name="Text 18"/>
          <p:cNvSpPr/>
          <p:nvPr/>
        </p:nvSpPr>
        <p:spPr>
          <a:xfrm>
            <a:off x="960120" y="4032504"/>
            <a:ext cx="4160520" cy="320040"/>
          </a:xfrm>
          <a:prstGeom prst="rect">
            <a:avLst/>
          </a:prstGeom>
          <a:noFill/>
          <a:ln/>
        </p:spPr>
        <p:txBody>
          <a:bodyPr wrap="square" lIns="0" tIns="0" rIns="0" bIns="0" rtlCol="0" anchor="t">
            <a:normAutofit/>
          </a:bodyPr>
          <a:lstStyle/>
          <a:p>
            <a:pPr marL="0" indent="0" algn="l">
              <a:buNone/>
            </a:pPr>
            <a:r>
              <a:rPr lang="en-US" sz="1120" dirty="0">
                <a:solidFill>
                  <a:srgbClr val="5E6B7A"/>
                </a:solidFill>
                <a:latin typeface="Aptos" pitchFamily="34" charset="0"/>
                <a:ea typeface="Aptos" pitchFamily="34" charset="-122"/>
                <a:cs typeface="Aptos" pitchFamily="34" charset="-120"/>
              </a:rPr>
              <a:t>Nilai ekstrem dibatasi agar tidak terlalu mendominasi model.</a:t>
            </a:r>
            <a:endParaRPr lang="en-US" sz="1120" dirty="0"/>
          </a:p>
        </p:txBody>
      </p:sp>
      <p:sp>
        <p:nvSpPr>
          <p:cNvPr id="22" name="Shape 19"/>
          <p:cNvSpPr/>
          <p:nvPr/>
        </p:nvSpPr>
        <p:spPr>
          <a:xfrm>
            <a:off x="6126480" y="3154680"/>
            <a:ext cx="4800600" cy="1417320"/>
          </a:xfrm>
          <a:prstGeom prst="roundRect">
            <a:avLst/>
          </a:prstGeom>
          <a:solidFill>
            <a:srgbClr val="FFF0F3"/>
          </a:solidFill>
          <a:ln w="12700">
            <a:solidFill>
              <a:srgbClr val="D8E7F5"/>
            </a:solidFill>
            <a:prstDash val="solid"/>
          </a:ln>
          <a:effectLst>
            <a:outerShdw blurRad="12700" dist="50800" dir="2700000" algn="bl" rotWithShape="0">
              <a:srgbClr val="B8C8DA">
                <a:alpha val="10000"/>
              </a:srgbClr>
            </a:outerShdw>
          </a:effectLst>
        </p:spPr>
      </p:sp>
      <p:sp>
        <p:nvSpPr>
          <p:cNvPr id="23" name="Text 20"/>
          <p:cNvSpPr/>
          <p:nvPr/>
        </p:nvSpPr>
        <p:spPr>
          <a:xfrm>
            <a:off x="6355080" y="3319272"/>
            <a:ext cx="2011680" cy="256032"/>
          </a:xfrm>
          <a:prstGeom prst="rect">
            <a:avLst/>
          </a:prstGeom>
          <a:noFill/>
          <a:ln/>
        </p:spPr>
        <p:txBody>
          <a:bodyPr wrap="square" lIns="0" tIns="0" rIns="0" bIns="0" rtlCol="0" anchor="t">
            <a:normAutofit/>
          </a:bodyPr>
          <a:lstStyle/>
          <a:p>
            <a:pPr marL="0" indent="0" algn="l">
              <a:buNone/>
            </a:pPr>
            <a:r>
              <a:rPr lang="en-US" sz="1450" b="1" dirty="0">
                <a:solidFill>
                  <a:srgbClr val="D1495B"/>
                </a:solidFill>
                <a:latin typeface="Aptos" pitchFamily="34" charset="0"/>
                <a:ea typeface="Aptos" pitchFamily="34" charset="-122"/>
                <a:cs typeface="Aptos" pitchFamily="34" charset="-120"/>
              </a:rPr>
              <a:t>Kategori</a:t>
            </a:r>
            <a:endParaRPr lang="en-US" sz="1450" dirty="0"/>
          </a:p>
        </p:txBody>
      </p:sp>
      <p:sp>
        <p:nvSpPr>
          <p:cNvPr id="24" name="Text 21"/>
          <p:cNvSpPr/>
          <p:nvPr/>
        </p:nvSpPr>
        <p:spPr>
          <a:xfrm>
            <a:off x="6355080" y="3685032"/>
            <a:ext cx="2697480" cy="228600"/>
          </a:xfrm>
          <a:prstGeom prst="rect">
            <a:avLst/>
          </a:prstGeom>
          <a:noFill/>
          <a:ln/>
        </p:spPr>
        <p:txBody>
          <a:bodyPr wrap="square" lIns="0" tIns="0" rIns="0" bIns="0" rtlCol="0" anchor="t">
            <a:normAutofit/>
          </a:bodyPr>
          <a:lstStyle/>
          <a:p>
            <a:pPr marL="0" indent="0" algn="l">
              <a:buNone/>
            </a:pPr>
            <a:r>
              <a:rPr lang="en-US" sz="1250" b="1" dirty="0">
                <a:solidFill>
                  <a:srgbClr val="1F2937"/>
                </a:solidFill>
                <a:latin typeface="Aptos" pitchFamily="34" charset="0"/>
                <a:ea typeface="Aptos" pitchFamily="34" charset="-122"/>
                <a:cs typeface="Aptos" pitchFamily="34" charset="-120"/>
              </a:rPr>
              <a:t>missing → Tidak diketahui</a:t>
            </a:r>
            <a:endParaRPr lang="en-US" sz="1250" dirty="0"/>
          </a:p>
        </p:txBody>
      </p:sp>
      <p:sp>
        <p:nvSpPr>
          <p:cNvPr id="25" name="Text 22"/>
          <p:cNvSpPr/>
          <p:nvPr/>
        </p:nvSpPr>
        <p:spPr>
          <a:xfrm>
            <a:off x="6355080" y="4032504"/>
            <a:ext cx="4160520" cy="320040"/>
          </a:xfrm>
          <a:prstGeom prst="rect">
            <a:avLst/>
          </a:prstGeom>
          <a:noFill/>
          <a:ln/>
        </p:spPr>
        <p:txBody>
          <a:bodyPr wrap="square" lIns="0" tIns="0" rIns="0" bIns="0" rtlCol="0" anchor="t">
            <a:normAutofit/>
          </a:bodyPr>
          <a:lstStyle/>
          <a:p>
            <a:pPr marL="0" indent="0" algn="l">
              <a:buNone/>
            </a:pPr>
            <a:r>
              <a:rPr lang="en-US" sz="1120" dirty="0">
                <a:solidFill>
                  <a:srgbClr val="5E6B7A"/>
                </a:solidFill>
                <a:latin typeface="Aptos" pitchFamily="34" charset="0"/>
                <a:ea typeface="Aptos" pitchFamily="34" charset="-122"/>
                <a:cs typeface="Aptos" pitchFamily="34" charset="-120"/>
              </a:rPr>
              <a:t>Nilai kosong dan jawaban multi-pilihan dipadatkan.</a:t>
            </a:r>
            <a:endParaRPr lang="en-US" sz="1120" dirty="0"/>
          </a:p>
        </p:txBody>
      </p:sp>
      <p:sp>
        <p:nvSpPr>
          <p:cNvPr id="26" name="Shape 23"/>
          <p:cNvSpPr/>
          <p:nvPr/>
        </p:nvSpPr>
        <p:spPr>
          <a:xfrm>
            <a:off x="731520" y="5321808"/>
            <a:ext cx="10195560" cy="658368"/>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27" name="Text 24"/>
          <p:cNvSpPr/>
          <p:nvPr/>
        </p:nvSpPr>
        <p:spPr>
          <a:xfrm>
            <a:off x="896112" y="5468112"/>
            <a:ext cx="9866376"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Prinsip validasi</a:t>
            </a:r>
            <a:endParaRPr lang="en-US" sz="1200" dirty="0"/>
          </a:p>
        </p:txBody>
      </p:sp>
      <p:sp>
        <p:nvSpPr>
          <p:cNvPr id="28" name="Text 25"/>
          <p:cNvSpPr/>
          <p:nvPr/>
        </p:nvSpPr>
        <p:spPr>
          <a:xfrm>
            <a:off x="896112" y="5760720"/>
            <a:ext cx="9866376" cy="128016"/>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SMOTENC dan under-sampling hanya dilakukan pada training set. Data testing tetap memakai distribusi asli agar evaluasi model tetap realistis.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07</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Alur Kerja Machine Learning</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Pipeline notebook</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Text 7"/>
          <p:cNvSpPr/>
          <p:nvPr/>
        </p:nvSpPr>
        <p:spPr>
          <a:xfrm>
            <a:off x="640080" y="1325880"/>
            <a:ext cx="530352" cy="530352"/>
          </a:xfrm>
          <a:prstGeom prst="rect">
            <a:avLst/>
          </a:prstGeom>
          <a:solidFill>
            <a:srgbClr val="2563EB"/>
          </a:solidFill>
          <a:ln w="12700">
            <a:solidFill>
              <a:srgbClr val="2563EB"/>
            </a:solid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01</a:t>
            </a:r>
            <a:endParaRPr lang="en-US" sz="1600" dirty="0"/>
          </a:p>
        </p:txBody>
      </p:sp>
      <p:sp>
        <p:nvSpPr>
          <p:cNvPr id="11" name="Text 8"/>
          <p:cNvSpPr/>
          <p:nvPr/>
        </p:nvSpPr>
        <p:spPr>
          <a:xfrm>
            <a:off x="320040" y="1993392"/>
            <a:ext cx="1207008" cy="274320"/>
          </a:xfrm>
          <a:prstGeom prst="rect">
            <a:avLst/>
          </a:prstGeom>
          <a:noFill/>
          <a:ln/>
        </p:spPr>
        <p:txBody>
          <a:bodyPr wrap="square" lIns="0" tIns="0" rIns="0" bIns="0" rtlCol="0" anchor="t">
            <a:normAutofit/>
          </a:bodyPr>
          <a:lstStyle/>
          <a:p>
            <a:pPr marL="0" indent="0" algn="ctr">
              <a:buNone/>
            </a:pPr>
            <a:r>
              <a:rPr lang="en-US" sz="1150" b="1" dirty="0">
                <a:solidFill>
                  <a:srgbClr val="1F2937"/>
                </a:solidFill>
                <a:latin typeface="Aptos" pitchFamily="34" charset="0"/>
                <a:ea typeface="Aptos" pitchFamily="34" charset="-122"/>
                <a:cs typeface="Aptos" pitchFamily="34" charset="-120"/>
              </a:rPr>
              <a:t>Load data</a:t>
            </a:r>
            <a:endParaRPr lang="en-US" sz="1150" dirty="0"/>
          </a:p>
        </p:txBody>
      </p:sp>
      <p:sp>
        <p:nvSpPr>
          <p:cNvPr id="12" name="Shape 9"/>
          <p:cNvSpPr/>
          <p:nvPr/>
        </p:nvSpPr>
        <p:spPr>
          <a:xfrm>
            <a:off x="1353312" y="1444752"/>
            <a:ext cx="502920" cy="310896"/>
          </a:xfrm>
          <a:prstGeom prst="chevron">
            <a:avLst/>
          </a:prstGeom>
          <a:solidFill>
            <a:srgbClr val="DDEAF7"/>
          </a:solidFill>
          <a:ln w="12700">
            <a:solidFill>
              <a:srgbClr val="DDEAF7"/>
            </a:solidFill>
            <a:prstDash val="solid"/>
          </a:ln>
        </p:spPr>
      </p:sp>
      <p:sp>
        <p:nvSpPr>
          <p:cNvPr id="13" name="Text 10"/>
          <p:cNvSpPr/>
          <p:nvPr/>
        </p:nvSpPr>
        <p:spPr>
          <a:xfrm>
            <a:off x="2514600" y="1325880"/>
            <a:ext cx="530352" cy="530352"/>
          </a:xfrm>
          <a:prstGeom prst="rect">
            <a:avLst/>
          </a:prstGeom>
          <a:solidFill>
            <a:srgbClr val="2563EB"/>
          </a:solidFill>
          <a:ln w="12700">
            <a:solidFill>
              <a:srgbClr val="2563EB"/>
            </a:solid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02</a:t>
            </a:r>
            <a:endParaRPr lang="en-US" sz="1600" dirty="0"/>
          </a:p>
        </p:txBody>
      </p:sp>
      <p:sp>
        <p:nvSpPr>
          <p:cNvPr id="14" name="Text 11"/>
          <p:cNvSpPr/>
          <p:nvPr/>
        </p:nvSpPr>
        <p:spPr>
          <a:xfrm>
            <a:off x="2194560" y="1993392"/>
            <a:ext cx="1207008" cy="274320"/>
          </a:xfrm>
          <a:prstGeom prst="rect">
            <a:avLst/>
          </a:prstGeom>
          <a:noFill/>
          <a:ln/>
        </p:spPr>
        <p:txBody>
          <a:bodyPr wrap="square" lIns="0" tIns="0" rIns="0" bIns="0" rtlCol="0" anchor="t">
            <a:normAutofit/>
          </a:bodyPr>
          <a:lstStyle/>
          <a:p>
            <a:pPr marL="0" indent="0" algn="ctr">
              <a:buNone/>
            </a:pPr>
            <a:r>
              <a:rPr lang="en-US" sz="1150" b="1" dirty="0">
                <a:solidFill>
                  <a:srgbClr val="1F2937"/>
                </a:solidFill>
                <a:latin typeface="Aptos" pitchFamily="34" charset="0"/>
                <a:ea typeface="Aptos" pitchFamily="34" charset="-122"/>
                <a:cs typeface="Aptos" pitchFamily="34" charset="-120"/>
              </a:rPr>
              <a:t>Cleaning</a:t>
            </a:r>
            <a:endParaRPr lang="en-US" sz="1150" dirty="0"/>
          </a:p>
        </p:txBody>
      </p:sp>
      <p:sp>
        <p:nvSpPr>
          <p:cNvPr id="15" name="Shape 12"/>
          <p:cNvSpPr/>
          <p:nvPr/>
        </p:nvSpPr>
        <p:spPr>
          <a:xfrm>
            <a:off x="3227832" y="1444752"/>
            <a:ext cx="502920" cy="310896"/>
          </a:xfrm>
          <a:prstGeom prst="chevron">
            <a:avLst/>
          </a:prstGeom>
          <a:solidFill>
            <a:srgbClr val="DDEAF7"/>
          </a:solidFill>
          <a:ln w="12700">
            <a:solidFill>
              <a:srgbClr val="DDEAF7"/>
            </a:solidFill>
            <a:prstDash val="solid"/>
          </a:ln>
        </p:spPr>
      </p:sp>
      <p:sp>
        <p:nvSpPr>
          <p:cNvPr id="16" name="Text 13"/>
          <p:cNvSpPr/>
          <p:nvPr/>
        </p:nvSpPr>
        <p:spPr>
          <a:xfrm>
            <a:off x="4389120" y="1325880"/>
            <a:ext cx="530352" cy="530352"/>
          </a:xfrm>
          <a:prstGeom prst="rect">
            <a:avLst/>
          </a:prstGeom>
          <a:solidFill>
            <a:srgbClr val="2563EB"/>
          </a:solidFill>
          <a:ln w="12700">
            <a:solidFill>
              <a:srgbClr val="2563EB"/>
            </a:solid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03</a:t>
            </a:r>
            <a:endParaRPr lang="en-US" sz="1600" dirty="0"/>
          </a:p>
        </p:txBody>
      </p:sp>
      <p:sp>
        <p:nvSpPr>
          <p:cNvPr id="17" name="Text 14"/>
          <p:cNvSpPr/>
          <p:nvPr/>
        </p:nvSpPr>
        <p:spPr>
          <a:xfrm>
            <a:off x="4069080" y="1993392"/>
            <a:ext cx="1207008" cy="274320"/>
          </a:xfrm>
          <a:prstGeom prst="rect">
            <a:avLst/>
          </a:prstGeom>
          <a:noFill/>
          <a:ln/>
        </p:spPr>
        <p:txBody>
          <a:bodyPr wrap="square" lIns="0" tIns="0" rIns="0" bIns="0" rtlCol="0" anchor="t">
            <a:normAutofit/>
          </a:bodyPr>
          <a:lstStyle/>
          <a:p>
            <a:pPr marL="0" indent="0" algn="ctr">
              <a:buNone/>
            </a:pPr>
            <a:r>
              <a:rPr lang="en-US" sz="1150" b="1" dirty="0">
                <a:solidFill>
                  <a:srgbClr val="1F2937"/>
                </a:solidFill>
                <a:latin typeface="Aptos" pitchFamily="34" charset="0"/>
                <a:ea typeface="Aptos" pitchFamily="34" charset="-122"/>
                <a:cs typeface="Aptos" pitchFamily="34" charset="-120"/>
              </a:rPr>
              <a:t>Split 80:20</a:t>
            </a:r>
            <a:endParaRPr lang="en-US" sz="1150" dirty="0"/>
          </a:p>
        </p:txBody>
      </p:sp>
      <p:sp>
        <p:nvSpPr>
          <p:cNvPr id="18" name="Shape 15"/>
          <p:cNvSpPr/>
          <p:nvPr/>
        </p:nvSpPr>
        <p:spPr>
          <a:xfrm>
            <a:off x="5102352" y="1444752"/>
            <a:ext cx="502920" cy="310896"/>
          </a:xfrm>
          <a:prstGeom prst="chevron">
            <a:avLst/>
          </a:prstGeom>
          <a:solidFill>
            <a:srgbClr val="DDEAF7"/>
          </a:solidFill>
          <a:ln w="12700">
            <a:solidFill>
              <a:srgbClr val="DDEAF7"/>
            </a:solidFill>
            <a:prstDash val="solid"/>
          </a:ln>
        </p:spPr>
      </p:sp>
      <p:sp>
        <p:nvSpPr>
          <p:cNvPr id="19" name="Text 16"/>
          <p:cNvSpPr/>
          <p:nvPr/>
        </p:nvSpPr>
        <p:spPr>
          <a:xfrm>
            <a:off x="6263640" y="1325880"/>
            <a:ext cx="530352" cy="530352"/>
          </a:xfrm>
          <a:prstGeom prst="rect">
            <a:avLst/>
          </a:prstGeom>
          <a:solidFill>
            <a:srgbClr val="16A34A"/>
          </a:solidFill>
          <a:ln w="12700">
            <a:solidFill>
              <a:srgbClr val="16A34A"/>
            </a:solid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04</a:t>
            </a:r>
            <a:endParaRPr lang="en-US" sz="1600" dirty="0"/>
          </a:p>
        </p:txBody>
      </p:sp>
      <p:sp>
        <p:nvSpPr>
          <p:cNvPr id="20" name="Text 17"/>
          <p:cNvSpPr/>
          <p:nvPr/>
        </p:nvSpPr>
        <p:spPr>
          <a:xfrm>
            <a:off x="5943600" y="1993392"/>
            <a:ext cx="1207008" cy="274320"/>
          </a:xfrm>
          <a:prstGeom prst="rect">
            <a:avLst/>
          </a:prstGeom>
          <a:noFill/>
          <a:ln/>
        </p:spPr>
        <p:txBody>
          <a:bodyPr wrap="square" lIns="0" tIns="0" rIns="0" bIns="0" rtlCol="0" anchor="t">
            <a:normAutofit/>
          </a:bodyPr>
          <a:lstStyle/>
          <a:p>
            <a:pPr marL="0" indent="0" algn="ctr">
              <a:buNone/>
            </a:pPr>
            <a:r>
              <a:rPr lang="en-US" sz="1150" b="1" dirty="0">
                <a:solidFill>
                  <a:srgbClr val="1F2937"/>
                </a:solidFill>
                <a:latin typeface="Aptos" pitchFamily="34" charset="0"/>
                <a:ea typeface="Aptos" pitchFamily="34" charset="-122"/>
                <a:cs typeface="Aptos" pitchFamily="34" charset="-120"/>
              </a:rPr>
              <a:t>Balancing</a:t>
            </a:r>
            <a:endParaRPr lang="en-US" sz="1150" dirty="0"/>
          </a:p>
        </p:txBody>
      </p:sp>
      <p:sp>
        <p:nvSpPr>
          <p:cNvPr id="21" name="Shape 18"/>
          <p:cNvSpPr/>
          <p:nvPr/>
        </p:nvSpPr>
        <p:spPr>
          <a:xfrm>
            <a:off x="6976872" y="1444752"/>
            <a:ext cx="502920" cy="310896"/>
          </a:xfrm>
          <a:prstGeom prst="chevron">
            <a:avLst/>
          </a:prstGeom>
          <a:solidFill>
            <a:srgbClr val="DDEAF7"/>
          </a:solidFill>
          <a:ln w="12700">
            <a:solidFill>
              <a:srgbClr val="DDEAF7"/>
            </a:solidFill>
            <a:prstDash val="solid"/>
          </a:ln>
        </p:spPr>
      </p:sp>
      <p:sp>
        <p:nvSpPr>
          <p:cNvPr id="22" name="Text 19"/>
          <p:cNvSpPr/>
          <p:nvPr/>
        </p:nvSpPr>
        <p:spPr>
          <a:xfrm>
            <a:off x="8138160" y="1325880"/>
            <a:ext cx="530352" cy="530352"/>
          </a:xfrm>
          <a:prstGeom prst="rect">
            <a:avLst/>
          </a:prstGeom>
          <a:solidFill>
            <a:srgbClr val="16A34A"/>
          </a:solidFill>
          <a:ln w="12700">
            <a:solidFill>
              <a:srgbClr val="16A34A"/>
            </a:solid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05</a:t>
            </a:r>
            <a:endParaRPr lang="en-US" sz="1600" dirty="0"/>
          </a:p>
        </p:txBody>
      </p:sp>
      <p:sp>
        <p:nvSpPr>
          <p:cNvPr id="23" name="Text 20"/>
          <p:cNvSpPr/>
          <p:nvPr/>
        </p:nvSpPr>
        <p:spPr>
          <a:xfrm>
            <a:off x="7818120" y="1993392"/>
            <a:ext cx="1207008" cy="274320"/>
          </a:xfrm>
          <a:prstGeom prst="rect">
            <a:avLst/>
          </a:prstGeom>
          <a:noFill/>
          <a:ln/>
        </p:spPr>
        <p:txBody>
          <a:bodyPr wrap="square" lIns="0" tIns="0" rIns="0" bIns="0" rtlCol="0" anchor="t">
            <a:normAutofit/>
          </a:bodyPr>
          <a:lstStyle/>
          <a:p>
            <a:pPr marL="0" indent="0" algn="ctr">
              <a:buNone/>
            </a:pPr>
            <a:r>
              <a:rPr lang="en-US" sz="1150" b="1" dirty="0">
                <a:solidFill>
                  <a:srgbClr val="1F2937"/>
                </a:solidFill>
                <a:latin typeface="Aptos" pitchFamily="34" charset="0"/>
                <a:ea typeface="Aptos" pitchFamily="34" charset="-122"/>
                <a:cs typeface="Aptos" pitchFamily="34" charset="-120"/>
              </a:rPr>
              <a:t>Modeling</a:t>
            </a:r>
            <a:endParaRPr lang="en-US" sz="1150" dirty="0"/>
          </a:p>
        </p:txBody>
      </p:sp>
      <p:sp>
        <p:nvSpPr>
          <p:cNvPr id="24" name="Shape 21"/>
          <p:cNvSpPr/>
          <p:nvPr/>
        </p:nvSpPr>
        <p:spPr>
          <a:xfrm>
            <a:off x="8851392" y="1444752"/>
            <a:ext cx="502920" cy="310896"/>
          </a:xfrm>
          <a:prstGeom prst="chevron">
            <a:avLst/>
          </a:prstGeom>
          <a:solidFill>
            <a:srgbClr val="DDEAF7"/>
          </a:solidFill>
          <a:ln w="12700">
            <a:solidFill>
              <a:srgbClr val="DDEAF7"/>
            </a:solidFill>
            <a:prstDash val="solid"/>
          </a:ln>
        </p:spPr>
      </p:sp>
      <p:sp>
        <p:nvSpPr>
          <p:cNvPr id="25" name="Text 22"/>
          <p:cNvSpPr/>
          <p:nvPr/>
        </p:nvSpPr>
        <p:spPr>
          <a:xfrm>
            <a:off x="10012680" y="1325880"/>
            <a:ext cx="530352" cy="530352"/>
          </a:xfrm>
          <a:prstGeom prst="rect">
            <a:avLst/>
          </a:prstGeom>
          <a:solidFill>
            <a:srgbClr val="16A34A"/>
          </a:solidFill>
          <a:ln w="12700">
            <a:solidFill>
              <a:srgbClr val="16A34A"/>
            </a:solid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06</a:t>
            </a:r>
            <a:endParaRPr lang="en-US" sz="1600" dirty="0"/>
          </a:p>
        </p:txBody>
      </p:sp>
      <p:sp>
        <p:nvSpPr>
          <p:cNvPr id="26" name="Text 23"/>
          <p:cNvSpPr/>
          <p:nvPr/>
        </p:nvSpPr>
        <p:spPr>
          <a:xfrm>
            <a:off x="9692640" y="1993392"/>
            <a:ext cx="1207008" cy="274320"/>
          </a:xfrm>
          <a:prstGeom prst="rect">
            <a:avLst/>
          </a:prstGeom>
          <a:noFill/>
          <a:ln/>
        </p:spPr>
        <p:txBody>
          <a:bodyPr wrap="square" lIns="0" tIns="0" rIns="0" bIns="0" rtlCol="0" anchor="t">
            <a:normAutofit/>
          </a:bodyPr>
          <a:lstStyle/>
          <a:p>
            <a:pPr marL="0" indent="0" algn="ctr">
              <a:buNone/>
            </a:pPr>
            <a:r>
              <a:rPr lang="en-US" sz="1150" b="1" dirty="0">
                <a:solidFill>
                  <a:srgbClr val="1F2937"/>
                </a:solidFill>
                <a:latin typeface="Aptos" pitchFamily="34" charset="0"/>
                <a:ea typeface="Aptos" pitchFamily="34" charset="-122"/>
                <a:cs typeface="Aptos" pitchFamily="34" charset="-120"/>
              </a:rPr>
              <a:t>Evaluation</a:t>
            </a:r>
            <a:endParaRPr lang="en-US" sz="1150" dirty="0"/>
          </a:p>
        </p:txBody>
      </p:sp>
      <p:sp>
        <p:nvSpPr>
          <p:cNvPr id="27" name="Shape 24"/>
          <p:cNvSpPr/>
          <p:nvPr/>
        </p:nvSpPr>
        <p:spPr>
          <a:xfrm>
            <a:off x="841248" y="3017520"/>
            <a:ext cx="10442448" cy="475488"/>
          </a:xfrm>
          <a:prstGeom prst="rect">
            <a:avLst/>
          </a:prstGeom>
          <a:solidFill>
            <a:srgbClr val="1D4ED8"/>
          </a:solidFill>
          <a:ln w="6350">
            <a:solidFill>
              <a:srgbClr val="D6E4F2"/>
            </a:solidFill>
            <a:prstDash val="solid"/>
          </a:ln>
        </p:spPr>
      </p:sp>
      <p:sp>
        <p:nvSpPr>
          <p:cNvPr id="28" name="Text 25"/>
          <p:cNvSpPr/>
          <p:nvPr/>
        </p:nvSpPr>
        <p:spPr>
          <a:xfrm>
            <a:off x="886968" y="3049524"/>
            <a:ext cx="1674191" cy="411480"/>
          </a:xfrm>
          <a:prstGeom prst="rect">
            <a:avLst/>
          </a:prstGeom>
          <a:noFill/>
          <a:ln/>
        </p:spPr>
        <p:txBody>
          <a:bodyPr wrap="square" lIns="127" tIns="127" rIns="127" bIns="127" rtlCol="0" anchor="ctr">
            <a:normAutofit/>
          </a:bodyPr>
          <a:lstStyle/>
          <a:p>
            <a:pPr marL="0" indent="0" algn="l">
              <a:buNone/>
            </a:pPr>
            <a:r>
              <a:rPr lang="en-US" sz="940" b="1" dirty="0">
                <a:solidFill>
                  <a:srgbClr val="FFFFFF"/>
                </a:solidFill>
                <a:latin typeface="Aptos" pitchFamily="34" charset="0"/>
                <a:ea typeface="Aptos" pitchFamily="34" charset="-122"/>
                <a:cs typeface="Aptos" pitchFamily="34" charset="-120"/>
              </a:rPr>
              <a:t>Tahap</a:t>
            </a:r>
            <a:endParaRPr lang="en-US" sz="940" dirty="0"/>
          </a:p>
        </p:txBody>
      </p:sp>
      <p:sp>
        <p:nvSpPr>
          <p:cNvPr id="29" name="Text 26"/>
          <p:cNvSpPr/>
          <p:nvPr/>
        </p:nvSpPr>
        <p:spPr>
          <a:xfrm>
            <a:off x="2652599" y="3049524"/>
            <a:ext cx="3944289" cy="411480"/>
          </a:xfrm>
          <a:prstGeom prst="rect">
            <a:avLst/>
          </a:prstGeom>
          <a:noFill/>
          <a:ln/>
        </p:spPr>
        <p:txBody>
          <a:bodyPr wrap="square" lIns="127" tIns="127" rIns="127" bIns="127" rtlCol="0" anchor="ctr">
            <a:normAutofit/>
          </a:bodyPr>
          <a:lstStyle/>
          <a:p>
            <a:pPr marL="0" indent="0" algn="ctr">
              <a:buNone/>
            </a:pPr>
            <a:r>
              <a:rPr lang="en-US" sz="940" b="1" dirty="0">
                <a:solidFill>
                  <a:srgbClr val="FFFFFF"/>
                </a:solidFill>
                <a:latin typeface="Aptos" pitchFamily="34" charset="0"/>
                <a:ea typeface="Aptos" pitchFamily="34" charset="-122"/>
                <a:cs typeface="Aptos" pitchFamily="34" charset="-120"/>
              </a:rPr>
              <a:t>Apa yang dilakukan</a:t>
            </a:r>
            <a:endParaRPr lang="en-US" sz="940" dirty="0"/>
          </a:p>
        </p:txBody>
      </p:sp>
      <p:sp>
        <p:nvSpPr>
          <p:cNvPr id="30" name="Text 27"/>
          <p:cNvSpPr/>
          <p:nvPr/>
        </p:nvSpPr>
        <p:spPr>
          <a:xfrm>
            <a:off x="6688328" y="3049524"/>
            <a:ext cx="4549648" cy="411480"/>
          </a:xfrm>
          <a:prstGeom prst="rect">
            <a:avLst/>
          </a:prstGeom>
          <a:noFill/>
          <a:ln/>
        </p:spPr>
        <p:txBody>
          <a:bodyPr wrap="square" lIns="127" tIns="127" rIns="127" bIns="127" rtlCol="0" anchor="ctr">
            <a:normAutofit/>
          </a:bodyPr>
          <a:lstStyle/>
          <a:p>
            <a:pPr marL="0" indent="0" algn="ctr">
              <a:buNone/>
            </a:pPr>
            <a:r>
              <a:rPr lang="en-US" sz="940" b="1" dirty="0">
                <a:solidFill>
                  <a:srgbClr val="FFFFFF"/>
                </a:solidFill>
                <a:latin typeface="Aptos" pitchFamily="34" charset="0"/>
                <a:ea typeface="Aptos" pitchFamily="34" charset="-122"/>
                <a:cs typeface="Aptos" pitchFamily="34" charset="-120"/>
              </a:rPr>
              <a:t>Alasan</a:t>
            </a:r>
            <a:endParaRPr lang="en-US" sz="940" dirty="0"/>
          </a:p>
        </p:txBody>
      </p:sp>
      <p:sp>
        <p:nvSpPr>
          <p:cNvPr id="31" name="Shape 28"/>
          <p:cNvSpPr/>
          <p:nvPr/>
        </p:nvSpPr>
        <p:spPr>
          <a:xfrm>
            <a:off x="841248" y="3493008"/>
            <a:ext cx="10442448" cy="475488"/>
          </a:xfrm>
          <a:prstGeom prst="rect">
            <a:avLst/>
          </a:prstGeom>
          <a:solidFill>
            <a:srgbClr val="FFFFFF"/>
          </a:solidFill>
          <a:ln w="6350">
            <a:solidFill>
              <a:srgbClr val="D6E4F2"/>
            </a:solidFill>
            <a:prstDash val="solid"/>
          </a:ln>
        </p:spPr>
      </p:sp>
      <p:sp>
        <p:nvSpPr>
          <p:cNvPr id="32" name="Text 29"/>
          <p:cNvSpPr/>
          <p:nvPr/>
        </p:nvSpPr>
        <p:spPr>
          <a:xfrm>
            <a:off x="886968" y="3525012"/>
            <a:ext cx="1674191" cy="411480"/>
          </a:xfrm>
          <a:prstGeom prst="rect">
            <a:avLst/>
          </a:prstGeom>
          <a:noFill/>
          <a:ln/>
        </p:spPr>
        <p:txBody>
          <a:bodyPr wrap="square" lIns="127" tIns="127" rIns="127" bIns="127" rtlCol="0" anchor="ctr">
            <a:normAutofit/>
          </a:bodyPr>
          <a:lstStyle/>
          <a:p>
            <a:pPr marL="0" indent="0" algn="l">
              <a:buNone/>
            </a:pPr>
            <a:r>
              <a:rPr lang="en-US" sz="940" b="1" dirty="0">
                <a:solidFill>
                  <a:srgbClr val="1F2937"/>
                </a:solidFill>
                <a:latin typeface="Aptos" pitchFamily="34" charset="0"/>
                <a:ea typeface="Aptos" pitchFamily="34" charset="-122"/>
                <a:cs typeface="Aptos" pitchFamily="34" charset="-120"/>
              </a:rPr>
              <a:t>Train-test split</a:t>
            </a:r>
            <a:endParaRPr lang="en-US" sz="940" dirty="0"/>
          </a:p>
        </p:txBody>
      </p:sp>
      <p:sp>
        <p:nvSpPr>
          <p:cNvPr id="33" name="Text 30"/>
          <p:cNvSpPr/>
          <p:nvPr/>
        </p:nvSpPr>
        <p:spPr>
          <a:xfrm>
            <a:off x="2652599" y="3525012"/>
            <a:ext cx="3944289" cy="41148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Membagi data 80:20</a:t>
            </a:r>
            <a:endParaRPr lang="en-US" sz="940" dirty="0"/>
          </a:p>
        </p:txBody>
      </p:sp>
      <p:sp>
        <p:nvSpPr>
          <p:cNvPr id="34" name="Text 31"/>
          <p:cNvSpPr/>
          <p:nvPr/>
        </p:nvSpPr>
        <p:spPr>
          <a:xfrm>
            <a:off x="6688328" y="3525012"/>
            <a:ext cx="4549648" cy="41148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Agar ada data uji yang belum pernah dilihat model</a:t>
            </a:r>
            <a:endParaRPr lang="en-US" sz="940" dirty="0"/>
          </a:p>
        </p:txBody>
      </p:sp>
      <p:sp>
        <p:nvSpPr>
          <p:cNvPr id="35" name="Shape 32"/>
          <p:cNvSpPr/>
          <p:nvPr/>
        </p:nvSpPr>
        <p:spPr>
          <a:xfrm>
            <a:off x="841248" y="3968496"/>
            <a:ext cx="10442448" cy="475488"/>
          </a:xfrm>
          <a:prstGeom prst="rect">
            <a:avLst/>
          </a:prstGeom>
          <a:solidFill>
            <a:srgbClr val="F3F9FF"/>
          </a:solidFill>
          <a:ln w="6350">
            <a:solidFill>
              <a:srgbClr val="D6E4F2"/>
            </a:solidFill>
            <a:prstDash val="solid"/>
          </a:ln>
        </p:spPr>
      </p:sp>
      <p:sp>
        <p:nvSpPr>
          <p:cNvPr id="36" name="Text 33"/>
          <p:cNvSpPr/>
          <p:nvPr/>
        </p:nvSpPr>
        <p:spPr>
          <a:xfrm>
            <a:off x="886968" y="4000500"/>
            <a:ext cx="1674191" cy="411480"/>
          </a:xfrm>
          <a:prstGeom prst="rect">
            <a:avLst/>
          </a:prstGeom>
          <a:noFill/>
          <a:ln/>
        </p:spPr>
        <p:txBody>
          <a:bodyPr wrap="square" lIns="127" tIns="127" rIns="127" bIns="127" rtlCol="0" anchor="ctr">
            <a:normAutofit/>
          </a:bodyPr>
          <a:lstStyle/>
          <a:p>
            <a:pPr marL="0" indent="0" algn="l">
              <a:buNone/>
            </a:pPr>
            <a:r>
              <a:rPr lang="en-US" sz="940" b="1" dirty="0">
                <a:solidFill>
                  <a:srgbClr val="1F2937"/>
                </a:solidFill>
                <a:latin typeface="Aptos" pitchFamily="34" charset="0"/>
                <a:ea typeface="Aptos" pitchFamily="34" charset="-122"/>
                <a:cs typeface="Aptos" pitchFamily="34" charset="-120"/>
              </a:rPr>
              <a:t>SMOTENC</a:t>
            </a:r>
            <a:endParaRPr lang="en-US" sz="940" dirty="0"/>
          </a:p>
        </p:txBody>
      </p:sp>
      <p:sp>
        <p:nvSpPr>
          <p:cNvPr id="37" name="Text 34"/>
          <p:cNvSpPr/>
          <p:nvPr/>
        </p:nvSpPr>
        <p:spPr>
          <a:xfrm>
            <a:off x="2652599" y="4000500"/>
            <a:ext cx="3944289" cy="41148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Oversampling kelas minoritas</a:t>
            </a:r>
            <a:endParaRPr lang="en-US" sz="940" dirty="0"/>
          </a:p>
        </p:txBody>
      </p:sp>
      <p:sp>
        <p:nvSpPr>
          <p:cNvPr id="38" name="Text 35"/>
          <p:cNvSpPr/>
          <p:nvPr/>
        </p:nvSpPr>
        <p:spPr>
          <a:xfrm>
            <a:off x="6688328" y="4000500"/>
            <a:ext cx="4549648" cy="41148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Menangani imbalance pada fitur numerik dan kategori</a:t>
            </a:r>
            <a:endParaRPr lang="en-US" sz="940" dirty="0"/>
          </a:p>
        </p:txBody>
      </p:sp>
      <p:sp>
        <p:nvSpPr>
          <p:cNvPr id="39" name="Shape 36"/>
          <p:cNvSpPr/>
          <p:nvPr/>
        </p:nvSpPr>
        <p:spPr>
          <a:xfrm>
            <a:off x="841248" y="4443984"/>
            <a:ext cx="10442448" cy="475488"/>
          </a:xfrm>
          <a:prstGeom prst="rect">
            <a:avLst/>
          </a:prstGeom>
          <a:solidFill>
            <a:srgbClr val="FFFFFF"/>
          </a:solidFill>
          <a:ln w="6350">
            <a:solidFill>
              <a:srgbClr val="D6E4F2"/>
            </a:solidFill>
            <a:prstDash val="solid"/>
          </a:ln>
        </p:spPr>
      </p:sp>
      <p:sp>
        <p:nvSpPr>
          <p:cNvPr id="40" name="Text 37"/>
          <p:cNvSpPr/>
          <p:nvPr/>
        </p:nvSpPr>
        <p:spPr>
          <a:xfrm>
            <a:off x="886968" y="4475988"/>
            <a:ext cx="1674191" cy="411480"/>
          </a:xfrm>
          <a:prstGeom prst="rect">
            <a:avLst/>
          </a:prstGeom>
          <a:noFill/>
          <a:ln/>
        </p:spPr>
        <p:txBody>
          <a:bodyPr wrap="square" lIns="127" tIns="127" rIns="127" bIns="127" rtlCol="0" anchor="ctr">
            <a:normAutofit/>
          </a:bodyPr>
          <a:lstStyle/>
          <a:p>
            <a:pPr marL="0" indent="0" algn="l">
              <a:buNone/>
            </a:pPr>
            <a:r>
              <a:rPr lang="en-US" sz="940" b="1" dirty="0">
                <a:solidFill>
                  <a:srgbClr val="1F2937"/>
                </a:solidFill>
                <a:latin typeface="Aptos" pitchFamily="34" charset="0"/>
                <a:ea typeface="Aptos" pitchFamily="34" charset="-122"/>
                <a:cs typeface="Aptos" pitchFamily="34" charset="-120"/>
              </a:rPr>
              <a:t>Modeling</a:t>
            </a:r>
            <a:endParaRPr lang="en-US" sz="940" dirty="0"/>
          </a:p>
        </p:txBody>
      </p:sp>
      <p:sp>
        <p:nvSpPr>
          <p:cNvPr id="41" name="Text 38"/>
          <p:cNvSpPr/>
          <p:nvPr/>
        </p:nvSpPr>
        <p:spPr>
          <a:xfrm>
            <a:off x="2652599" y="4475988"/>
            <a:ext cx="3944289" cy="41148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Melatih tiga model</a:t>
            </a:r>
            <a:endParaRPr lang="en-US" sz="940" dirty="0"/>
          </a:p>
        </p:txBody>
      </p:sp>
      <p:sp>
        <p:nvSpPr>
          <p:cNvPr id="42" name="Text 39"/>
          <p:cNvSpPr/>
          <p:nvPr/>
        </p:nvSpPr>
        <p:spPr>
          <a:xfrm>
            <a:off x="6688328" y="4475988"/>
            <a:ext cx="4549648" cy="41148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Membandingkan baseline, ensemble, dan boosting</a:t>
            </a:r>
            <a:endParaRPr lang="en-US" sz="940" dirty="0"/>
          </a:p>
        </p:txBody>
      </p:sp>
      <p:sp>
        <p:nvSpPr>
          <p:cNvPr id="43" name="Shape 40"/>
          <p:cNvSpPr/>
          <p:nvPr/>
        </p:nvSpPr>
        <p:spPr>
          <a:xfrm>
            <a:off x="841248" y="4919472"/>
            <a:ext cx="10442448" cy="475488"/>
          </a:xfrm>
          <a:prstGeom prst="rect">
            <a:avLst/>
          </a:prstGeom>
          <a:solidFill>
            <a:srgbClr val="F3F9FF"/>
          </a:solidFill>
          <a:ln w="6350">
            <a:solidFill>
              <a:srgbClr val="D6E4F2"/>
            </a:solidFill>
            <a:prstDash val="solid"/>
          </a:ln>
        </p:spPr>
      </p:sp>
      <p:sp>
        <p:nvSpPr>
          <p:cNvPr id="44" name="Text 41"/>
          <p:cNvSpPr/>
          <p:nvPr/>
        </p:nvSpPr>
        <p:spPr>
          <a:xfrm>
            <a:off x="886968" y="4951476"/>
            <a:ext cx="1674191" cy="411480"/>
          </a:xfrm>
          <a:prstGeom prst="rect">
            <a:avLst/>
          </a:prstGeom>
          <a:noFill/>
          <a:ln/>
        </p:spPr>
        <p:txBody>
          <a:bodyPr wrap="square" lIns="127" tIns="127" rIns="127" bIns="127" rtlCol="0" anchor="ctr">
            <a:normAutofit/>
          </a:bodyPr>
          <a:lstStyle/>
          <a:p>
            <a:pPr marL="0" indent="0" algn="l">
              <a:buNone/>
            </a:pPr>
            <a:r>
              <a:rPr lang="en-US" sz="940" b="1" dirty="0">
                <a:solidFill>
                  <a:srgbClr val="1F2937"/>
                </a:solidFill>
                <a:latin typeface="Aptos" pitchFamily="34" charset="0"/>
                <a:ea typeface="Aptos" pitchFamily="34" charset="-122"/>
                <a:cs typeface="Aptos" pitchFamily="34" charset="-120"/>
              </a:rPr>
              <a:t>Evaluation</a:t>
            </a:r>
            <a:endParaRPr lang="en-US" sz="940" dirty="0"/>
          </a:p>
        </p:txBody>
      </p:sp>
      <p:sp>
        <p:nvSpPr>
          <p:cNvPr id="45" name="Text 42"/>
          <p:cNvSpPr/>
          <p:nvPr/>
        </p:nvSpPr>
        <p:spPr>
          <a:xfrm>
            <a:off x="2652599" y="4951476"/>
            <a:ext cx="3944289" cy="41148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F1, confusion matrix, feature importance</a:t>
            </a:r>
            <a:endParaRPr lang="en-US" sz="940" dirty="0"/>
          </a:p>
        </p:txBody>
      </p:sp>
      <p:sp>
        <p:nvSpPr>
          <p:cNvPr id="46" name="Text 43"/>
          <p:cNvSpPr/>
          <p:nvPr/>
        </p:nvSpPr>
        <p:spPr>
          <a:xfrm>
            <a:off x="6688328" y="4951476"/>
            <a:ext cx="4549648" cy="41148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Menilai performa dan membaca faktor prediktif</a:t>
            </a:r>
            <a:endParaRPr lang="en-US" sz="940" dirty="0"/>
          </a:p>
        </p:txBody>
      </p:sp>
      <p:sp>
        <p:nvSpPr>
          <p:cNvPr id="47" name="Shape 44"/>
          <p:cNvSpPr/>
          <p:nvPr/>
        </p:nvSpPr>
        <p:spPr>
          <a:xfrm>
            <a:off x="841248" y="5650992"/>
            <a:ext cx="10442448" cy="502920"/>
          </a:xfrm>
          <a:prstGeom prst="roundRect">
            <a:avLst/>
          </a:prstGeom>
          <a:solidFill>
            <a:srgbClr val="FFF0F3"/>
          </a:solidFill>
          <a:ln w="12700">
            <a:solidFill>
              <a:srgbClr val="C9DFFF"/>
            </a:solidFill>
            <a:prstDash val="solid"/>
          </a:ln>
          <a:effectLst>
            <a:outerShdw blurRad="12700" dist="50800" dir="2700000" algn="bl" rotWithShape="0">
              <a:srgbClr val="B8C8DA">
                <a:alpha val="10000"/>
              </a:srgbClr>
            </a:outerShdw>
          </a:effectLst>
        </p:spPr>
      </p:sp>
      <p:sp>
        <p:nvSpPr>
          <p:cNvPr id="48" name="Text 45"/>
          <p:cNvSpPr/>
          <p:nvPr/>
        </p:nvSpPr>
        <p:spPr>
          <a:xfrm>
            <a:off x="1005840" y="5797296"/>
            <a:ext cx="10113264" cy="219456"/>
          </a:xfrm>
          <a:prstGeom prst="rect">
            <a:avLst/>
          </a:prstGeom>
          <a:noFill/>
          <a:ln/>
        </p:spPr>
        <p:txBody>
          <a:bodyPr wrap="square" lIns="0" tIns="0" rIns="0" bIns="0" rtlCol="0" anchor="t">
            <a:normAutofit/>
          </a:bodyPr>
          <a:lstStyle/>
          <a:p>
            <a:pPr marL="0" indent="0" algn="l">
              <a:buNone/>
            </a:pPr>
            <a:r>
              <a:rPr lang="en-US" sz="1200" b="1" dirty="0">
                <a:solidFill>
                  <a:srgbClr val="D1495B"/>
                </a:solidFill>
                <a:latin typeface="Aptos" pitchFamily="34" charset="0"/>
                <a:ea typeface="Aptos" pitchFamily="34" charset="-122"/>
                <a:cs typeface="Aptos" pitchFamily="34" charset="-120"/>
              </a:rPr>
              <a:t>Inti alur</a:t>
            </a:r>
            <a:endParaRPr lang="en-US" sz="1200" dirty="0"/>
          </a:p>
        </p:txBody>
      </p:sp>
      <p:sp>
        <p:nvSpPr>
          <p:cNvPr id="49" name="Text 46"/>
          <p:cNvSpPr/>
          <p:nvPr/>
        </p:nvSpPr>
        <p:spPr>
          <a:xfrm>
            <a:off x="1005840" y="6089904"/>
            <a:ext cx="10113264" cy="0"/>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Poin paling penting: data uji tidak diseimbangkan. Ini membuat angka evaluasi lebih jujur terhadap kondisi data asli.</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08</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Eksplorasi Awal: Sentimen terhadap AI</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Grafik distribusi AISent</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658368" y="1115568"/>
            <a:ext cx="6492240" cy="448056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pic>
        <p:nvPicPr>
          <p:cNvPr id="11" name="Image 0" descr="/mnt/data/latest_nb_assets/cell9_out0.png"/>
          <p:cNvPicPr>
            <a:picLocks noChangeAspect="1"/>
          </p:cNvPicPr>
          <p:nvPr/>
        </p:nvPicPr>
        <p:blipFill>
          <a:blip r:embed="rId3"/>
          <a:stretch>
            <a:fillRect/>
          </a:stretch>
        </p:blipFill>
        <p:spPr>
          <a:xfrm>
            <a:off x="868680" y="1807613"/>
            <a:ext cx="6035040" cy="2968455"/>
          </a:xfrm>
          <a:prstGeom prst="rect">
            <a:avLst/>
          </a:prstGeom>
        </p:spPr>
      </p:pic>
      <p:sp>
        <p:nvSpPr>
          <p:cNvPr id="12" name="Shape 8"/>
          <p:cNvSpPr/>
          <p:nvPr/>
        </p:nvSpPr>
        <p:spPr>
          <a:xfrm>
            <a:off x="7498080" y="1143000"/>
            <a:ext cx="3840480" cy="1005840"/>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13" name="Text 9"/>
          <p:cNvSpPr/>
          <p:nvPr/>
        </p:nvSpPr>
        <p:spPr>
          <a:xfrm>
            <a:off x="7662672" y="1289304"/>
            <a:ext cx="3511296"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Cara membaca grafik</a:t>
            </a:r>
            <a:endParaRPr lang="en-US" sz="1200" dirty="0"/>
          </a:p>
        </p:txBody>
      </p:sp>
      <p:sp>
        <p:nvSpPr>
          <p:cNvPr id="14" name="Text 10"/>
          <p:cNvSpPr/>
          <p:nvPr/>
        </p:nvSpPr>
        <p:spPr>
          <a:xfrm>
            <a:off x="7662672" y="1581912"/>
            <a:ext cx="3511296" cy="47548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Bar horizontal menunjukkan jumlah responden pada tiap kategori sentimen. Bar paling panjang berarti kategori sentimen tersebut paling dominan di dataset.</a:t>
            </a:r>
            <a:endParaRPr lang="en-US" sz="1100" dirty="0"/>
          </a:p>
        </p:txBody>
      </p:sp>
      <p:sp>
        <p:nvSpPr>
          <p:cNvPr id="15" name="Shape 11"/>
          <p:cNvSpPr/>
          <p:nvPr/>
        </p:nvSpPr>
        <p:spPr>
          <a:xfrm>
            <a:off x="7498080" y="2468880"/>
            <a:ext cx="3840480" cy="1188720"/>
          </a:xfrm>
          <a:prstGeom prst="roundRect">
            <a:avLst/>
          </a:prstGeom>
          <a:solidFill>
            <a:srgbClr val="EAF8F0"/>
          </a:solidFill>
          <a:ln w="12700">
            <a:solidFill>
              <a:srgbClr val="C9DFFF"/>
            </a:solidFill>
            <a:prstDash val="solid"/>
          </a:ln>
          <a:effectLst>
            <a:outerShdw blurRad="12700" dist="50800" dir="2700000" algn="bl" rotWithShape="0">
              <a:srgbClr val="B8C8DA">
                <a:alpha val="10000"/>
              </a:srgbClr>
            </a:outerShdw>
          </a:effectLst>
        </p:spPr>
      </p:sp>
      <p:sp>
        <p:nvSpPr>
          <p:cNvPr id="16" name="Text 12"/>
          <p:cNvSpPr/>
          <p:nvPr/>
        </p:nvSpPr>
        <p:spPr>
          <a:xfrm>
            <a:off x="7662672" y="2615184"/>
            <a:ext cx="3511296" cy="219456"/>
          </a:xfrm>
          <a:prstGeom prst="rect">
            <a:avLst/>
          </a:prstGeom>
          <a:noFill/>
          <a:ln/>
        </p:spPr>
        <p:txBody>
          <a:bodyPr wrap="square" lIns="0" tIns="0" rIns="0" bIns="0" rtlCol="0" anchor="t">
            <a:normAutofit/>
          </a:bodyPr>
          <a:lstStyle/>
          <a:p>
            <a:pPr marL="0" indent="0" algn="l">
              <a:buNone/>
            </a:pPr>
            <a:r>
              <a:rPr lang="en-US" sz="1200" b="1" dirty="0">
                <a:solidFill>
                  <a:srgbClr val="16A34A"/>
                </a:solidFill>
                <a:latin typeface="Aptos" pitchFamily="34" charset="0"/>
                <a:ea typeface="Aptos" pitchFamily="34" charset="-122"/>
                <a:cs typeface="Aptos" pitchFamily="34" charset="-120"/>
              </a:rPr>
              <a:t>Mengapa penting?</a:t>
            </a:r>
            <a:endParaRPr lang="en-US" sz="1200" dirty="0"/>
          </a:p>
        </p:txBody>
      </p:sp>
      <p:sp>
        <p:nvSpPr>
          <p:cNvPr id="17" name="Text 13"/>
          <p:cNvSpPr/>
          <p:nvPr/>
        </p:nvSpPr>
        <p:spPr>
          <a:xfrm>
            <a:off x="7662672" y="2907792"/>
            <a:ext cx="3511296" cy="65836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AISent dipakai sebagai prediktor. Developer yang lebih menerima AI kemungkinan memiliki pola penggunaan AI yang berbeda dibanding developer yang menolak atau netral.</a:t>
            </a:r>
            <a:endParaRPr lang="en-US" sz="1100" dirty="0"/>
          </a:p>
        </p:txBody>
      </p:sp>
      <p:sp>
        <p:nvSpPr>
          <p:cNvPr id="18" name="Shape 14"/>
          <p:cNvSpPr/>
          <p:nvPr/>
        </p:nvSpPr>
        <p:spPr>
          <a:xfrm>
            <a:off x="7498080" y="4041648"/>
            <a:ext cx="3840480" cy="1188720"/>
          </a:xfrm>
          <a:prstGeom prst="roundRect">
            <a:avLst/>
          </a:prstGeom>
          <a:solidFill>
            <a:srgbClr val="FFF7E6"/>
          </a:solidFill>
          <a:ln w="12700">
            <a:solidFill>
              <a:srgbClr val="C9DFFF"/>
            </a:solidFill>
            <a:prstDash val="solid"/>
          </a:ln>
          <a:effectLst>
            <a:outerShdw blurRad="12700" dist="50800" dir="2700000" algn="bl" rotWithShape="0">
              <a:srgbClr val="B8C8DA">
                <a:alpha val="10000"/>
              </a:srgbClr>
            </a:outerShdw>
          </a:effectLst>
        </p:spPr>
      </p:sp>
      <p:sp>
        <p:nvSpPr>
          <p:cNvPr id="19" name="Text 15"/>
          <p:cNvSpPr/>
          <p:nvPr/>
        </p:nvSpPr>
        <p:spPr>
          <a:xfrm>
            <a:off x="7662672" y="4187952"/>
            <a:ext cx="3511296" cy="219456"/>
          </a:xfrm>
          <a:prstGeom prst="rect">
            <a:avLst/>
          </a:prstGeom>
          <a:noFill/>
          <a:ln/>
        </p:spPr>
        <p:txBody>
          <a:bodyPr wrap="square" lIns="0" tIns="0" rIns="0" bIns="0" rtlCol="0" anchor="t">
            <a:normAutofit/>
          </a:bodyPr>
          <a:lstStyle/>
          <a:p>
            <a:pPr marL="0" indent="0" algn="l">
              <a:buNone/>
            </a:pPr>
            <a:r>
              <a:rPr lang="en-US" sz="1200" b="1" dirty="0">
                <a:solidFill>
                  <a:srgbClr val="F59E0B"/>
                </a:solidFill>
                <a:latin typeface="Aptos" pitchFamily="34" charset="0"/>
                <a:ea typeface="Aptos" pitchFamily="34" charset="-122"/>
                <a:cs typeface="Aptos" pitchFamily="34" charset="-120"/>
              </a:rPr>
              <a:t>Batas interpretasi</a:t>
            </a:r>
            <a:endParaRPr lang="en-US" sz="1200" dirty="0"/>
          </a:p>
        </p:txBody>
      </p:sp>
      <p:sp>
        <p:nvSpPr>
          <p:cNvPr id="20" name="Text 16"/>
          <p:cNvSpPr/>
          <p:nvPr/>
        </p:nvSpPr>
        <p:spPr>
          <a:xfrm>
            <a:off x="7662672" y="4480560"/>
            <a:ext cx="3511296" cy="65836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Grafik ini hanya distribusi awal. Ia belum membuktikan sebab-akibat. Pengaruh prediktif baru dibaca melalui model dan feature importance.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09</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Model yang Dibandingkan</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Tiga pendekatan</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749808" y="1417320"/>
            <a:ext cx="3273552" cy="3520440"/>
          </a:xfrm>
          <a:prstGeom prst="roundRect">
            <a:avLst/>
          </a:prstGeom>
          <a:solidFill>
            <a:srgbClr val="EAF4FF"/>
          </a:solidFill>
          <a:ln w="12700">
            <a:solidFill>
              <a:srgbClr val="D8E7F5"/>
            </a:solidFill>
            <a:prstDash val="solid"/>
          </a:ln>
          <a:effectLst>
            <a:outerShdw blurRad="12700" dist="50800" dir="2700000" algn="bl" rotWithShape="0">
              <a:srgbClr val="B8C8DA">
                <a:alpha val="10000"/>
              </a:srgbClr>
            </a:outerShdw>
          </a:effectLst>
        </p:spPr>
      </p:sp>
      <p:sp>
        <p:nvSpPr>
          <p:cNvPr id="11" name="Text 8"/>
          <p:cNvSpPr/>
          <p:nvPr/>
        </p:nvSpPr>
        <p:spPr>
          <a:xfrm>
            <a:off x="978408" y="1719072"/>
            <a:ext cx="502920" cy="502920"/>
          </a:xfrm>
          <a:prstGeom prst="rect">
            <a:avLst/>
          </a:prstGeom>
          <a:solidFill>
            <a:srgbClr val="2563EB"/>
          </a:solidFill>
          <a:ln w="12700">
            <a:solidFill>
              <a:srgbClr val="2563EB"/>
            </a:solidFill>
          </a:ln>
        </p:spPr>
        <p:txBody>
          <a:bodyPr wrap="square" lIns="0" tIns="0" rIns="0" bIns="0" rtlCol="0" anchor="ctr">
            <a:normAutofit/>
          </a:bodyPr>
          <a:lstStyle/>
          <a:p>
            <a:pPr marL="0" indent="0" algn="ctr">
              <a:buNone/>
            </a:pPr>
            <a:r>
              <a:rPr lang="en-US" sz="1900" b="1" dirty="0">
                <a:solidFill>
                  <a:srgbClr val="FFFFFF"/>
                </a:solidFill>
                <a:latin typeface="Aptos" pitchFamily="34" charset="0"/>
                <a:ea typeface="Aptos" pitchFamily="34" charset="-122"/>
                <a:cs typeface="Aptos" pitchFamily="34" charset="-120"/>
              </a:rPr>
              <a:t>1</a:t>
            </a:r>
            <a:endParaRPr lang="en-US" sz="1900" dirty="0"/>
          </a:p>
        </p:txBody>
      </p:sp>
      <p:sp>
        <p:nvSpPr>
          <p:cNvPr id="12" name="Text 9"/>
          <p:cNvSpPr/>
          <p:nvPr/>
        </p:nvSpPr>
        <p:spPr>
          <a:xfrm>
            <a:off x="978408" y="2377440"/>
            <a:ext cx="2560320" cy="310896"/>
          </a:xfrm>
          <a:prstGeom prst="rect">
            <a:avLst/>
          </a:prstGeom>
          <a:noFill/>
          <a:ln/>
        </p:spPr>
        <p:txBody>
          <a:bodyPr wrap="square" lIns="0" tIns="0" rIns="0" bIns="0" rtlCol="0" anchor="t">
            <a:normAutofit/>
          </a:bodyPr>
          <a:lstStyle/>
          <a:p>
            <a:pPr marL="0" indent="0" algn="l">
              <a:buNone/>
            </a:pPr>
            <a:r>
              <a:rPr lang="en-US" sz="1600" b="1" dirty="0">
                <a:solidFill>
                  <a:srgbClr val="1F2937"/>
                </a:solidFill>
                <a:latin typeface="Aptos" pitchFamily="34" charset="0"/>
                <a:ea typeface="Aptos" pitchFamily="34" charset="-122"/>
                <a:cs typeface="Aptos" pitchFamily="34" charset="-120"/>
              </a:rPr>
              <a:t>Logistic Regression</a:t>
            </a:r>
            <a:endParaRPr lang="en-US" sz="1600" dirty="0"/>
          </a:p>
        </p:txBody>
      </p:sp>
      <p:sp>
        <p:nvSpPr>
          <p:cNvPr id="13" name="Text 10"/>
          <p:cNvSpPr/>
          <p:nvPr/>
        </p:nvSpPr>
        <p:spPr>
          <a:xfrm>
            <a:off x="978408" y="2788920"/>
            <a:ext cx="2560320" cy="237744"/>
          </a:xfrm>
          <a:prstGeom prst="rect">
            <a:avLst/>
          </a:prstGeom>
          <a:noFill/>
          <a:ln/>
        </p:spPr>
        <p:txBody>
          <a:bodyPr wrap="square" lIns="0" tIns="0" rIns="0" bIns="0" rtlCol="0" anchor="t">
            <a:normAutofit/>
          </a:bodyPr>
          <a:lstStyle/>
          <a:p>
            <a:pPr marL="0" indent="0" algn="l">
              <a:buNone/>
            </a:pPr>
            <a:r>
              <a:rPr lang="en-US" sz="1250" b="1" dirty="0">
                <a:solidFill>
                  <a:srgbClr val="2563EB"/>
                </a:solidFill>
                <a:latin typeface="Aptos" pitchFamily="34" charset="0"/>
                <a:ea typeface="Aptos" pitchFamily="34" charset="-122"/>
                <a:cs typeface="Aptos" pitchFamily="34" charset="-120"/>
              </a:rPr>
              <a:t>Baseline linear</a:t>
            </a:r>
            <a:endParaRPr lang="en-US" sz="1250" dirty="0"/>
          </a:p>
        </p:txBody>
      </p:sp>
      <p:sp>
        <p:nvSpPr>
          <p:cNvPr id="14" name="Text 11"/>
          <p:cNvSpPr/>
          <p:nvPr/>
        </p:nvSpPr>
        <p:spPr>
          <a:xfrm>
            <a:off x="978408" y="3200400"/>
            <a:ext cx="2606040" cy="914400"/>
          </a:xfrm>
          <a:prstGeom prst="rect">
            <a:avLst/>
          </a:prstGeom>
          <a:noFill/>
          <a:ln/>
        </p:spPr>
        <p:txBody>
          <a:bodyPr wrap="square" lIns="0" tIns="0" rIns="0" bIns="0" rtlCol="0" anchor="t">
            <a:normAutofit/>
          </a:bodyPr>
          <a:lstStyle/>
          <a:p>
            <a:pPr marL="0" indent="0" algn="l">
              <a:buNone/>
            </a:pPr>
            <a:r>
              <a:rPr lang="en-US" sz="1150" dirty="0">
                <a:solidFill>
                  <a:srgbClr val="5E6B7A"/>
                </a:solidFill>
                <a:latin typeface="Aptos" pitchFamily="34" charset="0"/>
                <a:ea typeface="Aptos" pitchFamily="34" charset="-122"/>
                <a:cs typeface="Aptos" pitchFamily="34" charset="-120"/>
              </a:rPr>
              <a:t>Cepat, sederhana, dan mudah dijadikan pembanding awal. Keterbatasannya adalah kurang kuat untuk pola non-linear kompleks.</a:t>
            </a:r>
            <a:endParaRPr lang="en-US" sz="1150" dirty="0"/>
          </a:p>
        </p:txBody>
      </p:sp>
      <p:sp>
        <p:nvSpPr>
          <p:cNvPr id="15" name="Shape 12"/>
          <p:cNvSpPr/>
          <p:nvPr/>
        </p:nvSpPr>
        <p:spPr>
          <a:xfrm>
            <a:off x="4544568" y="1417320"/>
            <a:ext cx="3273552" cy="3520440"/>
          </a:xfrm>
          <a:prstGeom prst="roundRect">
            <a:avLst/>
          </a:prstGeom>
          <a:solidFill>
            <a:srgbClr val="EAF8F0"/>
          </a:solidFill>
          <a:ln w="12700">
            <a:solidFill>
              <a:srgbClr val="D8E7F5"/>
            </a:solidFill>
            <a:prstDash val="solid"/>
          </a:ln>
          <a:effectLst>
            <a:outerShdw blurRad="12700" dist="50800" dir="2700000" algn="bl" rotWithShape="0">
              <a:srgbClr val="B8C8DA">
                <a:alpha val="10000"/>
              </a:srgbClr>
            </a:outerShdw>
          </a:effectLst>
        </p:spPr>
      </p:sp>
      <p:sp>
        <p:nvSpPr>
          <p:cNvPr id="16" name="Text 13"/>
          <p:cNvSpPr/>
          <p:nvPr/>
        </p:nvSpPr>
        <p:spPr>
          <a:xfrm>
            <a:off x="4773168" y="1719072"/>
            <a:ext cx="502920" cy="502920"/>
          </a:xfrm>
          <a:prstGeom prst="rect">
            <a:avLst/>
          </a:prstGeom>
          <a:solidFill>
            <a:srgbClr val="16A34A"/>
          </a:solidFill>
          <a:ln w="12700">
            <a:solidFill>
              <a:srgbClr val="16A34A"/>
            </a:solidFill>
          </a:ln>
        </p:spPr>
        <p:txBody>
          <a:bodyPr wrap="square" lIns="0" tIns="0" rIns="0" bIns="0" rtlCol="0" anchor="ctr">
            <a:normAutofit/>
          </a:bodyPr>
          <a:lstStyle/>
          <a:p>
            <a:pPr marL="0" indent="0" algn="ctr">
              <a:buNone/>
            </a:pPr>
            <a:r>
              <a:rPr lang="en-US" sz="1900" b="1" dirty="0">
                <a:solidFill>
                  <a:srgbClr val="FFFFFF"/>
                </a:solidFill>
                <a:latin typeface="Aptos" pitchFamily="34" charset="0"/>
                <a:ea typeface="Aptos" pitchFamily="34" charset="-122"/>
                <a:cs typeface="Aptos" pitchFamily="34" charset="-120"/>
              </a:rPr>
              <a:t>2</a:t>
            </a:r>
            <a:endParaRPr lang="en-US" sz="1900" dirty="0"/>
          </a:p>
        </p:txBody>
      </p:sp>
      <p:sp>
        <p:nvSpPr>
          <p:cNvPr id="17" name="Text 14"/>
          <p:cNvSpPr/>
          <p:nvPr/>
        </p:nvSpPr>
        <p:spPr>
          <a:xfrm>
            <a:off x="4773168" y="2377440"/>
            <a:ext cx="2560320" cy="310896"/>
          </a:xfrm>
          <a:prstGeom prst="rect">
            <a:avLst/>
          </a:prstGeom>
          <a:noFill/>
          <a:ln/>
        </p:spPr>
        <p:txBody>
          <a:bodyPr wrap="square" lIns="0" tIns="0" rIns="0" bIns="0" rtlCol="0" anchor="t">
            <a:normAutofit/>
          </a:bodyPr>
          <a:lstStyle/>
          <a:p>
            <a:pPr marL="0" indent="0" algn="l">
              <a:buNone/>
            </a:pPr>
            <a:r>
              <a:rPr lang="en-US" sz="1600" b="1" dirty="0">
                <a:solidFill>
                  <a:srgbClr val="1F2937"/>
                </a:solidFill>
                <a:latin typeface="Aptos" pitchFamily="34" charset="0"/>
                <a:ea typeface="Aptos" pitchFamily="34" charset="-122"/>
                <a:cs typeface="Aptos" pitchFamily="34" charset="-120"/>
              </a:rPr>
              <a:t>Random Forest</a:t>
            </a:r>
            <a:endParaRPr lang="en-US" sz="1600" dirty="0"/>
          </a:p>
        </p:txBody>
      </p:sp>
      <p:sp>
        <p:nvSpPr>
          <p:cNvPr id="18" name="Text 15"/>
          <p:cNvSpPr/>
          <p:nvPr/>
        </p:nvSpPr>
        <p:spPr>
          <a:xfrm>
            <a:off x="4773168" y="2788920"/>
            <a:ext cx="2560320" cy="237744"/>
          </a:xfrm>
          <a:prstGeom prst="rect">
            <a:avLst/>
          </a:prstGeom>
          <a:noFill/>
          <a:ln/>
        </p:spPr>
        <p:txBody>
          <a:bodyPr wrap="square" lIns="0" tIns="0" rIns="0" bIns="0" rtlCol="0" anchor="t">
            <a:normAutofit/>
          </a:bodyPr>
          <a:lstStyle/>
          <a:p>
            <a:pPr marL="0" indent="0" algn="l">
              <a:buNone/>
            </a:pPr>
            <a:r>
              <a:rPr lang="en-US" sz="1250" b="1" dirty="0">
                <a:solidFill>
                  <a:srgbClr val="16A34A"/>
                </a:solidFill>
                <a:latin typeface="Aptos" pitchFamily="34" charset="0"/>
                <a:ea typeface="Aptos" pitchFamily="34" charset="-122"/>
                <a:cs typeface="Aptos" pitchFamily="34" charset="-120"/>
              </a:rPr>
              <a:t>Ensemble decision tree</a:t>
            </a:r>
            <a:endParaRPr lang="en-US" sz="1250" dirty="0"/>
          </a:p>
        </p:txBody>
      </p:sp>
      <p:sp>
        <p:nvSpPr>
          <p:cNvPr id="19" name="Text 16"/>
          <p:cNvSpPr/>
          <p:nvPr/>
        </p:nvSpPr>
        <p:spPr>
          <a:xfrm>
            <a:off x="4773168" y="3200400"/>
            <a:ext cx="2606040" cy="914400"/>
          </a:xfrm>
          <a:prstGeom prst="rect">
            <a:avLst/>
          </a:prstGeom>
          <a:noFill/>
          <a:ln/>
        </p:spPr>
        <p:txBody>
          <a:bodyPr wrap="square" lIns="0" tIns="0" rIns="0" bIns="0" rtlCol="0" anchor="t">
            <a:normAutofit/>
          </a:bodyPr>
          <a:lstStyle/>
          <a:p>
            <a:pPr marL="0" indent="0" algn="l">
              <a:buNone/>
            </a:pPr>
            <a:r>
              <a:rPr lang="en-US" sz="1150" dirty="0">
                <a:solidFill>
                  <a:srgbClr val="5E6B7A"/>
                </a:solidFill>
                <a:latin typeface="Aptos" pitchFamily="34" charset="0"/>
                <a:ea typeface="Aptos" pitchFamily="34" charset="-122"/>
                <a:cs typeface="Aptos" pitchFamily="34" charset="-120"/>
              </a:rPr>
              <a:t>Menggabungkan banyak pohon keputusan. Lebih kuat membaca interaksi fitur dan menyediakan feature importance.</a:t>
            </a:r>
            <a:endParaRPr lang="en-US" sz="1150" dirty="0"/>
          </a:p>
        </p:txBody>
      </p:sp>
      <p:sp>
        <p:nvSpPr>
          <p:cNvPr id="20" name="Shape 17"/>
          <p:cNvSpPr/>
          <p:nvPr/>
        </p:nvSpPr>
        <p:spPr>
          <a:xfrm>
            <a:off x="8339328" y="1417320"/>
            <a:ext cx="3273552" cy="3520440"/>
          </a:xfrm>
          <a:prstGeom prst="roundRect">
            <a:avLst/>
          </a:prstGeom>
          <a:solidFill>
            <a:srgbClr val="FFF0F3"/>
          </a:solidFill>
          <a:ln w="12700">
            <a:solidFill>
              <a:srgbClr val="D8E7F5"/>
            </a:solidFill>
            <a:prstDash val="solid"/>
          </a:ln>
          <a:effectLst>
            <a:outerShdw blurRad="12700" dist="50800" dir="2700000" algn="bl" rotWithShape="0">
              <a:srgbClr val="B8C8DA">
                <a:alpha val="10000"/>
              </a:srgbClr>
            </a:outerShdw>
          </a:effectLst>
        </p:spPr>
      </p:sp>
      <p:sp>
        <p:nvSpPr>
          <p:cNvPr id="21" name="Text 18"/>
          <p:cNvSpPr/>
          <p:nvPr/>
        </p:nvSpPr>
        <p:spPr>
          <a:xfrm>
            <a:off x="8567928" y="1719072"/>
            <a:ext cx="502920" cy="502920"/>
          </a:xfrm>
          <a:prstGeom prst="rect">
            <a:avLst/>
          </a:prstGeom>
          <a:solidFill>
            <a:srgbClr val="D1495B"/>
          </a:solidFill>
          <a:ln w="12700">
            <a:solidFill>
              <a:srgbClr val="D1495B"/>
            </a:solidFill>
          </a:ln>
        </p:spPr>
        <p:txBody>
          <a:bodyPr wrap="square" lIns="0" tIns="0" rIns="0" bIns="0" rtlCol="0" anchor="ctr">
            <a:normAutofit/>
          </a:bodyPr>
          <a:lstStyle/>
          <a:p>
            <a:pPr marL="0" indent="0" algn="ctr">
              <a:buNone/>
            </a:pPr>
            <a:r>
              <a:rPr lang="en-US" sz="1900" b="1" dirty="0">
                <a:solidFill>
                  <a:srgbClr val="FFFFFF"/>
                </a:solidFill>
                <a:latin typeface="Aptos" pitchFamily="34" charset="0"/>
                <a:ea typeface="Aptos" pitchFamily="34" charset="-122"/>
                <a:cs typeface="Aptos" pitchFamily="34" charset="-120"/>
              </a:rPr>
              <a:t>3</a:t>
            </a:r>
            <a:endParaRPr lang="en-US" sz="1900" dirty="0"/>
          </a:p>
        </p:txBody>
      </p:sp>
      <p:sp>
        <p:nvSpPr>
          <p:cNvPr id="22" name="Text 19"/>
          <p:cNvSpPr/>
          <p:nvPr/>
        </p:nvSpPr>
        <p:spPr>
          <a:xfrm>
            <a:off x="8567928" y="2377440"/>
            <a:ext cx="2560320" cy="310896"/>
          </a:xfrm>
          <a:prstGeom prst="rect">
            <a:avLst/>
          </a:prstGeom>
          <a:noFill/>
          <a:ln/>
        </p:spPr>
        <p:txBody>
          <a:bodyPr wrap="square" lIns="0" tIns="0" rIns="0" bIns="0" rtlCol="0" anchor="t">
            <a:normAutofit/>
          </a:bodyPr>
          <a:lstStyle/>
          <a:p>
            <a:pPr marL="0" indent="0" algn="l">
              <a:buNone/>
            </a:pPr>
            <a:r>
              <a:rPr lang="en-US" sz="1600" b="1" dirty="0">
                <a:solidFill>
                  <a:srgbClr val="1F2937"/>
                </a:solidFill>
                <a:latin typeface="Aptos" pitchFamily="34" charset="0"/>
                <a:ea typeface="Aptos" pitchFamily="34" charset="-122"/>
                <a:cs typeface="Aptos" pitchFamily="34" charset="-120"/>
              </a:rPr>
              <a:t>CatBoost</a:t>
            </a:r>
            <a:endParaRPr lang="en-US" sz="1600" dirty="0"/>
          </a:p>
        </p:txBody>
      </p:sp>
      <p:sp>
        <p:nvSpPr>
          <p:cNvPr id="23" name="Text 20"/>
          <p:cNvSpPr/>
          <p:nvPr/>
        </p:nvSpPr>
        <p:spPr>
          <a:xfrm>
            <a:off x="8567928" y="2788920"/>
            <a:ext cx="2560320" cy="237744"/>
          </a:xfrm>
          <a:prstGeom prst="rect">
            <a:avLst/>
          </a:prstGeom>
          <a:noFill/>
          <a:ln/>
        </p:spPr>
        <p:txBody>
          <a:bodyPr wrap="square" lIns="0" tIns="0" rIns="0" bIns="0" rtlCol="0" anchor="t">
            <a:normAutofit/>
          </a:bodyPr>
          <a:lstStyle/>
          <a:p>
            <a:pPr marL="0" indent="0" algn="l">
              <a:buNone/>
            </a:pPr>
            <a:r>
              <a:rPr lang="en-US" sz="1250" b="1" dirty="0">
                <a:solidFill>
                  <a:srgbClr val="D1495B"/>
                </a:solidFill>
                <a:latin typeface="Aptos" pitchFamily="34" charset="0"/>
                <a:ea typeface="Aptos" pitchFamily="34" charset="-122"/>
                <a:cs typeface="Aptos" pitchFamily="34" charset="-120"/>
              </a:rPr>
              <a:t>Gradient boosting</a:t>
            </a:r>
            <a:endParaRPr lang="en-US" sz="1250" dirty="0"/>
          </a:p>
        </p:txBody>
      </p:sp>
      <p:sp>
        <p:nvSpPr>
          <p:cNvPr id="24" name="Text 21"/>
          <p:cNvSpPr/>
          <p:nvPr/>
        </p:nvSpPr>
        <p:spPr>
          <a:xfrm>
            <a:off x="8567928" y="3200400"/>
            <a:ext cx="2606040" cy="914400"/>
          </a:xfrm>
          <a:prstGeom prst="rect">
            <a:avLst/>
          </a:prstGeom>
          <a:noFill/>
          <a:ln/>
        </p:spPr>
        <p:txBody>
          <a:bodyPr wrap="square" lIns="0" tIns="0" rIns="0" bIns="0" rtlCol="0" anchor="t">
            <a:normAutofit/>
          </a:bodyPr>
          <a:lstStyle/>
          <a:p>
            <a:pPr marL="0" indent="0" algn="l">
              <a:buNone/>
            </a:pPr>
            <a:r>
              <a:rPr lang="en-US" sz="1150" dirty="0">
                <a:solidFill>
                  <a:srgbClr val="5E6B7A"/>
                </a:solidFill>
                <a:latin typeface="Aptos" pitchFamily="34" charset="0"/>
                <a:ea typeface="Aptos" pitchFamily="34" charset="-122"/>
                <a:cs typeface="Aptos" pitchFamily="34" charset="-120"/>
              </a:rPr>
              <a:t>Kuat untuk data tabular dan kategori. Cocok untuk survei developer yang banyak berisi fitur kategorikal.</a:t>
            </a:r>
            <a:endParaRPr lang="en-US" sz="1150" dirty="0"/>
          </a:p>
        </p:txBody>
      </p:sp>
      <p:sp>
        <p:nvSpPr>
          <p:cNvPr id="25" name="Shape 22"/>
          <p:cNvSpPr/>
          <p:nvPr/>
        </p:nvSpPr>
        <p:spPr>
          <a:xfrm>
            <a:off x="749808" y="5349240"/>
            <a:ext cx="10561320" cy="594360"/>
          </a:xfrm>
          <a:prstGeom prst="roundRect">
            <a:avLst/>
          </a:prstGeom>
          <a:solidFill>
            <a:srgbClr val="F3EFFF"/>
          </a:solidFill>
          <a:ln w="12700">
            <a:solidFill>
              <a:srgbClr val="C9DFFF"/>
            </a:solidFill>
            <a:prstDash val="solid"/>
          </a:ln>
          <a:effectLst>
            <a:outerShdw blurRad="12700" dist="50800" dir="2700000" algn="bl" rotWithShape="0">
              <a:srgbClr val="B8C8DA">
                <a:alpha val="10000"/>
              </a:srgbClr>
            </a:outerShdw>
          </a:effectLst>
        </p:spPr>
      </p:sp>
      <p:sp>
        <p:nvSpPr>
          <p:cNvPr id="26" name="Text 23"/>
          <p:cNvSpPr/>
          <p:nvPr/>
        </p:nvSpPr>
        <p:spPr>
          <a:xfrm>
            <a:off x="914400" y="5495544"/>
            <a:ext cx="10232136" cy="219456"/>
          </a:xfrm>
          <a:prstGeom prst="rect">
            <a:avLst/>
          </a:prstGeom>
          <a:noFill/>
          <a:ln/>
        </p:spPr>
        <p:txBody>
          <a:bodyPr wrap="square" lIns="0" tIns="0" rIns="0" bIns="0" rtlCol="0" anchor="t">
            <a:normAutofit/>
          </a:bodyPr>
          <a:lstStyle/>
          <a:p>
            <a:pPr marL="0" indent="0" algn="l">
              <a:buNone/>
            </a:pPr>
            <a:r>
              <a:rPr lang="en-US" sz="1200" b="1" dirty="0">
                <a:solidFill>
                  <a:srgbClr val="7C3AED"/>
                </a:solidFill>
                <a:latin typeface="Aptos" pitchFamily="34" charset="0"/>
                <a:ea typeface="Aptos" pitchFamily="34" charset="-122"/>
                <a:cs typeface="Aptos" pitchFamily="34" charset="-120"/>
              </a:rPr>
              <a:t>Cara membandingkan</a:t>
            </a:r>
            <a:endParaRPr lang="en-US" sz="1200" dirty="0"/>
          </a:p>
        </p:txBody>
      </p:sp>
      <p:sp>
        <p:nvSpPr>
          <p:cNvPr id="27" name="Text 24"/>
          <p:cNvSpPr/>
          <p:nvPr/>
        </p:nvSpPr>
        <p:spPr>
          <a:xfrm>
            <a:off x="914400" y="5788152"/>
            <a:ext cx="10232136" cy="6400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Model terbaik tidak hanya dilihat dari accuracy. Karena data tidak seimbang, perbandingan utama memakai F1 Macro dan F1 tiap kelas.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10</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Cara Membaca Metrik Evaluasi</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Fokus pada F1</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713232" y="1143000"/>
            <a:ext cx="10789920" cy="539496"/>
          </a:xfrm>
          <a:prstGeom prst="rect">
            <a:avLst/>
          </a:prstGeom>
          <a:solidFill>
            <a:srgbClr val="1D4ED8"/>
          </a:solidFill>
          <a:ln w="6350">
            <a:solidFill>
              <a:srgbClr val="D6E4F2"/>
            </a:solidFill>
            <a:prstDash val="solid"/>
          </a:ln>
        </p:spPr>
      </p:sp>
      <p:sp>
        <p:nvSpPr>
          <p:cNvPr id="11" name="Text 8"/>
          <p:cNvSpPr/>
          <p:nvPr/>
        </p:nvSpPr>
        <p:spPr>
          <a:xfrm>
            <a:off x="758952" y="1175004"/>
            <a:ext cx="1789372" cy="475488"/>
          </a:xfrm>
          <a:prstGeom prst="rect">
            <a:avLst/>
          </a:prstGeom>
          <a:noFill/>
          <a:ln/>
        </p:spPr>
        <p:txBody>
          <a:bodyPr wrap="square" lIns="127" tIns="127" rIns="127" bIns="127" rtlCol="0" anchor="ctr">
            <a:normAutofit/>
          </a:bodyPr>
          <a:lstStyle/>
          <a:p>
            <a:pPr marL="0" indent="0" algn="l">
              <a:buNone/>
            </a:pPr>
            <a:r>
              <a:rPr lang="en-US" sz="960" b="1" dirty="0">
                <a:solidFill>
                  <a:srgbClr val="FFFFFF"/>
                </a:solidFill>
                <a:latin typeface="Aptos" pitchFamily="34" charset="0"/>
                <a:ea typeface="Aptos" pitchFamily="34" charset="-122"/>
                <a:cs typeface="Aptos" pitchFamily="34" charset="-120"/>
              </a:rPr>
              <a:t>Metrik</a:t>
            </a:r>
            <a:endParaRPr lang="en-US" sz="960" dirty="0"/>
          </a:p>
        </p:txBody>
      </p:sp>
      <p:sp>
        <p:nvSpPr>
          <p:cNvPr id="12" name="Text 9"/>
          <p:cNvSpPr/>
          <p:nvPr/>
        </p:nvSpPr>
        <p:spPr>
          <a:xfrm>
            <a:off x="2639764" y="1175004"/>
            <a:ext cx="4165134" cy="475488"/>
          </a:xfrm>
          <a:prstGeom prst="rect">
            <a:avLst/>
          </a:prstGeom>
          <a:noFill/>
          <a:ln/>
        </p:spPr>
        <p:txBody>
          <a:bodyPr wrap="square" lIns="127" tIns="127" rIns="127" bIns="127" rtlCol="0" anchor="ctr">
            <a:normAutofit/>
          </a:bodyPr>
          <a:lstStyle/>
          <a:p>
            <a:pPr marL="0" indent="0" algn="ctr">
              <a:buNone/>
            </a:pPr>
            <a:r>
              <a:rPr lang="en-US" sz="960" b="1" dirty="0">
                <a:solidFill>
                  <a:srgbClr val="FFFFFF"/>
                </a:solidFill>
                <a:latin typeface="Aptos" pitchFamily="34" charset="0"/>
                <a:ea typeface="Aptos" pitchFamily="34" charset="-122"/>
                <a:cs typeface="Aptos" pitchFamily="34" charset="-120"/>
              </a:rPr>
              <a:t>Makna sederhana</a:t>
            </a:r>
            <a:endParaRPr lang="en-US" sz="960" dirty="0"/>
          </a:p>
        </p:txBody>
      </p:sp>
      <p:sp>
        <p:nvSpPr>
          <p:cNvPr id="13" name="Text 10"/>
          <p:cNvSpPr/>
          <p:nvPr/>
        </p:nvSpPr>
        <p:spPr>
          <a:xfrm>
            <a:off x="6896338" y="1175004"/>
            <a:ext cx="4561094" cy="475488"/>
          </a:xfrm>
          <a:prstGeom prst="rect">
            <a:avLst/>
          </a:prstGeom>
          <a:noFill/>
          <a:ln/>
        </p:spPr>
        <p:txBody>
          <a:bodyPr wrap="square" lIns="127" tIns="127" rIns="127" bIns="127" rtlCol="0" anchor="ctr">
            <a:normAutofit/>
          </a:bodyPr>
          <a:lstStyle/>
          <a:p>
            <a:pPr marL="0" indent="0" algn="ctr">
              <a:buNone/>
            </a:pPr>
            <a:r>
              <a:rPr lang="en-US" sz="960" b="1" dirty="0">
                <a:solidFill>
                  <a:srgbClr val="FFFFFF"/>
                </a:solidFill>
                <a:latin typeface="Aptos" pitchFamily="34" charset="0"/>
                <a:ea typeface="Aptos" pitchFamily="34" charset="-122"/>
                <a:cs typeface="Aptos" pitchFamily="34" charset="-120"/>
              </a:rPr>
              <a:t>Mengapa dipakai</a:t>
            </a:r>
            <a:endParaRPr lang="en-US" sz="960" dirty="0"/>
          </a:p>
        </p:txBody>
      </p:sp>
      <p:sp>
        <p:nvSpPr>
          <p:cNvPr id="14" name="Shape 11"/>
          <p:cNvSpPr/>
          <p:nvPr/>
        </p:nvSpPr>
        <p:spPr>
          <a:xfrm>
            <a:off x="713232" y="1682496"/>
            <a:ext cx="10789920" cy="539496"/>
          </a:xfrm>
          <a:prstGeom prst="rect">
            <a:avLst/>
          </a:prstGeom>
          <a:solidFill>
            <a:srgbClr val="FFFFFF"/>
          </a:solidFill>
          <a:ln w="6350">
            <a:solidFill>
              <a:srgbClr val="D6E4F2"/>
            </a:solidFill>
            <a:prstDash val="solid"/>
          </a:ln>
        </p:spPr>
      </p:sp>
      <p:sp>
        <p:nvSpPr>
          <p:cNvPr id="15" name="Text 12"/>
          <p:cNvSpPr/>
          <p:nvPr/>
        </p:nvSpPr>
        <p:spPr>
          <a:xfrm>
            <a:off x="758952" y="1714500"/>
            <a:ext cx="1789372" cy="475488"/>
          </a:xfrm>
          <a:prstGeom prst="rect">
            <a:avLst/>
          </a:prstGeom>
          <a:noFill/>
          <a:ln/>
        </p:spPr>
        <p:txBody>
          <a:bodyPr wrap="square" lIns="127" tIns="127" rIns="127" bIns="127" rtlCol="0" anchor="ctr">
            <a:normAutofit/>
          </a:bodyPr>
          <a:lstStyle/>
          <a:p>
            <a:pPr marL="0" indent="0" algn="l">
              <a:buNone/>
            </a:pPr>
            <a:r>
              <a:rPr lang="en-US" sz="960" b="1" dirty="0">
                <a:solidFill>
                  <a:srgbClr val="1F2937"/>
                </a:solidFill>
                <a:latin typeface="Aptos" pitchFamily="34" charset="0"/>
                <a:ea typeface="Aptos" pitchFamily="34" charset="-122"/>
                <a:cs typeface="Aptos" pitchFamily="34" charset="-120"/>
              </a:rPr>
              <a:t>Precision</a:t>
            </a:r>
            <a:endParaRPr lang="en-US" sz="960" dirty="0"/>
          </a:p>
        </p:txBody>
      </p:sp>
      <p:sp>
        <p:nvSpPr>
          <p:cNvPr id="16" name="Text 13"/>
          <p:cNvSpPr/>
          <p:nvPr/>
        </p:nvSpPr>
        <p:spPr>
          <a:xfrm>
            <a:off x="2639764" y="1714500"/>
            <a:ext cx="4165134"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Dari semua prediksi Ya, berapa yang benar-benar Ya?</a:t>
            </a:r>
            <a:endParaRPr lang="en-US" sz="960" dirty="0"/>
          </a:p>
        </p:txBody>
      </p:sp>
      <p:sp>
        <p:nvSpPr>
          <p:cNvPr id="17" name="Text 14"/>
          <p:cNvSpPr/>
          <p:nvPr/>
        </p:nvSpPr>
        <p:spPr>
          <a:xfrm>
            <a:off x="6896338" y="1714500"/>
            <a:ext cx="4561094"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Mengukur ketepatan prediksi positif</a:t>
            </a:r>
            <a:endParaRPr lang="en-US" sz="960" dirty="0"/>
          </a:p>
        </p:txBody>
      </p:sp>
      <p:sp>
        <p:nvSpPr>
          <p:cNvPr id="18" name="Shape 15"/>
          <p:cNvSpPr/>
          <p:nvPr/>
        </p:nvSpPr>
        <p:spPr>
          <a:xfrm>
            <a:off x="713232" y="2221992"/>
            <a:ext cx="10789920" cy="539496"/>
          </a:xfrm>
          <a:prstGeom prst="rect">
            <a:avLst/>
          </a:prstGeom>
          <a:solidFill>
            <a:srgbClr val="F3F9FF"/>
          </a:solidFill>
          <a:ln w="6350">
            <a:solidFill>
              <a:srgbClr val="D6E4F2"/>
            </a:solidFill>
            <a:prstDash val="solid"/>
          </a:ln>
        </p:spPr>
      </p:sp>
      <p:sp>
        <p:nvSpPr>
          <p:cNvPr id="19" name="Text 16"/>
          <p:cNvSpPr/>
          <p:nvPr/>
        </p:nvSpPr>
        <p:spPr>
          <a:xfrm>
            <a:off x="758952" y="2253996"/>
            <a:ext cx="1789372" cy="475488"/>
          </a:xfrm>
          <a:prstGeom prst="rect">
            <a:avLst/>
          </a:prstGeom>
          <a:noFill/>
          <a:ln/>
        </p:spPr>
        <p:txBody>
          <a:bodyPr wrap="square" lIns="127" tIns="127" rIns="127" bIns="127" rtlCol="0" anchor="ctr">
            <a:normAutofit/>
          </a:bodyPr>
          <a:lstStyle/>
          <a:p>
            <a:pPr marL="0" indent="0" algn="l">
              <a:buNone/>
            </a:pPr>
            <a:r>
              <a:rPr lang="en-US" sz="960" b="1" dirty="0">
                <a:solidFill>
                  <a:srgbClr val="1F2937"/>
                </a:solidFill>
                <a:latin typeface="Aptos" pitchFamily="34" charset="0"/>
                <a:ea typeface="Aptos" pitchFamily="34" charset="-122"/>
                <a:cs typeface="Aptos" pitchFamily="34" charset="-120"/>
              </a:rPr>
              <a:t>Recall</a:t>
            </a:r>
            <a:endParaRPr lang="en-US" sz="960" dirty="0"/>
          </a:p>
        </p:txBody>
      </p:sp>
      <p:sp>
        <p:nvSpPr>
          <p:cNvPr id="20" name="Text 17"/>
          <p:cNvSpPr/>
          <p:nvPr/>
        </p:nvSpPr>
        <p:spPr>
          <a:xfrm>
            <a:off x="2639764" y="2253996"/>
            <a:ext cx="4165134"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Dari semua data aktual Ya, berapa yang berhasil ditemukan?</a:t>
            </a:r>
            <a:endParaRPr lang="en-US" sz="960" dirty="0"/>
          </a:p>
        </p:txBody>
      </p:sp>
      <p:sp>
        <p:nvSpPr>
          <p:cNvPr id="21" name="Text 18"/>
          <p:cNvSpPr/>
          <p:nvPr/>
        </p:nvSpPr>
        <p:spPr>
          <a:xfrm>
            <a:off x="6896338" y="2253996"/>
            <a:ext cx="4561094"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Mengukur kemampuan menangkap kelas positif</a:t>
            </a:r>
            <a:endParaRPr lang="en-US" sz="960" dirty="0"/>
          </a:p>
        </p:txBody>
      </p:sp>
      <p:sp>
        <p:nvSpPr>
          <p:cNvPr id="22" name="Shape 19"/>
          <p:cNvSpPr/>
          <p:nvPr/>
        </p:nvSpPr>
        <p:spPr>
          <a:xfrm>
            <a:off x="713232" y="2761488"/>
            <a:ext cx="10789920" cy="539496"/>
          </a:xfrm>
          <a:prstGeom prst="rect">
            <a:avLst/>
          </a:prstGeom>
          <a:solidFill>
            <a:srgbClr val="FFFFFF"/>
          </a:solidFill>
          <a:ln w="6350">
            <a:solidFill>
              <a:srgbClr val="D6E4F2"/>
            </a:solidFill>
            <a:prstDash val="solid"/>
          </a:ln>
        </p:spPr>
      </p:sp>
      <p:sp>
        <p:nvSpPr>
          <p:cNvPr id="23" name="Text 20"/>
          <p:cNvSpPr/>
          <p:nvPr/>
        </p:nvSpPr>
        <p:spPr>
          <a:xfrm>
            <a:off x="758952" y="2793492"/>
            <a:ext cx="1789372" cy="475488"/>
          </a:xfrm>
          <a:prstGeom prst="rect">
            <a:avLst/>
          </a:prstGeom>
          <a:noFill/>
          <a:ln/>
        </p:spPr>
        <p:txBody>
          <a:bodyPr wrap="square" lIns="127" tIns="127" rIns="127" bIns="127" rtlCol="0" anchor="ctr">
            <a:normAutofit/>
          </a:bodyPr>
          <a:lstStyle/>
          <a:p>
            <a:pPr marL="0" indent="0" algn="l">
              <a:buNone/>
            </a:pPr>
            <a:r>
              <a:rPr lang="en-US" sz="960" b="1" dirty="0">
                <a:solidFill>
                  <a:srgbClr val="1F2937"/>
                </a:solidFill>
                <a:latin typeface="Aptos" pitchFamily="34" charset="0"/>
                <a:ea typeface="Aptos" pitchFamily="34" charset="-122"/>
                <a:cs typeface="Aptos" pitchFamily="34" charset="-120"/>
              </a:rPr>
              <a:t>F1 Ya / Tidak</a:t>
            </a:r>
            <a:endParaRPr lang="en-US" sz="960" dirty="0"/>
          </a:p>
        </p:txBody>
      </p:sp>
      <p:sp>
        <p:nvSpPr>
          <p:cNvPr id="24" name="Text 21"/>
          <p:cNvSpPr/>
          <p:nvPr/>
        </p:nvSpPr>
        <p:spPr>
          <a:xfrm>
            <a:off x="2639764" y="2793492"/>
            <a:ext cx="4165134"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Gabungan precision dan recall pada tiap kelas</a:t>
            </a:r>
            <a:endParaRPr lang="en-US" sz="960" dirty="0"/>
          </a:p>
        </p:txBody>
      </p:sp>
      <p:sp>
        <p:nvSpPr>
          <p:cNvPr id="25" name="Text 22"/>
          <p:cNvSpPr/>
          <p:nvPr/>
        </p:nvSpPr>
        <p:spPr>
          <a:xfrm>
            <a:off x="6896338" y="2793492"/>
            <a:ext cx="4561094"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Melihat apakah model adil terhadap dua kelas</a:t>
            </a:r>
            <a:endParaRPr lang="en-US" sz="960" dirty="0"/>
          </a:p>
        </p:txBody>
      </p:sp>
      <p:sp>
        <p:nvSpPr>
          <p:cNvPr id="26" name="Shape 23"/>
          <p:cNvSpPr/>
          <p:nvPr/>
        </p:nvSpPr>
        <p:spPr>
          <a:xfrm>
            <a:off x="713232" y="3300984"/>
            <a:ext cx="10789920" cy="539496"/>
          </a:xfrm>
          <a:prstGeom prst="rect">
            <a:avLst/>
          </a:prstGeom>
          <a:solidFill>
            <a:srgbClr val="F3F9FF"/>
          </a:solidFill>
          <a:ln w="6350">
            <a:solidFill>
              <a:srgbClr val="D6E4F2"/>
            </a:solidFill>
            <a:prstDash val="solid"/>
          </a:ln>
        </p:spPr>
      </p:sp>
      <p:sp>
        <p:nvSpPr>
          <p:cNvPr id="27" name="Text 24"/>
          <p:cNvSpPr/>
          <p:nvPr/>
        </p:nvSpPr>
        <p:spPr>
          <a:xfrm>
            <a:off x="758952" y="3332988"/>
            <a:ext cx="1789372" cy="475488"/>
          </a:xfrm>
          <a:prstGeom prst="rect">
            <a:avLst/>
          </a:prstGeom>
          <a:noFill/>
          <a:ln/>
        </p:spPr>
        <p:txBody>
          <a:bodyPr wrap="square" lIns="127" tIns="127" rIns="127" bIns="127" rtlCol="0" anchor="ctr">
            <a:normAutofit/>
          </a:bodyPr>
          <a:lstStyle/>
          <a:p>
            <a:pPr marL="0" indent="0" algn="l">
              <a:buNone/>
            </a:pPr>
            <a:r>
              <a:rPr lang="en-US" sz="960" b="1" dirty="0">
                <a:solidFill>
                  <a:srgbClr val="1F2937"/>
                </a:solidFill>
                <a:latin typeface="Aptos" pitchFamily="34" charset="0"/>
                <a:ea typeface="Aptos" pitchFamily="34" charset="-122"/>
                <a:cs typeface="Aptos" pitchFamily="34" charset="-120"/>
              </a:rPr>
              <a:t>F1 Macro</a:t>
            </a:r>
            <a:endParaRPr lang="en-US" sz="960" dirty="0"/>
          </a:p>
        </p:txBody>
      </p:sp>
      <p:sp>
        <p:nvSpPr>
          <p:cNvPr id="28" name="Text 25"/>
          <p:cNvSpPr/>
          <p:nvPr/>
        </p:nvSpPr>
        <p:spPr>
          <a:xfrm>
            <a:off x="2639764" y="3332988"/>
            <a:ext cx="4165134"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Rata-rata F1 kelas Ya dan Tidak</a:t>
            </a:r>
            <a:endParaRPr lang="en-US" sz="960" dirty="0"/>
          </a:p>
        </p:txBody>
      </p:sp>
      <p:sp>
        <p:nvSpPr>
          <p:cNvPr id="29" name="Text 26"/>
          <p:cNvSpPr/>
          <p:nvPr/>
        </p:nvSpPr>
        <p:spPr>
          <a:xfrm>
            <a:off x="6896338" y="3332988"/>
            <a:ext cx="4561094"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Pembanding utama saat data tidak seimbang</a:t>
            </a:r>
            <a:endParaRPr lang="en-US" sz="960" dirty="0"/>
          </a:p>
        </p:txBody>
      </p:sp>
      <p:sp>
        <p:nvSpPr>
          <p:cNvPr id="30" name="Shape 27"/>
          <p:cNvSpPr/>
          <p:nvPr/>
        </p:nvSpPr>
        <p:spPr>
          <a:xfrm>
            <a:off x="713232" y="3840480"/>
            <a:ext cx="10789920" cy="539496"/>
          </a:xfrm>
          <a:prstGeom prst="rect">
            <a:avLst/>
          </a:prstGeom>
          <a:solidFill>
            <a:srgbClr val="FFFFFF"/>
          </a:solidFill>
          <a:ln w="6350">
            <a:solidFill>
              <a:srgbClr val="D6E4F2"/>
            </a:solidFill>
            <a:prstDash val="solid"/>
          </a:ln>
        </p:spPr>
      </p:sp>
      <p:sp>
        <p:nvSpPr>
          <p:cNvPr id="31" name="Text 28"/>
          <p:cNvSpPr/>
          <p:nvPr/>
        </p:nvSpPr>
        <p:spPr>
          <a:xfrm>
            <a:off x="758952" y="3872484"/>
            <a:ext cx="1789372" cy="475488"/>
          </a:xfrm>
          <a:prstGeom prst="rect">
            <a:avLst/>
          </a:prstGeom>
          <a:noFill/>
          <a:ln/>
        </p:spPr>
        <p:txBody>
          <a:bodyPr wrap="square" lIns="127" tIns="127" rIns="127" bIns="127" rtlCol="0" anchor="ctr">
            <a:normAutofit/>
          </a:bodyPr>
          <a:lstStyle/>
          <a:p>
            <a:pPr marL="0" indent="0" algn="l">
              <a:buNone/>
            </a:pPr>
            <a:r>
              <a:rPr lang="en-US" sz="960" b="1" dirty="0">
                <a:solidFill>
                  <a:srgbClr val="1F2937"/>
                </a:solidFill>
                <a:latin typeface="Aptos" pitchFamily="34" charset="0"/>
                <a:ea typeface="Aptos" pitchFamily="34" charset="-122"/>
                <a:cs typeface="Aptos" pitchFamily="34" charset="-120"/>
              </a:rPr>
              <a:t>Accuracy</a:t>
            </a:r>
            <a:endParaRPr lang="en-US" sz="960" dirty="0"/>
          </a:p>
        </p:txBody>
      </p:sp>
      <p:sp>
        <p:nvSpPr>
          <p:cNvPr id="32" name="Text 29"/>
          <p:cNvSpPr/>
          <p:nvPr/>
        </p:nvSpPr>
        <p:spPr>
          <a:xfrm>
            <a:off x="2639764" y="3872484"/>
            <a:ext cx="4165134"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Proporsi prediksi benar secara total</a:t>
            </a:r>
            <a:endParaRPr lang="en-US" sz="960" dirty="0"/>
          </a:p>
        </p:txBody>
      </p:sp>
      <p:sp>
        <p:nvSpPr>
          <p:cNvPr id="33" name="Text 30"/>
          <p:cNvSpPr/>
          <p:nvPr/>
        </p:nvSpPr>
        <p:spPr>
          <a:xfrm>
            <a:off x="6896338" y="3872484"/>
            <a:ext cx="4561094"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Tetap dibaca, tetapi bukan satu-satunya dasar</a:t>
            </a:r>
            <a:endParaRPr lang="en-US" sz="960" dirty="0"/>
          </a:p>
        </p:txBody>
      </p:sp>
      <p:sp>
        <p:nvSpPr>
          <p:cNvPr id="34" name="Shape 31"/>
          <p:cNvSpPr/>
          <p:nvPr/>
        </p:nvSpPr>
        <p:spPr>
          <a:xfrm>
            <a:off x="713232" y="4800600"/>
            <a:ext cx="5166360" cy="914400"/>
          </a:xfrm>
          <a:prstGeom prst="roundRect">
            <a:avLst/>
          </a:prstGeom>
          <a:solidFill>
            <a:srgbClr val="FFF0F3"/>
          </a:solidFill>
          <a:ln w="12700">
            <a:solidFill>
              <a:srgbClr val="C9DFFF"/>
            </a:solidFill>
            <a:prstDash val="solid"/>
          </a:ln>
          <a:effectLst>
            <a:outerShdw blurRad="12700" dist="50800" dir="2700000" algn="bl" rotWithShape="0">
              <a:srgbClr val="B8C8DA">
                <a:alpha val="10000"/>
              </a:srgbClr>
            </a:outerShdw>
          </a:effectLst>
        </p:spPr>
      </p:sp>
      <p:sp>
        <p:nvSpPr>
          <p:cNvPr id="35" name="Text 32"/>
          <p:cNvSpPr/>
          <p:nvPr/>
        </p:nvSpPr>
        <p:spPr>
          <a:xfrm>
            <a:off x="877824" y="4946904"/>
            <a:ext cx="4837176" cy="219456"/>
          </a:xfrm>
          <a:prstGeom prst="rect">
            <a:avLst/>
          </a:prstGeom>
          <a:noFill/>
          <a:ln/>
        </p:spPr>
        <p:txBody>
          <a:bodyPr wrap="square" lIns="0" tIns="0" rIns="0" bIns="0" rtlCol="0" anchor="t">
            <a:normAutofit/>
          </a:bodyPr>
          <a:lstStyle/>
          <a:p>
            <a:pPr marL="0" indent="0" algn="l">
              <a:buNone/>
            </a:pPr>
            <a:r>
              <a:rPr lang="en-US" sz="1200" b="1" dirty="0">
                <a:solidFill>
                  <a:srgbClr val="D1495B"/>
                </a:solidFill>
                <a:latin typeface="Aptos" pitchFamily="34" charset="0"/>
                <a:ea typeface="Aptos" pitchFamily="34" charset="-122"/>
                <a:cs typeface="Aptos" pitchFamily="34" charset="-120"/>
              </a:rPr>
              <a:t>Contoh logika</a:t>
            </a:r>
            <a:endParaRPr lang="en-US" sz="1200" dirty="0"/>
          </a:p>
        </p:txBody>
      </p:sp>
      <p:sp>
        <p:nvSpPr>
          <p:cNvPr id="36" name="Text 33"/>
          <p:cNvSpPr/>
          <p:nvPr/>
        </p:nvSpPr>
        <p:spPr>
          <a:xfrm>
            <a:off x="877824" y="5239512"/>
            <a:ext cx="4837176" cy="38404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Jika kelas Ya jauh lebih banyak, model bisa terlihat akurat dengan sering menebak Ya. F1 Macro mencegah kesimpulan seperti ini karena kelas minoritas tetap dihitung.</a:t>
            </a:r>
            <a:endParaRPr lang="en-US" sz="1100" dirty="0"/>
          </a:p>
        </p:txBody>
      </p:sp>
      <p:sp>
        <p:nvSpPr>
          <p:cNvPr id="37" name="Shape 34"/>
          <p:cNvSpPr/>
          <p:nvPr/>
        </p:nvSpPr>
        <p:spPr>
          <a:xfrm>
            <a:off x="6291072" y="4800600"/>
            <a:ext cx="5166360" cy="914400"/>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38" name="Text 35"/>
          <p:cNvSpPr/>
          <p:nvPr/>
        </p:nvSpPr>
        <p:spPr>
          <a:xfrm>
            <a:off x="6455664" y="4946904"/>
            <a:ext cx="4837176"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Patokan interpretasi</a:t>
            </a:r>
            <a:endParaRPr lang="en-US" sz="1200" dirty="0"/>
          </a:p>
        </p:txBody>
      </p:sp>
      <p:sp>
        <p:nvSpPr>
          <p:cNvPr id="39" name="Text 36"/>
          <p:cNvSpPr/>
          <p:nvPr/>
        </p:nvSpPr>
        <p:spPr>
          <a:xfrm>
            <a:off x="6455664" y="5239512"/>
            <a:ext cx="4837176" cy="38404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Model dengan F1 Macro lebih tinggi biasanya lebih seimbang. Jika F1 Ya tinggi tetapi F1 Tidak rendah, berarti model bias pada kelas Ya.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11</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Hasil Skenario A: Prediksi AISelect</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AI Tools umum</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731520" y="1143000"/>
            <a:ext cx="4709160" cy="214884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sp>
        <p:nvSpPr>
          <p:cNvPr id="11" name="Text 8"/>
          <p:cNvSpPr/>
          <p:nvPr/>
        </p:nvSpPr>
        <p:spPr>
          <a:xfrm>
            <a:off x="914400" y="1298448"/>
            <a:ext cx="4343400" cy="256032"/>
          </a:xfrm>
          <a:prstGeom prst="rect">
            <a:avLst/>
          </a:prstGeom>
          <a:noFill/>
          <a:ln/>
        </p:spPr>
        <p:txBody>
          <a:bodyPr wrap="square" lIns="0" tIns="0" rIns="0" bIns="0" rtlCol="0" anchor="t">
            <a:normAutofit/>
          </a:bodyPr>
          <a:lstStyle/>
          <a:p>
            <a:pPr marL="0" indent="0" algn="l">
              <a:buNone/>
            </a:pPr>
            <a:r>
              <a:rPr lang="en-US" sz="1250" b="1" dirty="0">
                <a:solidFill>
                  <a:srgbClr val="1F2937"/>
                </a:solidFill>
                <a:latin typeface="Aptos" pitchFamily="34" charset="0"/>
                <a:ea typeface="Aptos" pitchFamily="34" charset="-122"/>
                <a:cs typeface="Aptos" pitchFamily="34" charset="-120"/>
              </a:rPr>
              <a:t>F1 Macro AISelect</a:t>
            </a:r>
            <a:endParaRPr lang="en-US" sz="1250" dirty="0"/>
          </a:p>
        </p:txBody>
      </p:sp>
      <p:sp>
        <p:nvSpPr>
          <p:cNvPr id="12" name="Text 9"/>
          <p:cNvSpPr/>
          <p:nvPr/>
        </p:nvSpPr>
        <p:spPr>
          <a:xfrm>
            <a:off x="960120" y="1783080"/>
            <a:ext cx="1600200" cy="228600"/>
          </a:xfrm>
          <a:prstGeom prst="rect">
            <a:avLst/>
          </a:prstGeom>
          <a:noFill/>
          <a:ln/>
        </p:spPr>
        <p:txBody>
          <a:bodyPr wrap="square" lIns="0" tIns="0" rIns="0" bIns="0" rtlCol="0" anchor="t">
            <a:normAutofit/>
          </a:bodyPr>
          <a:lstStyle/>
          <a:p>
            <a:pPr marL="0" indent="0" algn="l">
              <a:buNone/>
            </a:pPr>
            <a:r>
              <a:rPr lang="en-US" sz="920" dirty="0">
                <a:solidFill>
                  <a:srgbClr val="5E6B7A"/>
                </a:solidFill>
                <a:latin typeface="Aptos" pitchFamily="34" charset="0"/>
                <a:ea typeface="Aptos" pitchFamily="34" charset="-122"/>
                <a:cs typeface="Aptos" pitchFamily="34" charset="-120"/>
              </a:rPr>
              <a:t>Logistic Regression</a:t>
            </a:r>
            <a:endParaRPr lang="en-US" sz="920" dirty="0"/>
          </a:p>
        </p:txBody>
      </p:sp>
      <p:sp>
        <p:nvSpPr>
          <p:cNvPr id="13" name="Shape 10"/>
          <p:cNvSpPr/>
          <p:nvPr/>
        </p:nvSpPr>
        <p:spPr>
          <a:xfrm>
            <a:off x="2697480" y="1828800"/>
            <a:ext cx="1920240" cy="146304"/>
          </a:xfrm>
          <a:prstGeom prst="rect">
            <a:avLst/>
          </a:prstGeom>
          <a:solidFill>
            <a:srgbClr val="E8EEF6"/>
          </a:solidFill>
          <a:ln w="12700">
            <a:solidFill>
              <a:srgbClr val="E8EEF6"/>
            </a:solidFill>
            <a:prstDash val="solid"/>
          </a:ln>
        </p:spPr>
      </p:sp>
      <p:sp>
        <p:nvSpPr>
          <p:cNvPr id="14" name="Shape 11"/>
          <p:cNvSpPr/>
          <p:nvPr/>
        </p:nvSpPr>
        <p:spPr>
          <a:xfrm>
            <a:off x="2697480" y="1828800"/>
            <a:ext cx="1881597" cy="146304"/>
          </a:xfrm>
          <a:prstGeom prst="rect">
            <a:avLst/>
          </a:prstGeom>
          <a:solidFill>
            <a:srgbClr val="2563EB"/>
          </a:solidFill>
          <a:ln w="12700">
            <a:solidFill>
              <a:srgbClr val="2563EB"/>
            </a:solidFill>
            <a:prstDash val="solid"/>
          </a:ln>
        </p:spPr>
      </p:sp>
      <p:sp>
        <p:nvSpPr>
          <p:cNvPr id="15" name="Text 12"/>
          <p:cNvSpPr/>
          <p:nvPr/>
        </p:nvSpPr>
        <p:spPr>
          <a:xfrm>
            <a:off x="4800600" y="1773936"/>
            <a:ext cx="502920" cy="201168"/>
          </a:xfrm>
          <a:prstGeom prst="rect">
            <a:avLst/>
          </a:prstGeom>
          <a:noFill/>
          <a:ln/>
        </p:spPr>
        <p:txBody>
          <a:bodyPr wrap="square" lIns="0" tIns="0" rIns="0" bIns="0" rtlCol="0" anchor="t">
            <a:normAutofit/>
          </a:bodyPr>
          <a:lstStyle/>
          <a:p>
            <a:pPr marL="0" indent="0" algn="r">
              <a:buNone/>
            </a:pPr>
            <a:r>
              <a:rPr lang="en-US" sz="870" b="1" dirty="0">
                <a:solidFill>
                  <a:srgbClr val="1F2937"/>
                </a:solidFill>
                <a:latin typeface="Aptos" pitchFamily="34" charset="0"/>
                <a:ea typeface="Aptos" pitchFamily="34" charset="-122"/>
                <a:cs typeface="Aptos" pitchFamily="34" charset="-120"/>
              </a:rPr>
              <a:t>0.7742</a:t>
            </a:r>
            <a:endParaRPr lang="en-US" sz="870" dirty="0"/>
          </a:p>
        </p:txBody>
      </p:sp>
      <p:sp>
        <p:nvSpPr>
          <p:cNvPr id="16" name="Text 13"/>
          <p:cNvSpPr/>
          <p:nvPr/>
        </p:nvSpPr>
        <p:spPr>
          <a:xfrm>
            <a:off x="960120" y="2218944"/>
            <a:ext cx="1600200" cy="228600"/>
          </a:xfrm>
          <a:prstGeom prst="rect">
            <a:avLst/>
          </a:prstGeom>
          <a:noFill/>
          <a:ln/>
        </p:spPr>
        <p:txBody>
          <a:bodyPr wrap="square" lIns="0" tIns="0" rIns="0" bIns="0" rtlCol="0" anchor="t">
            <a:normAutofit/>
          </a:bodyPr>
          <a:lstStyle/>
          <a:p>
            <a:pPr marL="0" indent="0" algn="l">
              <a:buNone/>
            </a:pPr>
            <a:r>
              <a:rPr lang="en-US" sz="920" dirty="0">
                <a:solidFill>
                  <a:srgbClr val="5E6B7A"/>
                </a:solidFill>
                <a:latin typeface="Aptos" pitchFamily="34" charset="0"/>
                <a:ea typeface="Aptos" pitchFamily="34" charset="-122"/>
                <a:cs typeface="Aptos" pitchFamily="34" charset="-120"/>
              </a:rPr>
              <a:t>Random Forest</a:t>
            </a:r>
            <a:endParaRPr lang="en-US" sz="920" dirty="0"/>
          </a:p>
        </p:txBody>
      </p:sp>
      <p:sp>
        <p:nvSpPr>
          <p:cNvPr id="17" name="Shape 14"/>
          <p:cNvSpPr/>
          <p:nvPr/>
        </p:nvSpPr>
        <p:spPr>
          <a:xfrm>
            <a:off x="2697480" y="2264664"/>
            <a:ext cx="1920240" cy="146304"/>
          </a:xfrm>
          <a:prstGeom prst="rect">
            <a:avLst/>
          </a:prstGeom>
          <a:solidFill>
            <a:srgbClr val="E8EEF6"/>
          </a:solidFill>
          <a:ln w="12700">
            <a:solidFill>
              <a:srgbClr val="E8EEF6"/>
            </a:solidFill>
            <a:prstDash val="solid"/>
          </a:ln>
        </p:spPr>
      </p:sp>
      <p:sp>
        <p:nvSpPr>
          <p:cNvPr id="18" name="Shape 15"/>
          <p:cNvSpPr/>
          <p:nvPr/>
        </p:nvSpPr>
        <p:spPr>
          <a:xfrm>
            <a:off x="2697480" y="2264664"/>
            <a:ext cx="1897881" cy="146304"/>
          </a:xfrm>
          <a:prstGeom prst="rect">
            <a:avLst/>
          </a:prstGeom>
          <a:solidFill>
            <a:srgbClr val="2563EB"/>
          </a:solidFill>
          <a:ln w="12700">
            <a:solidFill>
              <a:srgbClr val="2563EB"/>
            </a:solidFill>
            <a:prstDash val="solid"/>
          </a:ln>
        </p:spPr>
      </p:sp>
      <p:sp>
        <p:nvSpPr>
          <p:cNvPr id="19" name="Text 16"/>
          <p:cNvSpPr/>
          <p:nvPr/>
        </p:nvSpPr>
        <p:spPr>
          <a:xfrm>
            <a:off x="4800600" y="2209800"/>
            <a:ext cx="502920" cy="201168"/>
          </a:xfrm>
          <a:prstGeom prst="rect">
            <a:avLst/>
          </a:prstGeom>
          <a:noFill/>
          <a:ln/>
        </p:spPr>
        <p:txBody>
          <a:bodyPr wrap="square" lIns="0" tIns="0" rIns="0" bIns="0" rtlCol="0" anchor="t">
            <a:normAutofit/>
          </a:bodyPr>
          <a:lstStyle/>
          <a:p>
            <a:pPr marL="0" indent="0" algn="r">
              <a:buNone/>
            </a:pPr>
            <a:r>
              <a:rPr lang="en-US" sz="870" b="1" dirty="0">
                <a:solidFill>
                  <a:srgbClr val="1F2937"/>
                </a:solidFill>
                <a:latin typeface="Aptos" pitchFamily="34" charset="0"/>
                <a:ea typeface="Aptos" pitchFamily="34" charset="-122"/>
                <a:cs typeface="Aptos" pitchFamily="34" charset="-120"/>
              </a:rPr>
              <a:t>0.7809</a:t>
            </a:r>
            <a:endParaRPr lang="en-US" sz="870" dirty="0"/>
          </a:p>
        </p:txBody>
      </p:sp>
      <p:sp>
        <p:nvSpPr>
          <p:cNvPr id="20" name="Text 17"/>
          <p:cNvSpPr/>
          <p:nvPr/>
        </p:nvSpPr>
        <p:spPr>
          <a:xfrm>
            <a:off x="960120" y="2654808"/>
            <a:ext cx="1600200" cy="228600"/>
          </a:xfrm>
          <a:prstGeom prst="rect">
            <a:avLst/>
          </a:prstGeom>
          <a:noFill/>
          <a:ln/>
        </p:spPr>
        <p:txBody>
          <a:bodyPr wrap="square" lIns="0" tIns="0" rIns="0" bIns="0" rtlCol="0" anchor="t">
            <a:normAutofit/>
          </a:bodyPr>
          <a:lstStyle/>
          <a:p>
            <a:pPr marL="0" indent="0" algn="l">
              <a:buNone/>
            </a:pPr>
            <a:r>
              <a:rPr lang="en-US" sz="920" dirty="0">
                <a:solidFill>
                  <a:srgbClr val="5E6B7A"/>
                </a:solidFill>
                <a:latin typeface="Aptos" pitchFamily="34" charset="0"/>
                <a:ea typeface="Aptos" pitchFamily="34" charset="-122"/>
                <a:cs typeface="Aptos" pitchFamily="34" charset="-120"/>
              </a:rPr>
              <a:t>CatBoost</a:t>
            </a:r>
            <a:endParaRPr lang="en-US" sz="920" dirty="0"/>
          </a:p>
        </p:txBody>
      </p:sp>
      <p:sp>
        <p:nvSpPr>
          <p:cNvPr id="21" name="Shape 18"/>
          <p:cNvSpPr/>
          <p:nvPr/>
        </p:nvSpPr>
        <p:spPr>
          <a:xfrm>
            <a:off x="2697480" y="2700528"/>
            <a:ext cx="1920240" cy="146304"/>
          </a:xfrm>
          <a:prstGeom prst="rect">
            <a:avLst/>
          </a:prstGeom>
          <a:solidFill>
            <a:srgbClr val="E8EEF6"/>
          </a:solidFill>
          <a:ln w="12700">
            <a:solidFill>
              <a:srgbClr val="E8EEF6"/>
            </a:solidFill>
            <a:prstDash val="solid"/>
          </a:ln>
        </p:spPr>
      </p:sp>
      <p:sp>
        <p:nvSpPr>
          <p:cNvPr id="22" name="Shape 19"/>
          <p:cNvSpPr/>
          <p:nvPr/>
        </p:nvSpPr>
        <p:spPr>
          <a:xfrm>
            <a:off x="2697480" y="2700528"/>
            <a:ext cx="1920240" cy="146304"/>
          </a:xfrm>
          <a:prstGeom prst="rect">
            <a:avLst/>
          </a:prstGeom>
          <a:solidFill>
            <a:srgbClr val="2563EB"/>
          </a:solidFill>
          <a:ln w="12700">
            <a:solidFill>
              <a:srgbClr val="2563EB"/>
            </a:solidFill>
            <a:prstDash val="solid"/>
          </a:ln>
        </p:spPr>
      </p:sp>
      <p:sp>
        <p:nvSpPr>
          <p:cNvPr id="23" name="Text 20"/>
          <p:cNvSpPr/>
          <p:nvPr/>
        </p:nvSpPr>
        <p:spPr>
          <a:xfrm>
            <a:off x="4800600" y="2645664"/>
            <a:ext cx="502920" cy="201168"/>
          </a:xfrm>
          <a:prstGeom prst="rect">
            <a:avLst/>
          </a:prstGeom>
          <a:noFill/>
          <a:ln/>
        </p:spPr>
        <p:txBody>
          <a:bodyPr wrap="square" lIns="0" tIns="0" rIns="0" bIns="0" rtlCol="0" anchor="t">
            <a:normAutofit/>
          </a:bodyPr>
          <a:lstStyle/>
          <a:p>
            <a:pPr marL="0" indent="0" algn="r">
              <a:buNone/>
            </a:pPr>
            <a:r>
              <a:rPr lang="en-US" sz="870" b="1" dirty="0">
                <a:solidFill>
                  <a:srgbClr val="1F2937"/>
                </a:solidFill>
                <a:latin typeface="Aptos" pitchFamily="34" charset="0"/>
                <a:ea typeface="Aptos" pitchFamily="34" charset="-122"/>
                <a:cs typeface="Aptos" pitchFamily="34" charset="-120"/>
              </a:rPr>
              <a:t>0.7901</a:t>
            </a:r>
            <a:endParaRPr lang="en-US" sz="870" dirty="0"/>
          </a:p>
        </p:txBody>
      </p:sp>
      <p:sp>
        <p:nvSpPr>
          <p:cNvPr id="24" name="Shape 21"/>
          <p:cNvSpPr/>
          <p:nvPr/>
        </p:nvSpPr>
        <p:spPr>
          <a:xfrm>
            <a:off x="5806440" y="1143000"/>
            <a:ext cx="5349240" cy="429768"/>
          </a:xfrm>
          <a:prstGeom prst="rect">
            <a:avLst/>
          </a:prstGeom>
          <a:solidFill>
            <a:srgbClr val="1D4ED8"/>
          </a:solidFill>
          <a:ln w="6350">
            <a:solidFill>
              <a:srgbClr val="D6E4F2"/>
            </a:solidFill>
            <a:prstDash val="solid"/>
          </a:ln>
        </p:spPr>
      </p:sp>
      <p:sp>
        <p:nvSpPr>
          <p:cNvPr id="25" name="Text 22"/>
          <p:cNvSpPr/>
          <p:nvPr/>
        </p:nvSpPr>
        <p:spPr>
          <a:xfrm>
            <a:off x="5852160" y="1175004"/>
            <a:ext cx="1806677" cy="365760"/>
          </a:xfrm>
          <a:prstGeom prst="rect">
            <a:avLst/>
          </a:prstGeom>
          <a:noFill/>
          <a:ln/>
        </p:spPr>
        <p:txBody>
          <a:bodyPr wrap="square" lIns="127" tIns="127" rIns="127" bIns="127" rtlCol="0" anchor="ctr">
            <a:normAutofit/>
          </a:bodyPr>
          <a:lstStyle/>
          <a:p>
            <a:pPr marL="0" indent="0" algn="l">
              <a:buNone/>
            </a:pPr>
            <a:r>
              <a:rPr lang="en-US" sz="880" b="1" dirty="0">
                <a:solidFill>
                  <a:srgbClr val="FFFFFF"/>
                </a:solidFill>
                <a:latin typeface="Aptos" pitchFamily="34" charset="0"/>
                <a:ea typeface="Aptos" pitchFamily="34" charset="-122"/>
                <a:cs typeface="Aptos" pitchFamily="34" charset="-120"/>
              </a:rPr>
              <a:t>Model</a:t>
            </a:r>
            <a:endParaRPr lang="en-US" sz="880" dirty="0"/>
          </a:p>
        </p:txBody>
      </p:sp>
      <p:sp>
        <p:nvSpPr>
          <p:cNvPr id="26" name="Text 23"/>
          <p:cNvSpPr/>
          <p:nvPr/>
        </p:nvSpPr>
        <p:spPr>
          <a:xfrm>
            <a:off x="7750277" y="1175004"/>
            <a:ext cx="771341" cy="365760"/>
          </a:xfrm>
          <a:prstGeom prst="rect">
            <a:avLst/>
          </a:prstGeom>
          <a:noFill/>
          <a:ln/>
        </p:spPr>
        <p:txBody>
          <a:bodyPr wrap="square" lIns="127" tIns="127" rIns="127" bIns="127" rtlCol="0" anchor="ctr">
            <a:normAutofit/>
          </a:bodyPr>
          <a:lstStyle/>
          <a:p>
            <a:pPr marL="0" indent="0" algn="ctr">
              <a:buNone/>
            </a:pPr>
            <a:r>
              <a:rPr lang="en-US" sz="880" b="1" dirty="0">
                <a:solidFill>
                  <a:srgbClr val="FFFFFF"/>
                </a:solidFill>
                <a:latin typeface="Aptos" pitchFamily="34" charset="0"/>
                <a:ea typeface="Aptos" pitchFamily="34" charset="-122"/>
                <a:cs typeface="Aptos" pitchFamily="34" charset="-120"/>
              </a:rPr>
              <a:t>F1 Tidak</a:t>
            </a:r>
            <a:endParaRPr lang="en-US" sz="880" dirty="0"/>
          </a:p>
        </p:txBody>
      </p:sp>
      <p:sp>
        <p:nvSpPr>
          <p:cNvPr id="27" name="Text 24"/>
          <p:cNvSpPr/>
          <p:nvPr/>
        </p:nvSpPr>
        <p:spPr>
          <a:xfrm>
            <a:off x="8613058" y="1175004"/>
            <a:ext cx="771341" cy="365760"/>
          </a:xfrm>
          <a:prstGeom prst="rect">
            <a:avLst/>
          </a:prstGeom>
          <a:noFill/>
          <a:ln/>
        </p:spPr>
        <p:txBody>
          <a:bodyPr wrap="square" lIns="127" tIns="127" rIns="127" bIns="127" rtlCol="0" anchor="ctr">
            <a:normAutofit/>
          </a:bodyPr>
          <a:lstStyle/>
          <a:p>
            <a:pPr marL="0" indent="0" algn="ctr">
              <a:buNone/>
            </a:pPr>
            <a:r>
              <a:rPr lang="en-US" sz="880" b="1" dirty="0">
                <a:solidFill>
                  <a:srgbClr val="FFFFFF"/>
                </a:solidFill>
                <a:latin typeface="Aptos" pitchFamily="34" charset="0"/>
                <a:ea typeface="Aptos" pitchFamily="34" charset="-122"/>
                <a:cs typeface="Aptos" pitchFamily="34" charset="-120"/>
              </a:rPr>
              <a:t>F1 Ya</a:t>
            </a:r>
            <a:endParaRPr lang="en-US" sz="880" dirty="0"/>
          </a:p>
        </p:txBody>
      </p:sp>
      <p:sp>
        <p:nvSpPr>
          <p:cNvPr id="28" name="Text 25"/>
          <p:cNvSpPr/>
          <p:nvPr/>
        </p:nvSpPr>
        <p:spPr>
          <a:xfrm>
            <a:off x="9475839" y="1175004"/>
            <a:ext cx="771341" cy="365760"/>
          </a:xfrm>
          <a:prstGeom prst="rect">
            <a:avLst/>
          </a:prstGeom>
          <a:noFill/>
          <a:ln/>
        </p:spPr>
        <p:txBody>
          <a:bodyPr wrap="square" lIns="127" tIns="127" rIns="127" bIns="127" rtlCol="0" anchor="ctr">
            <a:normAutofit/>
          </a:bodyPr>
          <a:lstStyle/>
          <a:p>
            <a:pPr marL="0" indent="0" algn="ctr">
              <a:buNone/>
            </a:pPr>
            <a:r>
              <a:rPr lang="en-US" sz="880" b="1" dirty="0">
                <a:solidFill>
                  <a:srgbClr val="FFFFFF"/>
                </a:solidFill>
                <a:latin typeface="Aptos" pitchFamily="34" charset="0"/>
                <a:ea typeface="Aptos" pitchFamily="34" charset="-122"/>
                <a:cs typeface="Aptos" pitchFamily="34" charset="-120"/>
              </a:rPr>
              <a:t>F1 Macro</a:t>
            </a:r>
            <a:endParaRPr lang="en-US" sz="880" dirty="0"/>
          </a:p>
        </p:txBody>
      </p:sp>
      <p:sp>
        <p:nvSpPr>
          <p:cNvPr id="29" name="Text 26"/>
          <p:cNvSpPr/>
          <p:nvPr/>
        </p:nvSpPr>
        <p:spPr>
          <a:xfrm>
            <a:off x="10338619" y="1175004"/>
            <a:ext cx="771341" cy="365760"/>
          </a:xfrm>
          <a:prstGeom prst="rect">
            <a:avLst/>
          </a:prstGeom>
          <a:noFill/>
          <a:ln/>
        </p:spPr>
        <p:txBody>
          <a:bodyPr wrap="square" lIns="127" tIns="127" rIns="127" bIns="127" rtlCol="0" anchor="ctr">
            <a:normAutofit/>
          </a:bodyPr>
          <a:lstStyle/>
          <a:p>
            <a:pPr marL="0" indent="0" algn="ctr">
              <a:buNone/>
            </a:pPr>
            <a:r>
              <a:rPr lang="en-US" sz="880" b="1" dirty="0">
                <a:solidFill>
                  <a:srgbClr val="FFFFFF"/>
                </a:solidFill>
                <a:latin typeface="Aptos" pitchFamily="34" charset="0"/>
                <a:ea typeface="Aptos" pitchFamily="34" charset="-122"/>
                <a:cs typeface="Aptos" pitchFamily="34" charset="-120"/>
              </a:rPr>
              <a:t>Accuracy</a:t>
            </a:r>
            <a:endParaRPr lang="en-US" sz="880" dirty="0"/>
          </a:p>
        </p:txBody>
      </p:sp>
      <p:sp>
        <p:nvSpPr>
          <p:cNvPr id="30" name="Shape 27"/>
          <p:cNvSpPr/>
          <p:nvPr/>
        </p:nvSpPr>
        <p:spPr>
          <a:xfrm>
            <a:off x="5806440" y="1572768"/>
            <a:ext cx="5349240" cy="429768"/>
          </a:xfrm>
          <a:prstGeom prst="rect">
            <a:avLst/>
          </a:prstGeom>
          <a:solidFill>
            <a:srgbClr val="FFFFFF"/>
          </a:solidFill>
          <a:ln w="6350">
            <a:solidFill>
              <a:srgbClr val="D6E4F2"/>
            </a:solidFill>
            <a:prstDash val="solid"/>
          </a:ln>
        </p:spPr>
      </p:sp>
      <p:sp>
        <p:nvSpPr>
          <p:cNvPr id="31" name="Text 28"/>
          <p:cNvSpPr/>
          <p:nvPr/>
        </p:nvSpPr>
        <p:spPr>
          <a:xfrm>
            <a:off x="5852160" y="1604772"/>
            <a:ext cx="1806677" cy="365760"/>
          </a:xfrm>
          <a:prstGeom prst="rect">
            <a:avLst/>
          </a:prstGeom>
          <a:noFill/>
          <a:ln/>
        </p:spPr>
        <p:txBody>
          <a:bodyPr wrap="square" lIns="127" tIns="127" rIns="127" bIns="127" rtlCol="0" anchor="ctr">
            <a:normAutofit/>
          </a:bodyPr>
          <a:lstStyle/>
          <a:p>
            <a:pPr marL="0" indent="0" algn="l">
              <a:buNone/>
            </a:pPr>
            <a:r>
              <a:rPr lang="en-US" sz="880" b="1" dirty="0">
                <a:solidFill>
                  <a:srgbClr val="1F2937"/>
                </a:solidFill>
                <a:latin typeface="Aptos" pitchFamily="34" charset="0"/>
                <a:ea typeface="Aptos" pitchFamily="34" charset="-122"/>
                <a:cs typeface="Aptos" pitchFamily="34" charset="-120"/>
              </a:rPr>
              <a:t>CatBoost</a:t>
            </a:r>
            <a:endParaRPr lang="en-US" sz="880" dirty="0"/>
          </a:p>
        </p:txBody>
      </p:sp>
      <p:sp>
        <p:nvSpPr>
          <p:cNvPr id="32" name="Text 29"/>
          <p:cNvSpPr/>
          <p:nvPr/>
        </p:nvSpPr>
        <p:spPr>
          <a:xfrm>
            <a:off x="7750277" y="1604772"/>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0.6723</a:t>
            </a:r>
            <a:endParaRPr lang="en-US" sz="880" dirty="0"/>
          </a:p>
        </p:txBody>
      </p:sp>
      <p:sp>
        <p:nvSpPr>
          <p:cNvPr id="33" name="Text 30"/>
          <p:cNvSpPr/>
          <p:nvPr/>
        </p:nvSpPr>
        <p:spPr>
          <a:xfrm>
            <a:off x="8613058" y="1604772"/>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0.9079</a:t>
            </a:r>
            <a:endParaRPr lang="en-US" sz="880" dirty="0"/>
          </a:p>
        </p:txBody>
      </p:sp>
      <p:sp>
        <p:nvSpPr>
          <p:cNvPr id="34" name="Text 31"/>
          <p:cNvSpPr/>
          <p:nvPr/>
        </p:nvSpPr>
        <p:spPr>
          <a:xfrm>
            <a:off x="9475839" y="1604772"/>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0.7901</a:t>
            </a:r>
            <a:endParaRPr lang="en-US" sz="880" dirty="0"/>
          </a:p>
        </p:txBody>
      </p:sp>
      <p:sp>
        <p:nvSpPr>
          <p:cNvPr id="35" name="Text 32"/>
          <p:cNvSpPr/>
          <p:nvPr/>
        </p:nvSpPr>
        <p:spPr>
          <a:xfrm>
            <a:off x="10338619" y="1604772"/>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0.8562</a:t>
            </a:r>
            <a:endParaRPr lang="en-US" sz="880" dirty="0"/>
          </a:p>
        </p:txBody>
      </p:sp>
      <p:sp>
        <p:nvSpPr>
          <p:cNvPr id="36" name="Shape 33"/>
          <p:cNvSpPr/>
          <p:nvPr/>
        </p:nvSpPr>
        <p:spPr>
          <a:xfrm>
            <a:off x="5806440" y="2002536"/>
            <a:ext cx="5349240" cy="429768"/>
          </a:xfrm>
          <a:prstGeom prst="rect">
            <a:avLst/>
          </a:prstGeom>
          <a:solidFill>
            <a:srgbClr val="F3F9FF"/>
          </a:solidFill>
          <a:ln w="6350">
            <a:solidFill>
              <a:srgbClr val="D6E4F2"/>
            </a:solidFill>
            <a:prstDash val="solid"/>
          </a:ln>
        </p:spPr>
      </p:sp>
      <p:sp>
        <p:nvSpPr>
          <p:cNvPr id="37" name="Text 34"/>
          <p:cNvSpPr/>
          <p:nvPr/>
        </p:nvSpPr>
        <p:spPr>
          <a:xfrm>
            <a:off x="5852160" y="2034540"/>
            <a:ext cx="1806677" cy="365760"/>
          </a:xfrm>
          <a:prstGeom prst="rect">
            <a:avLst/>
          </a:prstGeom>
          <a:noFill/>
          <a:ln/>
        </p:spPr>
        <p:txBody>
          <a:bodyPr wrap="square" lIns="127" tIns="127" rIns="127" bIns="127" rtlCol="0" anchor="ctr">
            <a:normAutofit/>
          </a:bodyPr>
          <a:lstStyle/>
          <a:p>
            <a:pPr marL="0" indent="0" algn="l">
              <a:buNone/>
            </a:pPr>
            <a:r>
              <a:rPr lang="en-US" sz="880" b="1" dirty="0">
                <a:solidFill>
                  <a:srgbClr val="1F2937"/>
                </a:solidFill>
                <a:latin typeface="Aptos" pitchFamily="34" charset="0"/>
                <a:ea typeface="Aptos" pitchFamily="34" charset="-122"/>
                <a:cs typeface="Aptos" pitchFamily="34" charset="-120"/>
              </a:rPr>
              <a:t>Random Forest</a:t>
            </a:r>
            <a:endParaRPr lang="en-US" sz="880" dirty="0"/>
          </a:p>
        </p:txBody>
      </p:sp>
      <p:sp>
        <p:nvSpPr>
          <p:cNvPr id="38" name="Text 35"/>
          <p:cNvSpPr/>
          <p:nvPr/>
        </p:nvSpPr>
        <p:spPr>
          <a:xfrm>
            <a:off x="7750277" y="2034540"/>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0.6712</a:t>
            </a:r>
            <a:endParaRPr lang="en-US" sz="880" dirty="0"/>
          </a:p>
        </p:txBody>
      </p:sp>
      <p:sp>
        <p:nvSpPr>
          <p:cNvPr id="39" name="Text 36"/>
          <p:cNvSpPr/>
          <p:nvPr/>
        </p:nvSpPr>
        <p:spPr>
          <a:xfrm>
            <a:off x="8613058" y="2034540"/>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0.8906</a:t>
            </a:r>
            <a:endParaRPr lang="en-US" sz="880" dirty="0"/>
          </a:p>
        </p:txBody>
      </p:sp>
      <p:sp>
        <p:nvSpPr>
          <p:cNvPr id="40" name="Text 37"/>
          <p:cNvSpPr/>
          <p:nvPr/>
        </p:nvSpPr>
        <p:spPr>
          <a:xfrm>
            <a:off x="9475839" y="2034540"/>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0.7809</a:t>
            </a:r>
            <a:endParaRPr lang="en-US" sz="880" dirty="0"/>
          </a:p>
        </p:txBody>
      </p:sp>
      <p:sp>
        <p:nvSpPr>
          <p:cNvPr id="41" name="Text 38"/>
          <p:cNvSpPr/>
          <p:nvPr/>
        </p:nvSpPr>
        <p:spPr>
          <a:xfrm>
            <a:off x="10338619" y="2034540"/>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0.8359</a:t>
            </a:r>
            <a:endParaRPr lang="en-US" sz="880" dirty="0"/>
          </a:p>
        </p:txBody>
      </p:sp>
      <p:sp>
        <p:nvSpPr>
          <p:cNvPr id="42" name="Shape 39"/>
          <p:cNvSpPr/>
          <p:nvPr/>
        </p:nvSpPr>
        <p:spPr>
          <a:xfrm>
            <a:off x="5806440" y="2432304"/>
            <a:ext cx="5349240" cy="429768"/>
          </a:xfrm>
          <a:prstGeom prst="rect">
            <a:avLst/>
          </a:prstGeom>
          <a:solidFill>
            <a:srgbClr val="FFFFFF"/>
          </a:solidFill>
          <a:ln w="6350">
            <a:solidFill>
              <a:srgbClr val="D6E4F2"/>
            </a:solidFill>
            <a:prstDash val="solid"/>
          </a:ln>
        </p:spPr>
      </p:sp>
      <p:sp>
        <p:nvSpPr>
          <p:cNvPr id="43" name="Text 40"/>
          <p:cNvSpPr/>
          <p:nvPr/>
        </p:nvSpPr>
        <p:spPr>
          <a:xfrm>
            <a:off x="5852160" y="2464308"/>
            <a:ext cx="1806677" cy="365760"/>
          </a:xfrm>
          <a:prstGeom prst="rect">
            <a:avLst/>
          </a:prstGeom>
          <a:noFill/>
          <a:ln/>
        </p:spPr>
        <p:txBody>
          <a:bodyPr wrap="square" lIns="127" tIns="127" rIns="127" bIns="127" rtlCol="0" anchor="ctr">
            <a:normAutofit/>
          </a:bodyPr>
          <a:lstStyle/>
          <a:p>
            <a:pPr marL="0" indent="0" algn="l">
              <a:buNone/>
            </a:pPr>
            <a:r>
              <a:rPr lang="en-US" sz="880" b="1" dirty="0">
                <a:solidFill>
                  <a:srgbClr val="1F2937"/>
                </a:solidFill>
                <a:latin typeface="Aptos" pitchFamily="34" charset="0"/>
                <a:ea typeface="Aptos" pitchFamily="34" charset="-122"/>
                <a:cs typeface="Aptos" pitchFamily="34" charset="-120"/>
              </a:rPr>
              <a:t>Logistic Regression</a:t>
            </a:r>
            <a:endParaRPr lang="en-US" sz="880" dirty="0"/>
          </a:p>
        </p:txBody>
      </p:sp>
      <p:sp>
        <p:nvSpPr>
          <p:cNvPr id="44" name="Text 41"/>
          <p:cNvSpPr/>
          <p:nvPr/>
        </p:nvSpPr>
        <p:spPr>
          <a:xfrm>
            <a:off x="7750277" y="2464308"/>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0.6628</a:t>
            </a:r>
            <a:endParaRPr lang="en-US" sz="880" dirty="0"/>
          </a:p>
        </p:txBody>
      </p:sp>
      <p:sp>
        <p:nvSpPr>
          <p:cNvPr id="45" name="Text 42"/>
          <p:cNvSpPr/>
          <p:nvPr/>
        </p:nvSpPr>
        <p:spPr>
          <a:xfrm>
            <a:off x="8613058" y="2464308"/>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0.8856</a:t>
            </a:r>
            <a:endParaRPr lang="en-US" sz="880" dirty="0"/>
          </a:p>
        </p:txBody>
      </p:sp>
      <p:sp>
        <p:nvSpPr>
          <p:cNvPr id="46" name="Text 43"/>
          <p:cNvSpPr/>
          <p:nvPr/>
        </p:nvSpPr>
        <p:spPr>
          <a:xfrm>
            <a:off x="9475839" y="2464308"/>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0.7742</a:t>
            </a:r>
            <a:endParaRPr lang="en-US" sz="880" dirty="0"/>
          </a:p>
        </p:txBody>
      </p:sp>
      <p:sp>
        <p:nvSpPr>
          <p:cNvPr id="47" name="Text 44"/>
          <p:cNvSpPr/>
          <p:nvPr/>
        </p:nvSpPr>
        <p:spPr>
          <a:xfrm>
            <a:off x="10338619" y="2464308"/>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0.8292</a:t>
            </a:r>
            <a:endParaRPr lang="en-US" sz="880" dirty="0"/>
          </a:p>
        </p:txBody>
      </p:sp>
      <p:sp>
        <p:nvSpPr>
          <p:cNvPr id="48" name="Shape 45"/>
          <p:cNvSpPr/>
          <p:nvPr/>
        </p:nvSpPr>
        <p:spPr>
          <a:xfrm>
            <a:off x="731520" y="3675888"/>
            <a:ext cx="4709160" cy="868680"/>
          </a:xfrm>
          <a:prstGeom prst="roundRect">
            <a:avLst/>
          </a:prstGeom>
          <a:solidFill>
            <a:srgbClr val="EAF8F0"/>
          </a:solidFill>
          <a:ln w="12700">
            <a:solidFill>
              <a:srgbClr val="C9DFFF"/>
            </a:solidFill>
            <a:prstDash val="solid"/>
          </a:ln>
          <a:effectLst>
            <a:outerShdw blurRad="12700" dist="50800" dir="2700000" algn="bl" rotWithShape="0">
              <a:srgbClr val="B8C8DA">
                <a:alpha val="10000"/>
              </a:srgbClr>
            </a:outerShdw>
          </a:effectLst>
        </p:spPr>
      </p:sp>
      <p:sp>
        <p:nvSpPr>
          <p:cNvPr id="49" name="Text 46"/>
          <p:cNvSpPr/>
          <p:nvPr/>
        </p:nvSpPr>
        <p:spPr>
          <a:xfrm>
            <a:off x="896112" y="3822192"/>
            <a:ext cx="4379976" cy="219456"/>
          </a:xfrm>
          <a:prstGeom prst="rect">
            <a:avLst/>
          </a:prstGeom>
          <a:noFill/>
          <a:ln/>
        </p:spPr>
        <p:txBody>
          <a:bodyPr wrap="square" lIns="0" tIns="0" rIns="0" bIns="0" rtlCol="0" anchor="t">
            <a:normAutofit/>
          </a:bodyPr>
          <a:lstStyle/>
          <a:p>
            <a:pPr marL="0" indent="0" algn="l">
              <a:buNone/>
            </a:pPr>
            <a:r>
              <a:rPr lang="en-US" sz="1200" b="1" dirty="0">
                <a:solidFill>
                  <a:srgbClr val="16A34A"/>
                </a:solidFill>
                <a:latin typeface="Aptos" pitchFamily="34" charset="0"/>
                <a:ea typeface="Aptos" pitchFamily="34" charset="-122"/>
                <a:cs typeface="Aptos" pitchFamily="34" charset="-120"/>
              </a:rPr>
              <a:t>Temuan utama</a:t>
            </a:r>
            <a:endParaRPr lang="en-US" sz="1200" dirty="0"/>
          </a:p>
        </p:txBody>
      </p:sp>
      <p:sp>
        <p:nvSpPr>
          <p:cNvPr id="50" name="Text 47"/>
          <p:cNvSpPr/>
          <p:nvPr/>
        </p:nvSpPr>
        <p:spPr>
          <a:xfrm>
            <a:off x="896112" y="4114800"/>
            <a:ext cx="4379976" cy="33832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CatBoost unggul pada F1 Macro dan accuracy. Model ini paling stabil secara agregat, terutama karena sangat kuat mengenali kelas Ya.</a:t>
            </a:r>
            <a:endParaRPr lang="en-US" sz="1100" dirty="0"/>
          </a:p>
        </p:txBody>
      </p:sp>
      <p:sp>
        <p:nvSpPr>
          <p:cNvPr id="51" name="Shape 48"/>
          <p:cNvSpPr/>
          <p:nvPr/>
        </p:nvSpPr>
        <p:spPr>
          <a:xfrm>
            <a:off x="5806440" y="3675888"/>
            <a:ext cx="5349240" cy="868680"/>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52" name="Text 49"/>
          <p:cNvSpPr/>
          <p:nvPr/>
        </p:nvSpPr>
        <p:spPr>
          <a:xfrm>
            <a:off x="5971032" y="3822192"/>
            <a:ext cx="5020056"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Cara membaca tabel</a:t>
            </a:r>
            <a:endParaRPr lang="en-US" sz="1200" dirty="0"/>
          </a:p>
        </p:txBody>
      </p:sp>
      <p:sp>
        <p:nvSpPr>
          <p:cNvPr id="53" name="Text 50"/>
          <p:cNvSpPr/>
          <p:nvPr/>
        </p:nvSpPr>
        <p:spPr>
          <a:xfrm>
            <a:off x="5971032" y="4114800"/>
            <a:ext cx="5020056" cy="33832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F1 Tidak menunjukkan kemampuan mengenali non-pengguna AI. F1 Ya menunjukkan kemampuan mengenali pengguna AI. F1 Macro adalah ringkasan yang menyeimbangkan keduanya.</a:t>
            </a:r>
            <a:endParaRPr lang="en-US" sz="1100" dirty="0"/>
          </a:p>
        </p:txBody>
      </p:sp>
      <p:sp>
        <p:nvSpPr>
          <p:cNvPr id="54" name="Shape 51"/>
          <p:cNvSpPr/>
          <p:nvPr/>
        </p:nvSpPr>
        <p:spPr>
          <a:xfrm>
            <a:off x="731520" y="4919472"/>
            <a:ext cx="10424160" cy="658368"/>
          </a:xfrm>
          <a:prstGeom prst="roundRect">
            <a:avLst/>
          </a:prstGeom>
          <a:solidFill>
            <a:srgbClr val="FFF7E6"/>
          </a:solidFill>
          <a:ln w="12700">
            <a:solidFill>
              <a:srgbClr val="C9DFFF"/>
            </a:solidFill>
            <a:prstDash val="solid"/>
          </a:ln>
          <a:effectLst>
            <a:outerShdw blurRad="12700" dist="50800" dir="2700000" algn="bl" rotWithShape="0">
              <a:srgbClr val="B8C8DA">
                <a:alpha val="10000"/>
              </a:srgbClr>
            </a:outerShdw>
          </a:effectLst>
        </p:spPr>
      </p:sp>
      <p:sp>
        <p:nvSpPr>
          <p:cNvPr id="55" name="Text 52"/>
          <p:cNvSpPr/>
          <p:nvPr/>
        </p:nvSpPr>
        <p:spPr>
          <a:xfrm>
            <a:off x="896112" y="5065776"/>
            <a:ext cx="10094976" cy="219456"/>
          </a:xfrm>
          <a:prstGeom prst="rect">
            <a:avLst/>
          </a:prstGeom>
          <a:noFill/>
          <a:ln/>
        </p:spPr>
        <p:txBody>
          <a:bodyPr wrap="square" lIns="0" tIns="0" rIns="0" bIns="0" rtlCol="0" anchor="t">
            <a:normAutofit/>
          </a:bodyPr>
          <a:lstStyle/>
          <a:p>
            <a:pPr marL="0" indent="0" algn="l">
              <a:buNone/>
            </a:pPr>
            <a:r>
              <a:rPr lang="en-US" sz="1200" b="1" dirty="0">
                <a:solidFill>
                  <a:srgbClr val="F59E0B"/>
                </a:solidFill>
                <a:latin typeface="Aptos" pitchFamily="34" charset="0"/>
                <a:ea typeface="Aptos" pitchFamily="34" charset="-122"/>
                <a:cs typeface="Aptos" pitchFamily="34" charset="-120"/>
              </a:rPr>
              <a:t>Catatan presentasi</a:t>
            </a:r>
            <a:endParaRPr lang="en-US" sz="1200" dirty="0"/>
          </a:p>
        </p:txBody>
      </p:sp>
      <p:sp>
        <p:nvSpPr>
          <p:cNvPr id="56" name="Text 53"/>
          <p:cNvSpPr/>
          <p:nvPr/>
        </p:nvSpPr>
        <p:spPr>
          <a:xfrm>
            <a:off x="896112" y="5358384"/>
            <a:ext cx="10094976" cy="128016"/>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Jangan hanya mengatakan CatBoost terbaik. Jelaskan bahwa F1 Ya jauh lebih tinggi daripada F1 Tidak, sehingga kelas pengguna AI lebih mudah dikenali daripada non-pengguna.</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12</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Confusion Matrix AISelect</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Membaca benar dan salah prediksi</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548640" y="1060704"/>
            <a:ext cx="11018520" cy="329184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pic>
        <p:nvPicPr>
          <p:cNvPr id="11" name="Image 0" descr="/mnt/data/latest_nb_assets/cell13_out1.png"/>
          <p:cNvPicPr>
            <a:picLocks noChangeAspect="1"/>
          </p:cNvPicPr>
          <p:nvPr/>
        </p:nvPicPr>
        <p:blipFill>
          <a:blip r:embed="rId3"/>
          <a:stretch>
            <a:fillRect/>
          </a:stretch>
        </p:blipFill>
        <p:spPr>
          <a:xfrm>
            <a:off x="845378" y="1234440"/>
            <a:ext cx="10425045" cy="2880360"/>
          </a:xfrm>
          <a:prstGeom prst="rect">
            <a:avLst/>
          </a:prstGeom>
        </p:spPr>
      </p:pic>
      <p:sp>
        <p:nvSpPr>
          <p:cNvPr id="12" name="Shape 8"/>
          <p:cNvSpPr/>
          <p:nvPr/>
        </p:nvSpPr>
        <p:spPr>
          <a:xfrm>
            <a:off x="731520" y="4617720"/>
            <a:ext cx="3291840" cy="1005840"/>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13" name="Text 9"/>
          <p:cNvSpPr/>
          <p:nvPr/>
        </p:nvSpPr>
        <p:spPr>
          <a:xfrm>
            <a:off x="896112" y="4764024"/>
            <a:ext cx="2962656"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Cara membaca gambar</a:t>
            </a:r>
            <a:endParaRPr lang="en-US" sz="1200" dirty="0"/>
          </a:p>
        </p:txBody>
      </p:sp>
      <p:sp>
        <p:nvSpPr>
          <p:cNvPr id="14" name="Text 10"/>
          <p:cNvSpPr/>
          <p:nvPr/>
        </p:nvSpPr>
        <p:spPr>
          <a:xfrm>
            <a:off x="896112" y="5056632"/>
            <a:ext cx="2962656" cy="47548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Baris = kelas aktual. Kolom = kelas prediksi. Angka diagonal berarti benar. Angka di luar diagonal berarti salah prediksi.</a:t>
            </a:r>
            <a:endParaRPr lang="en-US" sz="1100" dirty="0"/>
          </a:p>
        </p:txBody>
      </p:sp>
      <p:sp>
        <p:nvSpPr>
          <p:cNvPr id="15" name="Shape 11"/>
          <p:cNvSpPr/>
          <p:nvPr/>
        </p:nvSpPr>
        <p:spPr>
          <a:xfrm>
            <a:off x="4343400" y="4617720"/>
            <a:ext cx="2148840" cy="1005840"/>
          </a:xfrm>
          <a:prstGeom prst="roundRect">
            <a:avLst/>
          </a:prstGeom>
          <a:solidFill>
            <a:srgbClr val="EAF8F0"/>
          </a:solidFill>
          <a:ln w="12700">
            <a:solidFill>
              <a:srgbClr val="C9DFFF"/>
            </a:solidFill>
            <a:prstDash val="solid"/>
          </a:ln>
          <a:effectLst>
            <a:outerShdw blurRad="12700" dist="50800" dir="2700000" algn="bl" rotWithShape="0">
              <a:srgbClr val="B8C8DA">
                <a:alpha val="10000"/>
              </a:srgbClr>
            </a:outerShdw>
          </a:effectLst>
        </p:spPr>
      </p:sp>
      <p:sp>
        <p:nvSpPr>
          <p:cNvPr id="16" name="Text 12"/>
          <p:cNvSpPr/>
          <p:nvPr/>
        </p:nvSpPr>
        <p:spPr>
          <a:xfrm>
            <a:off x="4507992" y="4764024"/>
            <a:ext cx="1819656" cy="219456"/>
          </a:xfrm>
          <a:prstGeom prst="rect">
            <a:avLst/>
          </a:prstGeom>
          <a:noFill/>
          <a:ln/>
        </p:spPr>
        <p:txBody>
          <a:bodyPr wrap="square" lIns="0" tIns="0" rIns="0" bIns="0" rtlCol="0" anchor="t">
            <a:normAutofit/>
          </a:bodyPr>
          <a:lstStyle/>
          <a:p>
            <a:pPr marL="0" indent="0" algn="l">
              <a:buNone/>
            </a:pPr>
            <a:r>
              <a:rPr lang="en-US" sz="1200" b="1" dirty="0">
                <a:solidFill>
                  <a:srgbClr val="16A34A"/>
                </a:solidFill>
                <a:latin typeface="Aptos" pitchFamily="34" charset="0"/>
                <a:ea typeface="Aptos" pitchFamily="34" charset="-122"/>
                <a:cs typeface="Aptos" pitchFamily="34" charset="-120"/>
              </a:rPr>
              <a:t>Logistic Regression</a:t>
            </a:r>
            <a:endParaRPr lang="en-US" sz="1200" dirty="0"/>
          </a:p>
        </p:txBody>
      </p:sp>
      <p:sp>
        <p:nvSpPr>
          <p:cNvPr id="17" name="Text 13"/>
          <p:cNvSpPr/>
          <p:nvPr/>
        </p:nvSpPr>
        <p:spPr>
          <a:xfrm>
            <a:off x="4507992" y="5056632"/>
            <a:ext cx="1819656" cy="47548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Benar Tidak: 1.132. Benar Ya: 4.460. Model cukup baik, tetapi masih salah mengenali 834 pengguna AI sebagai Tidak.</a:t>
            </a:r>
            <a:endParaRPr lang="en-US" sz="1100" dirty="0"/>
          </a:p>
        </p:txBody>
      </p:sp>
      <p:sp>
        <p:nvSpPr>
          <p:cNvPr id="18" name="Shape 14"/>
          <p:cNvSpPr/>
          <p:nvPr/>
        </p:nvSpPr>
        <p:spPr>
          <a:xfrm>
            <a:off x="6720840" y="4617720"/>
            <a:ext cx="2057400" cy="1005840"/>
          </a:xfrm>
          <a:prstGeom prst="roundRect">
            <a:avLst/>
          </a:prstGeom>
          <a:solidFill>
            <a:srgbClr val="FFF7E6"/>
          </a:solidFill>
          <a:ln w="12700">
            <a:solidFill>
              <a:srgbClr val="C9DFFF"/>
            </a:solidFill>
            <a:prstDash val="solid"/>
          </a:ln>
          <a:effectLst>
            <a:outerShdw blurRad="12700" dist="50800" dir="2700000" algn="bl" rotWithShape="0">
              <a:srgbClr val="B8C8DA">
                <a:alpha val="10000"/>
              </a:srgbClr>
            </a:outerShdw>
          </a:effectLst>
        </p:spPr>
      </p:sp>
      <p:sp>
        <p:nvSpPr>
          <p:cNvPr id="19" name="Text 15"/>
          <p:cNvSpPr/>
          <p:nvPr/>
        </p:nvSpPr>
        <p:spPr>
          <a:xfrm>
            <a:off x="6885432" y="4764024"/>
            <a:ext cx="1728216" cy="219456"/>
          </a:xfrm>
          <a:prstGeom prst="rect">
            <a:avLst/>
          </a:prstGeom>
          <a:noFill/>
          <a:ln/>
        </p:spPr>
        <p:txBody>
          <a:bodyPr wrap="square" lIns="0" tIns="0" rIns="0" bIns="0" rtlCol="0" anchor="t">
            <a:normAutofit/>
          </a:bodyPr>
          <a:lstStyle/>
          <a:p>
            <a:pPr marL="0" indent="0" algn="l">
              <a:buNone/>
            </a:pPr>
            <a:r>
              <a:rPr lang="en-US" sz="1200" b="1" dirty="0">
                <a:solidFill>
                  <a:srgbClr val="F59E0B"/>
                </a:solidFill>
                <a:latin typeface="Aptos" pitchFamily="34" charset="0"/>
                <a:ea typeface="Aptos" pitchFamily="34" charset="-122"/>
                <a:cs typeface="Aptos" pitchFamily="34" charset="-120"/>
              </a:rPr>
              <a:t>Random Forest</a:t>
            </a:r>
            <a:endParaRPr lang="en-US" sz="1200" dirty="0"/>
          </a:p>
        </p:txBody>
      </p:sp>
      <p:sp>
        <p:nvSpPr>
          <p:cNvPr id="20" name="Text 16"/>
          <p:cNvSpPr/>
          <p:nvPr/>
        </p:nvSpPr>
        <p:spPr>
          <a:xfrm>
            <a:off x="6885432" y="5056632"/>
            <a:ext cx="1728216" cy="47548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Benar Ya naik menjadi 4.507. Kesalahan pada kelas Ya lebih kecil daripada Logistic Regression.</a:t>
            </a:r>
            <a:endParaRPr lang="en-US" sz="1100" dirty="0"/>
          </a:p>
        </p:txBody>
      </p:sp>
      <p:sp>
        <p:nvSpPr>
          <p:cNvPr id="21" name="Shape 17"/>
          <p:cNvSpPr/>
          <p:nvPr/>
        </p:nvSpPr>
        <p:spPr>
          <a:xfrm>
            <a:off x="9006840" y="4617720"/>
            <a:ext cx="2286000" cy="1005840"/>
          </a:xfrm>
          <a:prstGeom prst="roundRect">
            <a:avLst/>
          </a:prstGeom>
          <a:solidFill>
            <a:srgbClr val="FFF0F3"/>
          </a:solidFill>
          <a:ln w="12700">
            <a:solidFill>
              <a:srgbClr val="C9DFFF"/>
            </a:solidFill>
            <a:prstDash val="solid"/>
          </a:ln>
          <a:effectLst>
            <a:outerShdw blurRad="12700" dist="50800" dir="2700000" algn="bl" rotWithShape="0">
              <a:srgbClr val="B8C8DA">
                <a:alpha val="10000"/>
              </a:srgbClr>
            </a:outerShdw>
          </a:effectLst>
        </p:spPr>
      </p:sp>
      <p:sp>
        <p:nvSpPr>
          <p:cNvPr id="22" name="Text 18"/>
          <p:cNvSpPr/>
          <p:nvPr/>
        </p:nvSpPr>
        <p:spPr>
          <a:xfrm>
            <a:off x="9171432" y="4764024"/>
            <a:ext cx="1956816" cy="219456"/>
          </a:xfrm>
          <a:prstGeom prst="rect">
            <a:avLst/>
          </a:prstGeom>
          <a:noFill/>
          <a:ln/>
        </p:spPr>
        <p:txBody>
          <a:bodyPr wrap="square" lIns="0" tIns="0" rIns="0" bIns="0" rtlCol="0" anchor="t">
            <a:normAutofit/>
          </a:bodyPr>
          <a:lstStyle/>
          <a:p>
            <a:pPr marL="0" indent="0" algn="l">
              <a:buNone/>
            </a:pPr>
            <a:r>
              <a:rPr lang="en-US" sz="1200" b="1" dirty="0">
                <a:solidFill>
                  <a:srgbClr val="D1495B"/>
                </a:solidFill>
                <a:latin typeface="Aptos" pitchFamily="34" charset="0"/>
                <a:ea typeface="Aptos" pitchFamily="34" charset="-122"/>
                <a:cs typeface="Aptos" pitchFamily="34" charset="-120"/>
              </a:rPr>
              <a:t>CatBoost</a:t>
            </a:r>
            <a:endParaRPr lang="en-US" sz="1200" dirty="0"/>
          </a:p>
        </p:txBody>
      </p:sp>
      <p:sp>
        <p:nvSpPr>
          <p:cNvPr id="23" name="Text 19"/>
          <p:cNvSpPr/>
          <p:nvPr/>
        </p:nvSpPr>
        <p:spPr>
          <a:xfrm>
            <a:off x="9171432" y="5056632"/>
            <a:ext cx="1956816" cy="47548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Benar Ya paling tinggi: 4.779. Ini menjelaskan mengapa F1 Ya CatBoost paling besar.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13</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Feature Importance AISelect</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Faktor dominan</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694944" y="1078992"/>
            <a:ext cx="6035040" cy="438912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pic>
        <p:nvPicPr>
          <p:cNvPr id="11" name="Image 0" descr="/mnt/data/latest_nb_assets/cell13_out4.png"/>
          <p:cNvPicPr>
            <a:picLocks noChangeAspect="1"/>
          </p:cNvPicPr>
          <p:nvPr/>
        </p:nvPicPr>
        <p:blipFill>
          <a:blip r:embed="rId3"/>
          <a:stretch>
            <a:fillRect/>
          </a:stretch>
        </p:blipFill>
        <p:spPr>
          <a:xfrm>
            <a:off x="896112" y="1487416"/>
            <a:ext cx="5623560" cy="3471688"/>
          </a:xfrm>
          <a:prstGeom prst="rect">
            <a:avLst/>
          </a:prstGeom>
        </p:spPr>
      </p:pic>
      <p:sp>
        <p:nvSpPr>
          <p:cNvPr id="12" name="Shape 8"/>
          <p:cNvSpPr/>
          <p:nvPr/>
        </p:nvSpPr>
        <p:spPr>
          <a:xfrm>
            <a:off x="7086600" y="1234440"/>
            <a:ext cx="4206240" cy="960120"/>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13" name="Text 9"/>
          <p:cNvSpPr/>
          <p:nvPr/>
        </p:nvSpPr>
        <p:spPr>
          <a:xfrm>
            <a:off x="7251192" y="1380744"/>
            <a:ext cx="3877056"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Cara membaca grafik</a:t>
            </a:r>
            <a:endParaRPr lang="en-US" sz="1200" dirty="0"/>
          </a:p>
        </p:txBody>
      </p:sp>
      <p:sp>
        <p:nvSpPr>
          <p:cNvPr id="14" name="Text 10"/>
          <p:cNvSpPr/>
          <p:nvPr/>
        </p:nvSpPr>
        <p:spPr>
          <a:xfrm>
            <a:off x="7251192" y="1673352"/>
            <a:ext cx="3877056" cy="42976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Semakin panjang bar, semakin besar kontribusi fitur pada prediksi CatBoost. Grafik ini menjawab fitur mana yang paling informatif.</a:t>
            </a:r>
            <a:endParaRPr lang="en-US" sz="1100" dirty="0"/>
          </a:p>
        </p:txBody>
      </p:sp>
      <p:sp>
        <p:nvSpPr>
          <p:cNvPr id="15" name="Shape 11"/>
          <p:cNvSpPr/>
          <p:nvPr/>
        </p:nvSpPr>
        <p:spPr>
          <a:xfrm>
            <a:off x="7086600" y="2542032"/>
            <a:ext cx="4206240" cy="1143000"/>
          </a:xfrm>
          <a:prstGeom prst="roundRect">
            <a:avLst/>
          </a:prstGeom>
          <a:solidFill>
            <a:srgbClr val="EAF8F0"/>
          </a:solidFill>
          <a:ln w="12700">
            <a:solidFill>
              <a:srgbClr val="C9DFFF"/>
            </a:solidFill>
            <a:prstDash val="solid"/>
          </a:ln>
          <a:effectLst>
            <a:outerShdw blurRad="12700" dist="50800" dir="2700000" algn="bl" rotWithShape="0">
              <a:srgbClr val="B8C8DA">
                <a:alpha val="10000"/>
              </a:srgbClr>
            </a:outerShdw>
          </a:effectLst>
        </p:spPr>
      </p:sp>
      <p:sp>
        <p:nvSpPr>
          <p:cNvPr id="16" name="Text 12"/>
          <p:cNvSpPr/>
          <p:nvPr/>
        </p:nvSpPr>
        <p:spPr>
          <a:xfrm>
            <a:off x="7251192" y="2688336"/>
            <a:ext cx="3877056" cy="219456"/>
          </a:xfrm>
          <a:prstGeom prst="rect">
            <a:avLst/>
          </a:prstGeom>
          <a:noFill/>
          <a:ln/>
        </p:spPr>
        <p:txBody>
          <a:bodyPr wrap="square" lIns="0" tIns="0" rIns="0" bIns="0" rtlCol="0" anchor="t">
            <a:normAutofit/>
          </a:bodyPr>
          <a:lstStyle/>
          <a:p>
            <a:pPr marL="0" indent="0" algn="l">
              <a:buNone/>
            </a:pPr>
            <a:r>
              <a:rPr lang="en-US" sz="1200" b="1" dirty="0">
                <a:solidFill>
                  <a:srgbClr val="16A34A"/>
                </a:solidFill>
                <a:latin typeface="Aptos" pitchFamily="34" charset="0"/>
                <a:ea typeface="Aptos" pitchFamily="34" charset="-122"/>
                <a:cs typeface="Aptos" pitchFamily="34" charset="-120"/>
              </a:rPr>
              <a:t>Temuan utama</a:t>
            </a:r>
            <a:endParaRPr lang="en-US" sz="1200" dirty="0"/>
          </a:p>
        </p:txBody>
      </p:sp>
      <p:sp>
        <p:nvSpPr>
          <p:cNvPr id="17" name="Text 13"/>
          <p:cNvSpPr/>
          <p:nvPr/>
        </p:nvSpPr>
        <p:spPr>
          <a:xfrm>
            <a:off x="7251192" y="2980944"/>
            <a:ext cx="3877056" cy="61264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WorkExp dan YearsCode paling dominan. Artinya pengalaman kerja dan pengalaman coding menjadi sinyal kuat untuk membedakan pengguna dan non-pengguna AI Tools.</a:t>
            </a:r>
            <a:endParaRPr lang="en-US" sz="1100" dirty="0"/>
          </a:p>
        </p:txBody>
      </p:sp>
      <p:sp>
        <p:nvSpPr>
          <p:cNvPr id="18" name="Shape 14"/>
          <p:cNvSpPr/>
          <p:nvPr/>
        </p:nvSpPr>
        <p:spPr>
          <a:xfrm>
            <a:off x="7086600" y="4023360"/>
            <a:ext cx="4206240" cy="841248"/>
          </a:xfrm>
          <a:prstGeom prst="roundRect">
            <a:avLst/>
          </a:prstGeom>
          <a:solidFill>
            <a:srgbClr val="FFF7E6"/>
          </a:solidFill>
          <a:ln w="12700">
            <a:solidFill>
              <a:srgbClr val="C9DFFF"/>
            </a:solidFill>
            <a:prstDash val="solid"/>
          </a:ln>
          <a:effectLst>
            <a:outerShdw blurRad="12700" dist="50800" dir="2700000" algn="bl" rotWithShape="0">
              <a:srgbClr val="B8C8DA">
                <a:alpha val="10000"/>
              </a:srgbClr>
            </a:outerShdw>
          </a:effectLst>
        </p:spPr>
      </p:sp>
      <p:sp>
        <p:nvSpPr>
          <p:cNvPr id="19" name="Text 15"/>
          <p:cNvSpPr/>
          <p:nvPr/>
        </p:nvSpPr>
        <p:spPr>
          <a:xfrm>
            <a:off x="7251192" y="4169664"/>
            <a:ext cx="3877056" cy="219456"/>
          </a:xfrm>
          <a:prstGeom prst="rect">
            <a:avLst/>
          </a:prstGeom>
          <a:noFill/>
          <a:ln/>
        </p:spPr>
        <p:txBody>
          <a:bodyPr wrap="square" lIns="0" tIns="0" rIns="0" bIns="0" rtlCol="0" anchor="t">
            <a:normAutofit/>
          </a:bodyPr>
          <a:lstStyle/>
          <a:p>
            <a:pPr marL="0" indent="0" algn="l">
              <a:buNone/>
            </a:pPr>
            <a:r>
              <a:rPr lang="en-US" sz="1200" b="1" dirty="0">
                <a:solidFill>
                  <a:srgbClr val="F59E0B"/>
                </a:solidFill>
                <a:latin typeface="Aptos" pitchFamily="34" charset="0"/>
                <a:ea typeface="Aptos" pitchFamily="34" charset="-122"/>
                <a:cs typeface="Aptos" pitchFamily="34" charset="-120"/>
              </a:rPr>
              <a:t>Makna analitis</a:t>
            </a:r>
            <a:endParaRPr lang="en-US" sz="1200" dirty="0"/>
          </a:p>
        </p:txBody>
      </p:sp>
      <p:sp>
        <p:nvSpPr>
          <p:cNvPr id="20" name="Text 16"/>
          <p:cNvSpPr/>
          <p:nvPr/>
        </p:nvSpPr>
        <p:spPr>
          <a:xfrm>
            <a:off x="7251192" y="4462272"/>
            <a:ext cx="3877056" cy="310896"/>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AISent juga penting. Sikap developer terhadap AI membantu model membaca kecenderungan adopsi AI umum.</a:t>
            </a:r>
            <a:endParaRPr lang="en-US" sz="1100" dirty="0"/>
          </a:p>
        </p:txBody>
      </p:sp>
      <p:sp>
        <p:nvSpPr>
          <p:cNvPr id="21" name="Shape 17"/>
          <p:cNvSpPr/>
          <p:nvPr/>
        </p:nvSpPr>
        <p:spPr>
          <a:xfrm>
            <a:off x="7086600" y="5212080"/>
            <a:ext cx="4206240" cy="658368"/>
          </a:xfrm>
          <a:prstGeom prst="roundRect">
            <a:avLst/>
          </a:prstGeom>
          <a:solidFill>
            <a:srgbClr val="FFF0F3"/>
          </a:solidFill>
          <a:ln w="12700">
            <a:solidFill>
              <a:srgbClr val="C9DFFF"/>
            </a:solidFill>
            <a:prstDash val="solid"/>
          </a:ln>
          <a:effectLst>
            <a:outerShdw blurRad="12700" dist="50800" dir="2700000" algn="bl" rotWithShape="0">
              <a:srgbClr val="B8C8DA">
                <a:alpha val="10000"/>
              </a:srgbClr>
            </a:outerShdw>
          </a:effectLst>
        </p:spPr>
      </p:sp>
      <p:sp>
        <p:nvSpPr>
          <p:cNvPr id="22" name="Text 18"/>
          <p:cNvSpPr/>
          <p:nvPr/>
        </p:nvSpPr>
        <p:spPr>
          <a:xfrm>
            <a:off x="7251192" y="5358384"/>
            <a:ext cx="3877056" cy="219456"/>
          </a:xfrm>
          <a:prstGeom prst="rect">
            <a:avLst/>
          </a:prstGeom>
          <a:noFill/>
          <a:ln/>
        </p:spPr>
        <p:txBody>
          <a:bodyPr wrap="square" lIns="0" tIns="0" rIns="0" bIns="0" rtlCol="0" anchor="t">
            <a:normAutofit/>
          </a:bodyPr>
          <a:lstStyle/>
          <a:p>
            <a:pPr marL="0" indent="0" algn="l">
              <a:buNone/>
            </a:pPr>
            <a:r>
              <a:rPr lang="en-US" sz="1200" b="1" dirty="0">
                <a:solidFill>
                  <a:srgbClr val="D1495B"/>
                </a:solidFill>
                <a:latin typeface="Aptos" pitchFamily="34" charset="0"/>
                <a:ea typeface="Aptos" pitchFamily="34" charset="-122"/>
                <a:cs typeface="Aptos" pitchFamily="34" charset="-120"/>
              </a:rPr>
              <a:t>Batasan</a:t>
            </a:r>
            <a:endParaRPr lang="en-US" sz="1200" dirty="0"/>
          </a:p>
        </p:txBody>
      </p:sp>
      <p:sp>
        <p:nvSpPr>
          <p:cNvPr id="23" name="Text 19"/>
          <p:cNvSpPr/>
          <p:nvPr/>
        </p:nvSpPr>
        <p:spPr>
          <a:xfrm>
            <a:off x="7251192" y="5650992"/>
            <a:ext cx="3877056" cy="128016"/>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Feature importance menunjukkan asosiasi prediktif, bukan sebab-akibat. Jadi tidak boleh disimpulkan bahwa pengalaman pasti menyebabkan penggunaan AI.</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14</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Hasil Skenario B: Prediksi AIAgents Awal</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AI Agent</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731520" y="1143000"/>
            <a:ext cx="4709160" cy="214884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sp>
        <p:nvSpPr>
          <p:cNvPr id="11" name="Text 8"/>
          <p:cNvSpPr/>
          <p:nvPr/>
        </p:nvSpPr>
        <p:spPr>
          <a:xfrm>
            <a:off x="914400" y="1298448"/>
            <a:ext cx="4343400" cy="256032"/>
          </a:xfrm>
          <a:prstGeom prst="rect">
            <a:avLst/>
          </a:prstGeom>
          <a:noFill/>
          <a:ln/>
        </p:spPr>
        <p:txBody>
          <a:bodyPr wrap="square" lIns="0" tIns="0" rIns="0" bIns="0" rtlCol="0" anchor="t">
            <a:normAutofit/>
          </a:bodyPr>
          <a:lstStyle/>
          <a:p>
            <a:pPr marL="0" indent="0" algn="l">
              <a:buNone/>
            </a:pPr>
            <a:r>
              <a:rPr lang="en-US" sz="1250" b="1" dirty="0">
                <a:solidFill>
                  <a:srgbClr val="1F2937"/>
                </a:solidFill>
                <a:latin typeface="Aptos" pitchFamily="34" charset="0"/>
                <a:ea typeface="Aptos" pitchFamily="34" charset="-122"/>
                <a:cs typeface="Aptos" pitchFamily="34" charset="-120"/>
              </a:rPr>
              <a:t>F1 Macro AIAgents Awal</a:t>
            </a:r>
            <a:endParaRPr lang="en-US" sz="1250" dirty="0"/>
          </a:p>
        </p:txBody>
      </p:sp>
      <p:sp>
        <p:nvSpPr>
          <p:cNvPr id="12" name="Text 9"/>
          <p:cNvSpPr/>
          <p:nvPr/>
        </p:nvSpPr>
        <p:spPr>
          <a:xfrm>
            <a:off x="960120" y="1783080"/>
            <a:ext cx="1600200" cy="228600"/>
          </a:xfrm>
          <a:prstGeom prst="rect">
            <a:avLst/>
          </a:prstGeom>
          <a:noFill/>
          <a:ln/>
        </p:spPr>
        <p:txBody>
          <a:bodyPr wrap="square" lIns="0" tIns="0" rIns="0" bIns="0" rtlCol="0" anchor="t">
            <a:normAutofit/>
          </a:bodyPr>
          <a:lstStyle/>
          <a:p>
            <a:pPr marL="0" indent="0" algn="l">
              <a:buNone/>
            </a:pPr>
            <a:r>
              <a:rPr lang="en-US" sz="920" dirty="0">
                <a:solidFill>
                  <a:srgbClr val="5E6B7A"/>
                </a:solidFill>
                <a:latin typeface="Aptos" pitchFamily="34" charset="0"/>
                <a:ea typeface="Aptos" pitchFamily="34" charset="-122"/>
                <a:cs typeface="Aptos" pitchFamily="34" charset="-120"/>
              </a:rPr>
              <a:t>Logistic Regression</a:t>
            </a:r>
            <a:endParaRPr lang="en-US" sz="920" dirty="0"/>
          </a:p>
        </p:txBody>
      </p:sp>
      <p:sp>
        <p:nvSpPr>
          <p:cNvPr id="13" name="Shape 10"/>
          <p:cNvSpPr/>
          <p:nvPr/>
        </p:nvSpPr>
        <p:spPr>
          <a:xfrm>
            <a:off x="2697480" y="1828800"/>
            <a:ext cx="1920240" cy="146304"/>
          </a:xfrm>
          <a:prstGeom prst="rect">
            <a:avLst/>
          </a:prstGeom>
          <a:solidFill>
            <a:srgbClr val="E8EEF6"/>
          </a:solidFill>
          <a:ln w="12700">
            <a:solidFill>
              <a:srgbClr val="E8EEF6"/>
            </a:solidFill>
            <a:prstDash val="solid"/>
          </a:ln>
        </p:spPr>
      </p:sp>
      <p:sp>
        <p:nvSpPr>
          <p:cNvPr id="14" name="Shape 11"/>
          <p:cNvSpPr/>
          <p:nvPr/>
        </p:nvSpPr>
        <p:spPr>
          <a:xfrm>
            <a:off x="2697480" y="1828800"/>
            <a:ext cx="1893717" cy="146304"/>
          </a:xfrm>
          <a:prstGeom prst="rect">
            <a:avLst/>
          </a:prstGeom>
          <a:solidFill>
            <a:srgbClr val="D1495B"/>
          </a:solidFill>
          <a:ln w="12700">
            <a:solidFill>
              <a:srgbClr val="D1495B"/>
            </a:solidFill>
            <a:prstDash val="solid"/>
          </a:ln>
        </p:spPr>
      </p:sp>
      <p:sp>
        <p:nvSpPr>
          <p:cNvPr id="15" name="Text 12"/>
          <p:cNvSpPr/>
          <p:nvPr/>
        </p:nvSpPr>
        <p:spPr>
          <a:xfrm>
            <a:off x="4800600" y="1773936"/>
            <a:ext cx="502920" cy="201168"/>
          </a:xfrm>
          <a:prstGeom prst="rect">
            <a:avLst/>
          </a:prstGeom>
          <a:noFill/>
          <a:ln/>
        </p:spPr>
        <p:txBody>
          <a:bodyPr wrap="square" lIns="0" tIns="0" rIns="0" bIns="0" rtlCol="0" anchor="t">
            <a:normAutofit/>
          </a:bodyPr>
          <a:lstStyle/>
          <a:p>
            <a:pPr marL="0" indent="0" algn="r">
              <a:buNone/>
            </a:pPr>
            <a:r>
              <a:rPr lang="en-US" sz="870" b="1" dirty="0">
                <a:solidFill>
                  <a:srgbClr val="1F2937"/>
                </a:solidFill>
                <a:latin typeface="Aptos" pitchFamily="34" charset="0"/>
                <a:ea typeface="Aptos" pitchFamily="34" charset="-122"/>
                <a:cs typeface="Aptos" pitchFamily="34" charset="-120"/>
              </a:rPr>
              <a:t>0.6283</a:t>
            </a:r>
            <a:endParaRPr lang="en-US" sz="870" dirty="0"/>
          </a:p>
        </p:txBody>
      </p:sp>
      <p:sp>
        <p:nvSpPr>
          <p:cNvPr id="16" name="Text 13"/>
          <p:cNvSpPr/>
          <p:nvPr/>
        </p:nvSpPr>
        <p:spPr>
          <a:xfrm>
            <a:off x="960120" y="2218944"/>
            <a:ext cx="1600200" cy="228600"/>
          </a:xfrm>
          <a:prstGeom prst="rect">
            <a:avLst/>
          </a:prstGeom>
          <a:noFill/>
          <a:ln/>
        </p:spPr>
        <p:txBody>
          <a:bodyPr wrap="square" lIns="0" tIns="0" rIns="0" bIns="0" rtlCol="0" anchor="t">
            <a:normAutofit/>
          </a:bodyPr>
          <a:lstStyle/>
          <a:p>
            <a:pPr marL="0" indent="0" algn="l">
              <a:buNone/>
            </a:pPr>
            <a:r>
              <a:rPr lang="en-US" sz="920" dirty="0">
                <a:solidFill>
                  <a:srgbClr val="5E6B7A"/>
                </a:solidFill>
                <a:latin typeface="Aptos" pitchFamily="34" charset="0"/>
                <a:ea typeface="Aptos" pitchFamily="34" charset="-122"/>
                <a:cs typeface="Aptos" pitchFamily="34" charset="-120"/>
              </a:rPr>
              <a:t>Random Forest</a:t>
            </a:r>
            <a:endParaRPr lang="en-US" sz="920" dirty="0"/>
          </a:p>
        </p:txBody>
      </p:sp>
      <p:sp>
        <p:nvSpPr>
          <p:cNvPr id="17" name="Shape 14"/>
          <p:cNvSpPr/>
          <p:nvPr/>
        </p:nvSpPr>
        <p:spPr>
          <a:xfrm>
            <a:off x="2697480" y="2264664"/>
            <a:ext cx="1920240" cy="146304"/>
          </a:xfrm>
          <a:prstGeom prst="rect">
            <a:avLst/>
          </a:prstGeom>
          <a:solidFill>
            <a:srgbClr val="E8EEF6"/>
          </a:solidFill>
          <a:ln w="12700">
            <a:solidFill>
              <a:srgbClr val="E8EEF6"/>
            </a:solidFill>
            <a:prstDash val="solid"/>
          </a:ln>
        </p:spPr>
      </p:sp>
      <p:sp>
        <p:nvSpPr>
          <p:cNvPr id="18" name="Shape 15"/>
          <p:cNvSpPr/>
          <p:nvPr/>
        </p:nvSpPr>
        <p:spPr>
          <a:xfrm>
            <a:off x="2697480" y="2264664"/>
            <a:ext cx="1897032" cy="146304"/>
          </a:xfrm>
          <a:prstGeom prst="rect">
            <a:avLst/>
          </a:prstGeom>
          <a:solidFill>
            <a:srgbClr val="D1495B"/>
          </a:solidFill>
          <a:ln w="12700">
            <a:solidFill>
              <a:srgbClr val="D1495B"/>
            </a:solidFill>
            <a:prstDash val="solid"/>
          </a:ln>
        </p:spPr>
      </p:sp>
      <p:sp>
        <p:nvSpPr>
          <p:cNvPr id="19" name="Text 16"/>
          <p:cNvSpPr/>
          <p:nvPr/>
        </p:nvSpPr>
        <p:spPr>
          <a:xfrm>
            <a:off x="4800600" y="2209800"/>
            <a:ext cx="502920" cy="201168"/>
          </a:xfrm>
          <a:prstGeom prst="rect">
            <a:avLst/>
          </a:prstGeom>
          <a:noFill/>
          <a:ln/>
        </p:spPr>
        <p:txBody>
          <a:bodyPr wrap="square" lIns="0" tIns="0" rIns="0" bIns="0" rtlCol="0" anchor="t">
            <a:normAutofit/>
          </a:bodyPr>
          <a:lstStyle/>
          <a:p>
            <a:pPr marL="0" indent="0" algn="r">
              <a:buNone/>
            </a:pPr>
            <a:r>
              <a:rPr lang="en-US" sz="870" b="1" dirty="0">
                <a:solidFill>
                  <a:srgbClr val="1F2937"/>
                </a:solidFill>
                <a:latin typeface="Aptos" pitchFamily="34" charset="0"/>
                <a:ea typeface="Aptos" pitchFamily="34" charset="-122"/>
                <a:cs typeface="Aptos" pitchFamily="34" charset="-120"/>
              </a:rPr>
              <a:t>0.6294</a:t>
            </a:r>
            <a:endParaRPr lang="en-US" sz="870" dirty="0"/>
          </a:p>
        </p:txBody>
      </p:sp>
      <p:sp>
        <p:nvSpPr>
          <p:cNvPr id="20" name="Text 17"/>
          <p:cNvSpPr/>
          <p:nvPr/>
        </p:nvSpPr>
        <p:spPr>
          <a:xfrm>
            <a:off x="960120" y="2654808"/>
            <a:ext cx="1600200" cy="228600"/>
          </a:xfrm>
          <a:prstGeom prst="rect">
            <a:avLst/>
          </a:prstGeom>
          <a:noFill/>
          <a:ln/>
        </p:spPr>
        <p:txBody>
          <a:bodyPr wrap="square" lIns="0" tIns="0" rIns="0" bIns="0" rtlCol="0" anchor="t">
            <a:normAutofit/>
          </a:bodyPr>
          <a:lstStyle/>
          <a:p>
            <a:pPr marL="0" indent="0" algn="l">
              <a:buNone/>
            </a:pPr>
            <a:r>
              <a:rPr lang="en-US" sz="920" dirty="0">
                <a:solidFill>
                  <a:srgbClr val="5E6B7A"/>
                </a:solidFill>
                <a:latin typeface="Aptos" pitchFamily="34" charset="0"/>
                <a:ea typeface="Aptos" pitchFamily="34" charset="-122"/>
                <a:cs typeface="Aptos" pitchFamily="34" charset="-120"/>
              </a:rPr>
              <a:t>CatBoost</a:t>
            </a:r>
            <a:endParaRPr lang="en-US" sz="920" dirty="0"/>
          </a:p>
        </p:txBody>
      </p:sp>
      <p:sp>
        <p:nvSpPr>
          <p:cNvPr id="21" name="Shape 18"/>
          <p:cNvSpPr/>
          <p:nvPr/>
        </p:nvSpPr>
        <p:spPr>
          <a:xfrm>
            <a:off x="2697480" y="2700528"/>
            <a:ext cx="1920240" cy="146304"/>
          </a:xfrm>
          <a:prstGeom prst="rect">
            <a:avLst/>
          </a:prstGeom>
          <a:solidFill>
            <a:srgbClr val="E8EEF6"/>
          </a:solidFill>
          <a:ln w="12700">
            <a:solidFill>
              <a:srgbClr val="E8EEF6"/>
            </a:solidFill>
            <a:prstDash val="solid"/>
          </a:ln>
        </p:spPr>
      </p:sp>
      <p:sp>
        <p:nvSpPr>
          <p:cNvPr id="22" name="Shape 19"/>
          <p:cNvSpPr/>
          <p:nvPr/>
        </p:nvSpPr>
        <p:spPr>
          <a:xfrm>
            <a:off x="2697480" y="2700528"/>
            <a:ext cx="1920240" cy="146304"/>
          </a:xfrm>
          <a:prstGeom prst="rect">
            <a:avLst/>
          </a:prstGeom>
          <a:solidFill>
            <a:srgbClr val="D1495B"/>
          </a:solidFill>
          <a:ln w="12700">
            <a:solidFill>
              <a:srgbClr val="D1495B"/>
            </a:solidFill>
            <a:prstDash val="solid"/>
          </a:ln>
        </p:spPr>
      </p:sp>
      <p:sp>
        <p:nvSpPr>
          <p:cNvPr id="23" name="Text 20"/>
          <p:cNvSpPr/>
          <p:nvPr/>
        </p:nvSpPr>
        <p:spPr>
          <a:xfrm>
            <a:off x="4800600" y="2645664"/>
            <a:ext cx="502920" cy="201168"/>
          </a:xfrm>
          <a:prstGeom prst="rect">
            <a:avLst/>
          </a:prstGeom>
          <a:noFill/>
          <a:ln/>
        </p:spPr>
        <p:txBody>
          <a:bodyPr wrap="square" lIns="0" tIns="0" rIns="0" bIns="0" rtlCol="0" anchor="t">
            <a:normAutofit/>
          </a:bodyPr>
          <a:lstStyle/>
          <a:p>
            <a:pPr marL="0" indent="0" algn="r">
              <a:buNone/>
            </a:pPr>
            <a:r>
              <a:rPr lang="en-US" sz="870" b="1" dirty="0">
                <a:solidFill>
                  <a:srgbClr val="1F2937"/>
                </a:solidFill>
                <a:latin typeface="Aptos" pitchFamily="34" charset="0"/>
                <a:ea typeface="Aptos" pitchFamily="34" charset="-122"/>
                <a:cs typeface="Aptos" pitchFamily="34" charset="-120"/>
              </a:rPr>
              <a:t>0.6371</a:t>
            </a:r>
            <a:endParaRPr lang="en-US" sz="870" dirty="0"/>
          </a:p>
        </p:txBody>
      </p:sp>
      <p:sp>
        <p:nvSpPr>
          <p:cNvPr id="24" name="Shape 21"/>
          <p:cNvSpPr/>
          <p:nvPr/>
        </p:nvSpPr>
        <p:spPr>
          <a:xfrm>
            <a:off x="5806440" y="1143000"/>
            <a:ext cx="5349240" cy="429768"/>
          </a:xfrm>
          <a:prstGeom prst="rect">
            <a:avLst/>
          </a:prstGeom>
          <a:solidFill>
            <a:srgbClr val="1D4ED8"/>
          </a:solidFill>
          <a:ln w="6350">
            <a:solidFill>
              <a:srgbClr val="D6E4F2"/>
            </a:solidFill>
            <a:prstDash val="solid"/>
          </a:ln>
        </p:spPr>
      </p:sp>
      <p:sp>
        <p:nvSpPr>
          <p:cNvPr id="25" name="Text 22"/>
          <p:cNvSpPr/>
          <p:nvPr/>
        </p:nvSpPr>
        <p:spPr>
          <a:xfrm>
            <a:off x="5852160" y="1175004"/>
            <a:ext cx="1806677" cy="365760"/>
          </a:xfrm>
          <a:prstGeom prst="rect">
            <a:avLst/>
          </a:prstGeom>
          <a:noFill/>
          <a:ln/>
        </p:spPr>
        <p:txBody>
          <a:bodyPr wrap="square" lIns="127" tIns="127" rIns="127" bIns="127" rtlCol="0" anchor="ctr">
            <a:normAutofit/>
          </a:bodyPr>
          <a:lstStyle/>
          <a:p>
            <a:pPr marL="0" indent="0" algn="l">
              <a:buNone/>
            </a:pPr>
            <a:r>
              <a:rPr lang="en-US" sz="880" b="1" dirty="0">
                <a:solidFill>
                  <a:srgbClr val="FFFFFF"/>
                </a:solidFill>
                <a:latin typeface="Aptos" pitchFamily="34" charset="0"/>
                <a:ea typeface="Aptos" pitchFamily="34" charset="-122"/>
                <a:cs typeface="Aptos" pitchFamily="34" charset="-120"/>
              </a:rPr>
              <a:t>Model</a:t>
            </a:r>
            <a:endParaRPr lang="en-US" sz="880" dirty="0"/>
          </a:p>
        </p:txBody>
      </p:sp>
      <p:sp>
        <p:nvSpPr>
          <p:cNvPr id="26" name="Text 23"/>
          <p:cNvSpPr/>
          <p:nvPr/>
        </p:nvSpPr>
        <p:spPr>
          <a:xfrm>
            <a:off x="7750277" y="1175004"/>
            <a:ext cx="771341" cy="365760"/>
          </a:xfrm>
          <a:prstGeom prst="rect">
            <a:avLst/>
          </a:prstGeom>
          <a:noFill/>
          <a:ln/>
        </p:spPr>
        <p:txBody>
          <a:bodyPr wrap="square" lIns="127" tIns="127" rIns="127" bIns="127" rtlCol="0" anchor="ctr">
            <a:normAutofit/>
          </a:bodyPr>
          <a:lstStyle/>
          <a:p>
            <a:pPr marL="0" indent="0" algn="ctr">
              <a:buNone/>
            </a:pPr>
            <a:r>
              <a:rPr lang="en-US" sz="880" b="1" dirty="0">
                <a:solidFill>
                  <a:srgbClr val="FFFFFF"/>
                </a:solidFill>
                <a:latin typeface="Aptos" pitchFamily="34" charset="0"/>
                <a:ea typeface="Aptos" pitchFamily="34" charset="-122"/>
                <a:cs typeface="Aptos" pitchFamily="34" charset="-120"/>
              </a:rPr>
              <a:t>F1 Tidak</a:t>
            </a:r>
            <a:endParaRPr lang="en-US" sz="880" dirty="0"/>
          </a:p>
        </p:txBody>
      </p:sp>
      <p:sp>
        <p:nvSpPr>
          <p:cNvPr id="27" name="Text 24"/>
          <p:cNvSpPr/>
          <p:nvPr/>
        </p:nvSpPr>
        <p:spPr>
          <a:xfrm>
            <a:off x="8613058" y="1175004"/>
            <a:ext cx="771341" cy="365760"/>
          </a:xfrm>
          <a:prstGeom prst="rect">
            <a:avLst/>
          </a:prstGeom>
          <a:noFill/>
          <a:ln/>
        </p:spPr>
        <p:txBody>
          <a:bodyPr wrap="square" lIns="127" tIns="127" rIns="127" bIns="127" rtlCol="0" anchor="ctr">
            <a:normAutofit/>
          </a:bodyPr>
          <a:lstStyle/>
          <a:p>
            <a:pPr marL="0" indent="0" algn="ctr">
              <a:buNone/>
            </a:pPr>
            <a:r>
              <a:rPr lang="en-US" sz="880" b="1" dirty="0">
                <a:solidFill>
                  <a:srgbClr val="FFFFFF"/>
                </a:solidFill>
                <a:latin typeface="Aptos" pitchFamily="34" charset="0"/>
                <a:ea typeface="Aptos" pitchFamily="34" charset="-122"/>
                <a:cs typeface="Aptos" pitchFamily="34" charset="-120"/>
              </a:rPr>
              <a:t>F1 Ya</a:t>
            </a:r>
            <a:endParaRPr lang="en-US" sz="880" dirty="0"/>
          </a:p>
        </p:txBody>
      </p:sp>
      <p:sp>
        <p:nvSpPr>
          <p:cNvPr id="28" name="Text 25"/>
          <p:cNvSpPr/>
          <p:nvPr/>
        </p:nvSpPr>
        <p:spPr>
          <a:xfrm>
            <a:off x="9475839" y="1175004"/>
            <a:ext cx="771341" cy="365760"/>
          </a:xfrm>
          <a:prstGeom prst="rect">
            <a:avLst/>
          </a:prstGeom>
          <a:noFill/>
          <a:ln/>
        </p:spPr>
        <p:txBody>
          <a:bodyPr wrap="square" lIns="127" tIns="127" rIns="127" bIns="127" rtlCol="0" anchor="ctr">
            <a:normAutofit/>
          </a:bodyPr>
          <a:lstStyle/>
          <a:p>
            <a:pPr marL="0" indent="0" algn="ctr">
              <a:buNone/>
            </a:pPr>
            <a:r>
              <a:rPr lang="en-US" sz="880" b="1" dirty="0">
                <a:solidFill>
                  <a:srgbClr val="FFFFFF"/>
                </a:solidFill>
                <a:latin typeface="Aptos" pitchFamily="34" charset="0"/>
                <a:ea typeface="Aptos" pitchFamily="34" charset="-122"/>
                <a:cs typeface="Aptos" pitchFamily="34" charset="-120"/>
              </a:rPr>
              <a:t>F1 Macro</a:t>
            </a:r>
            <a:endParaRPr lang="en-US" sz="880" dirty="0"/>
          </a:p>
        </p:txBody>
      </p:sp>
      <p:sp>
        <p:nvSpPr>
          <p:cNvPr id="29" name="Text 26"/>
          <p:cNvSpPr/>
          <p:nvPr/>
        </p:nvSpPr>
        <p:spPr>
          <a:xfrm>
            <a:off x="10338619" y="1175004"/>
            <a:ext cx="771341" cy="365760"/>
          </a:xfrm>
          <a:prstGeom prst="rect">
            <a:avLst/>
          </a:prstGeom>
          <a:noFill/>
          <a:ln/>
        </p:spPr>
        <p:txBody>
          <a:bodyPr wrap="square" lIns="127" tIns="127" rIns="127" bIns="127" rtlCol="0" anchor="ctr">
            <a:normAutofit/>
          </a:bodyPr>
          <a:lstStyle/>
          <a:p>
            <a:pPr marL="0" indent="0" algn="ctr">
              <a:buNone/>
            </a:pPr>
            <a:r>
              <a:rPr lang="en-US" sz="880" b="1" dirty="0">
                <a:solidFill>
                  <a:srgbClr val="FFFFFF"/>
                </a:solidFill>
                <a:latin typeface="Aptos" pitchFamily="34" charset="0"/>
                <a:ea typeface="Aptos" pitchFamily="34" charset="-122"/>
                <a:cs typeface="Aptos" pitchFamily="34" charset="-120"/>
              </a:rPr>
              <a:t>Accuracy</a:t>
            </a:r>
            <a:endParaRPr lang="en-US" sz="880" dirty="0"/>
          </a:p>
        </p:txBody>
      </p:sp>
      <p:sp>
        <p:nvSpPr>
          <p:cNvPr id="30" name="Shape 27"/>
          <p:cNvSpPr/>
          <p:nvPr/>
        </p:nvSpPr>
        <p:spPr>
          <a:xfrm>
            <a:off x="5806440" y="1572768"/>
            <a:ext cx="5349240" cy="429768"/>
          </a:xfrm>
          <a:prstGeom prst="rect">
            <a:avLst/>
          </a:prstGeom>
          <a:solidFill>
            <a:srgbClr val="FFFFFF"/>
          </a:solidFill>
          <a:ln w="6350">
            <a:solidFill>
              <a:srgbClr val="D6E4F2"/>
            </a:solidFill>
            <a:prstDash val="solid"/>
          </a:ln>
        </p:spPr>
      </p:sp>
      <p:sp>
        <p:nvSpPr>
          <p:cNvPr id="31" name="Text 28"/>
          <p:cNvSpPr/>
          <p:nvPr/>
        </p:nvSpPr>
        <p:spPr>
          <a:xfrm>
            <a:off x="5852160" y="1604772"/>
            <a:ext cx="1806677" cy="365760"/>
          </a:xfrm>
          <a:prstGeom prst="rect">
            <a:avLst/>
          </a:prstGeom>
          <a:noFill/>
          <a:ln/>
        </p:spPr>
        <p:txBody>
          <a:bodyPr wrap="square" lIns="127" tIns="127" rIns="127" bIns="127" rtlCol="0" anchor="ctr">
            <a:normAutofit/>
          </a:bodyPr>
          <a:lstStyle/>
          <a:p>
            <a:pPr marL="0" indent="0" algn="l">
              <a:buNone/>
            </a:pPr>
            <a:r>
              <a:rPr lang="en-US" sz="880" b="1" dirty="0">
                <a:solidFill>
                  <a:srgbClr val="1F2937"/>
                </a:solidFill>
                <a:latin typeface="Aptos" pitchFamily="34" charset="0"/>
                <a:ea typeface="Aptos" pitchFamily="34" charset="-122"/>
                <a:cs typeface="Aptos" pitchFamily="34" charset="-120"/>
              </a:rPr>
              <a:t>CatBoost</a:t>
            </a:r>
            <a:endParaRPr lang="en-US" sz="880" dirty="0"/>
          </a:p>
        </p:txBody>
      </p:sp>
      <p:sp>
        <p:nvSpPr>
          <p:cNvPr id="32" name="Text 29"/>
          <p:cNvSpPr/>
          <p:nvPr/>
        </p:nvSpPr>
        <p:spPr>
          <a:xfrm>
            <a:off x="7750277" y="1604772"/>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0.7881</a:t>
            </a:r>
            <a:endParaRPr lang="en-US" sz="880" dirty="0"/>
          </a:p>
        </p:txBody>
      </p:sp>
      <p:sp>
        <p:nvSpPr>
          <p:cNvPr id="33" name="Text 30"/>
          <p:cNvSpPr/>
          <p:nvPr/>
        </p:nvSpPr>
        <p:spPr>
          <a:xfrm>
            <a:off x="8613058" y="1604772"/>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0.4861</a:t>
            </a:r>
            <a:endParaRPr lang="en-US" sz="880" dirty="0"/>
          </a:p>
        </p:txBody>
      </p:sp>
      <p:sp>
        <p:nvSpPr>
          <p:cNvPr id="34" name="Text 31"/>
          <p:cNvSpPr/>
          <p:nvPr/>
        </p:nvSpPr>
        <p:spPr>
          <a:xfrm>
            <a:off x="9475839" y="1604772"/>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0.6371</a:t>
            </a:r>
            <a:endParaRPr lang="en-US" sz="880" dirty="0"/>
          </a:p>
        </p:txBody>
      </p:sp>
      <p:sp>
        <p:nvSpPr>
          <p:cNvPr id="35" name="Text 32"/>
          <p:cNvSpPr/>
          <p:nvPr/>
        </p:nvSpPr>
        <p:spPr>
          <a:xfrm>
            <a:off x="10338619" y="1604772"/>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0.6999</a:t>
            </a:r>
            <a:endParaRPr lang="en-US" sz="880" dirty="0"/>
          </a:p>
        </p:txBody>
      </p:sp>
      <p:sp>
        <p:nvSpPr>
          <p:cNvPr id="36" name="Shape 33"/>
          <p:cNvSpPr/>
          <p:nvPr/>
        </p:nvSpPr>
        <p:spPr>
          <a:xfrm>
            <a:off x="5806440" y="2002536"/>
            <a:ext cx="5349240" cy="429768"/>
          </a:xfrm>
          <a:prstGeom prst="rect">
            <a:avLst/>
          </a:prstGeom>
          <a:solidFill>
            <a:srgbClr val="F3F9FF"/>
          </a:solidFill>
          <a:ln w="6350">
            <a:solidFill>
              <a:srgbClr val="D6E4F2"/>
            </a:solidFill>
            <a:prstDash val="solid"/>
          </a:ln>
        </p:spPr>
      </p:sp>
      <p:sp>
        <p:nvSpPr>
          <p:cNvPr id="37" name="Text 34"/>
          <p:cNvSpPr/>
          <p:nvPr/>
        </p:nvSpPr>
        <p:spPr>
          <a:xfrm>
            <a:off x="5852160" y="2034540"/>
            <a:ext cx="1806677" cy="365760"/>
          </a:xfrm>
          <a:prstGeom prst="rect">
            <a:avLst/>
          </a:prstGeom>
          <a:noFill/>
          <a:ln/>
        </p:spPr>
        <p:txBody>
          <a:bodyPr wrap="square" lIns="127" tIns="127" rIns="127" bIns="127" rtlCol="0" anchor="ctr">
            <a:normAutofit/>
          </a:bodyPr>
          <a:lstStyle/>
          <a:p>
            <a:pPr marL="0" indent="0" algn="l">
              <a:buNone/>
            </a:pPr>
            <a:r>
              <a:rPr lang="en-US" sz="880" b="1" dirty="0">
                <a:solidFill>
                  <a:srgbClr val="1F2937"/>
                </a:solidFill>
                <a:latin typeface="Aptos" pitchFamily="34" charset="0"/>
                <a:ea typeface="Aptos" pitchFamily="34" charset="-122"/>
                <a:cs typeface="Aptos" pitchFamily="34" charset="-120"/>
              </a:rPr>
              <a:t>Random Forest</a:t>
            </a:r>
            <a:endParaRPr lang="en-US" sz="880" dirty="0"/>
          </a:p>
        </p:txBody>
      </p:sp>
      <p:sp>
        <p:nvSpPr>
          <p:cNvPr id="38" name="Text 35"/>
          <p:cNvSpPr/>
          <p:nvPr/>
        </p:nvSpPr>
        <p:spPr>
          <a:xfrm>
            <a:off x="7750277" y="2034540"/>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0.7269</a:t>
            </a:r>
            <a:endParaRPr lang="en-US" sz="880" dirty="0"/>
          </a:p>
        </p:txBody>
      </p:sp>
      <p:sp>
        <p:nvSpPr>
          <p:cNvPr id="39" name="Text 36"/>
          <p:cNvSpPr/>
          <p:nvPr/>
        </p:nvSpPr>
        <p:spPr>
          <a:xfrm>
            <a:off x="8613058" y="2034540"/>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0.5319</a:t>
            </a:r>
            <a:endParaRPr lang="en-US" sz="880" dirty="0"/>
          </a:p>
        </p:txBody>
      </p:sp>
      <p:sp>
        <p:nvSpPr>
          <p:cNvPr id="40" name="Text 37"/>
          <p:cNvSpPr/>
          <p:nvPr/>
        </p:nvSpPr>
        <p:spPr>
          <a:xfrm>
            <a:off x="9475839" y="2034540"/>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0.6294</a:t>
            </a:r>
            <a:endParaRPr lang="en-US" sz="880" dirty="0"/>
          </a:p>
        </p:txBody>
      </p:sp>
      <p:sp>
        <p:nvSpPr>
          <p:cNvPr id="41" name="Text 38"/>
          <p:cNvSpPr/>
          <p:nvPr/>
        </p:nvSpPr>
        <p:spPr>
          <a:xfrm>
            <a:off x="10338619" y="2034540"/>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0.6551</a:t>
            </a:r>
            <a:endParaRPr lang="en-US" sz="880" dirty="0"/>
          </a:p>
        </p:txBody>
      </p:sp>
      <p:sp>
        <p:nvSpPr>
          <p:cNvPr id="42" name="Shape 39"/>
          <p:cNvSpPr/>
          <p:nvPr/>
        </p:nvSpPr>
        <p:spPr>
          <a:xfrm>
            <a:off x="5806440" y="2432304"/>
            <a:ext cx="5349240" cy="429768"/>
          </a:xfrm>
          <a:prstGeom prst="rect">
            <a:avLst/>
          </a:prstGeom>
          <a:solidFill>
            <a:srgbClr val="FFFFFF"/>
          </a:solidFill>
          <a:ln w="6350">
            <a:solidFill>
              <a:srgbClr val="D6E4F2"/>
            </a:solidFill>
            <a:prstDash val="solid"/>
          </a:ln>
        </p:spPr>
      </p:sp>
      <p:sp>
        <p:nvSpPr>
          <p:cNvPr id="43" name="Text 40"/>
          <p:cNvSpPr/>
          <p:nvPr/>
        </p:nvSpPr>
        <p:spPr>
          <a:xfrm>
            <a:off x="5852160" y="2464308"/>
            <a:ext cx="1806677" cy="365760"/>
          </a:xfrm>
          <a:prstGeom prst="rect">
            <a:avLst/>
          </a:prstGeom>
          <a:noFill/>
          <a:ln/>
        </p:spPr>
        <p:txBody>
          <a:bodyPr wrap="square" lIns="127" tIns="127" rIns="127" bIns="127" rtlCol="0" anchor="ctr">
            <a:normAutofit/>
          </a:bodyPr>
          <a:lstStyle/>
          <a:p>
            <a:pPr marL="0" indent="0" algn="l">
              <a:buNone/>
            </a:pPr>
            <a:r>
              <a:rPr lang="en-US" sz="880" b="1" dirty="0">
                <a:solidFill>
                  <a:srgbClr val="1F2937"/>
                </a:solidFill>
                <a:latin typeface="Aptos" pitchFamily="34" charset="0"/>
                <a:ea typeface="Aptos" pitchFamily="34" charset="-122"/>
                <a:cs typeface="Aptos" pitchFamily="34" charset="-120"/>
              </a:rPr>
              <a:t>Logistic Regression</a:t>
            </a:r>
            <a:endParaRPr lang="en-US" sz="880" dirty="0"/>
          </a:p>
        </p:txBody>
      </p:sp>
      <p:sp>
        <p:nvSpPr>
          <p:cNvPr id="44" name="Text 41"/>
          <p:cNvSpPr/>
          <p:nvPr/>
        </p:nvSpPr>
        <p:spPr>
          <a:xfrm>
            <a:off x="7750277" y="2464308"/>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0.7189</a:t>
            </a:r>
            <a:endParaRPr lang="en-US" sz="880" dirty="0"/>
          </a:p>
        </p:txBody>
      </p:sp>
      <p:sp>
        <p:nvSpPr>
          <p:cNvPr id="45" name="Text 42"/>
          <p:cNvSpPr/>
          <p:nvPr/>
        </p:nvSpPr>
        <p:spPr>
          <a:xfrm>
            <a:off x="8613058" y="2464308"/>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0.5377</a:t>
            </a:r>
            <a:endParaRPr lang="en-US" sz="880" dirty="0"/>
          </a:p>
        </p:txBody>
      </p:sp>
      <p:sp>
        <p:nvSpPr>
          <p:cNvPr id="46" name="Text 43"/>
          <p:cNvSpPr/>
          <p:nvPr/>
        </p:nvSpPr>
        <p:spPr>
          <a:xfrm>
            <a:off x="9475839" y="2464308"/>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0.6283</a:t>
            </a:r>
            <a:endParaRPr lang="en-US" sz="880" dirty="0"/>
          </a:p>
        </p:txBody>
      </p:sp>
      <p:sp>
        <p:nvSpPr>
          <p:cNvPr id="47" name="Text 44"/>
          <p:cNvSpPr/>
          <p:nvPr/>
        </p:nvSpPr>
        <p:spPr>
          <a:xfrm>
            <a:off x="10338619" y="2464308"/>
            <a:ext cx="771341" cy="365760"/>
          </a:xfrm>
          <a:prstGeom prst="rect">
            <a:avLst/>
          </a:prstGeom>
          <a:noFill/>
          <a:ln/>
        </p:spPr>
        <p:txBody>
          <a:bodyPr wrap="square" lIns="127" tIns="127" rIns="127" bIns="127" rtlCol="0" anchor="ctr">
            <a:normAutofit/>
          </a:bodyPr>
          <a:lstStyle/>
          <a:p>
            <a:pPr marL="0" indent="0" algn="ctr">
              <a:buNone/>
            </a:pPr>
            <a:r>
              <a:rPr lang="en-US" sz="880" dirty="0">
                <a:solidFill>
                  <a:srgbClr val="5E6B7A"/>
                </a:solidFill>
                <a:latin typeface="Aptos" pitchFamily="34" charset="0"/>
                <a:ea typeface="Aptos" pitchFamily="34" charset="-122"/>
                <a:cs typeface="Aptos" pitchFamily="34" charset="-120"/>
              </a:rPr>
              <a:t>0.6504</a:t>
            </a:r>
            <a:endParaRPr lang="en-US" sz="880" dirty="0"/>
          </a:p>
        </p:txBody>
      </p:sp>
      <p:sp>
        <p:nvSpPr>
          <p:cNvPr id="48" name="Shape 45"/>
          <p:cNvSpPr/>
          <p:nvPr/>
        </p:nvSpPr>
        <p:spPr>
          <a:xfrm>
            <a:off x="731520" y="3675888"/>
            <a:ext cx="4709160" cy="960120"/>
          </a:xfrm>
          <a:prstGeom prst="roundRect">
            <a:avLst/>
          </a:prstGeom>
          <a:solidFill>
            <a:srgbClr val="EAF8F0"/>
          </a:solidFill>
          <a:ln w="12700">
            <a:solidFill>
              <a:srgbClr val="C9DFFF"/>
            </a:solidFill>
            <a:prstDash val="solid"/>
          </a:ln>
          <a:effectLst>
            <a:outerShdw blurRad="12700" dist="50800" dir="2700000" algn="bl" rotWithShape="0">
              <a:srgbClr val="B8C8DA">
                <a:alpha val="10000"/>
              </a:srgbClr>
            </a:outerShdw>
          </a:effectLst>
        </p:spPr>
      </p:sp>
      <p:sp>
        <p:nvSpPr>
          <p:cNvPr id="49" name="Text 46"/>
          <p:cNvSpPr/>
          <p:nvPr/>
        </p:nvSpPr>
        <p:spPr>
          <a:xfrm>
            <a:off x="896112" y="3822192"/>
            <a:ext cx="4379976" cy="219456"/>
          </a:xfrm>
          <a:prstGeom prst="rect">
            <a:avLst/>
          </a:prstGeom>
          <a:noFill/>
          <a:ln/>
        </p:spPr>
        <p:txBody>
          <a:bodyPr wrap="square" lIns="0" tIns="0" rIns="0" bIns="0" rtlCol="0" anchor="t">
            <a:normAutofit/>
          </a:bodyPr>
          <a:lstStyle/>
          <a:p>
            <a:pPr marL="0" indent="0" algn="l">
              <a:buNone/>
            </a:pPr>
            <a:r>
              <a:rPr lang="en-US" sz="1200" b="1" dirty="0">
                <a:solidFill>
                  <a:srgbClr val="16A34A"/>
                </a:solidFill>
                <a:latin typeface="Aptos" pitchFamily="34" charset="0"/>
                <a:ea typeface="Aptos" pitchFamily="34" charset="-122"/>
                <a:cs typeface="Aptos" pitchFamily="34" charset="-120"/>
              </a:rPr>
              <a:t>Temuan utama</a:t>
            </a:r>
            <a:endParaRPr lang="en-US" sz="1200" dirty="0"/>
          </a:p>
        </p:txBody>
      </p:sp>
      <p:sp>
        <p:nvSpPr>
          <p:cNvPr id="50" name="Text 47"/>
          <p:cNvSpPr/>
          <p:nvPr/>
        </p:nvSpPr>
        <p:spPr>
          <a:xfrm>
            <a:off x="896112" y="4114800"/>
            <a:ext cx="4379976" cy="42976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CatBoost unggul secara agregat. Tetapi F1 Ya lebih rendah daripada F1 Tidak, sehingga model lebih mudah mengenali non-pengguna AI Agent.</a:t>
            </a:r>
            <a:endParaRPr lang="en-US" sz="1100" dirty="0"/>
          </a:p>
        </p:txBody>
      </p:sp>
      <p:sp>
        <p:nvSpPr>
          <p:cNvPr id="51" name="Shape 48"/>
          <p:cNvSpPr/>
          <p:nvPr/>
        </p:nvSpPr>
        <p:spPr>
          <a:xfrm>
            <a:off x="5806440" y="3675888"/>
            <a:ext cx="5349240" cy="960120"/>
          </a:xfrm>
          <a:prstGeom prst="roundRect">
            <a:avLst/>
          </a:prstGeom>
          <a:solidFill>
            <a:srgbClr val="FFF7E6"/>
          </a:solidFill>
          <a:ln w="12700">
            <a:solidFill>
              <a:srgbClr val="C9DFFF"/>
            </a:solidFill>
            <a:prstDash val="solid"/>
          </a:ln>
          <a:effectLst>
            <a:outerShdw blurRad="12700" dist="50800" dir="2700000" algn="bl" rotWithShape="0">
              <a:srgbClr val="B8C8DA">
                <a:alpha val="10000"/>
              </a:srgbClr>
            </a:outerShdw>
          </a:effectLst>
        </p:spPr>
      </p:sp>
      <p:sp>
        <p:nvSpPr>
          <p:cNvPr id="52" name="Text 49"/>
          <p:cNvSpPr/>
          <p:nvPr/>
        </p:nvSpPr>
        <p:spPr>
          <a:xfrm>
            <a:off x="5971032" y="3822192"/>
            <a:ext cx="5020056" cy="219456"/>
          </a:xfrm>
          <a:prstGeom prst="rect">
            <a:avLst/>
          </a:prstGeom>
          <a:noFill/>
          <a:ln/>
        </p:spPr>
        <p:txBody>
          <a:bodyPr wrap="square" lIns="0" tIns="0" rIns="0" bIns="0" rtlCol="0" anchor="t">
            <a:normAutofit/>
          </a:bodyPr>
          <a:lstStyle/>
          <a:p>
            <a:pPr marL="0" indent="0" algn="l">
              <a:buNone/>
            </a:pPr>
            <a:r>
              <a:rPr lang="en-US" sz="1200" b="1" dirty="0">
                <a:solidFill>
                  <a:srgbClr val="F59E0B"/>
                </a:solidFill>
                <a:latin typeface="Aptos" pitchFamily="34" charset="0"/>
                <a:ea typeface="Aptos" pitchFamily="34" charset="-122"/>
                <a:cs typeface="Aptos" pitchFamily="34" charset="-120"/>
              </a:rPr>
              <a:t>Mengapa lebih sulit?</a:t>
            </a:r>
            <a:endParaRPr lang="en-US" sz="1200" dirty="0"/>
          </a:p>
        </p:txBody>
      </p:sp>
      <p:sp>
        <p:nvSpPr>
          <p:cNvPr id="53" name="Text 50"/>
          <p:cNvSpPr/>
          <p:nvPr/>
        </p:nvSpPr>
        <p:spPr>
          <a:xfrm>
            <a:off x="5971032" y="4114800"/>
            <a:ext cx="5020056" cy="42976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AIAgents lebih spesifik daripada penggunaan AI umum. Kelas Ya lebih kecil dan perilaku adopsinya lebih selektif.</a:t>
            </a:r>
            <a:endParaRPr lang="en-US" sz="1100" dirty="0"/>
          </a:p>
        </p:txBody>
      </p:sp>
      <p:sp>
        <p:nvSpPr>
          <p:cNvPr id="54" name="Shape 51"/>
          <p:cNvSpPr/>
          <p:nvPr/>
        </p:nvSpPr>
        <p:spPr>
          <a:xfrm>
            <a:off x="731520" y="4983480"/>
            <a:ext cx="10424160" cy="640080"/>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55" name="Text 52"/>
          <p:cNvSpPr/>
          <p:nvPr/>
        </p:nvSpPr>
        <p:spPr>
          <a:xfrm>
            <a:off x="896112" y="5129784"/>
            <a:ext cx="10094976"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Catatan presentasi</a:t>
            </a:r>
            <a:endParaRPr lang="en-US" sz="1200" dirty="0"/>
          </a:p>
        </p:txBody>
      </p:sp>
      <p:sp>
        <p:nvSpPr>
          <p:cNvPr id="56" name="Text 53"/>
          <p:cNvSpPr/>
          <p:nvPr/>
        </p:nvSpPr>
        <p:spPr>
          <a:xfrm>
            <a:off x="896112" y="5422392"/>
            <a:ext cx="10094976" cy="10972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Bandingkan dengan slide AISelect. AISelect punya F1 Macro 0,7901, sedangkan AIAgents hanya 0,6371. Jadi target AI Agent memang lebih menantang.</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15</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Confusion Matrix AIAgents Awal</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Kelas Ya lebih sulit</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548640" y="1060704"/>
            <a:ext cx="11018520" cy="329184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pic>
        <p:nvPicPr>
          <p:cNvPr id="11" name="Image 0" descr="/mnt/data/latest_nb_assets/cell15_out1.png"/>
          <p:cNvPicPr>
            <a:picLocks noChangeAspect="1"/>
          </p:cNvPicPr>
          <p:nvPr/>
        </p:nvPicPr>
        <p:blipFill>
          <a:blip r:embed="rId3"/>
          <a:stretch>
            <a:fillRect/>
          </a:stretch>
        </p:blipFill>
        <p:spPr>
          <a:xfrm>
            <a:off x="845378" y="1234440"/>
            <a:ext cx="10425045" cy="2880360"/>
          </a:xfrm>
          <a:prstGeom prst="rect">
            <a:avLst/>
          </a:prstGeom>
        </p:spPr>
      </p:pic>
      <p:sp>
        <p:nvSpPr>
          <p:cNvPr id="12" name="Shape 8"/>
          <p:cNvSpPr/>
          <p:nvPr/>
        </p:nvSpPr>
        <p:spPr>
          <a:xfrm>
            <a:off x="731520" y="4617720"/>
            <a:ext cx="2926080" cy="1005840"/>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13" name="Text 9"/>
          <p:cNvSpPr/>
          <p:nvPr/>
        </p:nvSpPr>
        <p:spPr>
          <a:xfrm>
            <a:off x="896112" y="4764024"/>
            <a:ext cx="2596896"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Cara membaca</a:t>
            </a:r>
            <a:endParaRPr lang="en-US" sz="1200" dirty="0"/>
          </a:p>
        </p:txBody>
      </p:sp>
      <p:sp>
        <p:nvSpPr>
          <p:cNvPr id="14" name="Text 10"/>
          <p:cNvSpPr/>
          <p:nvPr/>
        </p:nvSpPr>
        <p:spPr>
          <a:xfrm>
            <a:off x="896112" y="5056632"/>
            <a:ext cx="2596896" cy="47548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Diagonal = benar. Di luar diagonal = salah. Perhatikan bagian kanan bawah untuk kelas Ya yang berhasil diprediksi sebagai Ya.</a:t>
            </a:r>
            <a:endParaRPr lang="en-US" sz="1100" dirty="0"/>
          </a:p>
        </p:txBody>
      </p:sp>
      <p:sp>
        <p:nvSpPr>
          <p:cNvPr id="15" name="Shape 11"/>
          <p:cNvSpPr/>
          <p:nvPr/>
        </p:nvSpPr>
        <p:spPr>
          <a:xfrm>
            <a:off x="3913632" y="4617720"/>
            <a:ext cx="2331720" cy="1005840"/>
          </a:xfrm>
          <a:prstGeom prst="roundRect">
            <a:avLst/>
          </a:prstGeom>
          <a:solidFill>
            <a:srgbClr val="EAF8F0"/>
          </a:solidFill>
          <a:ln w="12700">
            <a:solidFill>
              <a:srgbClr val="C9DFFF"/>
            </a:solidFill>
            <a:prstDash val="solid"/>
          </a:ln>
          <a:effectLst>
            <a:outerShdw blurRad="12700" dist="50800" dir="2700000" algn="bl" rotWithShape="0">
              <a:srgbClr val="B8C8DA">
                <a:alpha val="10000"/>
              </a:srgbClr>
            </a:outerShdw>
          </a:effectLst>
        </p:spPr>
      </p:sp>
      <p:sp>
        <p:nvSpPr>
          <p:cNvPr id="16" name="Text 12"/>
          <p:cNvSpPr/>
          <p:nvPr/>
        </p:nvSpPr>
        <p:spPr>
          <a:xfrm>
            <a:off x="4078224" y="4764024"/>
            <a:ext cx="2002536" cy="219456"/>
          </a:xfrm>
          <a:prstGeom prst="rect">
            <a:avLst/>
          </a:prstGeom>
          <a:noFill/>
          <a:ln/>
        </p:spPr>
        <p:txBody>
          <a:bodyPr wrap="square" lIns="0" tIns="0" rIns="0" bIns="0" rtlCol="0" anchor="t">
            <a:normAutofit/>
          </a:bodyPr>
          <a:lstStyle/>
          <a:p>
            <a:pPr marL="0" indent="0" algn="l">
              <a:buNone/>
            </a:pPr>
            <a:r>
              <a:rPr lang="en-US" sz="1200" b="1" dirty="0">
                <a:solidFill>
                  <a:srgbClr val="16A34A"/>
                </a:solidFill>
                <a:latin typeface="Aptos" pitchFamily="34" charset="0"/>
                <a:ea typeface="Aptos" pitchFamily="34" charset="-122"/>
                <a:cs typeface="Aptos" pitchFamily="34" charset="-120"/>
              </a:rPr>
              <a:t>Logistic Regression</a:t>
            </a:r>
            <a:endParaRPr lang="en-US" sz="1200" dirty="0"/>
          </a:p>
        </p:txBody>
      </p:sp>
      <p:sp>
        <p:nvSpPr>
          <p:cNvPr id="17" name="Text 13"/>
          <p:cNvSpPr/>
          <p:nvPr/>
        </p:nvSpPr>
        <p:spPr>
          <a:xfrm>
            <a:off x="4078224" y="5056632"/>
            <a:ext cx="2002536" cy="47548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Benar Ya: 1.298. Recall Ya lebih tinggi, tetapi kesalahan memprediksi Tidak sebagai Ya juga besar: 1.555.</a:t>
            </a:r>
            <a:endParaRPr lang="en-US" sz="1100" dirty="0"/>
          </a:p>
        </p:txBody>
      </p:sp>
      <p:sp>
        <p:nvSpPr>
          <p:cNvPr id="18" name="Shape 14"/>
          <p:cNvSpPr/>
          <p:nvPr/>
        </p:nvSpPr>
        <p:spPr>
          <a:xfrm>
            <a:off x="6446520" y="4617720"/>
            <a:ext cx="2240280" cy="1005840"/>
          </a:xfrm>
          <a:prstGeom prst="roundRect">
            <a:avLst/>
          </a:prstGeom>
          <a:solidFill>
            <a:srgbClr val="FFF7E6"/>
          </a:solidFill>
          <a:ln w="12700">
            <a:solidFill>
              <a:srgbClr val="C9DFFF"/>
            </a:solidFill>
            <a:prstDash val="solid"/>
          </a:ln>
          <a:effectLst>
            <a:outerShdw blurRad="12700" dist="50800" dir="2700000" algn="bl" rotWithShape="0">
              <a:srgbClr val="B8C8DA">
                <a:alpha val="10000"/>
              </a:srgbClr>
            </a:outerShdw>
          </a:effectLst>
        </p:spPr>
      </p:sp>
      <p:sp>
        <p:nvSpPr>
          <p:cNvPr id="19" name="Text 15"/>
          <p:cNvSpPr/>
          <p:nvPr/>
        </p:nvSpPr>
        <p:spPr>
          <a:xfrm>
            <a:off x="6611112" y="4764024"/>
            <a:ext cx="1911096" cy="219456"/>
          </a:xfrm>
          <a:prstGeom prst="rect">
            <a:avLst/>
          </a:prstGeom>
          <a:noFill/>
          <a:ln/>
        </p:spPr>
        <p:txBody>
          <a:bodyPr wrap="square" lIns="0" tIns="0" rIns="0" bIns="0" rtlCol="0" anchor="t">
            <a:normAutofit/>
          </a:bodyPr>
          <a:lstStyle/>
          <a:p>
            <a:pPr marL="0" indent="0" algn="l">
              <a:buNone/>
            </a:pPr>
            <a:r>
              <a:rPr lang="en-US" sz="1200" b="1" dirty="0">
                <a:solidFill>
                  <a:srgbClr val="F59E0B"/>
                </a:solidFill>
                <a:latin typeface="Aptos" pitchFamily="34" charset="0"/>
                <a:ea typeface="Aptos" pitchFamily="34" charset="-122"/>
                <a:cs typeface="Aptos" pitchFamily="34" charset="-120"/>
              </a:rPr>
              <a:t>Random Forest</a:t>
            </a:r>
            <a:endParaRPr lang="en-US" sz="1200" dirty="0"/>
          </a:p>
        </p:txBody>
      </p:sp>
      <p:sp>
        <p:nvSpPr>
          <p:cNvPr id="20" name="Text 16"/>
          <p:cNvSpPr/>
          <p:nvPr/>
        </p:nvSpPr>
        <p:spPr>
          <a:xfrm>
            <a:off x="6611112" y="5056632"/>
            <a:ext cx="1911096" cy="47548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Benar Ya: 1.251. Polanya mirip Logistic Regression, masih sering memberi prediksi Ya pada aktual Tidak.</a:t>
            </a:r>
            <a:endParaRPr lang="en-US" sz="1100" dirty="0"/>
          </a:p>
        </p:txBody>
      </p:sp>
      <p:sp>
        <p:nvSpPr>
          <p:cNvPr id="21" name="Shape 17"/>
          <p:cNvSpPr/>
          <p:nvPr/>
        </p:nvSpPr>
        <p:spPr>
          <a:xfrm>
            <a:off x="8915400" y="4617720"/>
            <a:ext cx="2423160" cy="1005840"/>
          </a:xfrm>
          <a:prstGeom prst="roundRect">
            <a:avLst/>
          </a:prstGeom>
          <a:solidFill>
            <a:srgbClr val="FFF0F3"/>
          </a:solidFill>
          <a:ln w="12700">
            <a:solidFill>
              <a:srgbClr val="C9DFFF"/>
            </a:solidFill>
            <a:prstDash val="solid"/>
          </a:ln>
          <a:effectLst>
            <a:outerShdw blurRad="12700" dist="50800" dir="2700000" algn="bl" rotWithShape="0">
              <a:srgbClr val="B8C8DA">
                <a:alpha val="10000"/>
              </a:srgbClr>
            </a:outerShdw>
          </a:effectLst>
        </p:spPr>
      </p:sp>
      <p:sp>
        <p:nvSpPr>
          <p:cNvPr id="22" name="Text 18"/>
          <p:cNvSpPr/>
          <p:nvPr/>
        </p:nvSpPr>
        <p:spPr>
          <a:xfrm>
            <a:off x="9079992" y="4764024"/>
            <a:ext cx="2093976" cy="219456"/>
          </a:xfrm>
          <a:prstGeom prst="rect">
            <a:avLst/>
          </a:prstGeom>
          <a:noFill/>
          <a:ln/>
        </p:spPr>
        <p:txBody>
          <a:bodyPr wrap="square" lIns="0" tIns="0" rIns="0" bIns="0" rtlCol="0" anchor="t">
            <a:normAutofit/>
          </a:bodyPr>
          <a:lstStyle/>
          <a:p>
            <a:pPr marL="0" indent="0" algn="l">
              <a:buNone/>
            </a:pPr>
            <a:r>
              <a:rPr lang="en-US" sz="1200" b="1" dirty="0">
                <a:solidFill>
                  <a:srgbClr val="D1495B"/>
                </a:solidFill>
                <a:latin typeface="Aptos" pitchFamily="34" charset="0"/>
                <a:ea typeface="Aptos" pitchFamily="34" charset="-122"/>
                <a:cs typeface="Aptos" pitchFamily="34" charset="-120"/>
              </a:rPr>
              <a:t>CatBoost</a:t>
            </a:r>
            <a:endParaRPr lang="en-US" sz="1200" dirty="0"/>
          </a:p>
        </p:txBody>
      </p:sp>
      <p:sp>
        <p:nvSpPr>
          <p:cNvPr id="23" name="Text 19"/>
          <p:cNvSpPr/>
          <p:nvPr/>
        </p:nvSpPr>
        <p:spPr>
          <a:xfrm>
            <a:off x="9079992" y="5056632"/>
            <a:ext cx="2093976" cy="47548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Benar Tidak paling tinggi: 3.562. Namun benar Ya hanya 906, sehingga F1 Ya rendah.</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16</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Feature Importance AIAgents</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CatBoost awal</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694944" y="1078992"/>
            <a:ext cx="6035040" cy="438912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pic>
        <p:nvPicPr>
          <p:cNvPr id="11" name="Image 0" descr="/mnt/data/latest_nb_assets/cell15_out4.png"/>
          <p:cNvPicPr>
            <a:picLocks noChangeAspect="1"/>
          </p:cNvPicPr>
          <p:nvPr/>
        </p:nvPicPr>
        <p:blipFill>
          <a:blip r:embed="rId3"/>
          <a:stretch>
            <a:fillRect/>
          </a:stretch>
        </p:blipFill>
        <p:spPr>
          <a:xfrm>
            <a:off x="896112" y="1487416"/>
            <a:ext cx="5623560" cy="3471688"/>
          </a:xfrm>
          <a:prstGeom prst="rect">
            <a:avLst/>
          </a:prstGeom>
        </p:spPr>
      </p:pic>
      <p:sp>
        <p:nvSpPr>
          <p:cNvPr id="12" name="Shape 8"/>
          <p:cNvSpPr/>
          <p:nvPr/>
        </p:nvSpPr>
        <p:spPr>
          <a:xfrm>
            <a:off x="7086600" y="1261872"/>
            <a:ext cx="4206240" cy="1024128"/>
          </a:xfrm>
          <a:prstGeom prst="roundRect">
            <a:avLst/>
          </a:prstGeom>
          <a:solidFill>
            <a:srgbClr val="EAF8F0"/>
          </a:solidFill>
          <a:ln w="12700">
            <a:solidFill>
              <a:srgbClr val="C9DFFF"/>
            </a:solidFill>
            <a:prstDash val="solid"/>
          </a:ln>
          <a:effectLst>
            <a:outerShdw blurRad="12700" dist="50800" dir="2700000" algn="bl" rotWithShape="0">
              <a:srgbClr val="B8C8DA">
                <a:alpha val="10000"/>
              </a:srgbClr>
            </a:outerShdw>
          </a:effectLst>
        </p:spPr>
      </p:sp>
      <p:sp>
        <p:nvSpPr>
          <p:cNvPr id="13" name="Text 9"/>
          <p:cNvSpPr/>
          <p:nvPr/>
        </p:nvSpPr>
        <p:spPr>
          <a:xfrm>
            <a:off x="7251192" y="1408176"/>
            <a:ext cx="3877056" cy="219456"/>
          </a:xfrm>
          <a:prstGeom prst="rect">
            <a:avLst/>
          </a:prstGeom>
          <a:noFill/>
          <a:ln/>
        </p:spPr>
        <p:txBody>
          <a:bodyPr wrap="square" lIns="0" tIns="0" rIns="0" bIns="0" rtlCol="0" anchor="t">
            <a:normAutofit/>
          </a:bodyPr>
          <a:lstStyle/>
          <a:p>
            <a:pPr marL="0" indent="0" algn="l">
              <a:buNone/>
            </a:pPr>
            <a:r>
              <a:rPr lang="en-US" sz="1200" b="1" dirty="0">
                <a:solidFill>
                  <a:srgbClr val="16A34A"/>
                </a:solidFill>
                <a:latin typeface="Aptos" pitchFamily="34" charset="0"/>
                <a:ea typeface="Aptos" pitchFamily="34" charset="-122"/>
                <a:cs typeface="Aptos" pitchFamily="34" charset="-120"/>
              </a:rPr>
              <a:t>Temuan utama</a:t>
            </a:r>
            <a:endParaRPr lang="en-US" sz="1200" dirty="0"/>
          </a:p>
        </p:txBody>
      </p:sp>
      <p:sp>
        <p:nvSpPr>
          <p:cNvPr id="14" name="Text 10"/>
          <p:cNvSpPr/>
          <p:nvPr/>
        </p:nvSpPr>
        <p:spPr>
          <a:xfrm>
            <a:off x="7251192" y="1700784"/>
            <a:ext cx="3877056" cy="493776"/>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YearsCode dan WorkExp menjadi dua fitur teratas. Pengalaman coding dan pengalaman kerja menjadi sinyal utama dalam adopsi AI Agent.</a:t>
            </a:r>
            <a:endParaRPr lang="en-US" sz="1100" dirty="0"/>
          </a:p>
        </p:txBody>
      </p:sp>
      <p:sp>
        <p:nvSpPr>
          <p:cNvPr id="15" name="Shape 11"/>
          <p:cNvSpPr/>
          <p:nvPr/>
        </p:nvSpPr>
        <p:spPr>
          <a:xfrm>
            <a:off x="7086600" y="2651760"/>
            <a:ext cx="4206240" cy="1005840"/>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16" name="Text 12"/>
          <p:cNvSpPr/>
          <p:nvPr/>
        </p:nvSpPr>
        <p:spPr>
          <a:xfrm>
            <a:off x="7251192" y="2798064"/>
            <a:ext cx="3877056"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Perbandingan dengan AISelect</a:t>
            </a:r>
            <a:endParaRPr lang="en-US" sz="1200" dirty="0"/>
          </a:p>
        </p:txBody>
      </p:sp>
      <p:sp>
        <p:nvSpPr>
          <p:cNvPr id="17" name="Text 13"/>
          <p:cNvSpPr/>
          <p:nvPr/>
        </p:nvSpPr>
        <p:spPr>
          <a:xfrm>
            <a:off x="7251192" y="3090672"/>
            <a:ext cx="3877056" cy="47548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Pada dua target, pengalaman selalu dominan. Bedanya, AIAgents tampak lebih bergantung pada indikator pengalaman dibanding fitur teknologi.</a:t>
            </a:r>
            <a:endParaRPr lang="en-US" sz="1100" dirty="0"/>
          </a:p>
        </p:txBody>
      </p:sp>
      <p:sp>
        <p:nvSpPr>
          <p:cNvPr id="18" name="Shape 14"/>
          <p:cNvSpPr/>
          <p:nvPr/>
        </p:nvSpPr>
        <p:spPr>
          <a:xfrm>
            <a:off x="7086600" y="4023360"/>
            <a:ext cx="4206240" cy="1060704"/>
          </a:xfrm>
          <a:prstGeom prst="roundRect">
            <a:avLst/>
          </a:prstGeom>
          <a:solidFill>
            <a:srgbClr val="FFF7E6"/>
          </a:solidFill>
          <a:ln w="12700">
            <a:solidFill>
              <a:srgbClr val="C9DFFF"/>
            </a:solidFill>
            <a:prstDash val="solid"/>
          </a:ln>
          <a:effectLst>
            <a:outerShdw blurRad="12700" dist="50800" dir="2700000" algn="bl" rotWithShape="0">
              <a:srgbClr val="B8C8DA">
                <a:alpha val="10000"/>
              </a:srgbClr>
            </a:outerShdw>
          </a:effectLst>
        </p:spPr>
      </p:sp>
      <p:sp>
        <p:nvSpPr>
          <p:cNvPr id="19" name="Text 15"/>
          <p:cNvSpPr/>
          <p:nvPr/>
        </p:nvSpPr>
        <p:spPr>
          <a:xfrm>
            <a:off x="7251192" y="4169664"/>
            <a:ext cx="3877056" cy="219456"/>
          </a:xfrm>
          <a:prstGeom prst="rect">
            <a:avLst/>
          </a:prstGeom>
          <a:noFill/>
          <a:ln/>
        </p:spPr>
        <p:txBody>
          <a:bodyPr wrap="square" lIns="0" tIns="0" rIns="0" bIns="0" rtlCol="0" anchor="t">
            <a:normAutofit/>
          </a:bodyPr>
          <a:lstStyle/>
          <a:p>
            <a:pPr marL="0" indent="0" algn="l">
              <a:buNone/>
            </a:pPr>
            <a:r>
              <a:rPr lang="en-US" sz="1200" b="1" dirty="0">
                <a:solidFill>
                  <a:srgbClr val="F59E0B"/>
                </a:solidFill>
                <a:latin typeface="Aptos" pitchFamily="34" charset="0"/>
                <a:ea typeface="Aptos" pitchFamily="34" charset="-122"/>
                <a:cs typeface="Aptos" pitchFamily="34" charset="-120"/>
              </a:rPr>
              <a:t>Batas interpretasi</a:t>
            </a:r>
            <a:endParaRPr lang="en-US" sz="1200" dirty="0"/>
          </a:p>
        </p:txBody>
      </p:sp>
      <p:sp>
        <p:nvSpPr>
          <p:cNvPr id="20" name="Text 16"/>
          <p:cNvSpPr/>
          <p:nvPr/>
        </p:nvSpPr>
        <p:spPr>
          <a:xfrm>
            <a:off x="7251192" y="4462272"/>
            <a:ext cx="3877056" cy="530352"/>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Importance rendah pada Language bukan berarti bahasa pemrograman tidak penting. Bisa jadi informasi bahasa sudah tersebar melalui fitur lain atau banyak kategori dipadatkan.</a:t>
            </a:r>
            <a:endParaRPr lang="en-US" sz="1100" dirty="0"/>
          </a:p>
        </p:txBody>
      </p:sp>
      <p:sp>
        <p:nvSpPr>
          <p:cNvPr id="21" name="Shape 17"/>
          <p:cNvSpPr/>
          <p:nvPr/>
        </p:nvSpPr>
        <p:spPr>
          <a:xfrm>
            <a:off x="7086600" y="5413248"/>
            <a:ext cx="4206240" cy="512064"/>
          </a:xfrm>
          <a:prstGeom prst="roundRect">
            <a:avLst/>
          </a:prstGeom>
          <a:solidFill>
            <a:srgbClr val="F3EFFF"/>
          </a:solidFill>
          <a:ln w="12700">
            <a:solidFill>
              <a:srgbClr val="C9DFFF"/>
            </a:solidFill>
            <a:prstDash val="solid"/>
          </a:ln>
          <a:effectLst>
            <a:outerShdw blurRad="12700" dist="50800" dir="2700000" algn="bl" rotWithShape="0">
              <a:srgbClr val="B8C8DA">
                <a:alpha val="10000"/>
              </a:srgbClr>
            </a:outerShdw>
          </a:effectLst>
        </p:spPr>
      </p:sp>
      <p:sp>
        <p:nvSpPr>
          <p:cNvPr id="22" name="Text 18"/>
          <p:cNvSpPr/>
          <p:nvPr/>
        </p:nvSpPr>
        <p:spPr>
          <a:xfrm>
            <a:off x="7251192" y="5559552"/>
            <a:ext cx="3877056" cy="219456"/>
          </a:xfrm>
          <a:prstGeom prst="rect">
            <a:avLst/>
          </a:prstGeom>
          <a:noFill/>
          <a:ln/>
        </p:spPr>
        <p:txBody>
          <a:bodyPr wrap="square" lIns="0" tIns="0" rIns="0" bIns="0" rtlCol="0" anchor="t">
            <a:normAutofit/>
          </a:bodyPr>
          <a:lstStyle/>
          <a:p>
            <a:pPr marL="0" indent="0" algn="l">
              <a:buNone/>
            </a:pPr>
            <a:r>
              <a:rPr lang="en-US" sz="1200" b="1" dirty="0">
                <a:solidFill>
                  <a:srgbClr val="7C3AED"/>
                </a:solidFill>
                <a:latin typeface="Aptos" pitchFamily="34" charset="0"/>
                <a:ea typeface="Aptos" pitchFamily="34" charset="-122"/>
                <a:cs typeface="Aptos" pitchFamily="34" charset="-120"/>
              </a:rPr>
              <a:t>Kalimat presentasi</a:t>
            </a:r>
            <a:endParaRPr lang="en-US" sz="1200" dirty="0"/>
          </a:p>
        </p:txBody>
      </p:sp>
      <p:sp>
        <p:nvSpPr>
          <p:cNvPr id="23" name="Text 19"/>
          <p:cNvSpPr/>
          <p:nvPr/>
        </p:nvSpPr>
        <p:spPr>
          <a:xfrm>
            <a:off x="7251192" y="5852160"/>
            <a:ext cx="3877056" cy="0"/>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“Model membaca pengalaman developer sebagai sinyal paling kuat untuk membedakan siapa yang cenderung memakai AI Agent.”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17</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Optimasi untuk AIAgents</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Mengatasi target yang sulit</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731520" y="1143000"/>
            <a:ext cx="10698480" cy="539496"/>
          </a:xfrm>
          <a:prstGeom prst="rect">
            <a:avLst/>
          </a:prstGeom>
          <a:solidFill>
            <a:srgbClr val="1D4ED8"/>
          </a:solidFill>
          <a:ln w="6350">
            <a:solidFill>
              <a:srgbClr val="D6E4F2"/>
            </a:solidFill>
            <a:prstDash val="solid"/>
          </a:ln>
        </p:spPr>
      </p:sp>
      <p:sp>
        <p:nvSpPr>
          <p:cNvPr id="11" name="Text 8"/>
          <p:cNvSpPr/>
          <p:nvPr/>
        </p:nvSpPr>
        <p:spPr>
          <a:xfrm>
            <a:off x="777240" y="1175004"/>
            <a:ext cx="1988820" cy="475488"/>
          </a:xfrm>
          <a:prstGeom prst="rect">
            <a:avLst/>
          </a:prstGeom>
          <a:noFill/>
          <a:ln/>
        </p:spPr>
        <p:txBody>
          <a:bodyPr wrap="square" lIns="127" tIns="127" rIns="127" bIns="127" rtlCol="0" anchor="ctr">
            <a:normAutofit/>
          </a:bodyPr>
          <a:lstStyle/>
          <a:p>
            <a:pPr marL="0" indent="0" algn="l">
              <a:buNone/>
            </a:pPr>
            <a:r>
              <a:rPr lang="en-US" sz="960" b="1" dirty="0">
                <a:solidFill>
                  <a:srgbClr val="FFFFFF"/>
                </a:solidFill>
                <a:latin typeface="Aptos" pitchFamily="34" charset="0"/>
                <a:ea typeface="Aptos" pitchFamily="34" charset="-122"/>
                <a:cs typeface="Aptos" pitchFamily="34" charset="-120"/>
              </a:rPr>
              <a:t>Strategi</a:t>
            </a:r>
            <a:endParaRPr lang="en-US" sz="960" dirty="0"/>
          </a:p>
        </p:txBody>
      </p:sp>
      <p:sp>
        <p:nvSpPr>
          <p:cNvPr id="12" name="Text 9"/>
          <p:cNvSpPr/>
          <p:nvPr/>
        </p:nvSpPr>
        <p:spPr>
          <a:xfrm>
            <a:off x="2857500" y="1175004"/>
            <a:ext cx="4069080" cy="475488"/>
          </a:xfrm>
          <a:prstGeom prst="rect">
            <a:avLst/>
          </a:prstGeom>
          <a:noFill/>
          <a:ln/>
        </p:spPr>
        <p:txBody>
          <a:bodyPr wrap="square" lIns="127" tIns="127" rIns="127" bIns="127" rtlCol="0" anchor="ctr">
            <a:normAutofit/>
          </a:bodyPr>
          <a:lstStyle/>
          <a:p>
            <a:pPr marL="0" indent="0" algn="ctr">
              <a:buNone/>
            </a:pPr>
            <a:r>
              <a:rPr lang="en-US" sz="960" b="1" dirty="0">
                <a:solidFill>
                  <a:srgbClr val="FFFFFF"/>
                </a:solidFill>
                <a:latin typeface="Aptos" pitchFamily="34" charset="0"/>
                <a:ea typeface="Aptos" pitchFamily="34" charset="-122"/>
                <a:cs typeface="Aptos" pitchFamily="34" charset="-120"/>
              </a:rPr>
              <a:t>Apa yang dilakukan</a:t>
            </a:r>
            <a:endParaRPr lang="en-US" sz="960" dirty="0"/>
          </a:p>
        </p:txBody>
      </p:sp>
      <p:sp>
        <p:nvSpPr>
          <p:cNvPr id="13" name="Text 10"/>
          <p:cNvSpPr/>
          <p:nvPr/>
        </p:nvSpPr>
        <p:spPr>
          <a:xfrm>
            <a:off x="7018020" y="1175004"/>
            <a:ext cx="4366260" cy="475488"/>
          </a:xfrm>
          <a:prstGeom prst="rect">
            <a:avLst/>
          </a:prstGeom>
          <a:noFill/>
          <a:ln/>
        </p:spPr>
        <p:txBody>
          <a:bodyPr wrap="square" lIns="127" tIns="127" rIns="127" bIns="127" rtlCol="0" anchor="ctr">
            <a:normAutofit/>
          </a:bodyPr>
          <a:lstStyle/>
          <a:p>
            <a:pPr marL="0" indent="0" algn="ctr">
              <a:buNone/>
            </a:pPr>
            <a:r>
              <a:rPr lang="en-US" sz="960" b="1" dirty="0">
                <a:solidFill>
                  <a:srgbClr val="FFFFFF"/>
                </a:solidFill>
                <a:latin typeface="Aptos" pitchFamily="34" charset="0"/>
                <a:ea typeface="Aptos" pitchFamily="34" charset="-122"/>
                <a:cs typeface="Aptos" pitchFamily="34" charset="-120"/>
              </a:rPr>
              <a:t>Tujuan</a:t>
            </a:r>
            <a:endParaRPr lang="en-US" sz="960" dirty="0"/>
          </a:p>
        </p:txBody>
      </p:sp>
      <p:sp>
        <p:nvSpPr>
          <p:cNvPr id="14" name="Shape 11"/>
          <p:cNvSpPr/>
          <p:nvPr/>
        </p:nvSpPr>
        <p:spPr>
          <a:xfrm>
            <a:off x="731520" y="1682496"/>
            <a:ext cx="10698480" cy="539496"/>
          </a:xfrm>
          <a:prstGeom prst="rect">
            <a:avLst/>
          </a:prstGeom>
          <a:solidFill>
            <a:srgbClr val="FFFFFF"/>
          </a:solidFill>
          <a:ln w="6350">
            <a:solidFill>
              <a:srgbClr val="D6E4F2"/>
            </a:solidFill>
            <a:prstDash val="solid"/>
          </a:ln>
        </p:spPr>
      </p:sp>
      <p:sp>
        <p:nvSpPr>
          <p:cNvPr id="15" name="Text 12"/>
          <p:cNvSpPr/>
          <p:nvPr/>
        </p:nvSpPr>
        <p:spPr>
          <a:xfrm>
            <a:off x="777240" y="1714500"/>
            <a:ext cx="1988820" cy="475488"/>
          </a:xfrm>
          <a:prstGeom prst="rect">
            <a:avLst/>
          </a:prstGeom>
          <a:noFill/>
          <a:ln/>
        </p:spPr>
        <p:txBody>
          <a:bodyPr wrap="square" lIns="127" tIns="127" rIns="127" bIns="127" rtlCol="0" anchor="ctr">
            <a:normAutofit/>
          </a:bodyPr>
          <a:lstStyle/>
          <a:p>
            <a:pPr marL="0" indent="0" algn="l">
              <a:buNone/>
            </a:pPr>
            <a:r>
              <a:rPr lang="en-US" sz="960" b="1" dirty="0">
                <a:solidFill>
                  <a:srgbClr val="1F2937"/>
                </a:solidFill>
                <a:latin typeface="Aptos" pitchFamily="34" charset="0"/>
                <a:ea typeface="Aptos" pitchFamily="34" charset="-122"/>
                <a:cs typeface="Aptos" pitchFamily="34" charset="-120"/>
              </a:rPr>
              <a:t>Class Weight</a:t>
            </a:r>
            <a:endParaRPr lang="en-US" sz="960" dirty="0"/>
          </a:p>
        </p:txBody>
      </p:sp>
      <p:sp>
        <p:nvSpPr>
          <p:cNvPr id="16" name="Text 13"/>
          <p:cNvSpPr/>
          <p:nvPr/>
        </p:nvSpPr>
        <p:spPr>
          <a:xfrm>
            <a:off x="2857500" y="1714500"/>
            <a:ext cx="4069080"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Memberi bobot lebih pada kelas minoritas</a:t>
            </a:r>
            <a:endParaRPr lang="en-US" sz="960" dirty="0"/>
          </a:p>
        </p:txBody>
      </p:sp>
      <p:sp>
        <p:nvSpPr>
          <p:cNvPr id="17" name="Text 14"/>
          <p:cNvSpPr/>
          <p:nvPr/>
        </p:nvSpPr>
        <p:spPr>
          <a:xfrm>
            <a:off x="7018020" y="1714500"/>
            <a:ext cx="4366260"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Agar model tidak terlalu bias pada kelas Tidak</a:t>
            </a:r>
            <a:endParaRPr lang="en-US" sz="960" dirty="0"/>
          </a:p>
        </p:txBody>
      </p:sp>
      <p:sp>
        <p:nvSpPr>
          <p:cNvPr id="18" name="Shape 15"/>
          <p:cNvSpPr/>
          <p:nvPr/>
        </p:nvSpPr>
        <p:spPr>
          <a:xfrm>
            <a:off x="731520" y="2221992"/>
            <a:ext cx="10698480" cy="539496"/>
          </a:xfrm>
          <a:prstGeom prst="rect">
            <a:avLst/>
          </a:prstGeom>
          <a:solidFill>
            <a:srgbClr val="F3F9FF"/>
          </a:solidFill>
          <a:ln w="6350">
            <a:solidFill>
              <a:srgbClr val="D6E4F2"/>
            </a:solidFill>
            <a:prstDash val="solid"/>
          </a:ln>
        </p:spPr>
      </p:sp>
      <p:sp>
        <p:nvSpPr>
          <p:cNvPr id="19" name="Text 16"/>
          <p:cNvSpPr/>
          <p:nvPr/>
        </p:nvSpPr>
        <p:spPr>
          <a:xfrm>
            <a:off x="777240" y="2253996"/>
            <a:ext cx="1988820" cy="475488"/>
          </a:xfrm>
          <a:prstGeom prst="rect">
            <a:avLst/>
          </a:prstGeom>
          <a:noFill/>
          <a:ln/>
        </p:spPr>
        <p:txBody>
          <a:bodyPr wrap="square" lIns="127" tIns="127" rIns="127" bIns="127" rtlCol="0" anchor="ctr">
            <a:normAutofit/>
          </a:bodyPr>
          <a:lstStyle/>
          <a:p>
            <a:pPr marL="0" indent="0" algn="l">
              <a:buNone/>
            </a:pPr>
            <a:r>
              <a:rPr lang="en-US" sz="960" b="1" dirty="0">
                <a:solidFill>
                  <a:srgbClr val="1F2937"/>
                </a:solidFill>
                <a:latin typeface="Aptos" pitchFamily="34" charset="0"/>
                <a:ea typeface="Aptos" pitchFamily="34" charset="-122"/>
                <a:cs typeface="Aptos" pitchFamily="34" charset="-120"/>
              </a:rPr>
              <a:t>Under-sampling</a:t>
            </a:r>
            <a:endParaRPr lang="en-US" sz="960" dirty="0"/>
          </a:p>
        </p:txBody>
      </p:sp>
      <p:sp>
        <p:nvSpPr>
          <p:cNvPr id="20" name="Text 17"/>
          <p:cNvSpPr/>
          <p:nvPr/>
        </p:nvSpPr>
        <p:spPr>
          <a:xfrm>
            <a:off x="2857500" y="2253996"/>
            <a:ext cx="4069080"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Mengurangi sampel kelas mayoritas di training</a:t>
            </a:r>
            <a:endParaRPr lang="en-US" sz="960" dirty="0"/>
          </a:p>
        </p:txBody>
      </p:sp>
      <p:sp>
        <p:nvSpPr>
          <p:cNvPr id="21" name="Text 18"/>
          <p:cNvSpPr/>
          <p:nvPr/>
        </p:nvSpPr>
        <p:spPr>
          <a:xfrm>
            <a:off x="7018020" y="2253996"/>
            <a:ext cx="4366260"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Membuat distribusi training lebih seimbang</a:t>
            </a:r>
            <a:endParaRPr lang="en-US" sz="960" dirty="0"/>
          </a:p>
        </p:txBody>
      </p:sp>
      <p:sp>
        <p:nvSpPr>
          <p:cNvPr id="22" name="Shape 19"/>
          <p:cNvSpPr/>
          <p:nvPr/>
        </p:nvSpPr>
        <p:spPr>
          <a:xfrm>
            <a:off x="731520" y="2761488"/>
            <a:ext cx="10698480" cy="539496"/>
          </a:xfrm>
          <a:prstGeom prst="rect">
            <a:avLst/>
          </a:prstGeom>
          <a:solidFill>
            <a:srgbClr val="FFFFFF"/>
          </a:solidFill>
          <a:ln w="6350">
            <a:solidFill>
              <a:srgbClr val="D6E4F2"/>
            </a:solidFill>
            <a:prstDash val="solid"/>
          </a:ln>
        </p:spPr>
      </p:sp>
      <p:sp>
        <p:nvSpPr>
          <p:cNvPr id="23" name="Text 20"/>
          <p:cNvSpPr/>
          <p:nvPr/>
        </p:nvSpPr>
        <p:spPr>
          <a:xfrm>
            <a:off x="777240" y="2793492"/>
            <a:ext cx="1988820" cy="475488"/>
          </a:xfrm>
          <a:prstGeom prst="rect">
            <a:avLst/>
          </a:prstGeom>
          <a:noFill/>
          <a:ln/>
        </p:spPr>
        <p:txBody>
          <a:bodyPr wrap="square" lIns="127" tIns="127" rIns="127" bIns="127" rtlCol="0" anchor="ctr">
            <a:normAutofit/>
          </a:bodyPr>
          <a:lstStyle/>
          <a:p>
            <a:pPr marL="0" indent="0" algn="l">
              <a:buNone/>
            </a:pPr>
            <a:r>
              <a:rPr lang="en-US" sz="960" b="1" dirty="0">
                <a:solidFill>
                  <a:srgbClr val="1F2937"/>
                </a:solidFill>
                <a:latin typeface="Aptos" pitchFamily="34" charset="0"/>
                <a:ea typeface="Aptos" pitchFamily="34" charset="-122"/>
                <a:cs typeface="Aptos" pitchFamily="34" charset="-120"/>
              </a:rPr>
              <a:t>GridSearchCV</a:t>
            </a:r>
            <a:endParaRPr lang="en-US" sz="960" dirty="0"/>
          </a:p>
        </p:txBody>
      </p:sp>
      <p:sp>
        <p:nvSpPr>
          <p:cNvPr id="24" name="Text 21"/>
          <p:cNvSpPr/>
          <p:nvPr/>
        </p:nvSpPr>
        <p:spPr>
          <a:xfrm>
            <a:off x="2857500" y="2793492"/>
            <a:ext cx="4069080"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Mencari parameter terbaik</a:t>
            </a:r>
            <a:endParaRPr lang="en-US" sz="960" dirty="0"/>
          </a:p>
        </p:txBody>
      </p:sp>
      <p:sp>
        <p:nvSpPr>
          <p:cNvPr id="25" name="Text 22"/>
          <p:cNvSpPr/>
          <p:nvPr/>
        </p:nvSpPr>
        <p:spPr>
          <a:xfrm>
            <a:off x="7018020" y="2793492"/>
            <a:ext cx="4366260"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Meningkatkan F1 Macro melalui validasi silang</a:t>
            </a:r>
            <a:endParaRPr lang="en-US" sz="960" dirty="0"/>
          </a:p>
        </p:txBody>
      </p:sp>
      <p:sp>
        <p:nvSpPr>
          <p:cNvPr id="26" name="Shape 23"/>
          <p:cNvSpPr/>
          <p:nvPr/>
        </p:nvSpPr>
        <p:spPr>
          <a:xfrm>
            <a:off x="731520" y="3300984"/>
            <a:ext cx="10698480" cy="539496"/>
          </a:xfrm>
          <a:prstGeom prst="rect">
            <a:avLst/>
          </a:prstGeom>
          <a:solidFill>
            <a:srgbClr val="F3F9FF"/>
          </a:solidFill>
          <a:ln w="6350">
            <a:solidFill>
              <a:srgbClr val="D6E4F2"/>
            </a:solidFill>
            <a:prstDash val="solid"/>
          </a:ln>
        </p:spPr>
      </p:sp>
      <p:sp>
        <p:nvSpPr>
          <p:cNvPr id="27" name="Text 24"/>
          <p:cNvSpPr/>
          <p:nvPr/>
        </p:nvSpPr>
        <p:spPr>
          <a:xfrm>
            <a:off x="777240" y="3332988"/>
            <a:ext cx="1988820" cy="475488"/>
          </a:xfrm>
          <a:prstGeom prst="rect">
            <a:avLst/>
          </a:prstGeom>
          <a:noFill/>
          <a:ln/>
        </p:spPr>
        <p:txBody>
          <a:bodyPr wrap="square" lIns="127" tIns="127" rIns="127" bIns="127" rtlCol="0" anchor="ctr">
            <a:normAutofit/>
          </a:bodyPr>
          <a:lstStyle/>
          <a:p>
            <a:pPr marL="0" indent="0" algn="l">
              <a:buNone/>
            </a:pPr>
            <a:r>
              <a:rPr lang="en-US" sz="960" b="1" dirty="0">
                <a:solidFill>
                  <a:srgbClr val="1F2937"/>
                </a:solidFill>
                <a:latin typeface="Aptos" pitchFamily="34" charset="0"/>
                <a:ea typeface="Aptos" pitchFamily="34" charset="-122"/>
                <a:cs typeface="Aptos" pitchFamily="34" charset="-120"/>
              </a:rPr>
              <a:t>CatBoost tuning</a:t>
            </a:r>
            <a:endParaRPr lang="en-US" sz="960" dirty="0"/>
          </a:p>
        </p:txBody>
      </p:sp>
      <p:sp>
        <p:nvSpPr>
          <p:cNvPr id="28" name="Text 25"/>
          <p:cNvSpPr/>
          <p:nvPr/>
        </p:nvSpPr>
        <p:spPr>
          <a:xfrm>
            <a:off x="2857500" y="3332988"/>
            <a:ext cx="4069080"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depth=6, l2=1, lr=0,1</a:t>
            </a:r>
            <a:endParaRPr lang="en-US" sz="960" dirty="0"/>
          </a:p>
        </p:txBody>
      </p:sp>
      <p:sp>
        <p:nvSpPr>
          <p:cNvPr id="29" name="Text 26"/>
          <p:cNvSpPr/>
          <p:nvPr/>
        </p:nvSpPr>
        <p:spPr>
          <a:xfrm>
            <a:off x="7018020" y="3332988"/>
            <a:ext cx="4366260" cy="475488"/>
          </a:xfrm>
          <a:prstGeom prst="rect">
            <a:avLst/>
          </a:prstGeom>
          <a:noFill/>
          <a:ln/>
        </p:spPr>
        <p:txBody>
          <a:bodyPr wrap="square" lIns="127" tIns="127" rIns="127" bIns="127" rtlCol="0" anchor="ctr">
            <a:normAutofit/>
          </a:bodyPr>
          <a:lstStyle/>
          <a:p>
            <a:pPr marL="0" indent="0" algn="ctr">
              <a:buNone/>
            </a:pPr>
            <a:r>
              <a:rPr lang="en-US" sz="960" dirty="0">
                <a:solidFill>
                  <a:srgbClr val="5E6B7A"/>
                </a:solidFill>
                <a:latin typeface="Aptos" pitchFamily="34" charset="0"/>
                <a:ea typeface="Aptos" pitchFamily="34" charset="-122"/>
                <a:cs typeface="Aptos" pitchFamily="34" charset="-120"/>
              </a:rPr>
              <a:t>Mencari konfigurasi boosting yang lebih stabil</a:t>
            </a:r>
            <a:endParaRPr lang="en-US" sz="960" dirty="0"/>
          </a:p>
        </p:txBody>
      </p:sp>
      <p:sp>
        <p:nvSpPr>
          <p:cNvPr id="30" name="Shape 27"/>
          <p:cNvSpPr/>
          <p:nvPr/>
        </p:nvSpPr>
        <p:spPr>
          <a:xfrm>
            <a:off x="731520" y="4206240"/>
            <a:ext cx="4937760" cy="868680"/>
          </a:xfrm>
          <a:prstGeom prst="roundRect">
            <a:avLst/>
          </a:prstGeom>
          <a:solidFill>
            <a:srgbClr val="FFF0F3"/>
          </a:solidFill>
          <a:ln w="12700">
            <a:solidFill>
              <a:srgbClr val="C9DFFF"/>
            </a:solidFill>
            <a:prstDash val="solid"/>
          </a:ln>
          <a:effectLst>
            <a:outerShdw blurRad="12700" dist="50800" dir="2700000" algn="bl" rotWithShape="0">
              <a:srgbClr val="B8C8DA">
                <a:alpha val="10000"/>
              </a:srgbClr>
            </a:outerShdw>
          </a:effectLst>
        </p:spPr>
      </p:sp>
      <p:sp>
        <p:nvSpPr>
          <p:cNvPr id="31" name="Text 28"/>
          <p:cNvSpPr/>
          <p:nvPr/>
        </p:nvSpPr>
        <p:spPr>
          <a:xfrm>
            <a:off x="896112" y="4352544"/>
            <a:ext cx="4608576" cy="219456"/>
          </a:xfrm>
          <a:prstGeom prst="rect">
            <a:avLst/>
          </a:prstGeom>
          <a:noFill/>
          <a:ln/>
        </p:spPr>
        <p:txBody>
          <a:bodyPr wrap="square" lIns="0" tIns="0" rIns="0" bIns="0" rtlCol="0" anchor="t">
            <a:normAutofit/>
          </a:bodyPr>
          <a:lstStyle/>
          <a:p>
            <a:pPr marL="0" indent="0" algn="l">
              <a:buNone/>
            </a:pPr>
            <a:r>
              <a:rPr lang="en-US" sz="1200" b="1" dirty="0">
                <a:solidFill>
                  <a:srgbClr val="D1495B"/>
                </a:solidFill>
                <a:latin typeface="Aptos" pitchFamily="34" charset="0"/>
                <a:ea typeface="Aptos" pitchFamily="34" charset="-122"/>
                <a:cs typeface="Aptos" pitchFamily="34" charset="-120"/>
              </a:rPr>
              <a:t>Parameter terbaik CatBoost</a:t>
            </a:r>
            <a:endParaRPr lang="en-US" sz="1200" dirty="0"/>
          </a:p>
        </p:txBody>
      </p:sp>
      <p:sp>
        <p:nvSpPr>
          <p:cNvPr id="32" name="Text 29"/>
          <p:cNvSpPr/>
          <p:nvPr/>
        </p:nvSpPr>
        <p:spPr>
          <a:xfrm>
            <a:off x="896112" y="4645152"/>
            <a:ext cx="4608576" cy="33832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depth = 6, l2_leaf_reg = 1, learning_rate = 0,1. Hasil terbaik optimasi mencapai F1 Macro 0,6501.</a:t>
            </a:r>
            <a:endParaRPr lang="en-US" sz="1100" dirty="0"/>
          </a:p>
        </p:txBody>
      </p:sp>
      <p:sp>
        <p:nvSpPr>
          <p:cNvPr id="33" name="Shape 30"/>
          <p:cNvSpPr/>
          <p:nvPr/>
        </p:nvSpPr>
        <p:spPr>
          <a:xfrm>
            <a:off x="6144768" y="4206240"/>
            <a:ext cx="4937760" cy="868680"/>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34" name="Text 31"/>
          <p:cNvSpPr/>
          <p:nvPr/>
        </p:nvSpPr>
        <p:spPr>
          <a:xfrm>
            <a:off x="6309360" y="4352544"/>
            <a:ext cx="4608576"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Mengapa accuracy turun?</a:t>
            </a:r>
            <a:endParaRPr lang="en-US" sz="1200" dirty="0"/>
          </a:p>
        </p:txBody>
      </p:sp>
      <p:sp>
        <p:nvSpPr>
          <p:cNvPr id="35" name="Text 32"/>
          <p:cNvSpPr/>
          <p:nvPr/>
        </p:nvSpPr>
        <p:spPr>
          <a:xfrm>
            <a:off x="6309360" y="4645152"/>
            <a:ext cx="4608576" cy="33832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Setelah optimasi, accuracy CatBoost menjadi 0,6717. Namun F1 Ya naik dari 0,4861 ke 0,5633. Ini lebih baik untuk kelas pengguna AI Agent.</a:t>
            </a:r>
            <a:endParaRPr lang="en-US" sz="1100" dirty="0"/>
          </a:p>
        </p:txBody>
      </p:sp>
      <p:sp>
        <p:nvSpPr>
          <p:cNvPr id="36" name="Shape 33"/>
          <p:cNvSpPr/>
          <p:nvPr/>
        </p:nvSpPr>
        <p:spPr>
          <a:xfrm>
            <a:off x="731520" y="5413248"/>
            <a:ext cx="10351008" cy="585216"/>
          </a:xfrm>
          <a:prstGeom prst="roundRect">
            <a:avLst/>
          </a:prstGeom>
          <a:solidFill>
            <a:srgbClr val="EAF8F0"/>
          </a:solidFill>
          <a:ln w="12700">
            <a:solidFill>
              <a:srgbClr val="C9DFFF"/>
            </a:solidFill>
            <a:prstDash val="solid"/>
          </a:ln>
          <a:effectLst>
            <a:outerShdw blurRad="12700" dist="50800" dir="2700000" algn="bl" rotWithShape="0">
              <a:srgbClr val="B8C8DA">
                <a:alpha val="10000"/>
              </a:srgbClr>
            </a:outerShdw>
          </a:effectLst>
        </p:spPr>
      </p:sp>
      <p:sp>
        <p:nvSpPr>
          <p:cNvPr id="37" name="Text 34"/>
          <p:cNvSpPr/>
          <p:nvPr/>
        </p:nvSpPr>
        <p:spPr>
          <a:xfrm>
            <a:off x="896112" y="5559552"/>
            <a:ext cx="10021824" cy="219456"/>
          </a:xfrm>
          <a:prstGeom prst="rect">
            <a:avLst/>
          </a:prstGeom>
          <a:noFill/>
          <a:ln/>
        </p:spPr>
        <p:txBody>
          <a:bodyPr wrap="square" lIns="0" tIns="0" rIns="0" bIns="0" rtlCol="0" anchor="t">
            <a:normAutofit/>
          </a:bodyPr>
          <a:lstStyle/>
          <a:p>
            <a:pPr marL="0" indent="0" algn="l">
              <a:buNone/>
            </a:pPr>
            <a:r>
              <a:rPr lang="en-US" sz="1200" b="1" dirty="0">
                <a:solidFill>
                  <a:srgbClr val="16A34A"/>
                </a:solidFill>
                <a:latin typeface="Aptos" pitchFamily="34" charset="0"/>
                <a:ea typeface="Aptos" pitchFamily="34" charset="-122"/>
                <a:cs typeface="Aptos" pitchFamily="34" charset="-120"/>
              </a:rPr>
              <a:t>Pesan utama</a:t>
            </a:r>
            <a:endParaRPr lang="en-US" sz="1200" dirty="0"/>
          </a:p>
        </p:txBody>
      </p:sp>
      <p:sp>
        <p:nvSpPr>
          <p:cNvPr id="38" name="Text 35"/>
          <p:cNvSpPr/>
          <p:nvPr/>
        </p:nvSpPr>
        <p:spPr>
          <a:xfrm>
            <a:off x="896112" y="5852160"/>
            <a:ext cx="10021824" cy="54864"/>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Pada data tidak seimbang, model yang “lebih adil” pada kelas minoritas kadang menurunkan accuracy, tetapi menaikkan F1 Macro dan F1 Ya.</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18</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Hasil Optimasi AIAgents</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Perbandingan model tuned</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731520" y="1143000"/>
            <a:ext cx="4709160" cy="214884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sp>
        <p:nvSpPr>
          <p:cNvPr id="11" name="Text 8"/>
          <p:cNvSpPr/>
          <p:nvPr/>
        </p:nvSpPr>
        <p:spPr>
          <a:xfrm>
            <a:off x="914400" y="1298448"/>
            <a:ext cx="4343400" cy="256032"/>
          </a:xfrm>
          <a:prstGeom prst="rect">
            <a:avLst/>
          </a:prstGeom>
          <a:noFill/>
          <a:ln/>
        </p:spPr>
        <p:txBody>
          <a:bodyPr wrap="square" lIns="0" tIns="0" rIns="0" bIns="0" rtlCol="0" anchor="t">
            <a:normAutofit/>
          </a:bodyPr>
          <a:lstStyle/>
          <a:p>
            <a:pPr marL="0" indent="0" algn="l">
              <a:buNone/>
            </a:pPr>
            <a:r>
              <a:rPr lang="en-US" sz="1250" b="1" dirty="0">
                <a:solidFill>
                  <a:srgbClr val="1F2937"/>
                </a:solidFill>
                <a:latin typeface="Aptos" pitchFamily="34" charset="0"/>
                <a:ea typeface="Aptos" pitchFamily="34" charset="-122"/>
                <a:cs typeface="Aptos" pitchFamily="34" charset="-120"/>
              </a:rPr>
              <a:t>F1 Macro Optimasi</a:t>
            </a:r>
            <a:endParaRPr lang="en-US" sz="1250" dirty="0"/>
          </a:p>
        </p:txBody>
      </p:sp>
      <p:sp>
        <p:nvSpPr>
          <p:cNvPr id="12" name="Text 9"/>
          <p:cNvSpPr/>
          <p:nvPr/>
        </p:nvSpPr>
        <p:spPr>
          <a:xfrm>
            <a:off x="960120" y="1783080"/>
            <a:ext cx="1600200" cy="228600"/>
          </a:xfrm>
          <a:prstGeom prst="rect">
            <a:avLst/>
          </a:prstGeom>
          <a:noFill/>
          <a:ln/>
        </p:spPr>
        <p:txBody>
          <a:bodyPr wrap="square" lIns="0" tIns="0" rIns="0" bIns="0" rtlCol="0" anchor="t">
            <a:normAutofit/>
          </a:bodyPr>
          <a:lstStyle/>
          <a:p>
            <a:pPr marL="0" indent="0" algn="l">
              <a:buNone/>
            </a:pPr>
            <a:r>
              <a:rPr lang="en-US" sz="920" dirty="0">
                <a:solidFill>
                  <a:srgbClr val="5E6B7A"/>
                </a:solidFill>
                <a:latin typeface="Aptos" pitchFamily="34" charset="0"/>
                <a:ea typeface="Aptos" pitchFamily="34" charset="-122"/>
                <a:cs typeface="Aptos" pitchFamily="34" charset="-120"/>
              </a:rPr>
              <a:t>LogReg Tuned</a:t>
            </a:r>
            <a:endParaRPr lang="en-US" sz="920" dirty="0"/>
          </a:p>
        </p:txBody>
      </p:sp>
      <p:sp>
        <p:nvSpPr>
          <p:cNvPr id="13" name="Shape 10"/>
          <p:cNvSpPr/>
          <p:nvPr/>
        </p:nvSpPr>
        <p:spPr>
          <a:xfrm>
            <a:off x="2697480" y="1828800"/>
            <a:ext cx="1920240" cy="146304"/>
          </a:xfrm>
          <a:prstGeom prst="rect">
            <a:avLst/>
          </a:prstGeom>
          <a:solidFill>
            <a:srgbClr val="E8EEF6"/>
          </a:solidFill>
          <a:ln w="12700">
            <a:solidFill>
              <a:srgbClr val="E8EEF6"/>
            </a:solidFill>
            <a:prstDash val="solid"/>
          </a:ln>
        </p:spPr>
      </p:sp>
      <p:sp>
        <p:nvSpPr>
          <p:cNvPr id="14" name="Shape 11"/>
          <p:cNvSpPr/>
          <p:nvPr/>
        </p:nvSpPr>
        <p:spPr>
          <a:xfrm>
            <a:off x="2697480" y="1828800"/>
            <a:ext cx="1738879" cy="146304"/>
          </a:xfrm>
          <a:prstGeom prst="rect">
            <a:avLst/>
          </a:prstGeom>
          <a:solidFill>
            <a:srgbClr val="7C3AED"/>
          </a:solidFill>
          <a:ln w="12700">
            <a:solidFill>
              <a:srgbClr val="7C3AED"/>
            </a:solidFill>
            <a:prstDash val="solid"/>
          </a:ln>
        </p:spPr>
      </p:sp>
      <p:sp>
        <p:nvSpPr>
          <p:cNvPr id="15" name="Text 12"/>
          <p:cNvSpPr/>
          <p:nvPr/>
        </p:nvSpPr>
        <p:spPr>
          <a:xfrm>
            <a:off x="4800600" y="1773936"/>
            <a:ext cx="502920" cy="201168"/>
          </a:xfrm>
          <a:prstGeom prst="rect">
            <a:avLst/>
          </a:prstGeom>
          <a:noFill/>
          <a:ln/>
        </p:spPr>
        <p:txBody>
          <a:bodyPr wrap="square" lIns="0" tIns="0" rIns="0" bIns="0" rtlCol="0" anchor="t">
            <a:normAutofit/>
          </a:bodyPr>
          <a:lstStyle/>
          <a:p>
            <a:pPr marL="0" indent="0" algn="r">
              <a:buNone/>
            </a:pPr>
            <a:r>
              <a:rPr lang="en-US" sz="870" b="1" dirty="0">
                <a:solidFill>
                  <a:srgbClr val="1F2937"/>
                </a:solidFill>
                <a:latin typeface="Aptos" pitchFamily="34" charset="0"/>
                <a:ea typeface="Aptos" pitchFamily="34" charset="-122"/>
                <a:cs typeface="Aptos" pitchFamily="34" charset="-120"/>
              </a:rPr>
              <a:t>0.5887</a:t>
            </a:r>
            <a:endParaRPr lang="en-US" sz="870" dirty="0"/>
          </a:p>
        </p:txBody>
      </p:sp>
      <p:sp>
        <p:nvSpPr>
          <p:cNvPr id="16" name="Text 13"/>
          <p:cNvSpPr/>
          <p:nvPr/>
        </p:nvSpPr>
        <p:spPr>
          <a:xfrm>
            <a:off x="960120" y="2218944"/>
            <a:ext cx="1600200" cy="228600"/>
          </a:xfrm>
          <a:prstGeom prst="rect">
            <a:avLst/>
          </a:prstGeom>
          <a:noFill/>
          <a:ln/>
        </p:spPr>
        <p:txBody>
          <a:bodyPr wrap="square" lIns="0" tIns="0" rIns="0" bIns="0" rtlCol="0" anchor="t">
            <a:normAutofit/>
          </a:bodyPr>
          <a:lstStyle/>
          <a:p>
            <a:pPr marL="0" indent="0" algn="l">
              <a:buNone/>
            </a:pPr>
            <a:r>
              <a:rPr lang="en-US" sz="920" dirty="0">
                <a:solidFill>
                  <a:srgbClr val="5E6B7A"/>
                </a:solidFill>
                <a:latin typeface="Aptos" pitchFamily="34" charset="0"/>
                <a:ea typeface="Aptos" pitchFamily="34" charset="-122"/>
                <a:cs typeface="Aptos" pitchFamily="34" charset="-120"/>
              </a:rPr>
              <a:t>RF Tuned</a:t>
            </a:r>
            <a:endParaRPr lang="en-US" sz="920" dirty="0"/>
          </a:p>
        </p:txBody>
      </p:sp>
      <p:sp>
        <p:nvSpPr>
          <p:cNvPr id="17" name="Shape 14"/>
          <p:cNvSpPr/>
          <p:nvPr/>
        </p:nvSpPr>
        <p:spPr>
          <a:xfrm>
            <a:off x="2697480" y="2264664"/>
            <a:ext cx="1920240" cy="146304"/>
          </a:xfrm>
          <a:prstGeom prst="rect">
            <a:avLst/>
          </a:prstGeom>
          <a:solidFill>
            <a:srgbClr val="E8EEF6"/>
          </a:solidFill>
          <a:ln w="12700">
            <a:solidFill>
              <a:srgbClr val="E8EEF6"/>
            </a:solidFill>
            <a:prstDash val="solid"/>
          </a:ln>
        </p:spPr>
      </p:sp>
      <p:sp>
        <p:nvSpPr>
          <p:cNvPr id="18" name="Shape 15"/>
          <p:cNvSpPr/>
          <p:nvPr/>
        </p:nvSpPr>
        <p:spPr>
          <a:xfrm>
            <a:off x="2697480" y="2264664"/>
            <a:ext cx="1857325" cy="146304"/>
          </a:xfrm>
          <a:prstGeom prst="rect">
            <a:avLst/>
          </a:prstGeom>
          <a:solidFill>
            <a:srgbClr val="7C3AED"/>
          </a:solidFill>
          <a:ln w="12700">
            <a:solidFill>
              <a:srgbClr val="7C3AED"/>
            </a:solidFill>
            <a:prstDash val="solid"/>
          </a:ln>
        </p:spPr>
      </p:sp>
      <p:sp>
        <p:nvSpPr>
          <p:cNvPr id="19" name="Text 16"/>
          <p:cNvSpPr/>
          <p:nvPr/>
        </p:nvSpPr>
        <p:spPr>
          <a:xfrm>
            <a:off x="4800600" y="2209800"/>
            <a:ext cx="502920" cy="201168"/>
          </a:xfrm>
          <a:prstGeom prst="rect">
            <a:avLst/>
          </a:prstGeom>
          <a:noFill/>
          <a:ln/>
        </p:spPr>
        <p:txBody>
          <a:bodyPr wrap="square" lIns="0" tIns="0" rIns="0" bIns="0" rtlCol="0" anchor="t">
            <a:normAutofit/>
          </a:bodyPr>
          <a:lstStyle/>
          <a:p>
            <a:pPr marL="0" indent="0" algn="r">
              <a:buNone/>
            </a:pPr>
            <a:r>
              <a:rPr lang="en-US" sz="870" b="1" dirty="0">
                <a:solidFill>
                  <a:srgbClr val="1F2937"/>
                </a:solidFill>
                <a:latin typeface="Aptos" pitchFamily="34" charset="0"/>
                <a:ea typeface="Aptos" pitchFamily="34" charset="-122"/>
                <a:cs typeface="Aptos" pitchFamily="34" charset="-120"/>
              </a:rPr>
              <a:t>0.6288</a:t>
            </a:r>
            <a:endParaRPr lang="en-US" sz="870" dirty="0"/>
          </a:p>
        </p:txBody>
      </p:sp>
      <p:sp>
        <p:nvSpPr>
          <p:cNvPr id="20" name="Text 17"/>
          <p:cNvSpPr/>
          <p:nvPr/>
        </p:nvSpPr>
        <p:spPr>
          <a:xfrm>
            <a:off x="960120" y="2654808"/>
            <a:ext cx="1600200" cy="228600"/>
          </a:xfrm>
          <a:prstGeom prst="rect">
            <a:avLst/>
          </a:prstGeom>
          <a:noFill/>
          <a:ln/>
        </p:spPr>
        <p:txBody>
          <a:bodyPr wrap="square" lIns="0" tIns="0" rIns="0" bIns="0" rtlCol="0" anchor="t">
            <a:normAutofit/>
          </a:bodyPr>
          <a:lstStyle/>
          <a:p>
            <a:pPr marL="0" indent="0" algn="l">
              <a:buNone/>
            </a:pPr>
            <a:r>
              <a:rPr lang="en-US" sz="920" dirty="0">
                <a:solidFill>
                  <a:srgbClr val="5E6B7A"/>
                </a:solidFill>
                <a:latin typeface="Aptos" pitchFamily="34" charset="0"/>
                <a:ea typeface="Aptos" pitchFamily="34" charset="-122"/>
                <a:cs typeface="Aptos" pitchFamily="34" charset="-120"/>
              </a:rPr>
              <a:t>CatBoost Tuned</a:t>
            </a:r>
            <a:endParaRPr lang="en-US" sz="920" dirty="0"/>
          </a:p>
        </p:txBody>
      </p:sp>
      <p:sp>
        <p:nvSpPr>
          <p:cNvPr id="21" name="Shape 18"/>
          <p:cNvSpPr/>
          <p:nvPr/>
        </p:nvSpPr>
        <p:spPr>
          <a:xfrm>
            <a:off x="2697480" y="2700528"/>
            <a:ext cx="1920240" cy="146304"/>
          </a:xfrm>
          <a:prstGeom prst="rect">
            <a:avLst/>
          </a:prstGeom>
          <a:solidFill>
            <a:srgbClr val="E8EEF6"/>
          </a:solidFill>
          <a:ln w="12700">
            <a:solidFill>
              <a:srgbClr val="E8EEF6"/>
            </a:solidFill>
            <a:prstDash val="solid"/>
          </a:ln>
        </p:spPr>
      </p:sp>
      <p:sp>
        <p:nvSpPr>
          <p:cNvPr id="22" name="Shape 19"/>
          <p:cNvSpPr/>
          <p:nvPr/>
        </p:nvSpPr>
        <p:spPr>
          <a:xfrm>
            <a:off x="2697480" y="2700528"/>
            <a:ext cx="1920240" cy="146304"/>
          </a:xfrm>
          <a:prstGeom prst="rect">
            <a:avLst/>
          </a:prstGeom>
          <a:solidFill>
            <a:srgbClr val="7C3AED"/>
          </a:solidFill>
          <a:ln w="12700">
            <a:solidFill>
              <a:srgbClr val="7C3AED"/>
            </a:solidFill>
            <a:prstDash val="solid"/>
          </a:ln>
        </p:spPr>
      </p:sp>
      <p:sp>
        <p:nvSpPr>
          <p:cNvPr id="23" name="Text 20"/>
          <p:cNvSpPr/>
          <p:nvPr/>
        </p:nvSpPr>
        <p:spPr>
          <a:xfrm>
            <a:off x="4800600" y="2645664"/>
            <a:ext cx="502920" cy="201168"/>
          </a:xfrm>
          <a:prstGeom prst="rect">
            <a:avLst/>
          </a:prstGeom>
          <a:noFill/>
          <a:ln/>
        </p:spPr>
        <p:txBody>
          <a:bodyPr wrap="square" lIns="0" tIns="0" rIns="0" bIns="0" rtlCol="0" anchor="t">
            <a:normAutofit/>
          </a:bodyPr>
          <a:lstStyle/>
          <a:p>
            <a:pPr marL="0" indent="0" algn="r">
              <a:buNone/>
            </a:pPr>
            <a:r>
              <a:rPr lang="en-US" sz="870" b="1" dirty="0">
                <a:solidFill>
                  <a:srgbClr val="1F2937"/>
                </a:solidFill>
                <a:latin typeface="Aptos" pitchFamily="34" charset="0"/>
                <a:ea typeface="Aptos" pitchFamily="34" charset="-122"/>
                <a:cs typeface="Aptos" pitchFamily="34" charset="-120"/>
              </a:rPr>
              <a:t>0.6501</a:t>
            </a:r>
            <a:endParaRPr lang="en-US" sz="870" dirty="0"/>
          </a:p>
        </p:txBody>
      </p:sp>
      <p:sp>
        <p:nvSpPr>
          <p:cNvPr id="24" name="Shape 21"/>
          <p:cNvSpPr/>
          <p:nvPr/>
        </p:nvSpPr>
        <p:spPr>
          <a:xfrm>
            <a:off x="5806440" y="1143000"/>
            <a:ext cx="5349240" cy="429768"/>
          </a:xfrm>
          <a:prstGeom prst="rect">
            <a:avLst/>
          </a:prstGeom>
          <a:solidFill>
            <a:srgbClr val="1D4ED8"/>
          </a:solidFill>
          <a:ln w="6350">
            <a:solidFill>
              <a:srgbClr val="D6E4F2"/>
            </a:solidFill>
            <a:prstDash val="solid"/>
          </a:ln>
        </p:spPr>
      </p:sp>
      <p:sp>
        <p:nvSpPr>
          <p:cNvPr id="25" name="Text 22"/>
          <p:cNvSpPr/>
          <p:nvPr/>
        </p:nvSpPr>
        <p:spPr>
          <a:xfrm>
            <a:off x="5852160" y="1175004"/>
            <a:ext cx="1861457" cy="365760"/>
          </a:xfrm>
          <a:prstGeom prst="rect">
            <a:avLst/>
          </a:prstGeom>
          <a:noFill/>
          <a:ln/>
        </p:spPr>
        <p:txBody>
          <a:bodyPr wrap="square" lIns="127" tIns="127" rIns="127" bIns="127" rtlCol="0" anchor="ctr">
            <a:normAutofit/>
          </a:bodyPr>
          <a:lstStyle/>
          <a:p>
            <a:pPr marL="0" indent="0" algn="l">
              <a:buNone/>
            </a:pPr>
            <a:r>
              <a:rPr lang="en-US" sz="860" b="1" dirty="0">
                <a:solidFill>
                  <a:srgbClr val="FFFFFF"/>
                </a:solidFill>
                <a:latin typeface="Aptos" pitchFamily="34" charset="0"/>
                <a:ea typeface="Aptos" pitchFamily="34" charset="-122"/>
                <a:cs typeface="Aptos" pitchFamily="34" charset="-120"/>
              </a:rPr>
              <a:t>Model</a:t>
            </a:r>
            <a:endParaRPr lang="en-US" sz="860" dirty="0"/>
          </a:p>
        </p:txBody>
      </p:sp>
      <p:sp>
        <p:nvSpPr>
          <p:cNvPr id="26" name="Text 23"/>
          <p:cNvSpPr/>
          <p:nvPr/>
        </p:nvSpPr>
        <p:spPr>
          <a:xfrm>
            <a:off x="7805057" y="1175004"/>
            <a:ext cx="757646" cy="365760"/>
          </a:xfrm>
          <a:prstGeom prst="rect">
            <a:avLst/>
          </a:prstGeom>
          <a:noFill/>
          <a:ln/>
        </p:spPr>
        <p:txBody>
          <a:bodyPr wrap="square" lIns="127" tIns="127" rIns="127" bIns="127" rtlCol="0" anchor="ctr">
            <a:normAutofit/>
          </a:bodyPr>
          <a:lstStyle/>
          <a:p>
            <a:pPr marL="0" indent="0" algn="ctr">
              <a:buNone/>
            </a:pPr>
            <a:r>
              <a:rPr lang="en-US" sz="860" b="1" dirty="0">
                <a:solidFill>
                  <a:srgbClr val="FFFFFF"/>
                </a:solidFill>
                <a:latin typeface="Aptos" pitchFamily="34" charset="0"/>
                <a:ea typeface="Aptos" pitchFamily="34" charset="-122"/>
                <a:cs typeface="Aptos" pitchFamily="34" charset="-120"/>
              </a:rPr>
              <a:t>F1 Tidak</a:t>
            </a:r>
            <a:endParaRPr lang="en-US" sz="860" dirty="0"/>
          </a:p>
        </p:txBody>
      </p:sp>
      <p:sp>
        <p:nvSpPr>
          <p:cNvPr id="27" name="Text 24"/>
          <p:cNvSpPr/>
          <p:nvPr/>
        </p:nvSpPr>
        <p:spPr>
          <a:xfrm>
            <a:off x="8654143" y="1175004"/>
            <a:ext cx="757646" cy="365760"/>
          </a:xfrm>
          <a:prstGeom prst="rect">
            <a:avLst/>
          </a:prstGeom>
          <a:noFill/>
          <a:ln/>
        </p:spPr>
        <p:txBody>
          <a:bodyPr wrap="square" lIns="127" tIns="127" rIns="127" bIns="127" rtlCol="0" anchor="ctr">
            <a:normAutofit/>
          </a:bodyPr>
          <a:lstStyle/>
          <a:p>
            <a:pPr marL="0" indent="0" algn="ctr">
              <a:buNone/>
            </a:pPr>
            <a:r>
              <a:rPr lang="en-US" sz="860" b="1" dirty="0">
                <a:solidFill>
                  <a:srgbClr val="FFFFFF"/>
                </a:solidFill>
                <a:latin typeface="Aptos" pitchFamily="34" charset="0"/>
                <a:ea typeface="Aptos" pitchFamily="34" charset="-122"/>
                <a:cs typeface="Aptos" pitchFamily="34" charset="-120"/>
              </a:rPr>
              <a:t>F1 Ya</a:t>
            </a:r>
            <a:endParaRPr lang="en-US" sz="860" dirty="0"/>
          </a:p>
        </p:txBody>
      </p:sp>
      <p:sp>
        <p:nvSpPr>
          <p:cNvPr id="28" name="Text 25"/>
          <p:cNvSpPr/>
          <p:nvPr/>
        </p:nvSpPr>
        <p:spPr>
          <a:xfrm>
            <a:off x="9503229" y="1175004"/>
            <a:ext cx="757646" cy="365760"/>
          </a:xfrm>
          <a:prstGeom prst="rect">
            <a:avLst/>
          </a:prstGeom>
          <a:noFill/>
          <a:ln/>
        </p:spPr>
        <p:txBody>
          <a:bodyPr wrap="square" lIns="127" tIns="127" rIns="127" bIns="127" rtlCol="0" anchor="ctr">
            <a:normAutofit/>
          </a:bodyPr>
          <a:lstStyle/>
          <a:p>
            <a:pPr marL="0" indent="0" algn="ctr">
              <a:buNone/>
            </a:pPr>
            <a:r>
              <a:rPr lang="en-US" sz="860" b="1" dirty="0">
                <a:solidFill>
                  <a:srgbClr val="FFFFFF"/>
                </a:solidFill>
                <a:latin typeface="Aptos" pitchFamily="34" charset="0"/>
                <a:ea typeface="Aptos" pitchFamily="34" charset="-122"/>
                <a:cs typeface="Aptos" pitchFamily="34" charset="-120"/>
              </a:rPr>
              <a:t>F1 Macro</a:t>
            </a:r>
            <a:endParaRPr lang="en-US" sz="860" dirty="0"/>
          </a:p>
        </p:txBody>
      </p:sp>
      <p:sp>
        <p:nvSpPr>
          <p:cNvPr id="29" name="Text 26"/>
          <p:cNvSpPr/>
          <p:nvPr/>
        </p:nvSpPr>
        <p:spPr>
          <a:xfrm>
            <a:off x="10352314" y="1175004"/>
            <a:ext cx="757646" cy="365760"/>
          </a:xfrm>
          <a:prstGeom prst="rect">
            <a:avLst/>
          </a:prstGeom>
          <a:noFill/>
          <a:ln/>
        </p:spPr>
        <p:txBody>
          <a:bodyPr wrap="square" lIns="127" tIns="127" rIns="127" bIns="127" rtlCol="0" anchor="ctr">
            <a:normAutofit/>
          </a:bodyPr>
          <a:lstStyle/>
          <a:p>
            <a:pPr marL="0" indent="0" algn="ctr">
              <a:buNone/>
            </a:pPr>
            <a:r>
              <a:rPr lang="en-US" sz="860" b="1" dirty="0">
                <a:solidFill>
                  <a:srgbClr val="FFFFFF"/>
                </a:solidFill>
                <a:latin typeface="Aptos" pitchFamily="34" charset="0"/>
                <a:ea typeface="Aptos" pitchFamily="34" charset="-122"/>
                <a:cs typeface="Aptos" pitchFamily="34" charset="-120"/>
              </a:rPr>
              <a:t>Accuracy</a:t>
            </a:r>
            <a:endParaRPr lang="en-US" sz="860" dirty="0"/>
          </a:p>
        </p:txBody>
      </p:sp>
      <p:sp>
        <p:nvSpPr>
          <p:cNvPr id="30" name="Shape 27"/>
          <p:cNvSpPr/>
          <p:nvPr/>
        </p:nvSpPr>
        <p:spPr>
          <a:xfrm>
            <a:off x="5806440" y="1572768"/>
            <a:ext cx="5349240" cy="429768"/>
          </a:xfrm>
          <a:prstGeom prst="rect">
            <a:avLst/>
          </a:prstGeom>
          <a:solidFill>
            <a:srgbClr val="FFFFFF"/>
          </a:solidFill>
          <a:ln w="6350">
            <a:solidFill>
              <a:srgbClr val="D6E4F2"/>
            </a:solidFill>
            <a:prstDash val="solid"/>
          </a:ln>
        </p:spPr>
      </p:sp>
      <p:sp>
        <p:nvSpPr>
          <p:cNvPr id="31" name="Text 28"/>
          <p:cNvSpPr/>
          <p:nvPr/>
        </p:nvSpPr>
        <p:spPr>
          <a:xfrm>
            <a:off x="5852160" y="1604772"/>
            <a:ext cx="1861457" cy="365760"/>
          </a:xfrm>
          <a:prstGeom prst="rect">
            <a:avLst/>
          </a:prstGeom>
          <a:noFill/>
          <a:ln/>
        </p:spPr>
        <p:txBody>
          <a:bodyPr wrap="square" lIns="127" tIns="127" rIns="127" bIns="127" rtlCol="0" anchor="ctr">
            <a:normAutofit/>
          </a:bodyPr>
          <a:lstStyle/>
          <a:p>
            <a:pPr marL="0" indent="0" algn="l">
              <a:buNone/>
            </a:pPr>
            <a:r>
              <a:rPr lang="en-US" sz="860" b="1" dirty="0">
                <a:solidFill>
                  <a:srgbClr val="1F2937"/>
                </a:solidFill>
                <a:latin typeface="Aptos" pitchFamily="34" charset="0"/>
                <a:ea typeface="Aptos" pitchFamily="34" charset="-122"/>
                <a:cs typeface="Aptos" pitchFamily="34" charset="-120"/>
              </a:rPr>
              <a:t>CatBoost Tuned</a:t>
            </a:r>
            <a:endParaRPr lang="en-US" sz="860" dirty="0"/>
          </a:p>
        </p:txBody>
      </p:sp>
      <p:sp>
        <p:nvSpPr>
          <p:cNvPr id="32" name="Text 29"/>
          <p:cNvSpPr/>
          <p:nvPr/>
        </p:nvSpPr>
        <p:spPr>
          <a:xfrm>
            <a:off x="7805057" y="1604772"/>
            <a:ext cx="757646" cy="365760"/>
          </a:xfrm>
          <a:prstGeom prst="rect">
            <a:avLst/>
          </a:prstGeom>
          <a:noFill/>
          <a:ln/>
        </p:spPr>
        <p:txBody>
          <a:bodyPr wrap="square" lIns="127" tIns="127" rIns="127" bIns="127" rtlCol="0" anchor="ctr">
            <a:normAutofit/>
          </a:bodyPr>
          <a:lstStyle/>
          <a:p>
            <a:pPr marL="0" indent="0" algn="ctr">
              <a:buNone/>
            </a:pPr>
            <a:r>
              <a:rPr lang="en-US" sz="860" dirty="0">
                <a:solidFill>
                  <a:srgbClr val="5E6B7A"/>
                </a:solidFill>
                <a:latin typeface="Aptos" pitchFamily="34" charset="0"/>
                <a:ea typeface="Aptos" pitchFamily="34" charset="-122"/>
                <a:cs typeface="Aptos" pitchFamily="34" charset="-120"/>
              </a:rPr>
              <a:t>0.7369</a:t>
            </a:r>
            <a:endParaRPr lang="en-US" sz="860" dirty="0"/>
          </a:p>
        </p:txBody>
      </p:sp>
      <p:sp>
        <p:nvSpPr>
          <p:cNvPr id="33" name="Text 30"/>
          <p:cNvSpPr/>
          <p:nvPr/>
        </p:nvSpPr>
        <p:spPr>
          <a:xfrm>
            <a:off x="8654143" y="1604772"/>
            <a:ext cx="757646" cy="365760"/>
          </a:xfrm>
          <a:prstGeom prst="rect">
            <a:avLst/>
          </a:prstGeom>
          <a:noFill/>
          <a:ln/>
        </p:spPr>
        <p:txBody>
          <a:bodyPr wrap="square" lIns="127" tIns="127" rIns="127" bIns="127" rtlCol="0" anchor="ctr">
            <a:normAutofit/>
          </a:bodyPr>
          <a:lstStyle/>
          <a:p>
            <a:pPr marL="0" indent="0" algn="ctr">
              <a:buNone/>
            </a:pPr>
            <a:r>
              <a:rPr lang="en-US" sz="860" dirty="0">
                <a:solidFill>
                  <a:srgbClr val="5E6B7A"/>
                </a:solidFill>
                <a:latin typeface="Aptos" pitchFamily="34" charset="0"/>
                <a:ea typeface="Aptos" pitchFamily="34" charset="-122"/>
                <a:cs typeface="Aptos" pitchFamily="34" charset="-120"/>
              </a:rPr>
              <a:t>0.5633</a:t>
            </a:r>
            <a:endParaRPr lang="en-US" sz="860" dirty="0"/>
          </a:p>
        </p:txBody>
      </p:sp>
      <p:sp>
        <p:nvSpPr>
          <p:cNvPr id="34" name="Text 31"/>
          <p:cNvSpPr/>
          <p:nvPr/>
        </p:nvSpPr>
        <p:spPr>
          <a:xfrm>
            <a:off x="9503229" y="1604772"/>
            <a:ext cx="757646" cy="365760"/>
          </a:xfrm>
          <a:prstGeom prst="rect">
            <a:avLst/>
          </a:prstGeom>
          <a:noFill/>
          <a:ln/>
        </p:spPr>
        <p:txBody>
          <a:bodyPr wrap="square" lIns="127" tIns="127" rIns="127" bIns="127" rtlCol="0" anchor="ctr">
            <a:normAutofit/>
          </a:bodyPr>
          <a:lstStyle/>
          <a:p>
            <a:pPr marL="0" indent="0" algn="ctr">
              <a:buNone/>
            </a:pPr>
            <a:r>
              <a:rPr lang="en-US" sz="860" dirty="0">
                <a:solidFill>
                  <a:srgbClr val="5E6B7A"/>
                </a:solidFill>
                <a:latin typeface="Aptos" pitchFamily="34" charset="0"/>
                <a:ea typeface="Aptos" pitchFamily="34" charset="-122"/>
                <a:cs typeface="Aptos" pitchFamily="34" charset="-120"/>
              </a:rPr>
              <a:t>0.6501</a:t>
            </a:r>
            <a:endParaRPr lang="en-US" sz="860" dirty="0"/>
          </a:p>
        </p:txBody>
      </p:sp>
      <p:sp>
        <p:nvSpPr>
          <p:cNvPr id="35" name="Text 32"/>
          <p:cNvSpPr/>
          <p:nvPr/>
        </p:nvSpPr>
        <p:spPr>
          <a:xfrm>
            <a:off x="10352314" y="1604772"/>
            <a:ext cx="757646" cy="365760"/>
          </a:xfrm>
          <a:prstGeom prst="rect">
            <a:avLst/>
          </a:prstGeom>
          <a:noFill/>
          <a:ln/>
        </p:spPr>
        <p:txBody>
          <a:bodyPr wrap="square" lIns="127" tIns="127" rIns="127" bIns="127" rtlCol="0" anchor="ctr">
            <a:normAutofit/>
          </a:bodyPr>
          <a:lstStyle/>
          <a:p>
            <a:pPr marL="0" indent="0" algn="ctr">
              <a:buNone/>
            </a:pPr>
            <a:r>
              <a:rPr lang="en-US" sz="860" dirty="0">
                <a:solidFill>
                  <a:srgbClr val="5E6B7A"/>
                </a:solidFill>
                <a:latin typeface="Aptos" pitchFamily="34" charset="0"/>
                <a:ea typeface="Aptos" pitchFamily="34" charset="-122"/>
                <a:cs typeface="Aptos" pitchFamily="34" charset="-120"/>
              </a:rPr>
              <a:t>0.6717</a:t>
            </a:r>
            <a:endParaRPr lang="en-US" sz="860" dirty="0"/>
          </a:p>
        </p:txBody>
      </p:sp>
      <p:sp>
        <p:nvSpPr>
          <p:cNvPr id="36" name="Shape 33"/>
          <p:cNvSpPr/>
          <p:nvPr/>
        </p:nvSpPr>
        <p:spPr>
          <a:xfrm>
            <a:off x="5806440" y="2002536"/>
            <a:ext cx="5349240" cy="429768"/>
          </a:xfrm>
          <a:prstGeom prst="rect">
            <a:avLst/>
          </a:prstGeom>
          <a:solidFill>
            <a:srgbClr val="F3F9FF"/>
          </a:solidFill>
          <a:ln w="6350">
            <a:solidFill>
              <a:srgbClr val="D6E4F2"/>
            </a:solidFill>
            <a:prstDash val="solid"/>
          </a:ln>
        </p:spPr>
      </p:sp>
      <p:sp>
        <p:nvSpPr>
          <p:cNvPr id="37" name="Text 34"/>
          <p:cNvSpPr/>
          <p:nvPr/>
        </p:nvSpPr>
        <p:spPr>
          <a:xfrm>
            <a:off x="5852160" y="2034540"/>
            <a:ext cx="1861457" cy="365760"/>
          </a:xfrm>
          <a:prstGeom prst="rect">
            <a:avLst/>
          </a:prstGeom>
          <a:noFill/>
          <a:ln/>
        </p:spPr>
        <p:txBody>
          <a:bodyPr wrap="square" lIns="127" tIns="127" rIns="127" bIns="127" rtlCol="0" anchor="ctr">
            <a:normAutofit/>
          </a:bodyPr>
          <a:lstStyle/>
          <a:p>
            <a:pPr marL="0" indent="0" algn="l">
              <a:buNone/>
            </a:pPr>
            <a:r>
              <a:rPr lang="en-US" sz="860" b="1" dirty="0">
                <a:solidFill>
                  <a:srgbClr val="1F2937"/>
                </a:solidFill>
                <a:latin typeface="Aptos" pitchFamily="34" charset="0"/>
                <a:ea typeface="Aptos" pitchFamily="34" charset="-122"/>
                <a:cs typeface="Aptos" pitchFamily="34" charset="-120"/>
              </a:rPr>
              <a:t>Random Forest Tuned</a:t>
            </a:r>
            <a:endParaRPr lang="en-US" sz="860" dirty="0"/>
          </a:p>
        </p:txBody>
      </p:sp>
      <p:sp>
        <p:nvSpPr>
          <p:cNvPr id="38" name="Text 35"/>
          <p:cNvSpPr/>
          <p:nvPr/>
        </p:nvSpPr>
        <p:spPr>
          <a:xfrm>
            <a:off x="7805057" y="2034540"/>
            <a:ext cx="757646" cy="365760"/>
          </a:xfrm>
          <a:prstGeom prst="rect">
            <a:avLst/>
          </a:prstGeom>
          <a:noFill/>
          <a:ln/>
        </p:spPr>
        <p:txBody>
          <a:bodyPr wrap="square" lIns="127" tIns="127" rIns="127" bIns="127" rtlCol="0" anchor="ctr">
            <a:normAutofit/>
          </a:bodyPr>
          <a:lstStyle/>
          <a:p>
            <a:pPr marL="0" indent="0" algn="ctr">
              <a:buNone/>
            </a:pPr>
            <a:r>
              <a:rPr lang="en-US" sz="860" dirty="0">
                <a:solidFill>
                  <a:srgbClr val="5E6B7A"/>
                </a:solidFill>
                <a:latin typeface="Aptos" pitchFamily="34" charset="0"/>
                <a:ea typeface="Aptos" pitchFamily="34" charset="-122"/>
                <a:cs typeface="Aptos" pitchFamily="34" charset="-120"/>
              </a:rPr>
              <a:t>0.7079</a:t>
            </a:r>
            <a:endParaRPr lang="en-US" sz="860" dirty="0"/>
          </a:p>
        </p:txBody>
      </p:sp>
      <p:sp>
        <p:nvSpPr>
          <p:cNvPr id="39" name="Text 36"/>
          <p:cNvSpPr/>
          <p:nvPr/>
        </p:nvSpPr>
        <p:spPr>
          <a:xfrm>
            <a:off x="8654143" y="2034540"/>
            <a:ext cx="757646" cy="365760"/>
          </a:xfrm>
          <a:prstGeom prst="rect">
            <a:avLst/>
          </a:prstGeom>
          <a:noFill/>
          <a:ln/>
        </p:spPr>
        <p:txBody>
          <a:bodyPr wrap="square" lIns="127" tIns="127" rIns="127" bIns="127" rtlCol="0" anchor="ctr">
            <a:normAutofit/>
          </a:bodyPr>
          <a:lstStyle/>
          <a:p>
            <a:pPr marL="0" indent="0" algn="ctr">
              <a:buNone/>
            </a:pPr>
            <a:r>
              <a:rPr lang="en-US" sz="860" dirty="0">
                <a:solidFill>
                  <a:srgbClr val="5E6B7A"/>
                </a:solidFill>
                <a:latin typeface="Aptos" pitchFamily="34" charset="0"/>
                <a:ea typeface="Aptos" pitchFamily="34" charset="-122"/>
                <a:cs typeface="Aptos" pitchFamily="34" charset="-120"/>
              </a:rPr>
              <a:t>0.5498</a:t>
            </a:r>
            <a:endParaRPr lang="en-US" sz="860" dirty="0"/>
          </a:p>
        </p:txBody>
      </p:sp>
      <p:sp>
        <p:nvSpPr>
          <p:cNvPr id="40" name="Text 37"/>
          <p:cNvSpPr/>
          <p:nvPr/>
        </p:nvSpPr>
        <p:spPr>
          <a:xfrm>
            <a:off x="9503229" y="2034540"/>
            <a:ext cx="757646" cy="365760"/>
          </a:xfrm>
          <a:prstGeom prst="rect">
            <a:avLst/>
          </a:prstGeom>
          <a:noFill/>
          <a:ln/>
        </p:spPr>
        <p:txBody>
          <a:bodyPr wrap="square" lIns="127" tIns="127" rIns="127" bIns="127" rtlCol="0" anchor="ctr">
            <a:normAutofit/>
          </a:bodyPr>
          <a:lstStyle/>
          <a:p>
            <a:pPr marL="0" indent="0" algn="ctr">
              <a:buNone/>
            </a:pPr>
            <a:r>
              <a:rPr lang="en-US" sz="860" dirty="0">
                <a:solidFill>
                  <a:srgbClr val="5E6B7A"/>
                </a:solidFill>
                <a:latin typeface="Aptos" pitchFamily="34" charset="0"/>
                <a:ea typeface="Aptos" pitchFamily="34" charset="-122"/>
                <a:cs typeface="Aptos" pitchFamily="34" charset="-120"/>
              </a:rPr>
              <a:t>0.6288</a:t>
            </a:r>
            <a:endParaRPr lang="en-US" sz="860" dirty="0"/>
          </a:p>
        </p:txBody>
      </p:sp>
      <p:sp>
        <p:nvSpPr>
          <p:cNvPr id="41" name="Text 38"/>
          <p:cNvSpPr/>
          <p:nvPr/>
        </p:nvSpPr>
        <p:spPr>
          <a:xfrm>
            <a:off x="10352314" y="2034540"/>
            <a:ext cx="757646" cy="365760"/>
          </a:xfrm>
          <a:prstGeom prst="rect">
            <a:avLst/>
          </a:prstGeom>
          <a:noFill/>
          <a:ln/>
        </p:spPr>
        <p:txBody>
          <a:bodyPr wrap="square" lIns="127" tIns="127" rIns="127" bIns="127" rtlCol="0" anchor="ctr">
            <a:normAutofit/>
          </a:bodyPr>
          <a:lstStyle/>
          <a:p>
            <a:pPr marL="0" indent="0" algn="ctr">
              <a:buNone/>
            </a:pPr>
            <a:r>
              <a:rPr lang="en-US" sz="860" dirty="0">
                <a:solidFill>
                  <a:srgbClr val="5E6B7A"/>
                </a:solidFill>
                <a:latin typeface="Aptos" pitchFamily="34" charset="0"/>
                <a:ea typeface="Aptos" pitchFamily="34" charset="-122"/>
                <a:cs typeface="Aptos" pitchFamily="34" charset="-120"/>
              </a:rPr>
              <a:t>0.6457</a:t>
            </a:r>
            <a:endParaRPr lang="en-US" sz="860" dirty="0"/>
          </a:p>
        </p:txBody>
      </p:sp>
      <p:sp>
        <p:nvSpPr>
          <p:cNvPr id="42" name="Shape 39"/>
          <p:cNvSpPr/>
          <p:nvPr/>
        </p:nvSpPr>
        <p:spPr>
          <a:xfrm>
            <a:off x="5806440" y="2432304"/>
            <a:ext cx="5349240" cy="429768"/>
          </a:xfrm>
          <a:prstGeom prst="rect">
            <a:avLst/>
          </a:prstGeom>
          <a:solidFill>
            <a:srgbClr val="FFFFFF"/>
          </a:solidFill>
          <a:ln w="6350">
            <a:solidFill>
              <a:srgbClr val="D6E4F2"/>
            </a:solidFill>
            <a:prstDash val="solid"/>
          </a:ln>
        </p:spPr>
      </p:sp>
      <p:sp>
        <p:nvSpPr>
          <p:cNvPr id="43" name="Text 40"/>
          <p:cNvSpPr/>
          <p:nvPr/>
        </p:nvSpPr>
        <p:spPr>
          <a:xfrm>
            <a:off x="5852160" y="2464308"/>
            <a:ext cx="1861457" cy="365760"/>
          </a:xfrm>
          <a:prstGeom prst="rect">
            <a:avLst/>
          </a:prstGeom>
          <a:noFill/>
          <a:ln/>
        </p:spPr>
        <p:txBody>
          <a:bodyPr wrap="square" lIns="127" tIns="127" rIns="127" bIns="127" rtlCol="0" anchor="ctr">
            <a:normAutofit/>
          </a:bodyPr>
          <a:lstStyle/>
          <a:p>
            <a:pPr marL="0" indent="0" algn="l">
              <a:buNone/>
            </a:pPr>
            <a:r>
              <a:rPr lang="en-US" sz="860" b="1" dirty="0">
                <a:solidFill>
                  <a:srgbClr val="1F2937"/>
                </a:solidFill>
                <a:latin typeface="Aptos" pitchFamily="34" charset="0"/>
                <a:ea typeface="Aptos" pitchFamily="34" charset="-122"/>
                <a:cs typeface="Aptos" pitchFamily="34" charset="-120"/>
              </a:rPr>
              <a:t>LogReg Tuned</a:t>
            </a:r>
            <a:endParaRPr lang="en-US" sz="860" dirty="0"/>
          </a:p>
        </p:txBody>
      </p:sp>
      <p:sp>
        <p:nvSpPr>
          <p:cNvPr id="44" name="Text 41"/>
          <p:cNvSpPr/>
          <p:nvPr/>
        </p:nvSpPr>
        <p:spPr>
          <a:xfrm>
            <a:off x="7805057" y="2464308"/>
            <a:ext cx="757646" cy="365760"/>
          </a:xfrm>
          <a:prstGeom prst="rect">
            <a:avLst/>
          </a:prstGeom>
          <a:noFill/>
          <a:ln/>
        </p:spPr>
        <p:txBody>
          <a:bodyPr wrap="square" lIns="127" tIns="127" rIns="127" bIns="127" rtlCol="0" anchor="ctr">
            <a:normAutofit/>
          </a:bodyPr>
          <a:lstStyle/>
          <a:p>
            <a:pPr marL="0" indent="0" algn="ctr">
              <a:buNone/>
            </a:pPr>
            <a:r>
              <a:rPr lang="en-US" sz="860" dirty="0">
                <a:solidFill>
                  <a:srgbClr val="5E6B7A"/>
                </a:solidFill>
                <a:latin typeface="Aptos" pitchFamily="34" charset="0"/>
                <a:ea typeface="Aptos" pitchFamily="34" charset="-122"/>
                <a:cs typeface="Aptos" pitchFamily="34" charset="-120"/>
              </a:rPr>
              <a:t>0.6978</a:t>
            </a:r>
            <a:endParaRPr lang="en-US" sz="860" dirty="0"/>
          </a:p>
        </p:txBody>
      </p:sp>
      <p:sp>
        <p:nvSpPr>
          <p:cNvPr id="45" name="Text 42"/>
          <p:cNvSpPr/>
          <p:nvPr/>
        </p:nvSpPr>
        <p:spPr>
          <a:xfrm>
            <a:off x="8654143" y="2464308"/>
            <a:ext cx="757646" cy="365760"/>
          </a:xfrm>
          <a:prstGeom prst="rect">
            <a:avLst/>
          </a:prstGeom>
          <a:noFill/>
          <a:ln/>
        </p:spPr>
        <p:txBody>
          <a:bodyPr wrap="square" lIns="127" tIns="127" rIns="127" bIns="127" rtlCol="0" anchor="ctr">
            <a:normAutofit/>
          </a:bodyPr>
          <a:lstStyle/>
          <a:p>
            <a:pPr marL="0" indent="0" algn="ctr">
              <a:buNone/>
            </a:pPr>
            <a:r>
              <a:rPr lang="en-US" sz="860" dirty="0">
                <a:solidFill>
                  <a:srgbClr val="5E6B7A"/>
                </a:solidFill>
                <a:latin typeface="Aptos" pitchFamily="34" charset="0"/>
                <a:ea typeface="Aptos" pitchFamily="34" charset="-122"/>
                <a:cs typeface="Aptos" pitchFamily="34" charset="-120"/>
              </a:rPr>
              <a:t>0.4796</a:t>
            </a:r>
            <a:endParaRPr lang="en-US" sz="860" dirty="0"/>
          </a:p>
        </p:txBody>
      </p:sp>
      <p:sp>
        <p:nvSpPr>
          <p:cNvPr id="46" name="Text 43"/>
          <p:cNvSpPr/>
          <p:nvPr/>
        </p:nvSpPr>
        <p:spPr>
          <a:xfrm>
            <a:off x="9503229" y="2464308"/>
            <a:ext cx="757646" cy="365760"/>
          </a:xfrm>
          <a:prstGeom prst="rect">
            <a:avLst/>
          </a:prstGeom>
          <a:noFill/>
          <a:ln/>
        </p:spPr>
        <p:txBody>
          <a:bodyPr wrap="square" lIns="127" tIns="127" rIns="127" bIns="127" rtlCol="0" anchor="ctr">
            <a:normAutofit/>
          </a:bodyPr>
          <a:lstStyle/>
          <a:p>
            <a:pPr marL="0" indent="0" algn="ctr">
              <a:buNone/>
            </a:pPr>
            <a:r>
              <a:rPr lang="en-US" sz="860" dirty="0">
                <a:solidFill>
                  <a:srgbClr val="5E6B7A"/>
                </a:solidFill>
                <a:latin typeface="Aptos" pitchFamily="34" charset="0"/>
                <a:ea typeface="Aptos" pitchFamily="34" charset="-122"/>
                <a:cs typeface="Aptos" pitchFamily="34" charset="-120"/>
              </a:rPr>
              <a:t>0.5887</a:t>
            </a:r>
            <a:endParaRPr lang="en-US" sz="860" dirty="0"/>
          </a:p>
        </p:txBody>
      </p:sp>
      <p:sp>
        <p:nvSpPr>
          <p:cNvPr id="47" name="Text 44"/>
          <p:cNvSpPr/>
          <p:nvPr/>
        </p:nvSpPr>
        <p:spPr>
          <a:xfrm>
            <a:off x="10352314" y="2464308"/>
            <a:ext cx="757646" cy="365760"/>
          </a:xfrm>
          <a:prstGeom prst="rect">
            <a:avLst/>
          </a:prstGeom>
          <a:noFill/>
          <a:ln/>
        </p:spPr>
        <p:txBody>
          <a:bodyPr wrap="square" lIns="127" tIns="127" rIns="127" bIns="127" rtlCol="0" anchor="ctr">
            <a:normAutofit/>
          </a:bodyPr>
          <a:lstStyle/>
          <a:p>
            <a:pPr marL="0" indent="0" algn="ctr">
              <a:buNone/>
            </a:pPr>
            <a:r>
              <a:rPr lang="en-US" sz="860" dirty="0">
                <a:solidFill>
                  <a:srgbClr val="5E6B7A"/>
                </a:solidFill>
                <a:latin typeface="Aptos" pitchFamily="34" charset="0"/>
                <a:ea typeface="Aptos" pitchFamily="34" charset="-122"/>
                <a:cs typeface="Aptos" pitchFamily="34" charset="-120"/>
              </a:rPr>
              <a:t>0.6176</a:t>
            </a:r>
            <a:endParaRPr lang="en-US" sz="860" dirty="0"/>
          </a:p>
        </p:txBody>
      </p:sp>
      <p:sp>
        <p:nvSpPr>
          <p:cNvPr id="48" name="Shape 45"/>
          <p:cNvSpPr/>
          <p:nvPr/>
        </p:nvSpPr>
        <p:spPr>
          <a:xfrm>
            <a:off x="731520" y="3703320"/>
            <a:ext cx="4709160" cy="932688"/>
          </a:xfrm>
          <a:prstGeom prst="roundRect">
            <a:avLst/>
          </a:prstGeom>
          <a:solidFill>
            <a:srgbClr val="EAF8F0"/>
          </a:solidFill>
          <a:ln w="12700">
            <a:solidFill>
              <a:srgbClr val="C9DFFF"/>
            </a:solidFill>
            <a:prstDash val="solid"/>
          </a:ln>
          <a:effectLst>
            <a:outerShdw blurRad="12700" dist="50800" dir="2700000" algn="bl" rotWithShape="0">
              <a:srgbClr val="B8C8DA">
                <a:alpha val="10000"/>
              </a:srgbClr>
            </a:outerShdw>
          </a:effectLst>
        </p:spPr>
      </p:sp>
      <p:sp>
        <p:nvSpPr>
          <p:cNvPr id="49" name="Text 46"/>
          <p:cNvSpPr/>
          <p:nvPr/>
        </p:nvSpPr>
        <p:spPr>
          <a:xfrm>
            <a:off x="896112" y="3849624"/>
            <a:ext cx="4379976" cy="219456"/>
          </a:xfrm>
          <a:prstGeom prst="rect">
            <a:avLst/>
          </a:prstGeom>
          <a:noFill/>
          <a:ln/>
        </p:spPr>
        <p:txBody>
          <a:bodyPr wrap="square" lIns="0" tIns="0" rIns="0" bIns="0" rtlCol="0" anchor="t">
            <a:normAutofit/>
          </a:bodyPr>
          <a:lstStyle/>
          <a:p>
            <a:pPr marL="0" indent="0" algn="l">
              <a:buNone/>
            </a:pPr>
            <a:r>
              <a:rPr lang="en-US" sz="1200" b="1" dirty="0">
                <a:solidFill>
                  <a:srgbClr val="16A34A"/>
                </a:solidFill>
                <a:latin typeface="Aptos" pitchFamily="34" charset="0"/>
                <a:ea typeface="Aptos" pitchFamily="34" charset="-122"/>
                <a:cs typeface="Aptos" pitchFamily="34" charset="-120"/>
              </a:rPr>
              <a:t>Perbaikan utama</a:t>
            </a:r>
            <a:endParaRPr lang="en-US" sz="1200" dirty="0"/>
          </a:p>
        </p:txBody>
      </p:sp>
      <p:sp>
        <p:nvSpPr>
          <p:cNvPr id="50" name="Text 47"/>
          <p:cNvSpPr/>
          <p:nvPr/>
        </p:nvSpPr>
        <p:spPr>
          <a:xfrm>
            <a:off x="896112" y="4142232"/>
            <a:ext cx="4379976" cy="402336"/>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F1 Ya CatBoost naik dari 0,4861 ke 0,5633. Ini berarti model lebih baik menemukan developer yang benar-benar memakai AI Agent.</a:t>
            </a:r>
            <a:endParaRPr lang="en-US" sz="1100" dirty="0"/>
          </a:p>
        </p:txBody>
      </p:sp>
      <p:sp>
        <p:nvSpPr>
          <p:cNvPr id="51" name="Shape 48"/>
          <p:cNvSpPr/>
          <p:nvPr/>
        </p:nvSpPr>
        <p:spPr>
          <a:xfrm>
            <a:off x="5806440" y="3703320"/>
            <a:ext cx="5349240" cy="932688"/>
          </a:xfrm>
          <a:prstGeom prst="roundRect">
            <a:avLst/>
          </a:prstGeom>
          <a:solidFill>
            <a:srgbClr val="FFF7E6"/>
          </a:solidFill>
          <a:ln w="12700">
            <a:solidFill>
              <a:srgbClr val="C9DFFF"/>
            </a:solidFill>
            <a:prstDash val="solid"/>
          </a:ln>
          <a:effectLst>
            <a:outerShdw blurRad="12700" dist="50800" dir="2700000" algn="bl" rotWithShape="0">
              <a:srgbClr val="B8C8DA">
                <a:alpha val="10000"/>
              </a:srgbClr>
            </a:outerShdw>
          </a:effectLst>
        </p:spPr>
      </p:sp>
      <p:sp>
        <p:nvSpPr>
          <p:cNvPr id="52" name="Text 49"/>
          <p:cNvSpPr/>
          <p:nvPr/>
        </p:nvSpPr>
        <p:spPr>
          <a:xfrm>
            <a:off x="5971032" y="3849624"/>
            <a:ext cx="5020056" cy="219456"/>
          </a:xfrm>
          <a:prstGeom prst="rect">
            <a:avLst/>
          </a:prstGeom>
          <a:noFill/>
          <a:ln/>
        </p:spPr>
        <p:txBody>
          <a:bodyPr wrap="square" lIns="0" tIns="0" rIns="0" bIns="0" rtlCol="0" anchor="t">
            <a:normAutofit/>
          </a:bodyPr>
          <a:lstStyle/>
          <a:p>
            <a:pPr marL="0" indent="0" algn="l">
              <a:buNone/>
            </a:pPr>
            <a:r>
              <a:rPr lang="en-US" sz="1200" b="1" dirty="0">
                <a:solidFill>
                  <a:srgbClr val="F59E0B"/>
                </a:solidFill>
                <a:latin typeface="Aptos" pitchFamily="34" charset="0"/>
                <a:ea typeface="Aptos" pitchFamily="34" charset="-122"/>
                <a:cs typeface="Aptos" pitchFamily="34" charset="-120"/>
              </a:rPr>
              <a:t>Trade-off</a:t>
            </a:r>
            <a:endParaRPr lang="en-US" sz="1200" dirty="0"/>
          </a:p>
        </p:txBody>
      </p:sp>
      <p:sp>
        <p:nvSpPr>
          <p:cNvPr id="53" name="Text 50"/>
          <p:cNvSpPr/>
          <p:nvPr/>
        </p:nvSpPr>
        <p:spPr>
          <a:xfrm>
            <a:off x="5971032" y="4142232"/>
            <a:ext cx="5020056" cy="402336"/>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F1 Tidak CatBoost turun dari 0,7881 ke 0,7369. Namun ini wajar karena model menjadi lebih berani memprediksi kelas Ya.</a:t>
            </a:r>
            <a:endParaRPr lang="en-US" sz="1100" dirty="0"/>
          </a:p>
        </p:txBody>
      </p:sp>
      <p:sp>
        <p:nvSpPr>
          <p:cNvPr id="54" name="Shape 51"/>
          <p:cNvSpPr/>
          <p:nvPr/>
        </p:nvSpPr>
        <p:spPr>
          <a:xfrm>
            <a:off x="731520" y="5010912"/>
            <a:ext cx="10424160" cy="621792"/>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55" name="Text 52"/>
          <p:cNvSpPr/>
          <p:nvPr/>
        </p:nvSpPr>
        <p:spPr>
          <a:xfrm>
            <a:off x="896112" y="5157216"/>
            <a:ext cx="10094976"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Kalimat presentasi</a:t>
            </a:r>
            <a:endParaRPr lang="en-US" sz="1200" dirty="0"/>
          </a:p>
        </p:txBody>
      </p:sp>
      <p:sp>
        <p:nvSpPr>
          <p:cNvPr id="56" name="Text 53"/>
          <p:cNvSpPr/>
          <p:nvPr/>
        </p:nvSpPr>
        <p:spPr>
          <a:xfrm>
            <a:off x="896112" y="5449824"/>
            <a:ext cx="10094976" cy="91440"/>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“Optimasi tidak hanya mengejar accuracy. Fokusnya adalah memperbaiki keseimbangan performa, terutama pada kelas Ya yang sebelumnya sulit dikenali.”</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19</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Confusion Matrix Under-sampling</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Efek balancing alternatif</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548640" y="1051560"/>
            <a:ext cx="11018520" cy="315468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pic>
        <p:nvPicPr>
          <p:cNvPr id="11" name="Image 0" descr="/mnt/data/latest_nb_assets/cell20_out1.png"/>
          <p:cNvPicPr>
            <a:picLocks noChangeAspect="1"/>
          </p:cNvPicPr>
          <p:nvPr/>
        </p:nvPicPr>
        <p:blipFill>
          <a:blip r:embed="rId3"/>
          <a:stretch>
            <a:fillRect/>
          </a:stretch>
        </p:blipFill>
        <p:spPr>
          <a:xfrm>
            <a:off x="1176345" y="1188720"/>
            <a:ext cx="9763109" cy="2834640"/>
          </a:xfrm>
          <a:prstGeom prst="rect">
            <a:avLst/>
          </a:prstGeom>
        </p:spPr>
      </p:pic>
      <p:sp>
        <p:nvSpPr>
          <p:cNvPr id="12" name="Shape 8"/>
          <p:cNvSpPr/>
          <p:nvPr/>
        </p:nvSpPr>
        <p:spPr>
          <a:xfrm>
            <a:off x="777240" y="4498848"/>
            <a:ext cx="2788920" cy="1005840"/>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13" name="Text 9"/>
          <p:cNvSpPr/>
          <p:nvPr/>
        </p:nvSpPr>
        <p:spPr>
          <a:xfrm>
            <a:off x="941832" y="4645152"/>
            <a:ext cx="2459736"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Cara membaca</a:t>
            </a:r>
            <a:endParaRPr lang="en-US" sz="1200" dirty="0"/>
          </a:p>
        </p:txBody>
      </p:sp>
      <p:sp>
        <p:nvSpPr>
          <p:cNvPr id="14" name="Text 10"/>
          <p:cNvSpPr/>
          <p:nvPr/>
        </p:nvSpPr>
        <p:spPr>
          <a:xfrm>
            <a:off x="941832" y="4937760"/>
            <a:ext cx="2459736" cy="47548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Bandingkan kanan bawah tiap matrix. Angka itu adalah pengguna AI Agent aktual Ya yang berhasil diprediksi Ya.</a:t>
            </a:r>
            <a:endParaRPr lang="en-US" sz="1100" dirty="0"/>
          </a:p>
        </p:txBody>
      </p:sp>
      <p:sp>
        <p:nvSpPr>
          <p:cNvPr id="15" name="Shape 11"/>
          <p:cNvSpPr/>
          <p:nvPr/>
        </p:nvSpPr>
        <p:spPr>
          <a:xfrm>
            <a:off x="3858768" y="4498848"/>
            <a:ext cx="2788920" cy="1005840"/>
          </a:xfrm>
          <a:prstGeom prst="roundRect">
            <a:avLst/>
          </a:prstGeom>
          <a:solidFill>
            <a:srgbClr val="EAF8F0"/>
          </a:solidFill>
          <a:ln w="12700">
            <a:solidFill>
              <a:srgbClr val="C9DFFF"/>
            </a:solidFill>
            <a:prstDash val="solid"/>
          </a:ln>
          <a:effectLst>
            <a:outerShdw blurRad="12700" dist="50800" dir="2700000" algn="bl" rotWithShape="0">
              <a:srgbClr val="B8C8DA">
                <a:alpha val="10000"/>
              </a:srgbClr>
            </a:outerShdw>
          </a:effectLst>
        </p:spPr>
      </p:sp>
      <p:sp>
        <p:nvSpPr>
          <p:cNvPr id="16" name="Text 12"/>
          <p:cNvSpPr/>
          <p:nvPr/>
        </p:nvSpPr>
        <p:spPr>
          <a:xfrm>
            <a:off x="4023360" y="4645152"/>
            <a:ext cx="2459736" cy="219456"/>
          </a:xfrm>
          <a:prstGeom prst="rect">
            <a:avLst/>
          </a:prstGeom>
          <a:noFill/>
          <a:ln/>
        </p:spPr>
        <p:txBody>
          <a:bodyPr wrap="square" lIns="0" tIns="0" rIns="0" bIns="0" rtlCol="0" anchor="t">
            <a:normAutofit/>
          </a:bodyPr>
          <a:lstStyle/>
          <a:p>
            <a:pPr marL="0" indent="0" algn="l">
              <a:buNone/>
            </a:pPr>
            <a:r>
              <a:rPr lang="en-US" sz="1200" b="1" dirty="0">
                <a:solidFill>
                  <a:srgbClr val="16A34A"/>
                </a:solidFill>
                <a:latin typeface="Aptos" pitchFamily="34" charset="0"/>
                <a:ea typeface="Aptos" pitchFamily="34" charset="-122"/>
                <a:cs typeface="Aptos" pitchFamily="34" charset="-120"/>
              </a:rPr>
              <a:t>Efek positif</a:t>
            </a:r>
            <a:endParaRPr lang="en-US" sz="1200" dirty="0"/>
          </a:p>
        </p:txBody>
      </p:sp>
      <p:sp>
        <p:nvSpPr>
          <p:cNvPr id="17" name="Text 13"/>
          <p:cNvSpPr/>
          <p:nvPr/>
        </p:nvSpPr>
        <p:spPr>
          <a:xfrm>
            <a:off x="4023360" y="4937760"/>
            <a:ext cx="2459736" cy="47548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CatBoost under-sampling benar mengenali 1.367 kelas Ya. Ini lebih baik daripada CatBoost awal pada kelas Ya.</a:t>
            </a:r>
            <a:endParaRPr lang="en-US" sz="1100" dirty="0"/>
          </a:p>
        </p:txBody>
      </p:sp>
      <p:sp>
        <p:nvSpPr>
          <p:cNvPr id="18" name="Shape 14"/>
          <p:cNvSpPr/>
          <p:nvPr/>
        </p:nvSpPr>
        <p:spPr>
          <a:xfrm>
            <a:off x="6931152" y="4498848"/>
            <a:ext cx="2240280" cy="1005840"/>
          </a:xfrm>
          <a:prstGeom prst="roundRect">
            <a:avLst/>
          </a:prstGeom>
          <a:solidFill>
            <a:srgbClr val="FFF7E6"/>
          </a:solidFill>
          <a:ln w="12700">
            <a:solidFill>
              <a:srgbClr val="C9DFFF"/>
            </a:solidFill>
            <a:prstDash val="solid"/>
          </a:ln>
          <a:effectLst>
            <a:outerShdw blurRad="12700" dist="50800" dir="2700000" algn="bl" rotWithShape="0">
              <a:srgbClr val="B8C8DA">
                <a:alpha val="10000"/>
              </a:srgbClr>
            </a:outerShdw>
          </a:effectLst>
        </p:spPr>
      </p:sp>
      <p:sp>
        <p:nvSpPr>
          <p:cNvPr id="19" name="Text 15"/>
          <p:cNvSpPr/>
          <p:nvPr/>
        </p:nvSpPr>
        <p:spPr>
          <a:xfrm>
            <a:off x="7095744" y="4645152"/>
            <a:ext cx="1911096" cy="219456"/>
          </a:xfrm>
          <a:prstGeom prst="rect">
            <a:avLst/>
          </a:prstGeom>
          <a:noFill/>
          <a:ln/>
        </p:spPr>
        <p:txBody>
          <a:bodyPr wrap="square" lIns="0" tIns="0" rIns="0" bIns="0" rtlCol="0" anchor="t">
            <a:normAutofit/>
          </a:bodyPr>
          <a:lstStyle/>
          <a:p>
            <a:pPr marL="0" indent="0" algn="l">
              <a:buNone/>
            </a:pPr>
            <a:r>
              <a:rPr lang="en-US" sz="1200" b="1" dirty="0">
                <a:solidFill>
                  <a:srgbClr val="F59E0B"/>
                </a:solidFill>
                <a:latin typeface="Aptos" pitchFamily="34" charset="0"/>
                <a:ea typeface="Aptos" pitchFamily="34" charset="-122"/>
                <a:cs typeface="Aptos" pitchFamily="34" charset="-120"/>
              </a:rPr>
              <a:t>Efek negatif</a:t>
            </a:r>
            <a:endParaRPr lang="en-US" sz="1200" dirty="0"/>
          </a:p>
        </p:txBody>
      </p:sp>
      <p:sp>
        <p:nvSpPr>
          <p:cNvPr id="20" name="Text 16"/>
          <p:cNvSpPr/>
          <p:nvPr/>
        </p:nvSpPr>
        <p:spPr>
          <a:xfrm>
            <a:off x="7095744" y="4937760"/>
            <a:ext cx="1911096" cy="47548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False positive meningkat. Banyak kelas Tidak ikut diprediksi Ya, sehingga F1 Tidak menurun.</a:t>
            </a:r>
            <a:endParaRPr lang="en-US" sz="1100" dirty="0"/>
          </a:p>
        </p:txBody>
      </p:sp>
      <p:sp>
        <p:nvSpPr>
          <p:cNvPr id="21" name="Shape 17"/>
          <p:cNvSpPr/>
          <p:nvPr/>
        </p:nvSpPr>
        <p:spPr>
          <a:xfrm>
            <a:off x="9464040" y="4498848"/>
            <a:ext cx="1920240" cy="1005840"/>
          </a:xfrm>
          <a:prstGeom prst="roundRect">
            <a:avLst/>
          </a:prstGeom>
          <a:solidFill>
            <a:srgbClr val="FFF0F3"/>
          </a:solidFill>
          <a:ln w="12700">
            <a:solidFill>
              <a:srgbClr val="C9DFFF"/>
            </a:solidFill>
            <a:prstDash val="solid"/>
          </a:ln>
          <a:effectLst>
            <a:outerShdw blurRad="12700" dist="50800" dir="2700000" algn="bl" rotWithShape="0">
              <a:srgbClr val="B8C8DA">
                <a:alpha val="10000"/>
              </a:srgbClr>
            </a:outerShdw>
          </a:effectLst>
        </p:spPr>
      </p:sp>
      <p:sp>
        <p:nvSpPr>
          <p:cNvPr id="22" name="Text 18"/>
          <p:cNvSpPr/>
          <p:nvPr/>
        </p:nvSpPr>
        <p:spPr>
          <a:xfrm>
            <a:off x="9628632" y="4645152"/>
            <a:ext cx="1591056" cy="219456"/>
          </a:xfrm>
          <a:prstGeom prst="rect">
            <a:avLst/>
          </a:prstGeom>
          <a:noFill/>
          <a:ln/>
        </p:spPr>
        <p:txBody>
          <a:bodyPr wrap="square" lIns="0" tIns="0" rIns="0" bIns="0" rtlCol="0" anchor="t">
            <a:normAutofit/>
          </a:bodyPr>
          <a:lstStyle/>
          <a:p>
            <a:pPr marL="0" indent="0" algn="l">
              <a:buNone/>
            </a:pPr>
            <a:r>
              <a:rPr lang="en-US" sz="1200" b="1" dirty="0">
                <a:solidFill>
                  <a:srgbClr val="D1495B"/>
                </a:solidFill>
                <a:latin typeface="Aptos" pitchFamily="34" charset="0"/>
                <a:ea typeface="Aptos" pitchFamily="34" charset="-122"/>
                <a:cs typeface="Aptos" pitchFamily="34" charset="-120"/>
              </a:rPr>
              <a:t>Kesimpulan</a:t>
            </a:r>
            <a:endParaRPr lang="en-US" sz="1200" dirty="0"/>
          </a:p>
        </p:txBody>
      </p:sp>
      <p:sp>
        <p:nvSpPr>
          <p:cNvPr id="23" name="Text 19"/>
          <p:cNvSpPr/>
          <p:nvPr/>
        </p:nvSpPr>
        <p:spPr>
          <a:xfrm>
            <a:off x="9628632" y="4937760"/>
            <a:ext cx="1591056" cy="47548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Balancing memperbaiki kelas minoritas, tetapi ada trade-off pada kelas mayoritas.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20</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Feature Importance Random Forest</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Setelah tuning</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640080" y="1078992"/>
            <a:ext cx="6583680" cy="4736592"/>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pic>
        <p:nvPicPr>
          <p:cNvPr id="11" name="Image 0" descr="/mnt/data/latest_nb_assets/cell28_out0.png"/>
          <p:cNvPicPr>
            <a:picLocks noChangeAspect="1"/>
          </p:cNvPicPr>
          <p:nvPr/>
        </p:nvPicPr>
        <p:blipFill>
          <a:blip r:embed="rId3"/>
          <a:stretch>
            <a:fillRect/>
          </a:stretch>
        </p:blipFill>
        <p:spPr>
          <a:xfrm>
            <a:off x="786384" y="1585852"/>
            <a:ext cx="6272784" cy="3722872"/>
          </a:xfrm>
          <a:prstGeom prst="rect">
            <a:avLst/>
          </a:prstGeom>
        </p:spPr>
      </p:pic>
      <p:sp>
        <p:nvSpPr>
          <p:cNvPr id="12" name="Shape 8"/>
          <p:cNvSpPr/>
          <p:nvPr/>
        </p:nvSpPr>
        <p:spPr>
          <a:xfrm>
            <a:off x="7543800" y="1207008"/>
            <a:ext cx="3703320" cy="914400"/>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13" name="Text 9"/>
          <p:cNvSpPr/>
          <p:nvPr/>
        </p:nvSpPr>
        <p:spPr>
          <a:xfrm>
            <a:off x="7708392" y="1353312"/>
            <a:ext cx="3374136" cy="219456"/>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Cara membaca grafik</a:t>
            </a:r>
            <a:endParaRPr lang="en-US" sz="1200" dirty="0"/>
          </a:p>
        </p:txBody>
      </p:sp>
      <p:sp>
        <p:nvSpPr>
          <p:cNvPr id="14" name="Text 10"/>
          <p:cNvSpPr/>
          <p:nvPr/>
        </p:nvSpPr>
        <p:spPr>
          <a:xfrm>
            <a:off x="7708392" y="1645920"/>
            <a:ext cx="3374136" cy="38404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Bar paling panjang menunjukkan fitur paling sering membantu pemisahan keputusan pada Random Forest.</a:t>
            </a:r>
            <a:endParaRPr lang="en-US" sz="1100" dirty="0"/>
          </a:p>
        </p:txBody>
      </p:sp>
      <p:sp>
        <p:nvSpPr>
          <p:cNvPr id="15" name="Shape 11"/>
          <p:cNvSpPr/>
          <p:nvPr/>
        </p:nvSpPr>
        <p:spPr>
          <a:xfrm>
            <a:off x="7543800" y="2468880"/>
            <a:ext cx="3703320" cy="932688"/>
          </a:xfrm>
          <a:prstGeom prst="roundRect">
            <a:avLst/>
          </a:prstGeom>
          <a:solidFill>
            <a:srgbClr val="EAF8F0"/>
          </a:solidFill>
          <a:ln w="12700">
            <a:solidFill>
              <a:srgbClr val="C9DFFF"/>
            </a:solidFill>
            <a:prstDash val="solid"/>
          </a:ln>
          <a:effectLst>
            <a:outerShdw blurRad="12700" dist="50800" dir="2700000" algn="bl" rotWithShape="0">
              <a:srgbClr val="B8C8DA">
                <a:alpha val="10000"/>
              </a:srgbClr>
            </a:outerShdw>
          </a:effectLst>
        </p:spPr>
      </p:sp>
      <p:sp>
        <p:nvSpPr>
          <p:cNvPr id="16" name="Text 12"/>
          <p:cNvSpPr/>
          <p:nvPr/>
        </p:nvSpPr>
        <p:spPr>
          <a:xfrm>
            <a:off x="7708392" y="2615184"/>
            <a:ext cx="3374136" cy="219456"/>
          </a:xfrm>
          <a:prstGeom prst="rect">
            <a:avLst/>
          </a:prstGeom>
          <a:noFill/>
          <a:ln/>
        </p:spPr>
        <p:txBody>
          <a:bodyPr wrap="square" lIns="0" tIns="0" rIns="0" bIns="0" rtlCol="0" anchor="t">
            <a:normAutofit/>
          </a:bodyPr>
          <a:lstStyle/>
          <a:p>
            <a:pPr marL="0" indent="0" algn="l">
              <a:buNone/>
            </a:pPr>
            <a:r>
              <a:rPr lang="en-US" sz="1200" b="1" dirty="0">
                <a:solidFill>
                  <a:srgbClr val="16A34A"/>
                </a:solidFill>
                <a:latin typeface="Aptos" pitchFamily="34" charset="0"/>
                <a:ea typeface="Aptos" pitchFamily="34" charset="-122"/>
                <a:cs typeface="Aptos" pitchFamily="34" charset="-120"/>
              </a:rPr>
              <a:t>Temuan utama</a:t>
            </a:r>
            <a:endParaRPr lang="en-US" sz="1200" dirty="0"/>
          </a:p>
        </p:txBody>
      </p:sp>
      <p:sp>
        <p:nvSpPr>
          <p:cNvPr id="17" name="Text 13"/>
          <p:cNvSpPr/>
          <p:nvPr/>
        </p:nvSpPr>
        <p:spPr>
          <a:xfrm>
            <a:off x="7708392" y="2907792"/>
            <a:ext cx="3374136" cy="402336"/>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Kategori AISent seperti Very unfavorable, Very favorable, Unfavorable, dan Indifferent muncul di posisi atas.</a:t>
            </a:r>
            <a:endParaRPr lang="en-US" sz="1100" dirty="0"/>
          </a:p>
        </p:txBody>
      </p:sp>
      <p:sp>
        <p:nvSpPr>
          <p:cNvPr id="18" name="Shape 14"/>
          <p:cNvSpPr/>
          <p:nvPr/>
        </p:nvSpPr>
        <p:spPr>
          <a:xfrm>
            <a:off x="7543800" y="3749040"/>
            <a:ext cx="3703320" cy="932688"/>
          </a:xfrm>
          <a:prstGeom prst="roundRect">
            <a:avLst/>
          </a:prstGeom>
          <a:solidFill>
            <a:srgbClr val="FFF7E6"/>
          </a:solidFill>
          <a:ln w="12700">
            <a:solidFill>
              <a:srgbClr val="C9DFFF"/>
            </a:solidFill>
            <a:prstDash val="solid"/>
          </a:ln>
          <a:effectLst>
            <a:outerShdw blurRad="12700" dist="50800" dir="2700000" algn="bl" rotWithShape="0">
              <a:srgbClr val="B8C8DA">
                <a:alpha val="10000"/>
              </a:srgbClr>
            </a:outerShdw>
          </a:effectLst>
        </p:spPr>
      </p:sp>
      <p:sp>
        <p:nvSpPr>
          <p:cNvPr id="19" name="Text 15"/>
          <p:cNvSpPr/>
          <p:nvPr/>
        </p:nvSpPr>
        <p:spPr>
          <a:xfrm>
            <a:off x="7708392" y="3895344"/>
            <a:ext cx="3374136" cy="219456"/>
          </a:xfrm>
          <a:prstGeom prst="rect">
            <a:avLst/>
          </a:prstGeom>
          <a:noFill/>
          <a:ln/>
        </p:spPr>
        <p:txBody>
          <a:bodyPr wrap="square" lIns="0" tIns="0" rIns="0" bIns="0" rtlCol="0" anchor="t">
            <a:normAutofit/>
          </a:bodyPr>
          <a:lstStyle/>
          <a:p>
            <a:pPr marL="0" indent="0" algn="l">
              <a:buNone/>
            </a:pPr>
            <a:r>
              <a:rPr lang="en-US" sz="1200" b="1" dirty="0">
                <a:solidFill>
                  <a:srgbClr val="F59E0B"/>
                </a:solidFill>
                <a:latin typeface="Aptos" pitchFamily="34" charset="0"/>
                <a:ea typeface="Aptos" pitchFamily="34" charset="-122"/>
                <a:cs typeface="Aptos" pitchFamily="34" charset="-120"/>
              </a:rPr>
              <a:t>Makna analitis</a:t>
            </a:r>
            <a:endParaRPr lang="en-US" sz="1200" dirty="0"/>
          </a:p>
        </p:txBody>
      </p:sp>
      <p:sp>
        <p:nvSpPr>
          <p:cNvPr id="20" name="Text 16"/>
          <p:cNvSpPr/>
          <p:nvPr/>
        </p:nvSpPr>
        <p:spPr>
          <a:xfrm>
            <a:off x="7708392" y="4187952"/>
            <a:ext cx="3374136" cy="402336"/>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Sikap terhadap AI menjadi sinyal prediktif yang kuat untuk adopsi AI Agent, khususnya pada model Random Forest tuned.</a:t>
            </a:r>
            <a:endParaRPr lang="en-US" sz="1100" dirty="0"/>
          </a:p>
        </p:txBody>
      </p:sp>
      <p:sp>
        <p:nvSpPr>
          <p:cNvPr id="21" name="Shape 17"/>
          <p:cNvSpPr/>
          <p:nvPr/>
        </p:nvSpPr>
        <p:spPr>
          <a:xfrm>
            <a:off x="7543800" y="5029200"/>
            <a:ext cx="3703320" cy="640080"/>
          </a:xfrm>
          <a:prstGeom prst="roundRect">
            <a:avLst/>
          </a:prstGeom>
          <a:solidFill>
            <a:srgbClr val="F3EFFF"/>
          </a:solidFill>
          <a:ln w="12700">
            <a:solidFill>
              <a:srgbClr val="C9DFFF"/>
            </a:solidFill>
            <a:prstDash val="solid"/>
          </a:ln>
          <a:effectLst>
            <a:outerShdw blurRad="12700" dist="50800" dir="2700000" algn="bl" rotWithShape="0">
              <a:srgbClr val="B8C8DA">
                <a:alpha val="10000"/>
              </a:srgbClr>
            </a:outerShdw>
          </a:effectLst>
        </p:spPr>
      </p:sp>
      <p:sp>
        <p:nvSpPr>
          <p:cNvPr id="22" name="Text 18"/>
          <p:cNvSpPr/>
          <p:nvPr/>
        </p:nvSpPr>
        <p:spPr>
          <a:xfrm>
            <a:off x="7708392" y="5175504"/>
            <a:ext cx="3374136" cy="219456"/>
          </a:xfrm>
          <a:prstGeom prst="rect">
            <a:avLst/>
          </a:prstGeom>
          <a:noFill/>
          <a:ln/>
        </p:spPr>
        <p:txBody>
          <a:bodyPr wrap="square" lIns="0" tIns="0" rIns="0" bIns="0" rtlCol="0" anchor="t">
            <a:normAutofit/>
          </a:bodyPr>
          <a:lstStyle/>
          <a:p>
            <a:pPr marL="0" indent="0" algn="l">
              <a:buNone/>
            </a:pPr>
            <a:r>
              <a:rPr lang="en-US" sz="1200" b="1" dirty="0">
                <a:solidFill>
                  <a:srgbClr val="7C3AED"/>
                </a:solidFill>
                <a:latin typeface="Aptos" pitchFamily="34" charset="0"/>
                <a:ea typeface="Aptos" pitchFamily="34" charset="-122"/>
                <a:cs typeface="Aptos" pitchFamily="34" charset="-120"/>
              </a:rPr>
              <a:t>Catatan</a:t>
            </a:r>
            <a:endParaRPr lang="en-US" sz="1200" dirty="0"/>
          </a:p>
        </p:txBody>
      </p:sp>
      <p:sp>
        <p:nvSpPr>
          <p:cNvPr id="23" name="Text 19"/>
          <p:cNvSpPr/>
          <p:nvPr/>
        </p:nvSpPr>
        <p:spPr>
          <a:xfrm>
            <a:off x="7708392" y="5468112"/>
            <a:ext cx="3374136" cy="109728"/>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Perbedaan importance antar model wajar karena mekanisme CatBoost dan Random Forest tidak sama.</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21</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Perbandingan Seluruh Skenario</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Model terbaik per tahap</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731520" y="1143000"/>
            <a:ext cx="10698480" cy="429768"/>
          </a:xfrm>
          <a:prstGeom prst="rect">
            <a:avLst/>
          </a:prstGeom>
          <a:solidFill>
            <a:srgbClr val="1D4ED8"/>
          </a:solidFill>
          <a:ln w="6350">
            <a:solidFill>
              <a:srgbClr val="D6E4F2"/>
            </a:solidFill>
            <a:prstDash val="solid"/>
          </a:ln>
        </p:spPr>
      </p:sp>
      <p:sp>
        <p:nvSpPr>
          <p:cNvPr id="11" name="Text 8"/>
          <p:cNvSpPr/>
          <p:nvPr/>
        </p:nvSpPr>
        <p:spPr>
          <a:xfrm>
            <a:off x="777240" y="1175004"/>
            <a:ext cx="2699468" cy="365760"/>
          </a:xfrm>
          <a:prstGeom prst="rect">
            <a:avLst/>
          </a:prstGeom>
          <a:noFill/>
          <a:ln/>
        </p:spPr>
        <p:txBody>
          <a:bodyPr wrap="square" lIns="127" tIns="127" rIns="127" bIns="127" rtlCol="0" anchor="ctr">
            <a:normAutofit/>
          </a:bodyPr>
          <a:lstStyle/>
          <a:p>
            <a:pPr marL="0" indent="0" algn="l">
              <a:buNone/>
            </a:pPr>
            <a:r>
              <a:rPr lang="en-US" sz="940" b="1" dirty="0">
                <a:solidFill>
                  <a:srgbClr val="FFFFFF"/>
                </a:solidFill>
                <a:latin typeface="Aptos" pitchFamily="34" charset="0"/>
                <a:ea typeface="Aptos" pitchFamily="34" charset="-122"/>
                <a:cs typeface="Aptos" pitchFamily="34" charset="-120"/>
              </a:rPr>
              <a:t>Skenario</a:t>
            </a:r>
            <a:endParaRPr lang="en-US" sz="940" dirty="0"/>
          </a:p>
        </p:txBody>
      </p:sp>
      <p:sp>
        <p:nvSpPr>
          <p:cNvPr id="12" name="Text 9"/>
          <p:cNvSpPr/>
          <p:nvPr/>
        </p:nvSpPr>
        <p:spPr>
          <a:xfrm>
            <a:off x="3568148" y="1175004"/>
            <a:ext cx="3629770" cy="365760"/>
          </a:xfrm>
          <a:prstGeom prst="rect">
            <a:avLst/>
          </a:prstGeom>
          <a:noFill/>
          <a:ln/>
        </p:spPr>
        <p:txBody>
          <a:bodyPr wrap="square" lIns="127" tIns="127" rIns="127" bIns="127" rtlCol="0" anchor="ctr">
            <a:normAutofit/>
          </a:bodyPr>
          <a:lstStyle/>
          <a:p>
            <a:pPr marL="0" indent="0" algn="ctr">
              <a:buNone/>
            </a:pPr>
            <a:r>
              <a:rPr lang="en-US" sz="940" b="1" dirty="0">
                <a:solidFill>
                  <a:srgbClr val="FFFFFF"/>
                </a:solidFill>
                <a:latin typeface="Aptos" pitchFamily="34" charset="0"/>
                <a:ea typeface="Aptos" pitchFamily="34" charset="-122"/>
                <a:cs typeface="Aptos" pitchFamily="34" charset="-120"/>
              </a:rPr>
              <a:t>Model terbaik</a:t>
            </a:r>
            <a:endParaRPr lang="en-US" sz="940" dirty="0"/>
          </a:p>
        </p:txBody>
      </p:sp>
      <p:sp>
        <p:nvSpPr>
          <p:cNvPr id="13" name="Text 10"/>
          <p:cNvSpPr/>
          <p:nvPr/>
        </p:nvSpPr>
        <p:spPr>
          <a:xfrm>
            <a:off x="7289358" y="1175004"/>
            <a:ext cx="1304014" cy="365760"/>
          </a:xfrm>
          <a:prstGeom prst="rect">
            <a:avLst/>
          </a:prstGeom>
          <a:noFill/>
          <a:ln/>
        </p:spPr>
        <p:txBody>
          <a:bodyPr wrap="square" lIns="127" tIns="127" rIns="127" bIns="127" rtlCol="0" anchor="ctr">
            <a:normAutofit/>
          </a:bodyPr>
          <a:lstStyle/>
          <a:p>
            <a:pPr marL="0" indent="0" algn="ctr">
              <a:buNone/>
            </a:pPr>
            <a:r>
              <a:rPr lang="en-US" sz="940" b="1" dirty="0">
                <a:solidFill>
                  <a:srgbClr val="FFFFFF"/>
                </a:solidFill>
                <a:latin typeface="Aptos" pitchFamily="34" charset="0"/>
                <a:ea typeface="Aptos" pitchFamily="34" charset="-122"/>
                <a:cs typeface="Aptos" pitchFamily="34" charset="-120"/>
              </a:rPr>
              <a:t>F1 Tidak</a:t>
            </a:r>
            <a:endParaRPr lang="en-US" sz="940" dirty="0"/>
          </a:p>
        </p:txBody>
      </p:sp>
      <p:sp>
        <p:nvSpPr>
          <p:cNvPr id="14" name="Text 11"/>
          <p:cNvSpPr/>
          <p:nvPr/>
        </p:nvSpPr>
        <p:spPr>
          <a:xfrm>
            <a:off x="8684812" y="1175004"/>
            <a:ext cx="1304014" cy="365760"/>
          </a:xfrm>
          <a:prstGeom prst="rect">
            <a:avLst/>
          </a:prstGeom>
          <a:noFill/>
          <a:ln/>
        </p:spPr>
        <p:txBody>
          <a:bodyPr wrap="square" lIns="127" tIns="127" rIns="127" bIns="127" rtlCol="0" anchor="ctr">
            <a:normAutofit/>
          </a:bodyPr>
          <a:lstStyle/>
          <a:p>
            <a:pPr marL="0" indent="0" algn="ctr">
              <a:buNone/>
            </a:pPr>
            <a:r>
              <a:rPr lang="en-US" sz="940" b="1" dirty="0">
                <a:solidFill>
                  <a:srgbClr val="FFFFFF"/>
                </a:solidFill>
                <a:latin typeface="Aptos" pitchFamily="34" charset="0"/>
                <a:ea typeface="Aptos" pitchFamily="34" charset="-122"/>
                <a:cs typeface="Aptos" pitchFamily="34" charset="-120"/>
              </a:rPr>
              <a:t>F1 Ya</a:t>
            </a:r>
            <a:endParaRPr lang="en-US" sz="940" dirty="0"/>
          </a:p>
        </p:txBody>
      </p:sp>
      <p:sp>
        <p:nvSpPr>
          <p:cNvPr id="15" name="Text 12"/>
          <p:cNvSpPr/>
          <p:nvPr/>
        </p:nvSpPr>
        <p:spPr>
          <a:xfrm>
            <a:off x="10080266" y="1175004"/>
            <a:ext cx="1304014" cy="365760"/>
          </a:xfrm>
          <a:prstGeom prst="rect">
            <a:avLst/>
          </a:prstGeom>
          <a:noFill/>
          <a:ln/>
        </p:spPr>
        <p:txBody>
          <a:bodyPr wrap="square" lIns="127" tIns="127" rIns="127" bIns="127" rtlCol="0" anchor="ctr">
            <a:normAutofit/>
          </a:bodyPr>
          <a:lstStyle/>
          <a:p>
            <a:pPr marL="0" indent="0" algn="ctr">
              <a:buNone/>
            </a:pPr>
            <a:r>
              <a:rPr lang="en-US" sz="940" b="1" dirty="0">
                <a:solidFill>
                  <a:srgbClr val="FFFFFF"/>
                </a:solidFill>
                <a:latin typeface="Aptos" pitchFamily="34" charset="0"/>
                <a:ea typeface="Aptos" pitchFamily="34" charset="-122"/>
                <a:cs typeface="Aptos" pitchFamily="34" charset="-120"/>
              </a:rPr>
              <a:t>F1 Macro</a:t>
            </a:r>
            <a:endParaRPr lang="en-US" sz="940" dirty="0"/>
          </a:p>
        </p:txBody>
      </p:sp>
      <p:sp>
        <p:nvSpPr>
          <p:cNvPr id="16" name="Shape 13"/>
          <p:cNvSpPr/>
          <p:nvPr/>
        </p:nvSpPr>
        <p:spPr>
          <a:xfrm>
            <a:off x="731520" y="1572768"/>
            <a:ext cx="10698480" cy="429768"/>
          </a:xfrm>
          <a:prstGeom prst="rect">
            <a:avLst/>
          </a:prstGeom>
          <a:solidFill>
            <a:srgbClr val="FFFFFF"/>
          </a:solidFill>
          <a:ln w="6350">
            <a:solidFill>
              <a:srgbClr val="D6E4F2"/>
            </a:solidFill>
            <a:prstDash val="solid"/>
          </a:ln>
        </p:spPr>
      </p:sp>
      <p:sp>
        <p:nvSpPr>
          <p:cNvPr id="17" name="Text 14"/>
          <p:cNvSpPr/>
          <p:nvPr/>
        </p:nvSpPr>
        <p:spPr>
          <a:xfrm>
            <a:off x="777240" y="1604772"/>
            <a:ext cx="2699468" cy="365760"/>
          </a:xfrm>
          <a:prstGeom prst="rect">
            <a:avLst/>
          </a:prstGeom>
          <a:noFill/>
          <a:ln/>
        </p:spPr>
        <p:txBody>
          <a:bodyPr wrap="square" lIns="127" tIns="127" rIns="127" bIns="127" rtlCol="0" anchor="ctr">
            <a:normAutofit/>
          </a:bodyPr>
          <a:lstStyle/>
          <a:p>
            <a:pPr marL="0" indent="0" algn="l">
              <a:buNone/>
            </a:pPr>
            <a:r>
              <a:rPr lang="en-US" sz="940" b="1" dirty="0">
                <a:solidFill>
                  <a:srgbClr val="1F2937"/>
                </a:solidFill>
                <a:latin typeface="Aptos" pitchFamily="34" charset="0"/>
                <a:ea typeface="Aptos" pitchFamily="34" charset="-122"/>
                <a:cs typeface="Aptos" pitchFamily="34" charset="-120"/>
              </a:rPr>
              <a:t>AISelect awal</a:t>
            </a:r>
            <a:endParaRPr lang="en-US" sz="940" dirty="0"/>
          </a:p>
        </p:txBody>
      </p:sp>
      <p:sp>
        <p:nvSpPr>
          <p:cNvPr id="18" name="Text 15"/>
          <p:cNvSpPr/>
          <p:nvPr/>
        </p:nvSpPr>
        <p:spPr>
          <a:xfrm>
            <a:off x="3568148" y="1604772"/>
            <a:ext cx="3629770" cy="36576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CatBoost</a:t>
            </a:r>
            <a:endParaRPr lang="en-US" sz="940" dirty="0"/>
          </a:p>
        </p:txBody>
      </p:sp>
      <p:sp>
        <p:nvSpPr>
          <p:cNvPr id="19" name="Text 16"/>
          <p:cNvSpPr/>
          <p:nvPr/>
        </p:nvSpPr>
        <p:spPr>
          <a:xfrm>
            <a:off x="7289358" y="1604772"/>
            <a:ext cx="1304014" cy="36576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0.6723</a:t>
            </a:r>
            <a:endParaRPr lang="en-US" sz="940" dirty="0"/>
          </a:p>
        </p:txBody>
      </p:sp>
      <p:sp>
        <p:nvSpPr>
          <p:cNvPr id="20" name="Text 17"/>
          <p:cNvSpPr/>
          <p:nvPr/>
        </p:nvSpPr>
        <p:spPr>
          <a:xfrm>
            <a:off x="8684812" y="1604772"/>
            <a:ext cx="1304014" cy="36576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0.9079</a:t>
            </a:r>
            <a:endParaRPr lang="en-US" sz="940" dirty="0"/>
          </a:p>
        </p:txBody>
      </p:sp>
      <p:sp>
        <p:nvSpPr>
          <p:cNvPr id="21" name="Text 18"/>
          <p:cNvSpPr/>
          <p:nvPr/>
        </p:nvSpPr>
        <p:spPr>
          <a:xfrm>
            <a:off x="10080266" y="1604772"/>
            <a:ext cx="1304014" cy="36576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0.7901</a:t>
            </a:r>
            <a:endParaRPr lang="en-US" sz="940" dirty="0"/>
          </a:p>
        </p:txBody>
      </p:sp>
      <p:sp>
        <p:nvSpPr>
          <p:cNvPr id="22" name="Shape 19"/>
          <p:cNvSpPr/>
          <p:nvPr/>
        </p:nvSpPr>
        <p:spPr>
          <a:xfrm>
            <a:off x="731520" y="2002536"/>
            <a:ext cx="10698480" cy="429768"/>
          </a:xfrm>
          <a:prstGeom prst="rect">
            <a:avLst/>
          </a:prstGeom>
          <a:solidFill>
            <a:srgbClr val="F3F9FF"/>
          </a:solidFill>
          <a:ln w="6350">
            <a:solidFill>
              <a:srgbClr val="D6E4F2"/>
            </a:solidFill>
            <a:prstDash val="solid"/>
          </a:ln>
        </p:spPr>
      </p:sp>
      <p:sp>
        <p:nvSpPr>
          <p:cNvPr id="23" name="Text 20"/>
          <p:cNvSpPr/>
          <p:nvPr/>
        </p:nvSpPr>
        <p:spPr>
          <a:xfrm>
            <a:off x="777240" y="2034540"/>
            <a:ext cx="2699468" cy="365760"/>
          </a:xfrm>
          <a:prstGeom prst="rect">
            <a:avLst/>
          </a:prstGeom>
          <a:noFill/>
          <a:ln/>
        </p:spPr>
        <p:txBody>
          <a:bodyPr wrap="square" lIns="127" tIns="127" rIns="127" bIns="127" rtlCol="0" anchor="ctr">
            <a:normAutofit/>
          </a:bodyPr>
          <a:lstStyle/>
          <a:p>
            <a:pPr marL="0" indent="0" algn="l">
              <a:buNone/>
            </a:pPr>
            <a:r>
              <a:rPr lang="en-US" sz="940" b="1" dirty="0">
                <a:solidFill>
                  <a:srgbClr val="1F2937"/>
                </a:solidFill>
                <a:latin typeface="Aptos" pitchFamily="34" charset="0"/>
                <a:ea typeface="Aptos" pitchFamily="34" charset="-122"/>
                <a:cs typeface="Aptos" pitchFamily="34" charset="-120"/>
              </a:rPr>
              <a:t>AIAgents awal</a:t>
            </a:r>
            <a:endParaRPr lang="en-US" sz="940" dirty="0"/>
          </a:p>
        </p:txBody>
      </p:sp>
      <p:sp>
        <p:nvSpPr>
          <p:cNvPr id="24" name="Text 21"/>
          <p:cNvSpPr/>
          <p:nvPr/>
        </p:nvSpPr>
        <p:spPr>
          <a:xfrm>
            <a:off x="3568148" y="2034540"/>
            <a:ext cx="3629770" cy="36576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CatBoost</a:t>
            </a:r>
            <a:endParaRPr lang="en-US" sz="940" dirty="0"/>
          </a:p>
        </p:txBody>
      </p:sp>
      <p:sp>
        <p:nvSpPr>
          <p:cNvPr id="25" name="Text 22"/>
          <p:cNvSpPr/>
          <p:nvPr/>
        </p:nvSpPr>
        <p:spPr>
          <a:xfrm>
            <a:off x="7289358" y="2034540"/>
            <a:ext cx="1304014" cy="36576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0.7881</a:t>
            </a:r>
            <a:endParaRPr lang="en-US" sz="940" dirty="0"/>
          </a:p>
        </p:txBody>
      </p:sp>
      <p:sp>
        <p:nvSpPr>
          <p:cNvPr id="26" name="Text 23"/>
          <p:cNvSpPr/>
          <p:nvPr/>
        </p:nvSpPr>
        <p:spPr>
          <a:xfrm>
            <a:off x="8684812" y="2034540"/>
            <a:ext cx="1304014" cy="36576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0.4861</a:t>
            </a:r>
            <a:endParaRPr lang="en-US" sz="940" dirty="0"/>
          </a:p>
        </p:txBody>
      </p:sp>
      <p:sp>
        <p:nvSpPr>
          <p:cNvPr id="27" name="Text 24"/>
          <p:cNvSpPr/>
          <p:nvPr/>
        </p:nvSpPr>
        <p:spPr>
          <a:xfrm>
            <a:off x="10080266" y="2034540"/>
            <a:ext cx="1304014" cy="36576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0.6371</a:t>
            </a:r>
            <a:endParaRPr lang="en-US" sz="940" dirty="0"/>
          </a:p>
        </p:txBody>
      </p:sp>
      <p:sp>
        <p:nvSpPr>
          <p:cNvPr id="28" name="Shape 25"/>
          <p:cNvSpPr/>
          <p:nvPr/>
        </p:nvSpPr>
        <p:spPr>
          <a:xfrm>
            <a:off x="731520" y="2432304"/>
            <a:ext cx="10698480" cy="429768"/>
          </a:xfrm>
          <a:prstGeom prst="rect">
            <a:avLst/>
          </a:prstGeom>
          <a:solidFill>
            <a:srgbClr val="FFFFFF"/>
          </a:solidFill>
          <a:ln w="6350">
            <a:solidFill>
              <a:srgbClr val="D6E4F2"/>
            </a:solidFill>
            <a:prstDash val="solid"/>
          </a:ln>
        </p:spPr>
      </p:sp>
      <p:sp>
        <p:nvSpPr>
          <p:cNvPr id="29" name="Text 26"/>
          <p:cNvSpPr/>
          <p:nvPr/>
        </p:nvSpPr>
        <p:spPr>
          <a:xfrm>
            <a:off x="777240" y="2464308"/>
            <a:ext cx="2699468" cy="365760"/>
          </a:xfrm>
          <a:prstGeom prst="rect">
            <a:avLst/>
          </a:prstGeom>
          <a:noFill/>
          <a:ln/>
        </p:spPr>
        <p:txBody>
          <a:bodyPr wrap="square" lIns="127" tIns="127" rIns="127" bIns="127" rtlCol="0" anchor="ctr">
            <a:normAutofit/>
          </a:bodyPr>
          <a:lstStyle/>
          <a:p>
            <a:pPr marL="0" indent="0" algn="l">
              <a:buNone/>
            </a:pPr>
            <a:r>
              <a:rPr lang="en-US" sz="940" b="1" dirty="0">
                <a:solidFill>
                  <a:srgbClr val="1F2937"/>
                </a:solidFill>
                <a:latin typeface="Aptos" pitchFamily="34" charset="0"/>
                <a:ea typeface="Aptos" pitchFamily="34" charset="-122"/>
                <a:cs typeface="Aptos" pitchFamily="34" charset="-120"/>
              </a:rPr>
              <a:t>AIAgents optimasi</a:t>
            </a:r>
            <a:endParaRPr lang="en-US" sz="940" dirty="0"/>
          </a:p>
        </p:txBody>
      </p:sp>
      <p:sp>
        <p:nvSpPr>
          <p:cNvPr id="30" name="Text 27"/>
          <p:cNvSpPr/>
          <p:nvPr/>
        </p:nvSpPr>
        <p:spPr>
          <a:xfrm>
            <a:off x="3568148" y="2464308"/>
            <a:ext cx="3629770" cy="36576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CatBoost Tuned</a:t>
            </a:r>
            <a:endParaRPr lang="en-US" sz="940" dirty="0"/>
          </a:p>
        </p:txBody>
      </p:sp>
      <p:sp>
        <p:nvSpPr>
          <p:cNvPr id="31" name="Text 28"/>
          <p:cNvSpPr/>
          <p:nvPr/>
        </p:nvSpPr>
        <p:spPr>
          <a:xfrm>
            <a:off x="7289358" y="2464308"/>
            <a:ext cx="1304014" cy="36576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0.7369</a:t>
            </a:r>
            <a:endParaRPr lang="en-US" sz="940" dirty="0"/>
          </a:p>
        </p:txBody>
      </p:sp>
      <p:sp>
        <p:nvSpPr>
          <p:cNvPr id="32" name="Text 29"/>
          <p:cNvSpPr/>
          <p:nvPr/>
        </p:nvSpPr>
        <p:spPr>
          <a:xfrm>
            <a:off x="8684812" y="2464308"/>
            <a:ext cx="1304014" cy="36576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0.5633</a:t>
            </a:r>
            <a:endParaRPr lang="en-US" sz="940" dirty="0"/>
          </a:p>
        </p:txBody>
      </p:sp>
      <p:sp>
        <p:nvSpPr>
          <p:cNvPr id="33" name="Text 30"/>
          <p:cNvSpPr/>
          <p:nvPr/>
        </p:nvSpPr>
        <p:spPr>
          <a:xfrm>
            <a:off x="10080266" y="2464308"/>
            <a:ext cx="1304014" cy="365760"/>
          </a:xfrm>
          <a:prstGeom prst="rect">
            <a:avLst/>
          </a:prstGeom>
          <a:noFill/>
          <a:ln/>
        </p:spPr>
        <p:txBody>
          <a:bodyPr wrap="square" lIns="127" tIns="127" rIns="127" bIns="127" rtlCol="0" anchor="ctr">
            <a:normAutofit/>
          </a:bodyPr>
          <a:lstStyle/>
          <a:p>
            <a:pPr marL="0" indent="0" algn="ctr">
              <a:buNone/>
            </a:pPr>
            <a:r>
              <a:rPr lang="en-US" sz="940" dirty="0">
                <a:solidFill>
                  <a:srgbClr val="5E6B7A"/>
                </a:solidFill>
                <a:latin typeface="Aptos" pitchFamily="34" charset="0"/>
                <a:ea typeface="Aptos" pitchFamily="34" charset="-122"/>
                <a:cs typeface="Aptos" pitchFamily="34" charset="-120"/>
              </a:rPr>
              <a:t>0.6501</a:t>
            </a:r>
            <a:endParaRPr lang="en-US" sz="940" dirty="0"/>
          </a:p>
        </p:txBody>
      </p:sp>
      <p:sp>
        <p:nvSpPr>
          <p:cNvPr id="34" name="Shape 31"/>
          <p:cNvSpPr/>
          <p:nvPr/>
        </p:nvSpPr>
        <p:spPr>
          <a:xfrm>
            <a:off x="731520" y="3703320"/>
            <a:ext cx="5303520" cy="173736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sp>
        <p:nvSpPr>
          <p:cNvPr id="35" name="Text 32"/>
          <p:cNvSpPr/>
          <p:nvPr/>
        </p:nvSpPr>
        <p:spPr>
          <a:xfrm>
            <a:off x="914400" y="3858768"/>
            <a:ext cx="4937760" cy="256032"/>
          </a:xfrm>
          <a:prstGeom prst="rect">
            <a:avLst/>
          </a:prstGeom>
          <a:noFill/>
          <a:ln/>
        </p:spPr>
        <p:txBody>
          <a:bodyPr wrap="square" lIns="0" tIns="0" rIns="0" bIns="0" rtlCol="0" anchor="t">
            <a:normAutofit/>
          </a:bodyPr>
          <a:lstStyle/>
          <a:p>
            <a:pPr marL="0" indent="0" algn="l">
              <a:buNone/>
            </a:pPr>
            <a:r>
              <a:rPr lang="en-US" sz="1250" b="1" dirty="0">
                <a:solidFill>
                  <a:srgbClr val="1F2937"/>
                </a:solidFill>
                <a:latin typeface="Aptos" pitchFamily="34" charset="0"/>
                <a:ea typeface="Aptos" pitchFamily="34" charset="-122"/>
                <a:cs typeface="Aptos" pitchFamily="34" charset="-120"/>
              </a:rPr>
              <a:t>F1 Macro terbaik per skenario</a:t>
            </a:r>
            <a:endParaRPr lang="en-US" sz="1250" dirty="0"/>
          </a:p>
        </p:txBody>
      </p:sp>
      <p:sp>
        <p:nvSpPr>
          <p:cNvPr id="36" name="Text 33"/>
          <p:cNvSpPr/>
          <p:nvPr/>
        </p:nvSpPr>
        <p:spPr>
          <a:xfrm>
            <a:off x="960120" y="4343400"/>
            <a:ext cx="1600200" cy="228600"/>
          </a:xfrm>
          <a:prstGeom prst="rect">
            <a:avLst/>
          </a:prstGeom>
          <a:noFill/>
          <a:ln/>
        </p:spPr>
        <p:txBody>
          <a:bodyPr wrap="square" lIns="0" tIns="0" rIns="0" bIns="0" rtlCol="0" anchor="t">
            <a:normAutofit/>
          </a:bodyPr>
          <a:lstStyle/>
          <a:p>
            <a:pPr marL="0" indent="0" algn="l">
              <a:buNone/>
            </a:pPr>
            <a:r>
              <a:rPr lang="en-US" sz="920" dirty="0">
                <a:solidFill>
                  <a:srgbClr val="5E6B7A"/>
                </a:solidFill>
                <a:latin typeface="Aptos" pitchFamily="34" charset="0"/>
                <a:ea typeface="Aptos" pitchFamily="34" charset="-122"/>
                <a:cs typeface="Aptos" pitchFamily="34" charset="-120"/>
              </a:rPr>
              <a:t>AISelect awal</a:t>
            </a:r>
            <a:endParaRPr lang="en-US" sz="920" dirty="0"/>
          </a:p>
        </p:txBody>
      </p:sp>
      <p:sp>
        <p:nvSpPr>
          <p:cNvPr id="37" name="Shape 34"/>
          <p:cNvSpPr/>
          <p:nvPr/>
        </p:nvSpPr>
        <p:spPr>
          <a:xfrm>
            <a:off x="2697480" y="4389120"/>
            <a:ext cx="2514600" cy="146304"/>
          </a:xfrm>
          <a:prstGeom prst="rect">
            <a:avLst/>
          </a:prstGeom>
          <a:solidFill>
            <a:srgbClr val="E8EEF6"/>
          </a:solidFill>
          <a:ln w="12700">
            <a:solidFill>
              <a:srgbClr val="E8EEF6"/>
            </a:solidFill>
            <a:prstDash val="solid"/>
          </a:ln>
        </p:spPr>
      </p:sp>
      <p:sp>
        <p:nvSpPr>
          <p:cNvPr id="38" name="Shape 35"/>
          <p:cNvSpPr/>
          <p:nvPr/>
        </p:nvSpPr>
        <p:spPr>
          <a:xfrm>
            <a:off x="2697480" y="4389120"/>
            <a:ext cx="2514600" cy="146304"/>
          </a:xfrm>
          <a:prstGeom prst="rect">
            <a:avLst/>
          </a:prstGeom>
          <a:solidFill>
            <a:srgbClr val="2563EB"/>
          </a:solidFill>
          <a:ln w="12700">
            <a:solidFill>
              <a:srgbClr val="2563EB"/>
            </a:solidFill>
            <a:prstDash val="solid"/>
          </a:ln>
        </p:spPr>
      </p:sp>
      <p:sp>
        <p:nvSpPr>
          <p:cNvPr id="39" name="Text 36"/>
          <p:cNvSpPr/>
          <p:nvPr/>
        </p:nvSpPr>
        <p:spPr>
          <a:xfrm>
            <a:off x="5394960" y="4334256"/>
            <a:ext cx="502920" cy="201168"/>
          </a:xfrm>
          <a:prstGeom prst="rect">
            <a:avLst/>
          </a:prstGeom>
          <a:noFill/>
          <a:ln/>
        </p:spPr>
        <p:txBody>
          <a:bodyPr wrap="square" lIns="0" tIns="0" rIns="0" bIns="0" rtlCol="0" anchor="t">
            <a:normAutofit/>
          </a:bodyPr>
          <a:lstStyle/>
          <a:p>
            <a:pPr marL="0" indent="0" algn="r">
              <a:buNone/>
            </a:pPr>
            <a:r>
              <a:rPr lang="en-US" sz="870" b="1" dirty="0">
                <a:solidFill>
                  <a:srgbClr val="1F2937"/>
                </a:solidFill>
                <a:latin typeface="Aptos" pitchFamily="34" charset="0"/>
                <a:ea typeface="Aptos" pitchFamily="34" charset="-122"/>
                <a:cs typeface="Aptos" pitchFamily="34" charset="-120"/>
              </a:rPr>
              <a:t>0.7901</a:t>
            </a:r>
            <a:endParaRPr lang="en-US" sz="870" dirty="0"/>
          </a:p>
        </p:txBody>
      </p:sp>
      <p:sp>
        <p:nvSpPr>
          <p:cNvPr id="40" name="Text 37"/>
          <p:cNvSpPr/>
          <p:nvPr/>
        </p:nvSpPr>
        <p:spPr>
          <a:xfrm>
            <a:off x="960120" y="4642104"/>
            <a:ext cx="1600200" cy="228600"/>
          </a:xfrm>
          <a:prstGeom prst="rect">
            <a:avLst/>
          </a:prstGeom>
          <a:noFill/>
          <a:ln/>
        </p:spPr>
        <p:txBody>
          <a:bodyPr wrap="square" lIns="0" tIns="0" rIns="0" bIns="0" rtlCol="0" anchor="t">
            <a:normAutofit/>
          </a:bodyPr>
          <a:lstStyle/>
          <a:p>
            <a:pPr marL="0" indent="0" algn="l">
              <a:buNone/>
            </a:pPr>
            <a:r>
              <a:rPr lang="en-US" sz="920" dirty="0">
                <a:solidFill>
                  <a:srgbClr val="5E6B7A"/>
                </a:solidFill>
                <a:latin typeface="Aptos" pitchFamily="34" charset="0"/>
                <a:ea typeface="Aptos" pitchFamily="34" charset="-122"/>
                <a:cs typeface="Aptos" pitchFamily="34" charset="-120"/>
              </a:rPr>
              <a:t>AIAgents awal</a:t>
            </a:r>
            <a:endParaRPr lang="en-US" sz="920" dirty="0"/>
          </a:p>
        </p:txBody>
      </p:sp>
      <p:sp>
        <p:nvSpPr>
          <p:cNvPr id="41" name="Shape 38"/>
          <p:cNvSpPr/>
          <p:nvPr/>
        </p:nvSpPr>
        <p:spPr>
          <a:xfrm>
            <a:off x="2697480" y="4687824"/>
            <a:ext cx="2514600" cy="146304"/>
          </a:xfrm>
          <a:prstGeom prst="rect">
            <a:avLst/>
          </a:prstGeom>
          <a:solidFill>
            <a:srgbClr val="E8EEF6"/>
          </a:solidFill>
          <a:ln w="12700">
            <a:solidFill>
              <a:srgbClr val="E8EEF6"/>
            </a:solidFill>
            <a:prstDash val="solid"/>
          </a:ln>
        </p:spPr>
      </p:sp>
      <p:sp>
        <p:nvSpPr>
          <p:cNvPr id="42" name="Shape 39"/>
          <p:cNvSpPr/>
          <p:nvPr/>
        </p:nvSpPr>
        <p:spPr>
          <a:xfrm>
            <a:off x="2697480" y="4687824"/>
            <a:ext cx="2027657" cy="146304"/>
          </a:xfrm>
          <a:prstGeom prst="rect">
            <a:avLst/>
          </a:prstGeom>
          <a:solidFill>
            <a:srgbClr val="2563EB"/>
          </a:solidFill>
          <a:ln w="12700">
            <a:solidFill>
              <a:srgbClr val="2563EB"/>
            </a:solidFill>
            <a:prstDash val="solid"/>
          </a:ln>
        </p:spPr>
      </p:sp>
      <p:sp>
        <p:nvSpPr>
          <p:cNvPr id="43" name="Text 40"/>
          <p:cNvSpPr/>
          <p:nvPr/>
        </p:nvSpPr>
        <p:spPr>
          <a:xfrm>
            <a:off x="5394960" y="4632960"/>
            <a:ext cx="502920" cy="201168"/>
          </a:xfrm>
          <a:prstGeom prst="rect">
            <a:avLst/>
          </a:prstGeom>
          <a:noFill/>
          <a:ln/>
        </p:spPr>
        <p:txBody>
          <a:bodyPr wrap="square" lIns="0" tIns="0" rIns="0" bIns="0" rtlCol="0" anchor="t">
            <a:normAutofit/>
          </a:bodyPr>
          <a:lstStyle/>
          <a:p>
            <a:pPr marL="0" indent="0" algn="r">
              <a:buNone/>
            </a:pPr>
            <a:r>
              <a:rPr lang="en-US" sz="870" b="1" dirty="0">
                <a:solidFill>
                  <a:srgbClr val="1F2937"/>
                </a:solidFill>
                <a:latin typeface="Aptos" pitchFamily="34" charset="0"/>
                <a:ea typeface="Aptos" pitchFamily="34" charset="-122"/>
                <a:cs typeface="Aptos" pitchFamily="34" charset="-120"/>
              </a:rPr>
              <a:t>0.6371</a:t>
            </a:r>
            <a:endParaRPr lang="en-US" sz="870" dirty="0"/>
          </a:p>
        </p:txBody>
      </p:sp>
      <p:sp>
        <p:nvSpPr>
          <p:cNvPr id="44" name="Text 41"/>
          <p:cNvSpPr/>
          <p:nvPr/>
        </p:nvSpPr>
        <p:spPr>
          <a:xfrm>
            <a:off x="960120" y="4940808"/>
            <a:ext cx="1600200" cy="228600"/>
          </a:xfrm>
          <a:prstGeom prst="rect">
            <a:avLst/>
          </a:prstGeom>
          <a:noFill/>
          <a:ln/>
        </p:spPr>
        <p:txBody>
          <a:bodyPr wrap="square" lIns="0" tIns="0" rIns="0" bIns="0" rtlCol="0" anchor="t">
            <a:normAutofit/>
          </a:bodyPr>
          <a:lstStyle/>
          <a:p>
            <a:pPr marL="0" indent="0" algn="l">
              <a:buNone/>
            </a:pPr>
            <a:r>
              <a:rPr lang="en-US" sz="920" dirty="0">
                <a:solidFill>
                  <a:srgbClr val="5E6B7A"/>
                </a:solidFill>
                <a:latin typeface="Aptos" pitchFamily="34" charset="0"/>
                <a:ea typeface="Aptos" pitchFamily="34" charset="-122"/>
                <a:cs typeface="Aptos" pitchFamily="34" charset="-120"/>
              </a:rPr>
              <a:t>AIAgents optimasi</a:t>
            </a:r>
            <a:endParaRPr lang="en-US" sz="920" dirty="0"/>
          </a:p>
        </p:txBody>
      </p:sp>
      <p:sp>
        <p:nvSpPr>
          <p:cNvPr id="45" name="Shape 42"/>
          <p:cNvSpPr/>
          <p:nvPr/>
        </p:nvSpPr>
        <p:spPr>
          <a:xfrm>
            <a:off x="2697480" y="4986528"/>
            <a:ext cx="2514600" cy="146304"/>
          </a:xfrm>
          <a:prstGeom prst="rect">
            <a:avLst/>
          </a:prstGeom>
          <a:solidFill>
            <a:srgbClr val="E8EEF6"/>
          </a:solidFill>
          <a:ln w="12700">
            <a:solidFill>
              <a:srgbClr val="E8EEF6"/>
            </a:solidFill>
            <a:prstDash val="solid"/>
          </a:ln>
        </p:spPr>
      </p:sp>
      <p:sp>
        <p:nvSpPr>
          <p:cNvPr id="46" name="Shape 43"/>
          <p:cNvSpPr/>
          <p:nvPr/>
        </p:nvSpPr>
        <p:spPr>
          <a:xfrm>
            <a:off x="2697480" y="4986528"/>
            <a:ext cx="2069031" cy="146304"/>
          </a:xfrm>
          <a:prstGeom prst="rect">
            <a:avLst/>
          </a:prstGeom>
          <a:solidFill>
            <a:srgbClr val="2563EB"/>
          </a:solidFill>
          <a:ln w="12700">
            <a:solidFill>
              <a:srgbClr val="2563EB"/>
            </a:solidFill>
            <a:prstDash val="solid"/>
          </a:ln>
        </p:spPr>
      </p:sp>
      <p:sp>
        <p:nvSpPr>
          <p:cNvPr id="47" name="Text 44"/>
          <p:cNvSpPr/>
          <p:nvPr/>
        </p:nvSpPr>
        <p:spPr>
          <a:xfrm>
            <a:off x="5394960" y="4931664"/>
            <a:ext cx="502920" cy="201168"/>
          </a:xfrm>
          <a:prstGeom prst="rect">
            <a:avLst/>
          </a:prstGeom>
          <a:noFill/>
          <a:ln/>
        </p:spPr>
        <p:txBody>
          <a:bodyPr wrap="square" lIns="0" tIns="0" rIns="0" bIns="0" rtlCol="0" anchor="t">
            <a:normAutofit/>
          </a:bodyPr>
          <a:lstStyle/>
          <a:p>
            <a:pPr marL="0" indent="0" algn="r">
              <a:buNone/>
            </a:pPr>
            <a:r>
              <a:rPr lang="en-US" sz="870" b="1" dirty="0">
                <a:solidFill>
                  <a:srgbClr val="1F2937"/>
                </a:solidFill>
                <a:latin typeface="Aptos" pitchFamily="34" charset="0"/>
                <a:ea typeface="Aptos" pitchFamily="34" charset="-122"/>
                <a:cs typeface="Aptos" pitchFamily="34" charset="-120"/>
              </a:rPr>
              <a:t>0.6501</a:t>
            </a:r>
            <a:endParaRPr lang="en-US" sz="870" dirty="0"/>
          </a:p>
        </p:txBody>
      </p:sp>
      <p:sp>
        <p:nvSpPr>
          <p:cNvPr id="48" name="Shape 45"/>
          <p:cNvSpPr/>
          <p:nvPr/>
        </p:nvSpPr>
        <p:spPr>
          <a:xfrm>
            <a:off x="6446520" y="3703320"/>
            <a:ext cx="4617720" cy="841248"/>
          </a:xfrm>
          <a:prstGeom prst="roundRect">
            <a:avLst/>
          </a:prstGeom>
          <a:solidFill>
            <a:srgbClr val="EAF8F0"/>
          </a:solidFill>
          <a:ln w="12700">
            <a:solidFill>
              <a:srgbClr val="C9DFFF"/>
            </a:solidFill>
            <a:prstDash val="solid"/>
          </a:ln>
          <a:effectLst>
            <a:outerShdw blurRad="12700" dist="50800" dir="2700000" algn="bl" rotWithShape="0">
              <a:srgbClr val="B8C8DA">
                <a:alpha val="10000"/>
              </a:srgbClr>
            </a:outerShdw>
          </a:effectLst>
        </p:spPr>
      </p:sp>
      <p:sp>
        <p:nvSpPr>
          <p:cNvPr id="49" name="Text 46"/>
          <p:cNvSpPr/>
          <p:nvPr/>
        </p:nvSpPr>
        <p:spPr>
          <a:xfrm>
            <a:off x="6611112" y="3849624"/>
            <a:ext cx="4288536" cy="219456"/>
          </a:xfrm>
          <a:prstGeom prst="rect">
            <a:avLst/>
          </a:prstGeom>
          <a:noFill/>
          <a:ln/>
        </p:spPr>
        <p:txBody>
          <a:bodyPr wrap="square" lIns="0" tIns="0" rIns="0" bIns="0" rtlCol="0" anchor="t">
            <a:normAutofit/>
          </a:bodyPr>
          <a:lstStyle/>
          <a:p>
            <a:pPr marL="0" indent="0" algn="l">
              <a:buNone/>
            </a:pPr>
            <a:r>
              <a:rPr lang="en-US" sz="1200" b="1" dirty="0">
                <a:solidFill>
                  <a:srgbClr val="16A34A"/>
                </a:solidFill>
                <a:latin typeface="Aptos" pitchFamily="34" charset="0"/>
                <a:ea typeface="Aptos" pitchFamily="34" charset="-122"/>
                <a:cs typeface="Aptos" pitchFamily="34" charset="-120"/>
              </a:rPr>
              <a:t>Kesimpulan tabel</a:t>
            </a:r>
            <a:endParaRPr lang="en-US" sz="1200" dirty="0"/>
          </a:p>
        </p:txBody>
      </p:sp>
      <p:sp>
        <p:nvSpPr>
          <p:cNvPr id="50" name="Text 47"/>
          <p:cNvSpPr/>
          <p:nvPr/>
        </p:nvSpPr>
        <p:spPr>
          <a:xfrm>
            <a:off x="6611112" y="4142232"/>
            <a:ext cx="4288536" cy="310896"/>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AISelect lebih mudah diprediksi. AIAgents lebih sulit, tetapi optimasi menaikkan F1 Macro dari 0,6371 menjadi 0,6501.</a:t>
            </a:r>
            <a:endParaRPr lang="en-US" sz="1100" dirty="0"/>
          </a:p>
        </p:txBody>
      </p:sp>
      <p:sp>
        <p:nvSpPr>
          <p:cNvPr id="51" name="Shape 48"/>
          <p:cNvSpPr/>
          <p:nvPr/>
        </p:nvSpPr>
        <p:spPr>
          <a:xfrm>
            <a:off x="6446520" y="4864608"/>
            <a:ext cx="4617720" cy="841248"/>
          </a:xfrm>
          <a:prstGeom prst="roundRect">
            <a:avLst/>
          </a:prstGeom>
          <a:solidFill>
            <a:srgbClr val="FFF7E6"/>
          </a:solidFill>
          <a:ln w="12700">
            <a:solidFill>
              <a:srgbClr val="C9DFFF"/>
            </a:solidFill>
            <a:prstDash val="solid"/>
          </a:ln>
          <a:effectLst>
            <a:outerShdw blurRad="12700" dist="50800" dir="2700000" algn="bl" rotWithShape="0">
              <a:srgbClr val="B8C8DA">
                <a:alpha val="10000"/>
              </a:srgbClr>
            </a:outerShdw>
          </a:effectLst>
        </p:spPr>
      </p:sp>
      <p:sp>
        <p:nvSpPr>
          <p:cNvPr id="52" name="Text 49"/>
          <p:cNvSpPr/>
          <p:nvPr/>
        </p:nvSpPr>
        <p:spPr>
          <a:xfrm>
            <a:off x="6611112" y="5010912"/>
            <a:ext cx="4288536" cy="219456"/>
          </a:xfrm>
          <a:prstGeom prst="rect">
            <a:avLst/>
          </a:prstGeom>
          <a:noFill/>
          <a:ln/>
        </p:spPr>
        <p:txBody>
          <a:bodyPr wrap="square" lIns="0" tIns="0" rIns="0" bIns="0" rtlCol="0" anchor="t">
            <a:normAutofit/>
          </a:bodyPr>
          <a:lstStyle/>
          <a:p>
            <a:pPr marL="0" indent="0" algn="l">
              <a:buNone/>
            </a:pPr>
            <a:r>
              <a:rPr lang="en-US" sz="1200" b="1" dirty="0">
                <a:solidFill>
                  <a:srgbClr val="F59E0B"/>
                </a:solidFill>
                <a:latin typeface="Aptos" pitchFamily="34" charset="0"/>
                <a:ea typeface="Aptos" pitchFamily="34" charset="-122"/>
                <a:cs typeface="Aptos" pitchFamily="34" charset="-120"/>
              </a:rPr>
              <a:t>Interpretasi praktis</a:t>
            </a:r>
            <a:endParaRPr lang="en-US" sz="1200" dirty="0"/>
          </a:p>
        </p:txBody>
      </p:sp>
      <p:sp>
        <p:nvSpPr>
          <p:cNvPr id="53" name="Text 50"/>
          <p:cNvSpPr/>
          <p:nvPr/>
        </p:nvSpPr>
        <p:spPr>
          <a:xfrm>
            <a:off x="6611112" y="5303520"/>
            <a:ext cx="4288536" cy="310896"/>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Penggunaan AI umum sudah lebih mudah dikenali dari fitur developer. Penggunaan AI Agent masih lebih spesifik sehingga membutuhkan optimasi model.</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22</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Temuan Utama</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Ringkasan analisis</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713232" y="1234440"/>
            <a:ext cx="3310128" cy="3977640"/>
          </a:xfrm>
          <a:prstGeom prst="roundRect">
            <a:avLst/>
          </a:prstGeom>
          <a:solidFill>
            <a:srgbClr val="EAF4FF"/>
          </a:solidFill>
          <a:ln w="12700">
            <a:solidFill>
              <a:srgbClr val="C9DFFF"/>
            </a:solidFill>
            <a:prstDash val="solid"/>
          </a:ln>
          <a:effectLst>
            <a:outerShdw blurRad="12700" dist="50800" dir="2700000" algn="bl" rotWithShape="0">
              <a:srgbClr val="B8C8DA">
                <a:alpha val="10000"/>
              </a:srgbClr>
            </a:outerShdw>
          </a:effectLst>
        </p:spPr>
      </p:sp>
      <p:sp>
        <p:nvSpPr>
          <p:cNvPr id="11" name="Text 8"/>
          <p:cNvSpPr/>
          <p:nvPr/>
        </p:nvSpPr>
        <p:spPr>
          <a:xfrm>
            <a:off x="987552" y="1554480"/>
            <a:ext cx="502920" cy="502920"/>
          </a:xfrm>
          <a:prstGeom prst="rect">
            <a:avLst/>
          </a:prstGeom>
          <a:solidFill>
            <a:srgbClr val="2563EB"/>
          </a:solidFill>
          <a:ln w="12700">
            <a:solidFill>
              <a:srgbClr val="2563EB"/>
            </a:solidFill>
          </a:ln>
        </p:spPr>
        <p:txBody>
          <a:bodyPr wrap="square" lIns="0" tIns="0" rIns="0" bIns="0" rtlCol="0" anchor="ctr">
            <a:normAutofit/>
          </a:bodyPr>
          <a:lstStyle/>
          <a:p>
            <a:pPr marL="0" indent="0" algn="ctr">
              <a:buNone/>
            </a:pPr>
            <a:r>
              <a:rPr lang="en-US" sz="1900" b="1" dirty="0">
                <a:solidFill>
                  <a:srgbClr val="FFFFFF"/>
                </a:solidFill>
                <a:latin typeface="Aptos" pitchFamily="34" charset="0"/>
                <a:ea typeface="Aptos" pitchFamily="34" charset="-122"/>
                <a:cs typeface="Aptos" pitchFamily="34" charset="-120"/>
              </a:rPr>
              <a:t>1</a:t>
            </a:r>
            <a:endParaRPr lang="en-US" sz="1900" dirty="0"/>
          </a:p>
        </p:txBody>
      </p:sp>
      <p:sp>
        <p:nvSpPr>
          <p:cNvPr id="12" name="Text 9"/>
          <p:cNvSpPr/>
          <p:nvPr/>
        </p:nvSpPr>
        <p:spPr>
          <a:xfrm>
            <a:off x="987552" y="2331720"/>
            <a:ext cx="2514600" cy="457200"/>
          </a:xfrm>
          <a:prstGeom prst="rect">
            <a:avLst/>
          </a:prstGeom>
          <a:noFill/>
          <a:ln/>
        </p:spPr>
        <p:txBody>
          <a:bodyPr wrap="square" lIns="0" tIns="0" rIns="0" bIns="0" rtlCol="0" anchor="t">
            <a:normAutofit/>
          </a:bodyPr>
          <a:lstStyle/>
          <a:p>
            <a:pPr marL="0" indent="0" algn="l">
              <a:buNone/>
            </a:pPr>
            <a:r>
              <a:rPr lang="en-US" sz="1700" b="1" dirty="0">
                <a:solidFill>
                  <a:srgbClr val="1F2937"/>
                </a:solidFill>
                <a:latin typeface="Aptos" pitchFamily="34" charset="0"/>
                <a:ea typeface="Aptos" pitchFamily="34" charset="-122"/>
                <a:cs typeface="Aptos" pitchFamily="34" charset="-120"/>
              </a:rPr>
              <a:t>CatBoost paling konsisten</a:t>
            </a:r>
            <a:endParaRPr lang="en-US" sz="1700" dirty="0"/>
          </a:p>
        </p:txBody>
      </p:sp>
      <p:sp>
        <p:nvSpPr>
          <p:cNvPr id="13" name="Text 10"/>
          <p:cNvSpPr/>
          <p:nvPr/>
        </p:nvSpPr>
        <p:spPr>
          <a:xfrm>
            <a:off x="987552" y="3035808"/>
            <a:ext cx="2514600" cy="777240"/>
          </a:xfrm>
          <a:prstGeom prst="rect">
            <a:avLst/>
          </a:prstGeom>
          <a:noFill/>
          <a:ln/>
        </p:spPr>
        <p:txBody>
          <a:bodyPr wrap="square" lIns="0" tIns="0" rIns="0" bIns="0" rtlCol="0" anchor="t">
            <a:normAutofit/>
          </a:bodyPr>
          <a:lstStyle/>
          <a:p>
            <a:pPr marL="0" indent="0" algn="l">
              <a:buNone/>
            </a:pPr>
            <a:r>
              <a:rPr lang="en-US" sz="1250" dirty="0">
                <a:solidFill>
                  <a:srgbClr val="5E6B7A"/>
                </a:solidFill>
                <a:latin typeface="Aptos" pitchFamily="34" charset="0"/>
                <a:ea typeface="Aptos" pitchFamily="34" charset="-122"/>
                <a:cs typeface="Aptos" pitchFamily="34" charset="-120"/>
              </a:rPr>
              <a:t>Model terbaik pada AISelect, AIAgents awal, dan AIAgents optimasi.</a:t>
            </a:r>
            <a:endParaRPr lang="en-US" sz="1250" dirty="0"/>
          </a:p>
        </p:txBody>
      </p:sp>
      <p:sp>
        <p:nvSpPr>
          <p:cNvPr id="14" name="Shape 11"/>
          <p:cNvSpPr/>
          <p:nvPr/>
        </p:nvSpPr>
        <p:spPr>
          <a:xfrm>
            <a:off x="4443984" y="1234440"/>
            <a:ext cx="3310128" cy="3977640"/>
          </a:xfrm>
          <a:prstGeom prst="roundRect">
            <a:avLst/>
          </a:prstGeom>
          <a:solidFill>
            <a:srgbClr val="EAF8F0"/>
          </a:solidFill>
          <a:ln w="12700">
            <a:solidFill>
              <a:srgbClr val="C8EED4"/>
            </a:solidFill>
            <a:prstDash val="solid"/>
          </a:ln>
          <a:effectLst>
            <a:outerShdw blurRad="12700" dist="50800" dir="2700000" algn="bl" rotWithShape="0">
              <a:srgbClr val="B8C8DA">
                <a:alpha val="10000"/>
              </a:srgbClr>
            </a:outerShdw>
          </a:effectLst>
        </p:spPr>
      </p:sp>
      <p:sp>
        <p:nvSpPr>
          <p:cNvPr id="15" name="Text 12"/>
          <p:cNvSpPr/>
          <p:nvPr/>
        </p:nvSpPr>
        <p:spPr>
          <a:xfrm>
            <a:off x="4718304" y="1554480"/>
            <a:ext cx="502920" cy="502920"/>
          </a:xfrm>
          <a:prstGeom prst="rect">
            <a:avLst/>
          </a:prstGeom>
          <a:solidFill>
            <a:srgbClr val="16A34A"/>
          </a:solidFill>
          <a:ln w="12700">
            <a:solidFill>
              <a:srgbClr val="16A34A"/>
            </a:solidFill>
          </a:ln>
        </p:spPr>
        <p:txBody>
          <a:bodyPr wrap="square" lIns="0" tIns="0" rIns="0" bIns="0" rtlCol="0" anchor="ctr">
            <a:normAutofit/>
          </a:bodyPr>
          <a:lstStyle/>
          <a:p>
            <a:pPr marL="0" indent="0" algn="ctr">
              <a:buNone/>
            </a:pPr>
            <a:r>
              <a:rPr lang="en-US" sz="1900" b="1" dirty="0">
                <a:solidFill>
                  <a:srgbClr val="FFFFFF"/>
                </a:solidFill>
                <a:latin typeface="Aptos" pitchFamily="34" charset="0"/>
                <a:ea typeface="Aptos" pitchFamily="34" charset="-122"/>
                <a:cs typeface="Aptos" pitchFamily="34" charset="-120"/>
              </a:rPr>
              <a:t>2</a:t>
            </a:r>
            <a:endParaRPr lang="en-US" sz="1900" dirty="0"/>
          </a:p>
        </p:txBody>
      </p:sp>
      <p:sp>
        <p:nvSpPr>
          <p:cNvPr id="16" name="Text 13"/>
          <p:cNvSpPr/>
          <p:nvPr/>
        </p:nvSpPr>
        <p:spPr>
          <a:xfrm>
            <a:off x="4718304" y="2331720"/>
            <a:ext cx="2514600" cy="457200"/>
          </a:xfrm>
          <a:prstGeom prst="rect">
            <a:avLst/>
          </a:prstGeom>
          <a:noFill/>
          <a:ln/>
        </p:spPr>
        <p:txBody>
          <a:bodyPr wrap="square" lIns="0" tIns="0" rIns="0" bIns="0" rtlCol="0" anchor="t">
            <a:normAutofit/>
          </a:bodyPr>
          <a:lstStyle/>
          <a:p>
            <a:pPr marL="0" indent="0" algn="l">
              <a:buNone/>
            </a:pPr>
            <a:r>
              <a:rPr lang="en-US" sz="1700" b="1" dirty="0">
                <a:solidFill>
                  <a:srgbClr val="1F2937"/>
                </a:solidFill>
                <a:latin typeface="Aptos" pitchFamily="34" charset="0"/>
                <a:ea typeface="Aptos" pitchFamily="34" charset="-122"/>
                <a:cs typeface="Aptos" pitchFamily="34" charset="-120"/>
              </a:rPr>
              <a:t>AISelect lebih mudah</a:t>
            </a:r>
            <a:endParaRPr lang="en-US" sz="1700" dirty="0"/>
          </a:p>
        </p:txBody>
      </p:sp>
      <p:sp>
        <p:nvSpPr>
          <p:cNvPr id="17" name="Text 14"/>
          <p:cNvSpPr/>
          <p:nvPr/>
        </p:nvSpPr>
        <p:spPr>
          <a:xfrm>
            <a:off x="4718304" y="3035808"/>
            <a:ext cx="2514600" cy="777240"/>
          </a:xfrm>
          <a:prstGeom prst="rect">
            <a:avLst/>
          </a:prstGeom>
          <a:noFill/>
          <a:ln/>
        </p:spPr>
        <p:txBody>
          <a:bodyPr wrap="square" lIns="0" tIns="0" rIns="0" bIns="0" rtlCol="0" anchor="t">
            <a:normAutofit/>
          </a:bodyPr>
          <a:lstStyle/>
          <a:p>
            <a:pPr marL="0" indent="0" algn="l">
              <a:buNone/>
            </a:pPr>
            <a:r>
              <a:rPr lang="en-US" sz="1250" dirty="0">
                <a:solidFill>
                  <a:srgbClr val="5E6B7A"/>
                </a:solidFill>
                <a:latin typeface="Aptos" pitchFamily="34" charset="0"/>
                <a:ea typeface="Aptos" pitchFamily="34" charset="-122"/>
                <a:cs typeface="Aptos" pitchFamily="34" charset="-120"/>
              </a:rPr>
              <a:t>F1 Macro AISelect 0,7901, jauh di atas AIAgents awal 0,6371.</a:t>
            </a:r>
            <a:endParaRPr lang="en-US" sz="1250" dirty="0"/>
          </a:p>
        </p:txBody>
      </p:sp>
      <p:sp>
        <p:nvSpPr>
          <p:cNvPr id="18" name="Shape 15"/>
          <p:cNvSpPr/>
          <p:nvPr/>
        </p:nvSpPr>
        <p:spPr>
          <a:xfrm>
            <a:off x="8174736" y="1234440"/>
            <a:ext cx="3310128" cy="3977640"/>
          </a:xfrm>
          <a:prstGeom prst="roundRect">
            <a:avLst/>
          </a:prstGeom>
          <a:solidFill>
            <a:srgbClr val="FFF7E6"/>
          </a:solidFill>
          <a:ln w="12700">
            <a:solidFill>
              <a:srgbClr val="FADDB2"/>
            </a:solidFill>
            <a:prstDash val="solid"/>
          </a:ln>
          <a:effectLst>
            <a:outerShdw blurRad="12700" dist="50800" dir="2700000" algn="bl" rotWithShape="0">
              <a:srgbClr val="B8C8DA">
                <a:alpha val="10000"/>
              </a:srgbClr>
            </a:outerShdw>
          </a:effectLst>
        </p:spPr>
      </p:sp>
      <p:sp>
        <p:nvSpPr>
          <p:cNvPr id="19" name="Text 16"/>
          <p:cNvSpPr/>
          <p:nvPr/>
        </p:nvSpPr>
        <p:spPr>
          <a:xfrm>
            <a:off x="8449056" y="1554480"/>
            <a:ext cx="502920" cy="502920"/>
          </a:xfrm>
          <a:prstGeom prst="rect">
            <a:avLst/>
          </a:prstGeom>
          <a:solidFill>
            <a:srgbClr val="F59E0B"/>
          </a:solidFill>
          <a:ln w="12700">
            <a:solidFill>
              <a:srgbClr val="F59E0B"/>
            </a:solidFill>
          </a:ln>
        </p:spPr>
        <p:txBody>
          <a:bodyPr wrap="square" lIns="0" tIns="0" rIns="0" bIns="0" rtlCol="0" anchor="ctr">
            <a:normAutofit/>
          </a:bodyPr>
          <a:lstStyle/>
          <a:p>
            <a:pPr marL="0" indent="0" algn="ctr">
              <a:buNone/>
            </a:pPr>
            <a:r>
              <a:rPr lang="en-US" sz="1900" b="1" dirty="0">
                <a:solidFill>
                  <a:srgbClr val="FFFFFF"/>
                </a:solidFill>
                <a:latin typeface="Aptos" pitchFamily="34" charset="0"/>
                <a:ea typeface="Aptos" pitchFamily="34" charset="-122"/>
                <a:cs typeface="Aptos" pitchFamily="34" charset="-120"/>
              </a:rPr>
              <a:t>3</a:t>
            </a:r>
            <a:endParaRPr lang="en-US" sz="1900" dirty="0"/>
          </a:p>
        </p:txBody>
      </p:sp>
      <p:sp>
        <p:nvSpPr>
          <p:cNvPr id="20" name="Text 17"/>
          <p:cNvSpPr/>
          <p:nvPr/>
        </p:nvSpPr>
        <p:spPr>
          <a:xfrm>
            <a:off x="8449056" y="2331720"/>
            <a:ext cx="2514600" cy="457200"/>
          </a:xfrm>
          <a:prstGeom prst="rect">
            <a:avLst/>
          </a:prstGeom>
          <a:noFill/>
          <a:ln/>
        </p:spPr>
        <p:txBody>
          <a:bodyPr wrap="square" lIns="0" tIns="0" rIns="0" bIns="0" rtlCol="0" anchor="t">
            <a:normAutofit/>
          </a:bodyPr>
          <a:lstStyle/>
          <a:p>
            <a:pPr marL="0" indent="0" algn="l">
              <a:buNone/>
            </a:pPr>
            <a:r>
              <a:rPr lang="en-US" sz="1700" b="1" dirty="0">
                <a:solidFill>
                  <a:srgbClr val="1F2937"/>
                </a:solidFill>
                <a:latin typeface="Aptos" pitchFamily="34" charset="0"/>
                <a:ea typeface="Aptos" pitchFamily="34" charset="-122"/>
                <a:cs typeface="Aptos" pitchFamily="34" charset="-120"/>
              </a:rPr>
              <a:t>Pengalaman &amp; sentimen penting</a:t>
            </a:r>
            <a:endParaRPr lang="en-US" sz="1700" dirty="0"/>
          </a:p>
        </p:txBody>
      </p:sp>
      <p:sp>
        <p:nvSpPr>
          <p:cNvPr id="21" name="Text 18"/>
          <p:cNvSpPr/>
          <p:nvPr/>
        </p:nvSpPr>
        <p:spPr>
          <a:xfrm>
            <a:off x="8449056" y="3035808"/>
            <a:ext cx="2514600" cy="777240"/>
          </a:xfrm>
          <a:prstGeom prst="rect">
            <a:avLst/>
          </a:prstGeom>
          <a:noFill/>
          <a:ln/>
        </p:spPr>
        <p:txBody>
          <a:bodyPr wrap="square" lIns="0" tIns="0" rIns="0" bIns="0" rtlCol="0" anchor="t">
            <a:normAutofit/>
          </a:bodyPr>
          <a:lstStyle/>
          <a:p>
            <a:pPr marL="0" indent="0" algn="l">
              <a:buNone/>
            </a:pPr>
            <a:r>
              <a:rPr lang="en-US" sz="1250" dirty="0">
                <a:solidFill>
                  <a:srgbClr val="5E6B7A"/>
                </a:solidFill>
                <a:latin typeface="Aptos" pitchFamily="34" charset="0"/>
                <a:ea typeface="Aptos" pitchFamily="34" charset="-122"/>
                <a:cs typeface="Aptos" pitchFamily="34" charset="-120"/>
              </a:rPr>
              <a:t>WorkExp, YearsCode, dan AISent menjadi sinyal prediktif utama.</a:t>
            </a:r>
            <a:endParaRPr lang="en-US" sz="1250" dirty="0"/>
          </a:p>
        </p:txBody>
      </p:sp>
      <p:sp>
        <p:nvSpPr>
          <p:cNvPr id="22" name="Shape 19"/>
          <p:cNvSpPr/>
          <p:nvPr/>
        </p:nvSpPr>
        <p:spPr>
          <a:xfrm>
            <a:off x="713232" y="5577840"/>
            <a:ext cx="10771632" cy="502920"/>
          </a:xfrm>
          <a:prstGeom prst="roundRect">
            <a:avLst/>
          </a:prstGeom>
          <a:solidFill>
            <a:srgbClr val="F3EFFF"/>
          </a:solidFill>
          <a:ln w="12700">
            <a:solidFill>
              <a:srgbClr val="C9DFFF"/>
            </a:solidFill>
            <a:prstDash val="solid"/>
          </a:ln>
          <a:effectLst>
            <a:outerShdw blurRad="12700" dist="50800" dir="2700000" algn="bl" rotWithShape="0">
              <a:srgbClr val="B8C8DA">
                <a:alpha val="10000"/>
              </a:srgbClr>
            </a:outerShdw>
          </a:effectLst>
        </p:spPr>
      </p:sp>
      <p:sp>
        <p:nvSpPr>
          <p:cNvPr id="23" name="Text 20"/>
          <p:cNvSpPr/>
          <p:nvPr/>
        </p:nvSpPr>
        <p:spPr>
          <a:xfrm>
            <a:off x="877824" y="5724144"/>
            <a:ext cx="10442448" cy="219456"/>
          </a:xfrm>
          <a:prstGeom prst="rect">
            <a:avLst/>
          </a:prstGeom>
          <a:noFill/>
          <a:ln/>
        </p:spPr>
        <p:txBody>
          <a:bodyPr wrap="square" lIns="0" tIns="0" rIns="0" bIns="0" rtlCol="0" anchor="t">
            <a:normAutofit/>
          </a:bodyPr>
          <a:lstStyle/>
          <a:p>
            <a:pPr marL="0" indent="0" algn="l">
              <a:buNone/>
            </a:pPr>
            <a:r>
              <a:rPr lang="en-US" sz="1200" b="1" dirty="0">
                <a:solidFill>
                  <a:srgbClr val="7C3AED"/>
                </a:solidFill>
                <a:latin typeface="Aptos" pitchFamily="34" charset="0"/>
                <a:ea typeface="Aptos" pitchFamily="34" charset="-122"/>
                <a:cs typeface="Aptos" pitchFamily="34" charset="-120"/>
              </a:rPr>
              <a:t>Kalimat jembatan ke kesimpulan</a:t>
            </a:r>
            <a:endParaRPr lang="en-US" sz="1200" dirty="0"/>
          </a:p>
        </p:txBody>
      </p:sp>
      <p:sp>
        <p:nvSpPr>
          <p:cNvPr id="24" name="Text 21"/>
          <p:cNvSpPr/>
          <p:nvPr/>
        </p:nvSpPr>
        <p:spPr>
          <a:xfrm>
            <a:off x="877824" y="6016752"/>
            <a:ext cx="10442448" cy="0"/>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“Dengan hasil ini, proyek menunjukkan bahwa data survei developer dapat dipakai untuk memprediksi adopsi AI secara terukur, bukan hanya berdasarkan dugaan.”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C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CFF"/>
          </a:solidFill>
          <a:ln w="12700">
            <a:solidFill>
              <a:srgbClr val="FAFCFF"/>
            </a:solidFill>
            <a:prstDash val="solid"/>
          </a:ln>
        </p:spPr>
      </p:sp>
      <p:sp>
        <p:nvSpPr>
          <p:cNvPr id="3" name="Shape 1"/>
          <p:cNvSpPr/>
          <p:nvPr/>
        </p:nvSpPr>
        <p:spPr>
          <a:xfrm>
            <a:off x="0" y="0"/>
            <a:ext cx="12191695" cy="91440"/>
          </a:xfrm>
          <a:prstGeom prst="rect">
            <a:avLst/>
          </a:prstGeom>
          <a:solidFill>
            <a:srgbClr val="2563EB"/>
          </a:solidFill>
          <a:ln w="12700">
            <a:solidFill>
              <a:srgbClr val="2563EB"/>
            </a:solidFill>
            <a:prstDash val="solid"/>
          </a:ln>
        </p:spPr>
      </p:sp>
      <p:sp>
        <p:nvSpPr>
          <p:cNvPr id="4" name="Shape 2"/>
          <p:cNvSpPr/>
          <p:nvPr/>
        </p:nvSpPr>
        <p:spPr>
          <a:xfrm>
            <a:off x="0" y="6784848"/>
            <a:ext cx="12191695" cy="73152"/>
          </a:xfrm>
          <a:prstGeom prst="rect">
            <a:avLst/>
          </a:prstGeom>
          <a:solidFill>
            <a:srgbClr val="EAF4FF"/>
          </a:solidFill>
          <a:ln w="12700">
            <a:solidFill>
              <a:srgbClr val="EAF4FF"/>
            </a:solidFill>
            <a:prstDash val="solid"/>
          </a:ln>
        </p:spPr>
      </p:sp>
      <p:sp>
        <p:nvSpPr>
          <p:cNvPr id="5" name="Text 3"/>
          <p:cNvSpPr/>
          <p:nvPr/>
        </p:nvSpPr>
        <p:spPr>
          <a:xfrm>
            <a:off x="566928" y="6519672"/>
            <a:ext cx="3931920" cy="164592"/>
          </a:xfrm>
          <a:prstGeom prst="rect">
            <a:avLst/>
          </a:prstGeom>
          <a:noFill/>
          <a:ln/>
        </p:spPr>
        <p:txBody>
          <a:bodyPr wrap="square" lIns="0" tIns="0" rIns="0" bIns="0" rtlCol="0" anchor="ctr"/>
          <a:lstStyle/>
          <a:p>
            <a:pPr marL="0" indent="0">
              <a:buNone/>
            </a:pPr>
            <a:r>
              <a:rPr lang="en-US" sz="850" dirty="0">
                <a:solidFill>
                  <a:srgbClr val="8AA0B5"/>
                </a:solidFill>
              </a:rPr>
              <a:t>Prediksi Adopsi AI Developer · 23</a:t>
            </a:r>
            <a:endParaRPr lang="en-US" sz="850" dirty="0"/>
          </a:p>
        </p:txBody>
      </p:sp>
      <p:sp>
        <p:nvSpPr>
          <p:cNvPr id="6" name="Text 4"/>
          <p:cNvSpPr/>
          <p:nvPr/>
        </p:nvSpPr>
        <p:spPr>
          <a:xfrm>
            <a:off x="566928" y="329184"/>
            <a:ext cx="8412480" cy="384048"/>
          </a:xfrm>
          <a:prstGeom prst="rect">
            <a:avLst/>
          </a:prstGeom>
          <a:noFill/>
          <a:ln/>
        </p:spPr>
        <p:txBody>
          <a:bodyPr wrap="square" lIns="0" tIns="0" rIns="0" bIns="0" rtlCol="0" anchor="ctr">
            <a:normAutofit/>
          </a:bodyP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Kesimpulan dan Saran Pengembangan</a:t>
            </a:r>
            <a:endParaRPr lang="en-US" sz="2400" dirty="0"/>
          </a:p>
        </p:txBody>
      </p:sp>
      <p:sp>
        <p:nvSpPr>
          <p:cNvPr id="7" name="Text 5"/>
          <p:cNvSpPr/>
          <p:nvPr/>
        </p:nvSpPr>
        <p:spPr>
          <a:xfrm>
            <a:off x="9418320" y="384048"/>
            <a:ext cx="2148840" cy="219456"/>
          </a:xfrm>
          <a:prstGeom prst="rect">
            <a:avLst/>
          </a:prstGeom>
          <a:solidFill>
            <a:srgbClr val="EAF4FF"/>
          </a:solidFill>
          <a:ln>
            <a:solidFill>
              <a:srgbClr val="BBD9FF"/>
            </a:solidFill>
          </a:ln>
        </p:spPr>
        <p:txBody>
          <a:bodyPr wrap="square" lIns="254" tIns="254" rIns="254" bIns="254" rtlCol="0" anchor="ctr">
            <a:normAutofit/>
          </a:bodyPr>
          <a:lstStyle/>
          <a:p>
            <a:pPr marL="0" indent="0" algn="ctr">
              <a:buNone/>
            </a:pPr>
            <a:r>
              <a:rPr lang="en-US" sz="950" b="1" dirty="0">
                <a:solidFill>
                  <a:srgbClr val="2563EB"/>
                </a:solidFill>
              </a:rPr>
              <a:t>Penutup substansi</a:t>
            </a:r>
            <a:endParaRPr lang="en-US" sz="950" dirty="0"/>
          </a:p>
        </p:txBody>
      </p:sp>
      <p:sp>
        <p:nvSpPr>
          <p:cNvPr id="8" name="Shape 6"/>
          <p:cNvSpPr/>
          <p:nvPr/>
        </p:nvSpPr>
        <p:spPr>
          <a:xfrm>
            <a:off x="566928" y="896112"/>
            <a:ext cx="11045952" cy="0"/>
          </a:xfrm>
          <a:prstGeom prst="line">
            <a:avLst/>
          </a:prstGeom>
          <a:noFill/>
          <a:ln w="12700">
            <a:solidFill>
              <a:srgbClr val="D6E4F2"/>
            </a:solidFill>
            <a:prstDash val="solid"/>
          </a:ln>
        </p:spPr>
      </p:sp>
      <p:sp>
        <p:nvSpPr>
          <p:cNvPr id="10" name="Shape 7"/>
          <p:cNvSpPr/>
          <p:nvPr/>
        </p:nvSpPr>
        <p:spPr>
          <a:xfrm>
            <a:off x="731520" y="1170432"/>
            <a:ext cx="5212080" cy="434340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sp>
        <p:nvSpPr>
          <p:cNvPr id="11" name="Text 8"/>
          <p:cNvSpPr/>
          <p:nvPr/>
        </p:nvSpPr>
        <p:spPr>
          <a:xfrm>
            <a:off x="1005840" y="1463040"/>
            <a:ext cx="2011680" cy="320040"/>
          </a:xfrm>
          <a:prstGeom prst="rect">
            <a:avLst/>
          </a:prstGeom>
          <a:noFill/>
          <a:ln/>
        </p:spPr>
        <p:txBody>
          <a:bodyPr wrap="square" lIns="0" tIns="0" rIns="0" bIns="0" rtlCol="0" anchor="t">
            <a:normAutofit/>
          </a:bodyPr>
          <a:lstStyle/>
          <a:p>
            <a:pPr marL="0" indent="0" algn="l">
              <a:buNone/>
            </a:pPr>
            <a:r>
              <a:rPr lang="en-US" sz="1800" b="1" dirty="0">
                <a:solidFill>
                  <a:srgbClr val="2563EB"/>
                </a:solidFill>
                <a:latin typeface="Aptos" pitchFamily="34" charset="0"/>
                <a:ea typeface="Aptos" pitchFamily="34" charset="-122"/>
                <a:cs typeface="Aptos" pitchFamily="34" charset="-120"/>
              </a:rPr>
              <a:t>Kesimpulan</a:t>
            </a:r>
            <a:endParaRPr lang="en-US" sz="1800" dirty="0"/>
          </a:p>
        </p:txBody>
      </p:sp>
      <p:sp>
        <p:nvSpPr>
          <p:cNvPr id="12" name="Text 9"/>
          <p:cNvSpPr/>
          <p:nvPr/>
        </p:nvSpPr>
        <p:spPr>
          <a:xfrm>
            <a:off x="1005840" y="2011680"/>
            <a:ext cx="4434840" cy="2176272"/>
          </a:xfrm>
          <a:prstGeom prst="rect">
            <a:avLst/>
          </a:prstGeom>
          <a:noFill/>
          <a:ln/>
        </p:spPr>
        <p:txBody>
          <a:bodyPr wrap="square" lIns="635" tIns="635" rIns="635" bIns="635" rtlCol="0" anchor="ctr">
            <a:normAutofit/>
          </a:bodyPr>
          <a:lstStyle/>
          <a:p>
            <a:pPr marL="139700" indent="-139700">
              <a:buSzPct val="100000"/>
              <a:buChar char="•"/>
            </a:pPr>
            <a:r>
              <a:rPr lang="en-US" sz="1250" dirty="0">
                <a:solidFill>
                  <a:srgbClr val="1F2937"/>
                </a:solidFill>
              </a:rPr>
              <a:t>CatBoost menjadi model paling konsisten untuk prediksi adopsi AI.</a:t>
            </a:r>
            <a:endParaRPr lang="en-US" sz="1250" dirty="0"/>
          </a:p>
          <a:p>
            <a:pPr marL="139700" indent="-139700">
              <a:buSzPct val="100000"/>
              <a:buChar char="•"/>
            </a:pPr>
            <a:r>
              <a:rPr lang="en-US" sz="1250" dirty="0">
                <a:solidFill>
                  <a:srgbClr val="1F2937"/>
                </a:solidFill>
              </a:rPr>
              <a:t>AISelect lebih mudah diprediksi daripada AIAgents karena targetnya lebih umum.</a:t>
            </a:r>
            <a:endParaRPr lang="en-US" sz="1250" dirty="0"/>
          </a:p>
          <a:p>
            <a:pPr marL="139700" indent="-139700">
              <a:buSzPct val="100000"/>
              <a:buChar char="•"/>
            </a:pPr>
            <a:r>
              <a:rPr lang="en-US" sz="1250" dirty="0">
                <a:solidFill>
                  <a:srgbClr val="1F2937"/>
                </a:solidFill>
              </a:rPr>
              <a:t>Optimasi AIAgents memperbaiki F1 Ya dari 0,4861 menjadi 0,5633.</a:t>
            </a:r>
            <a:endParaRPr lang="en-US" sz="1250" dirty="0"/>
          </a:p>
          <a:p>
            <a:pPr marL="139700" indent="-139700">
              <a:buSzPct val="100000"/>
              <a:buChar char="•"/>
            </a:pPr>
            <a:r>
              <a:rPr lang="en-US" sz="1250" dirty="0">
                <a:solidFill>
                  <a:srgbClr val="1F2937"/>
                </a:solidFill>
              </a:rPr>
              <a:t>Feature importance menunjukkan pengalaman dan sentimen AI sebagai sinyal kuat.</a:t>
            </a:r>
            <a:endParaRPr lang="en-US" sz="1250" dirty="0"/>
          </a:p>
        </p:txBody>
      </p:sp>
      <p:sp>
        <p:nvSpPr>
          <p:cNvPr id="13" name="Shape 10"/>
          <p:cNvSpPr/>
          <p:nvPr/>
        </p:nvSpPr>
        <p:spPr>
          <a:xfrm>
            <a:off x="6400800" y="1170432"/>
            <a:ext cx="4800600" cy="4343400"/>
          </a:xfrm>
          <a:prstGeom prst="roundRect">
            <a:avLst/>
          </a:prstGeom>
          <a:solidFill>
            <a:srgbClr val="F3F9FF"/>
          </a:solidFill>
          <a:ln w="12700">
            <a:solidFill>
              <a:srgbClr val="CFE0F3"/>
            </a:solidFill>
            <a:prstDash val="solid"/>
          </a:ln>
          <a:effectLst>
            <a:outerShdw blurRad="12700" dist="50800" dir="2700000" algn="bl" rotWithShape="0">
              <a:srgbClr val="B8C8DA">
                <a:alpha val="10000"/>
              </a:srgbClr>
            </a:outerShdw>
          </a:effectLst>
        </p:spPr>
      </p:sp>
      <p:sp>
        <p:nvSpPr>
          <p:cNvPr id="14" name="Text 11"/>
          <p:cNvSpPr/>
          <p:nvPr/>
        </p:nvSpPr>
        <p:spPr>
          <a:xfrm>
            <a:off x="6675120" y="1463040"/>
            <a:ext cx="2286000" cy="320040"/>
          </a:xfrm>
          <a:prstGeom prst="rect">
            <a:avLst/>
          </a:prstGeom>
          <a:noFill/>
          <a:ln/>
        </p:spPr>
        <p:txBody>
          <a:bodyPr wrap="square" lIns="0" tIns="0" rIns="0" bIns="0" rtlCol="0" anchor="t">
            <a:normAutofit/>
          </a:bodyPr>
          <a:lstStyle/>
          <a:p>
            <a:pPr marL="0" indent="0" algn="l">
              <a:buNone/>
            </a:pPr>
            <a:r>
              <a:rPr lang="en-US" sz="1800" b="1" dirty="0">
                <a:solidFill>
                  <a:srgbClr val="16A34A"/>
                </a:solidFill>
                <a:latin typeface="Aptos" pitchFamily="34" charset="0"/>
                <a:ea typeface="Aptos" pitchFamily="34" charset="-122"/>
                <a:cs typeface="Aptos" pitchFamily="34" charset="-120"/>
              </a:rPr>
              <a:t>Saran pengembangan</a:t>
            </a:r>
            <a:endParaRPr lang="en-US" sz="1800" dirty="0"/>
          </a:p>
        </p:txBody>
      </p:sp>
      <p:sp>
        <p:nvSpPr>
          <p:cNvPr id="15" name="Text 12"/>
          <p:cNvSpPr/>
          <p:nvPr/>
        </p:nvSpPr>
        <p:spPr>
          <a:xfrm>
            <a:off x="6675120" y="2011680"/>
            <a:ext cx="4114800" cy="2176272"/>
          </a:xfrm>
          <a:prstGeom prst="rect">
            <a:avLst/>
          </a:prstGeom>
          <a:noFill/>
          <a:ln/>
        </p:spPr>
        <p:txBody>
          <a:bodyPr wrap="square" lIns="635" tIns="635" rIns="635" bIns="635" rtlCol="0" anchor="ctr">
            <a:normAutofit/>
          </a:bodyPr>
          <a:lstStyle/>
          <a:p>
            <a:pPr marL="139700" indent="-139700">
              <a:buSzPct val="100000"/>
              <a:buChar char="•"/>
            </a:pPr>
            <a:r>
              <a:rPr lang="en-US" sz="1250" dirty="0">
                <a:solidFill>
                  <a:srgbClr val="1F2937"/>
                </a:solidFill>
              </a:rPr>
              <a:t>Gunakan SHAP untuk interpretasi fitur yang lebih detail.</a:t>
            </a:r>
            <a:endParaRPr lang="en-US" sz="1250" dirty="0"/>
          </a:p>
          <a:p>
            <a:pPr marL="139700" indent="-139700">
              <a:buSzPct val="100000"/>
              <a:buChar char="•"/>
            </a:pPr>
            <a:r>
              <a:rPr lang="en-US" sz="1250" dirty="0">
                <a:solidFill>
                  <a:srgbClr val="1F2937"/>
                </a:solidFill>
              </a:rPr>
              <a:t>Coba tuning parameter yang lebih luas.</a:t>
            </a:r>
            <a:endParaRPr lang="en-US" sz="1250" dirty="0"/>
          </a:p>
          <a:p>
            <a:pPr marL="139700" indent="-139700">
              <a:buSzPct val="100000"/>
              <a:buChar char="•"/>
            </a:pPr>
            <a:r>
              <a:rPr lang="en-US" sz="1250" dirty="0">
                <a:solidFill>
                  <a:srgbClr val="1F2937"/>
                </a:solidFill>
              </a:rPr>
              <a:t>Uji model per negara atau per tipe developer.</a:t>
            </a:r>
            <a:endParaRPr lang="en-US" sz="1250" dirty="0"/>
          </a:p>
          <a:p>
            <a:pPr marL="139700" indent="-139700">
              <a:buSzPct val="100000"/>
              <a:buChar char="•"/>
            </a:pPr>
            <a:r>
              <a:rPr lang="en-US" sz="1250" dirty="0">
                <a:solidFill>
                  <a:srgbClr val="1F2937"/>
                </a:solidFill>
              </a:rPr>
              <a:t>Bandingkan dengan data tahun berikutnya untuk melihat perubahan tren.</a:t>
            </a:r>
            <a:endParaRPr lang="en-US" sz="1250" dirty="0"/>
          </a:p>
        </p:txBody>
      </p:sp>
      <p:sp>
        <p:nvSpPr>
          <p:cNvPr id="16" name="Shape 13"/>
          <p:cNvSpPr/>
          <p:nvPr/>
        </p:nvSpPr>
        <p:spPr>
          <a:xfrm>
            <a:off x="731520" y="5705856"/>
            <a:ext cx="10469880" cy="493776"/>
          </a:xfrm>
          <a:prstGeom prst="roundRect">
            <a:avLst/>
          </a:prstGeom>
          <a:solidFill>
            <a:srgbClr val="FFF0F3"/>
          </a:solidFill>
          <a:ln w="12700">
            <a:solidFill>
              <a:srgbClr val="C9DFFF"/>
            </a:solidFill>
            <a:prstDash val="solid"/>
          </a:ln>
          <a:effectLst>
            <a:outerShdw blurRad="12700" dist="50800" dir="2700000" algn="bl" rotWithShape="0">
              <a:srgbClr val="B8C8DA">
                <a:alpha val="10000"/>
              </a:srgbClr>
            </a:outerShdw>
          </a:effectLst>
        </p:spPr>
      </p:sp>
      <p:sp>
        <p:nvSpPr>
          <p:cNvPr id="17" name="Text 14"/>
          <p:cNvSpPr/>
          <p:nvPr/>
        </p:nvSpPr>
        <p:spPr>
          <a:xfrm>
            <a:off x="896112" y="5852160"/>
            <a:ext cx="10140696" cy="219456"/>
          </a:xfrm>
          <a:prstGeom prst="rect">
            <a:avLst/>
          </a:prstGeom>
          <a:noFill/>
          <a:ln/>
        </p:spPr>
        <p:txBody>
          <a:bodyPr wrap="square" lIns="0" tIns="0" rIns="0" bIns="0" rtlCol="0" anchor="t">
            <a:normAutofit/>
          </a:bodyPr>
          <a:lstStyle/>
          <a:p>
            <a:pPr marL="0" indent="0" algn="l">
              <a:buNone/>
            </a:pPr>
            <a:r>
              <a:rPr lang="en-US" sz="1200" b="1" dirty="0">
                <a:solidFill>
                  <a:srgbClr val="D1495B"/>
                </a:solidFill>
                <a:latin typeface="Aptos" pitchFamily="34" charset="0"/>
                <a:ea typeface="Aptos" pitchFamily="34" charset="-122"/>
                <a:cs typeface="Aptos" pitchFamily="34" charset="-120"/>
              </a:rPr>
              <a:t>Batasan interpretasi</a:t>
            </a:r>
            <a:endParaRPr lang="en-US" sz="1200" dirty="0"/>
          </a:p>
        </p:txBody>
      </p:sp>
      <p:sp>
        <p:nvSpPr>
          <p:cNvPr id="18" name="Text 15"/>
          <p:cNvSpPr/>
          <p:nvPr/>
        </p:nvSpPr>
        <p:spPr>
          <a:xfrm>
            <a:off x="896112" y="6144768"/>
            <a:ext cx="10140696" cy="0"/>
          </a:xfrm>
          <a:prstGeom prst="rect">
            <a:avLst/>
          </a:prstGeom>
          <a:noFill/>
          <a:ln/>
        </p:spPr>
        <p:txBody>
          <a:bodyPr wrap="square" lIns="127" tIns="127" rIns="127" bIns="127" rtlCol="0" anchor="t">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Feature importance tidak membuktikan sebab-akibat. Hasil hanya menunjukkan fitur yang membantu model membuat prediksi.</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mnt/data/a_clean_modern_tech_themed_abstract_background.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713232" y="1280160"/>
            <a:ext cx="4754880" cy="640080"/>
          </a:xfrm>
          <a:prstGeom prst="rect">
            <a:avLst/>
          </a:prstGeom>
          <a:noFill/>
          <a:ln/>
        </p:spPr>
        <p:txBody>
          <a:bodyPr wrap="square" lIns="0" tIns="0" rIns="0" bIns="0" rtlCol="0" anchor="t">
            <a:normAutofit/>
          </a:bodyPr>
          <a:lstStyle/>
          <a:p>
            <a:pPr marL="0" indent="0" algn="l">
              <a:buNone/>
            </a:pPr>
            <a:r>
              <a:rPr lang="en-US" sz="3600" b="1" dirty="0">
                <a:solidFill>
                  <a:srgbClr val="1F2937"/>
                </a:solidFill>
                <a:latin typeface="Aptos Display" pitchFamily="34" charset="0"/>
                <a:ea typeface="Aptos Display" pitchFamily="34" charset="-122"/>
                <a:cs typeface="Aptos Display" pitchFamily="34" charset="-120"/>
              </a:rPr>
              <a:t>Terima kasih</a:t>
            </a:r>
            <a:endParaRPr lang="en-US" sz="3600" dirty="0"/>
          </a:p>
        </p:txBody>
      </p:sp>
      <p:sp>
        <p:nvSpPr>
          <p:cNvPr id="4" name="Text 1"/>
          <p:cNvSpPr/>
          <p:nvPr/>
        </p:nvSpPr>
        <p:spPr>
          <a:xfrm>
            <a:off x="731520" y="2084832"/>
            <a:ext cx="5989320" cy="384048"/>
          </a:xfrm>
          <a:prstGeom prst="rect">
            <a:avLst/>
          </a:prstGeom>
          <a:noFill/>
          <a:ln/>
        </p:spPr>
        <p:txBody>
          <a:bodyPr wrap="square" lIns="0" tIns="0" rIns="0" bIns="0" rtlCol="0" anchor="t">
            <a:normAutofit/>
          </a:bodyPr>
          <a:lstStyle/>
          <a:p>
            <a:pPr marL="0" indent="0" algn="l">
              <a:buNone/>
            </a:pPr>
            <a:r>
              <a:rPr lang="en-US" sz="1600" dirty="0">
                <a:solidFill>
                  <a:srgbClr val="5E6B7A"/>
                </a:solidFill>
                <a:latin typeface="Aptos" pitchFamily="34" charset="0"/>
                <a:ea typeface="Aptos" pitchFamily="34" charset="-122"/>
                <a:cs typeface="Aptos" pitchFamily="34" charset="-120"/>
              </a:rPr>
              <a:t>Diskusi: data, model, grafik evaluasi, dan interpretasi feature importance</a:t>
            </a:r>
            <a:endParaRPr lang="en-US" sz="1600" dirty="0"/>
          </a:p>
        </p:txBody>
      </p:sp>
      <p:sp>
        <p:nvSpPr>
          <p:cNvPr id="5" name="Shape 2"/>
          <p:cNvSpPr/>
          <p:nvPr/>
        </p:nvSpPr>
        <p:spPr>
          <a:xfrm>
            <a:off x="749808" y="4389120"/>
            <a:ext cx="5852160" cy="1097280"/>
          </a:xfrm>
          <a:prstGeom prst="roundRect">
            <a:avLst/>
          </a:prstGeom>
          <a:solidFill>
            <a:srgbClr val="FFFFFF"/>
          </a:solidFill>
          <a:ln w="12700">
            <a:solidFill>
              <a:srgbClr val="D6E4F2"/>
            </a:solidFill>
            <a:prstDash val="solid"/>
          </a:ln>
          <a:effectLst>
            <a:outerShdw blurRad="12700" dist="50800" dir="2700000" algn="bl" rotWithShape="0">
              <a:srgbClr val="B8C8DA">
                <a:alpha val="10000"/>
              </a:srgbClr>
            </a:outerShdw>
          </a:effectLst>
        </p:spPr>
      </p:sp>
      <p:sp>
        <p:nvSpPr>
          <p:cNvPr id="6" name="Text 3"/>
          <p:cNvSpPr/>
          <p:nvPr/>
        </p:nvSpPr>
        <p:spPr>
          <a:xfrm>
            <a:off x="1005840" y="4645152"/>
            <a:ext cx="1463040" cy="237744"/>
          </a:xfrm>
          <a:prstGeom prst="rect">
            <a:avLst/>
          </a:prstGeom>
          <a:noFill/>
          <a:ln/>
        </p:spPr>
        <p:txBody>
          <a:bodyPr wrap="square" lIns="0" tIns="0" rIns="0" bIns="0" rtlCol="0" anchor="t">
            <a:normAutofit/>
          </a:bodyPr>
          <a:lstStyle/>
          <a:p>
            <a:pPr marL="0" indent="0" algn="l">
              <a:buNone/>
            </a:pPr>
            <a:r>
              <a:rPr lang="en-US" sz="1200" b="1" dirty="0">
                <a:solidFill>
                  <a:srgbClr val="2563EB"/>
                </a:solidFill>
                <a:latin typeface="Aptos" pitchFamily="34" charset="0"/>
                <a:ea typeface="Aptos" pitchFamily="34" charset="-122"/>
                <a:cs typeface="Aptos" pitchFamily="34" charset="-120"/>
              </a:rPr>
              <a:t>Pesan utama</a:t>
            </a:r>
            <a:endParaRPr lang="en-US" sz="1200" dirty="0"/>
          </a:p>
        </p:txBody>
      </p:sp>
      <p:sp>
        <p:nvSpPr>
          <p:cNvPr id="7" name="Text 4"/>
          <p:cNvSpPr/>
          <p:nvPr/>
        </p:nvSpPr>
        <p:spPr>
          <a:xfrm>
            <a:off x="1005840" y="4956048"/>
            <a:ext cx="5029200" cy="292608"/>
          </a:xfrm>
          <a:prstGeom prst="rect">
            <a:avLst/>
          </a:prstGeom>
          <a:noFill/>
          <a:ln/>
        </p:spPr>
        <p:txBody>
          <a:bodyPr wrap="square" lIns="0" tIns="0" rIns="0" bIns="0" rtlCol="0" anchor="t">
            <a:normAutofit/>
          </a:bodyPr>
          <a:lstStyle/>
          <a:p>
            <a:pPr marL="0" indent="0" algn="l">
              <a:buNone/>
            </a:pPr>
            <a:r>
              <a:rPr lang="en-US" sz="1280" dirty="0">
                <a:solidFill>
                  <a:srgbClr val="1F2937"/>
                </a:solidFill>
                <a:latin typeface="Aptos" pitchFamily="34" charset="0"/>
                <a:ea typeface="Aptos" pitchFamily="34" charset="-122"/>
                <a:cs typeface="Aptos" pitchFamily="34" charset="-120"/>
              </a:rPr>
              <a:t>Penggunaan AI umum lebih mudah diprediksi daripada AI Agent. CatBoost menjadi model paling konsisten pada dua target.</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3276</Words>
  <Application>Microsoft Office PowerPoint</Application>
  <PresentationFormat>Widescreen</PresentationFormat>
  <Paragraphs>511</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Machine Learning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Prediksi Adopsi AI pada Developer</dc:title>
  <dc:subject>Prediksi Adopsi AI pada Developer</dc:subject>
  <dc:creator>OpenAI</dc:creator>
  <cp:lastModifiedBy>Ilham Firmansyah</cp:lastModifiedBy>
  <cp:revision>2</cp:revision>
  <dcterms:created xsi:type="dcterms:W3CDTF">2026-07-16T17:12:05Z</dcterms:created>
  <dcterms:modified xsi:type="dcterms:W3CDTF">2026-07-16T17:20:12Z</dcterms:modified>
</cp:coreProperties>
</file>