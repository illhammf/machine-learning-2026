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026" r:id="rId2"/>
    <p:sldId id="2061" r:id="rId3"/>
    <p:sldId id="1997" r:id="rId4"/>
    <p:sldId id="289" r:id="rId5"/>
    <p:sldId id="2000" r:id="rId6"/>
    <p:sldId id="2107" r:id="rId7"/>
    <p:sldId id="2067" r:id="rId8"/>
    <p:sldId id="2063" r:id="rId9"/>
    <p:sldId id="2062" r:id="rId10"/>
    <p:sldId id="2080" r:id="rId11"/>
    <p:sldId id="2081" r:id="rId12"/>
    <p:sldId id="2082" r:id="rId13"/>
    <p:sldId id="2064" r:id="rId14"/>
    <p:sldId id="2083" r:id="rId15"/>
    <p:sldId id="2084" r:id="rId16"/>
    <p:sldId id="2085" r:id="rId17"/>
    <p:sldId id="2086" r:id="rId18"/>
    <p:sldId id="2087" r:id="rId19"/>
    <p:sldId id="2088" r:id="rId20"/>
    <p:sldId id="2089" r:id="rId21"/>
    <p:sldId id="2090" r:id="rId22"/>
    <p:sldId id="2091" r:id="rId23"/>
    <p:sldId id="2092" r:id="rId24"/>
    <p:sldId id="2093" r:id="rId25"/>
    <p:sldId id="2094" r:id="rId26"/>
    <p:sldId id="2095" r:id="rId27"/>
    <p:sldId id="2096" r:id="rId28"/>
    <p:sldId id="2097" r:id="rId29"/>
    <p:sldId id="2098" r:id="rId30"/>
    <p:sldId id="2099" r:id="rId31"/>
    <p:sldId id="2100" r:id="rId32"/>
    <p:sldId id="2101" r:id="rId33"/>
    <p:sldId id="2102" r:id="rId34"/>
    <p:sldId id="2103" r:id="rId35"/>
    <p:sldId id="2104" r:id="rId36"/>
    <p:sldId id="2105" r:id="rId37"/>
    <p:sldId id="2106" r:id="rId38"/>
    <p:sldId id="200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60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62" autoAdjust="0"/>
    <p:restoredTop sz="94660"/>
  </p:normalViewPr>
  <p:slideViewPr>
    <p:cSldViewPr snapToGrid="0">
      <p:cViewPr>
        <p:scale>
          <a:sx n="66" d="100"/>
          <a:sy n="66" d="100"/>
        </p:scale>
        <p:origin x="1262" y="4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37DF7-81B4-4702-B112-100122B0D82E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66977-3B44-4FAE-8BF0-F1ECEA3E96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625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4512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05260"/>
            <a:ext cx="4509370" cy="464642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3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itle 15"/>
          <p:cNvSpPr>
            <a:spLocks noGrp="1"/>
          </p:cNvSpPr>
          <p:nvPr>
            <p:ph type="title" hasCustomPrompt="1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rgbClr val="0E60AC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4968465" y="403445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9" name="Rounded Rectangle 18"/>
          <p:cNvSpPr/>
          <p:nvPr userDrawn="1"/>
        </p:nvSpPr>
        <p:spPr>
          <a:xfrm>
            <a:off x="4968465" y="3811581"/>
            <a:ext cx="1659545" cy="45719"/>
          </a:xfrm>
          <a:prstGeom prst="roundRect">
            <a:avLst/>
          </a:prstGeom>
          <a:solidFill>
            <a:srgbClr val="EC7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4968464" y="110526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EC7C3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140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600"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12" name="Title 15"/>
          <p:cNvSpPr>
            <a:spLocks noGrp="1"/>
          </p:cNvSpPr>
          <p:nvPr>
            <p:ph type="title" hasCustomPrompt="1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</p:spPr>
        <p:txBody>
          <a:bodyPr anchor="t"/>
          <a:lstStyle>
            <a:lvl1pPr>
              <a:defRPr sz="5400" b="1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r>
              <a:rPr lang="en-US" dirty="0"/>
              <a:t>Nama Mata </a:t>
            </a:r>
            <a:r>
              <a:rPr lang="en-US" dirty="0" err="1"/>
              <a:t>Kuliah</a:t>
            </a:r>
            <a:endParaRPr lang="en-US" dirty="0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aseline="0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pPr lvl="0"/>
            <a:r>
              <a:rPr lang="en-US" dirty="0" err="1"/>
              <a:t>Topik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RPS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15" hasCustomPrompt="1"/>
          </p:nvPr>
        </p:nvSpPr>
        <p:spPr>
          <a:xfrm>
            <a:off x="588970" y="4198087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Sesi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…</a:t>
            </a:r>
          </a:p>
        </p:txBody>
      </p:sp>
      <p:sp>
        <p:nvSpPr>
          <p:cNvPr id="17" name="Rounded Rectangle 16"/>
          <p:cNvSpPr/>
          <p:nvPr userDrawn="1"/>
        </p:nvSpPr>
        <p:spPr>
          <a:xfrm>
            <a:off x="588970" y="3975211"/>
            <a:ext cx="1659545" cy="4571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16" hasCustomPrompt="1"/>
          </p:nvPr>
        </p:nvSpPr>
        <p:spPr>
          <a:xfrm>
            <a:off x="588969" y="1268891"/>
            <a:ext cx="3642135" cy="425950"/>
          </a:xfrm>
        </p:spPr>
        <p:txBody>
          <a:bodyPr>
            <a:noAutofit/>
          </a:bodyPr>
          <a:lstStyle>
            <a:lvl1pPr marL="0" indent="0">
              <a:buNone/>
              <a:defRPr sz="2800" b="1" baseline="0">
                <a:solidFill>
                  <a:srgbClr val="FFC000"/>
                </a:solidFill>
              </a:defRPr>
            </a:lvl1pPr>
          </a:lstStyle>
          <a:p>
            <a:pPr lvl="0"/>
            <a:r>
              <a:rPr lang="en-US" dirty="0" err="1"/>
              <a:t>Kode</a:t>
            </a:r>
            <a:r>
              <a:rPr lang="en-US" dirty="0"/>
              <a:t> Mata </a:t>
            </a:r>
            <a:r>
              <a:rPr lang="en-US" dirty="0" err="1"/>
              <a:t>Kuliah</a:t>
            </a:r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8" name="Rounded Rectangle 17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580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68958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Tengah</a:t>
            </a: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28" name="Rectangle 27"/>
          <p:cNvSpPr/>
          <p:nvPr userDrawn="1"/>
        </p:nvSpPr>
        <p:spPr>
          <a:xfrm>
            <a:off x="571756" y="1068393"/>
            <a:ext cx="382489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Sebelum</a:t>
            </a:r>
            <a:r>
              <a:rPr lang="en-US" sz="3600" b="1" dirty="0">
                <a:solidFill>
                  <a:schemeClr val="tx2"/>
                </a:solidFill>
              </a:rPr>
              <a:t> UTS</a:t>
            </a:r>
          </a:p>
        </p:txBody>
      </p:sp>
    </p:spTree>
    <p:extLst>
      <p:ext uri="{BB962C8B-B14F-4D97-AF65-F5344CB8AC3E}">
        <p14:creationId xmlns:p14="http://schemas.microsoft.com/office/powerpoint/2010/main" val="86236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k (Sebelum UA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801277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593182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387656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9179561" y="2394950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277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3593182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387656" y="4266643"/>
            <a:ext cx="2243579" cy="93271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Nama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err="1">
                <a:solidFill>
                  <a:srgbClr val="EB7020"/>
                </a:solidFill>
              </a:rPr>
              <a:t>Sesi</a:t>
            </a:r>
            <a:r>
              <a:rPr lang="en-US" sz="1800" b="1" dirty="0">
                <a:solidFill>
                  <a:srgbClr val="EB7020"/>
                </a:solidFill>
              </a:rPr>
              <a:t> 14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6FA8EE-A564-4615-8B7A-7774E117A26A}"/>
              </a:ext>
            </a:extLst>
          </p:cNvPr>
          <p:cNvSpPr/>
          <p:nvPr userDrawn="1"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 userDrawn="1"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</a:rPr>
              <a:t>Ujian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b="1" dirty="0" err="1">
                <a:solidFill>
                  <a:schemeClr val="bg1"/>
                </a:solidFill>
              </a:rPr>
              <a:t>Akhir</a:t>
            </a: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Semester</a:t>
            </a:r>
          </a:p>
        </p:txBody>
      </p:sp>
      <p:sp>
        <p:nvSpPr>
          <p:cNvPr id="30" name="Rectangle 29"/>
          <p:cNvSpPr/>
          <p:nvPr userDrawn="1"/>
        </p:nvSpPr>
        <p:spPr>
          <a:xfrm>
            <a:off x="571756" y="1068393"/>
            <a:ext cx="39118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>
                <a:solidFill>
                  <a:schemeClr val="tx2"/>
                </a:solidFill>
              </a:rPr>
              <a:t>Topik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Sebelum</a:t>
            </a:r>
            <a:r>
              <a:rPr lang="en-US" sz="3600" b="1" dirty="0">
                <a:solidFill>
                  <a:schemeClr val="tx2"/>
                </a:solidFill>
              </a:rPr>
              <a:t> UAS</a:t>
            </a:r>
          </a:p>
        </p:txBody>
      </p:sp>
    </p:spTree>
    <p:extLst>
      <p:ext uri="{BB962C8B-B14F-4D97-AF65-F5344CB8AC3E}">
        <p14:creationId xmlns:p14="http://schemas.microsoft.com/office/powerpoint/2010/main" val="105679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dahulua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838200" y="1071592"/>
            <a:ext cx="5999349" cy="794408"/>
            <a:chOff x="838200" y="544975"/>
            <a:chExt cx="5999349" cy="794408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3273525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Pendahuluan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3077" y="544975"/>
              <a:ext cx="665176" cy="762379"/>
            </a:xfrm>
            <a:prstGeom prst="rect">
              <a:avLst/>
            </a:prstGeom>
          </p:spPr>
        </p:pic>
      </p:grp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10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ujuan Pembelajar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4" y="716437"/>
              <a:ext cx="5910035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53767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Capaian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Pembelajaran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3475" y="649446"/>
              <a:ext cx="791900" cy="632821"/>
            </a:xfrm>
            <a:prstGeom prst="rect">
              <a:avLst/>
            </a:prstGeom>
          </p:spPr>
        </p:pic>
      </p:grp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1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mponen Penilai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838200" y="1125069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506876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Komponen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Penilaian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1012" y="616587"/>
              <a:ext cx="589305" cy="675421"/>
            </a:xfrm>
            <a:prstGeom prst="rect">
              <a:avLst/>
            </a:prstGeom>
          </p:spPr>
        </p:pic>
      </p:grpSp>
      <p:sp>
        <p:nvSpPr>
          <p:cNvPr id="12" name="Table Placeholder 11"/>
          <p:cNvSpPr>
            <a:spLocks noGrp="1"/>
          </p:cNvSpPr>
          <p:nvPr>
            <p:ph type="tbl" sz="quarter" idx="13"/>
          </p:nvPr>
        </p:nvSpPr>
        <p:spPr>
          <a:xfrm>
            <a:off x="3774122" y="2235331"/>
            <a:ext cx="4836478" cy="3228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8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824826"/>
            <a:ext cx="9144000" cy="176884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 err="1"/>
              <a:t>Judul</a:t>
            </a:r>
            <a:r>
              <a:rPr lang="en-US" dirty="0"/>
              <a:t> 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524000" y="2843408"/>
            <a:ext cx="9144000" cy="3376417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268778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824603" y="2217851"/>
            <a:ext cx="5529197" cy="1920647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 err="1"/>
              <a:t>Judul</a:t>
            </a:r>
            <a:br>
              <a:rPr lang="en-US" dirty="0"/>
            </a:br>
            <a:r>
              <a:rPr lang="en-US" dirty="0"/>
              <a:t>Sub </a:t>
            </a:r>
            <a:r>
              <a:rPr lang="en-US" dirty="0" err="1"/>
              <a:t>Topik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</p:spPr>
        <p:txBody>
          <a:bodyPr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2800"/>
            </a:lvl1pPr>
          </a:lstStyle>
          <a:p>
            <a:r>
              <a:rPr lang="en-US" dirty="0"/>
              <a:t>Insert Picture</a:t>
            </a:r>
          </a:p>
        </p:txBody>
      </p:sp>
      <p:grpSp>
        <p:nvGrpSpPr>
          <p:cNvPr id="8" name="Group 7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9" name="Rounded Rectangle 8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116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latin typeface="Tw Cen MT" panose="020B06020201040206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6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2600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72239"/>
            <a:ext cx="5183188" cy="65045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rgbClr val="0E60AC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190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0120"/>
            <a:ext cx="10515600" cy="193167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43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554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1107481"/>
            <a:ext cx="5900448" cy="480070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</p:spPr>
        <p:txBody>
          <a:bodyPr anchor="b"/>
          <a:lstStyle>
            <a:lvl1pPr>
              <a:defRPr sz="3200">
                <a:solidFill>
                  <a:srgbClr val="FFC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802081" y="2264241"/>
            <a:ext cx="3751066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707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 userDrawn="1"/>
        </p:nvSpPr>
        <p:spPr>
          <a:xfrm>
            <a:off x="1350627" y="973603"/>
            <a:ext cx="3777556" cy="2641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14021" y="1025025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817139" y="973603"/>
            <a:ext cx="3571959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7139" y="2351465"/>
            <a:ext cx="4740881" cy="3804238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1350627" y="3762265"/>
            <a:ext cx="3777556" cy="2641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cture Placeholder 2"/>
          <p:cNvSpPr>
            <a:spLocks noGrp="1"/>
          </p:cNvSpPr>
          <p:nvPr>
            <p:ph type="pic" idx="13"/>
          </p:nvPr>
        </p:nvSpPr>
        <p:spPr>
          <a:xfrm>
            <a:off x="1414021" y="3813687"/>
            <a:ext cx="3640619" cy="25181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602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918476" y="867524"/>
            <a:ext cx="3470621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8168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Uraian Mate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38200" y="1759637"/>
            <a:ext cx="10515600" cy="4351338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886120"/>
            <a:ext cx="85131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527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70701" y="1762813"/>
            <a:ext cx="3356431" cy="31434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518071" y="1762813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8265441" y="1762813"/>
            <a:ext cx="3356431" cy="3143468"/>
          </a:xfrm>
        </p:spPr>
        <p:txBody>
          <a:bodyPr/>
          <a:lstStyle>
            <a:lvl1pPr marL="0" marR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70700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4518071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8265441" y="5090408"/>
            <a:ext cx="3356432" cy="1046442"/>
          </a:xfrm>
        </p:spPr>
        <p:txBody>
          <a:bodyPr>
            <a:normAutofit/>
          </a:bodyPr>
          <a:lstStyle>
            <a:lvl1pPr marL="0" indent="0" algn="ctr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770700" y="886120"/>
            <a:ext cx="8580690" cy="7385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12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930198" y="933253"/>
            <a:ext cx="8495847" cy="36643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Insert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930197" y="4751111"/>
            <a:ext cx="8495850" cy="1451728"/>
          </a:xfrm>
        </p:spPr>
        <p:txBody>
          <a:bodyPr>
            <a:normAutofit/>
          </a:bodyPr>
          <a:lstStyle>
            <a:lvl1pPr marL="0" indent="0" algn="just">
              <a:buNone/>
              <a:defRPr sz="2000" b="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Insert Text</a:t>
            </a:r>
          </a:p>
        </p:txBody>
      </p:sp>
    </p:spTree>
    <p:extLst>
      <p:ext uri="{BB962C8B-B14F-4D97-AF65-F5344CB8AC3E}">
        <p14:creationId xmlns:p14="http://schemas.microsoft.com/office/powerpoint/2010/main" val="185297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ert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2224726" y="404617"/>
            <a:ext cx="7117238" cy="701457"/>
          </a:xfrm>
        </p:spPr>
        <p:txBody>
          <a:bodyPr anchor="t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Media Placeholder 3"/>
          <p:cNvSpPr>
            <a:spLocks noGrp="1"/>
          </p:cNvSpPr>
          <p:nvPr>
            <p:ph type="media" sz="quarter" idx="13" hasCustomPrompt="1"/>
          </p:nvPr>
        </p:nvSpPr>
        <p:spPr>
          <a:xfrm>
            <a:off x="1576887" y="1319017"/>
            <a:ext cx="9184670" cy="5166377"/>
          </a:xfr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023700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698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tih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838200" y="1108530"/>
            <a:ext cx="5999349" cy="769441"/>
            <a:chOff x="838200" y="1108530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1255025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1123041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1108530"/>
              <a:ext cx="1923988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Latihan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419" y="1120499"/>
              <a:ext cx="650450" cy="745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4427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ftar Pusta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38200" y="1096559"/>
            <a:ext cx="5999349" cy="769441"/>
            <a:chOff x="838200" y="569942"/>
            <a:chExt cx="5999349" cy="769441"/>
          </a:xfrm>
        </p:grpSpPr>
        <p:sp>
          <p:nvSpPr>
            <p:cNvPr id="5" name="Rounded Rectangle 4"/>
            <p:cNvSpPr/>
            <p:nvPr userDrawn="1"/>
          </p:nvSpPr>
          <p:spPr>
            <a:xfrm>
              <a:off x="1282045" y="716437"/>
              <a:ext cx="5555504" cy="518474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 userDrawn="1"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1654410" y="569942"/>
              <a:ext cx="3640740" cy="76944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4400" b="1" dirty="0" err="1">
                  <a:solidFill>
                    <a:schemeClr val="accent3"/>
                  </a:solidFill>
                </a:rPr>
                <a:t>Daftar</a:t>
              </a:r>
              <a:r>
                <a:rPr lang="en-US" sz="4400" b="1" dirty="0">
                  <a:solidFill>
                    <a:schemeClr val="accent3"/>
                  </a:solidFill>
                </a:rPr>
                <a:t> </a:t>
              </a:r>
              <a:r>
                <a:rPr lang="en-US" sz="4400" b="1" dirty="0" err="1">
                  <a:solidFill>
                    <a:schemeClr val="accent3"/>
                  </a:solidFill>
                </a:rPr>
                <a:t>Pustaka</a:t>
              </a:r>
              <a:endParaRPr lang="en-US" sz="4400" b="1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017" y="661014"/>
              <a:ext cx="606720" cy="629320"/>
            </a:xfrm>
            <a:prstGeom prst="rect">
              <a:avLst/>
            </a:prstGeom>
          </p:spPr>
        </p:pic>
      </p:grp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2139885"/>
            <a:ext cx="10515600" cy="3971090"/>
          </a:xfrm>
        </p:spPr>
        <p:txBody>
          <a:bodyPr/>
          <a:lstStyle>
            <a:lvl1pPr>
              <a:defRPr>
                <a:solidFill>
                  <a:schemeClr val="accent5">
                    <a:lumMod val="10000"/>
                  </a:schemeClr>
                </a:solidFill>
              </a:defRPr>
            </a:lvl1pPr>
            <a:lvl2pPr>
              <a:defRPr>
                <a:solidFill>
                  <a:schemeClr val="accent5">
                    <a:lumMod val="10000"/>
                  </a:schemeClr>
                </a:solidFill>
              </a:defRPr>
            </a:lvl2pPr>
            <a:lvl3pPr>
              <a:defRPr>
                <a:solidFill>
                  <a:schemeClr val="accent5">
                    <a:lumMod val="10000"/>
                  </a:schemeClr>
                </a:solidFill>
              </a:defRPr>
            </a:lvl3pPr>
            <a:lvl4pPr>
              <a:defRPr>
                <a:solidFill>
                  <a:schemeClr val="accent5">
                    <a:lumMod val="10000"/>
                  </a:schemeClr>
                </a:solidFill>
              </a:defRPr>
            </a:lvl4pPr>
            <a:lvl5pPr>
              <a:defRPr>
                <a:solidFill>
                  <a:schemeClr val="accent5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81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nu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siness people  clapping their hands at the meeting Premium Photo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8530"/>
          <a:stretch/>
        </p:blipFill>
        <p:spPr bwMode="auto">
          <a:xfrm>
            <a:off x="2790216" y="-5350"/>
            <a:ext cx="9401784" cy="686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 userDrawn="1"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2333732" y="2541902"/>
            <a:ext cx="3048000" cy="1768845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Terima</a:t>
            </a:r>
            <a:br>
              <a:rPr lang="en-US" dirty="0"/>
            </a:br>
            <a:r>
              <a:rPr lang="en-US" dirty="0" err="1"/>
              <a:t>Kasih</a:t>
            </a:r>
            <a:r>
              <a:rPr lang="en-US" dirty="0"/>
              <a:t>.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Picture 14"/>
            <p:cNvPicPr>
              <a:picLocks noChangeAspect="1"/>
            </p:cNvPicPr>
            <p:nvPr userDrawn="1"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3203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1_Cover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" name="Google Shape;16;p20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17" name="Google Shape;17;p20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8" name="Google Shape;18;p20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9" name="Google Shape;19;p20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20;p20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20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" name="Google Shape;24;p20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934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70264"/>
            <a:ext cx="12110720" cy="14007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922585"/>
            <a:ext cx="8547263" cy="702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0" name="Rounded Rectangle 9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/>
            <p:cNvPicPr>
              <a:picLocks noChangeAspect="1"/>
            </p:cNvPicPr>
            <p:nvPr userDrawn="1"/>
          </p:nvPicPr>
          <p:blipFill rotWithShape="1"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97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E60AC"/>
          </a:solidFill>
          <a:latin typeface="Tw Cen MT" panose="020B0602020104020603" pitchFamily="34" charset="0"/>
          <a:ea typeface="+mj-ea"/>
          <a:cs typeface="+mj-cs"/>
        </a:defRPr>
      </a:lvl1pPr>
    </p:titleStyle>
    <p:bodyStyle>
      <a:lvl1pPr marL="514350" indent="-514350" algn="just" defTabSz="914400" rtl="0" eaLnBrk="1" latinLnBrk="0" hangingPunct="1">
        <a:lnSpc>
          <a:spcPct val="90000"/>
        </a:lnSpc>
        <a:spcBef>
          <a:spcPts val="1000"/>
        </a:spcBef>
        <a:buFont typeface="+mj-lt"/>
        <a:buAutoNum type="arabi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1pPr>
      <a:lvl2pPr marL="914400" indent="-457200" algn="just" defTabSz="914400" rtl="0" eaLnBrk="1" latinLnBrk="0" hangingPunct="1">
        <a:lnSpc>
          <a:spcPct val="90000"/>
        </a:lnSpc>
        <a:spcBef>
          <a:spcPts val="500"/>
        </a:spcBef>
        <a:buFont typeface="+mj-lt"/>
        <a:buAutoNum type="alphaLcPeriod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accent5">
              <a:lumMod val="10000"/>
            </a:schemeClr>
          </a:solidFill>
          <a:latin typeface="Tw Cen MT" panose="020B06020201040206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86966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Machine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</a:t>
            </a:r>
            <a:endParaRPr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218" name="Google Shape;218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 err="1">
                <a:latin typeface="+mj-lt"/>
              </a:rPr>
              <a:t>Pengenalan</a:t>
            </a:r>
            <a:r>
              <a:rPr lang="en-US" dirty="0">
                <a:latin typeface="+mj-lt"/>
              </a:rPr>
              <a:t> Machine Learning</a:t>
            </a:r>
            <a:endParaRPr i="1" dirty="0">
              <a:latin typeface="+mj-lt"/>
            </a:endParaRPr>
          </a:p>
        </p:txBody>
      </p:sp>
      <p:sp>
        <p:nvSpPr>
          <p:cNvPr id="219" name="Google Shape;219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 err="1"/>
              <a:t>Sesi</a:t>
            </a:r>
            <a:r>
              <a:rPr lang="en-US" dirty="0"/>
              <a:t> 1</a:t>
            </a:r>
            <a:endParaRPr dirty="0"/>
          </a:p>
        </p:txBody>
      </p:sp>
      <p:sp>
        <p:nvSpPr>
          <p:cNvPr id="220" name="Google Shape;220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 dirty="0"/>
              <a:t>CIE407</a:t>
            </a:r>
            <a:endParaRPr dirty="0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61" r="249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9944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/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02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 err="1"/>
              <a:t>Pengenalan</a:t>
            </a:r>
            <a:r>
              <a:rPr lang="en-US" b="1" dirty="0"/>
              <a:t> 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Supervised Learning vs Unsupervised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Supervised Learning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Unsupervised Learning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Learning: Classification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Regresi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Supervised Learning: Decision Tree (DT)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Supervised Machine Learning Algorithm: Support Vector Machine (SVM)</a:t>
            </a:r>
          </a:p>
        </p:txBody>
      </p:sp>
    </p:spTree>
    <p:extLst>
      <p:ext uri="{BB962C8B-B14F-4D97-AF65-F5344CB8AC3E}">
        <p14:creationId xmlns:p14="http://schemas.microsoft.com/office/powerpoint/2010/main" val="96522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Learning: Neural Network (Deep Learning)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US" dirty="0"/>
              <a:t>Supervised Learning: K-Nearest Neighbor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Unsupervised Learning: Clustering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Unsupervised Learning: Principal Component Analysis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Fitur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Rekayasa</a:t>
            </a:r>
            <a:r>
              <a:rPr lang="en-US" dirty="0"/>
              <a:t> Data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Evaluasi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Perbaikan</a:t>
            </a:r>
            <a:r>
              <a:rPr lang="en-US" dirty="0"/>
              <a:t> Model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Tantangan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558819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3"/>
          </p:nvPr>
        </p:nvSpPr>
        <p:spPr>
          <a:xfrm>
            <a:off x="838200" y="2139885"/>
            <a:ext cx="10515600" cy="3960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Setelah</a:t>
            </a:r>
            <a:r>
              <a:rPr lang="en-US" b="1" dirty="0"/>
              <a:t> </a:t>
            </a:r>
            <a:r>
              <a:rPr lang="en-US" b="1" dirty="0" err="1"/>
              <a:t>mempelajari</a:t>
            </a:r>
            <a:r>
              <a:rPr lang="en-US" b="1" dirty="0"/>
              <a:t> </a:t>
            </a:r>
            <a:r>
              <a:rPr lang="en-US" b="1" dirty="0" err="1"/>
              <a:t>materi</a:t>
            </a:r>
            <a:r>
              <a:rPr lang="en-US" b="1" dirty="0"/>
              <a:t> </a:t>
            </a:r>
            <a:r>
              <a:rPr lang="en-US" b="1" dirty="0" err="1"/>
              <a:t>pada</a:t>
            </a:r>
            <a:r>
              <a:rPr lang="en-US" b="1" dirty="0"/>
              <a:t> </a:t>
            </a:r>
            <a:r>
              <a:rPr lang="en-US" b="1" dirty="0" err="1"/>
              <a:t>sesi</a:t>
            </a:r>
            <a:r>
              <a:rPr lang="en-US" b="1" dirty="0"/>
              <a:t> </a:t>
            </a:r>
            <a:r>
              <a:rPr lang="en-US" b="1" dirty="0" err="1"/>
              <a:t>ini</a:t>
            </a:r>
            <a:r>
              <a:rPr lang="en-US" b="1" dirty="0"/>
              <a:t>, </a:t>
            </a:r>
            <a:r>
              <a:rPr lang="en-US" b="1" dirty="0" err="1"/>
              <a:t>diharapkan</a:t>
            </a:r>
            <a:r>
              <a:rPr lang="en-US" b="1" dirty="0"/>
              <a:t> </a:t>
            </a:r>
            <a:r>
              <a:rPr lang="en-US" b="1" dirty="0" err="1"/>
              <a:t>mahasiswa</a:t>
            </a:r>
            <a:r>
              <a:rPr lang="en-US" b="1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Supervised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Unsupervised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67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702EE6-BBBF-3472-6F03-F91799197CC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Nilai</a:t>
            </a:r>
            <a:br>
              <a:rPr lang="en-US" dirty="0"/>
            </a:br>
            <a:endParaRPr lang="en-US" dirty="0"/>
          </a:p>
          <a:p>
            <a:pPr marL="0" indent="0" algn="l">
              <a:buNone/>
            </a:pPr>
            <a:r>
              <a:rPr lang="en-US" dirty="0" err="1"/>
              <a:t>Keaktifan</a:t>
            </a:r>
            <a:r>
              <a:rPr lang="en-US" dirty="0"/>
              <a:t>	10 %</a:t>
            </a:r>
          </a:p>
          <a:p>
            <a:pPr marL="0" indent="0" algn="l">
              <a:buNone/>
            </a:pP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Projek</a:t>
            </a:r>
            <a:r>
              <a:rPr lang="en-US" dirty="0"/>
              <a:t>	50 %</a:t>
            </a:r>
          </a:p>
          <a:p>
            <a:pPr marL="0" indent="0" algn="l">
              <a:buNone/>
            </a:pPr>
            <a:r>
              <a:rPr lang="en-US" dirty="0"/>
              <a:t>UTS		10 %</a:t>
            </a:r>
          </a:p>
          <a:p>
            <a:pPr marL="0" indent="0" algn="l">
              <a:buNone/>
            </a:pPr>
            <a:r>
              <a:rPr lang="en-US" dirty="0"/>
              <a:t>UAS		10 %</a:t>
            </a:r>
          </a:p>
          <a:p>
            <a:pPr marL="0" indent="0" algn="l">
              <a:buNone/>
            </a:pPr>
            <a:r>
              <a:rPr lang="en-US" dirty="0" err="1"/>
              <a:t>Tugas</a:t>
            </a:r>
            <a:r>
              <a:rPr lang="en-US" dirty="0"/>
              <a:t> 		20 %</a:t>
            </a:r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/>
              <a:t>082281238309</a:t>
            </a:r>
          </a:p>
        </p:txBody>
      </p:sp>
    </p:spTree>
    <p:extLst>
      <p:ext uri="{BB962C8B-B14F-4D97-AF65-F5344CB8AC3E}">
        <p14:creationId xmlns:p14="http://schemas.microsoft.com/office/powerpoint/2010/main" val="2216568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4603" y="2673411"/>
            <a:ext cx="5529197" cy="1920647"/>
          </a:xfrm>
        </p:spPr>
        <p:txBody>
          <a:bodyPr>
            <a:noAutofit/>
          </a:bodyPr>
          <a:lstStyle/>
          <a:p>
            <a:r>
              <a:rPr lang="en-US" sz="5400" dirty="0" err="1"/>
              <a:t>Pengenalan</a:t>
            </a:r>
            <a:r>
              <a:rPr lang="en-US" sz="5400" dirty="0"/>
              <a:t> Machine Learning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r="19739"/>
          <a:stretch>
            <a:fillRect/>
          </a:stretch>
        </p:blipFill>
        <p:spPr>
          <a:xfrm>
            <a:off x="0" y="1001713"/>
            <a:ext cx="5316538" cy="5856287"/>
          </a:xfrm>
        </p:spPr>
      </p:pic>
    </p:spTree>
    <p:extLst>
      <p:ext uri="{BB962C8B-B14F-4D97-AF65-F5344CB8AC3E}">
        <p14:creationId xmlns:p14="http://schemas.microsoft.com/office/powerpoint/2010/main" val="3586150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87" r="14087"/>
          <a:stretch>
            <a:fillRect/>
          </a:stretch>
        </p:blipFill>
        <p:spPr>
          <a:xfrm>
            <a:off x="6186488" y="1108075"/>
            <a:ext cx="5172075" cy="4800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7780" y="1567405"/>
            <a:ext cx="5127233" cy="796874"/>
          </a:xfrm>
        </p:spPr>
        <p:txBody>
          <a:bodyPr/>
          <a:lstStyle/>
          <a:p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Machine Learning?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781" y="2523986"/>
            <a:ext cx="5127232" cy="24009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+mj-lt"/>
                <a:ea typeface="Times New Roman" panose="02020603050405020304" pitchFamily="18" charset="0"/>
              </a:rPr>
              <a:t>Machine Learning (ML)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atau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disebut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juga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sebagai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ML</a:t>
            </a:r>
            <a:r>
              <a:rPr lang="id-ID" dirty="0">
                <a:latin typeface="+mj-lt"/>
                <a:ea typeface="Times New Roman" panose="02020603050405020304" pitchFamily="18" charset="0"/>
              </a:rPr>
              <a:t> adalah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ilmu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yang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secara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ea typeface="Times New Roman" panose="02020603050405020304" pitchFamily="18" charset="0"/>
              </a:rPr>
              <a:t>prinsip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+mj-lt"/>
                <a:ea typeface="Times New Roman" panose="02020603050405020304" pitchFamily="18" charset="0"/>
              </a:rPr>
              <a:t>mengekstraksi pengetahuan dari data. </a:t>
            </a:r>
            <a:endParaRPr lang="en-US" dirty="0"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j-lt"/>
              <a:ea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+mj-lt"/>
                <a:ea typeface="Times New Roman" panose="02020603050405020304" pitchFamily="18" charset="0"/>
              </a:rPr>
              <a:t>ML </a:t>
            </a:r>
            <a:r>
              <a:rPr lang="id-ID" dirty="0">
                <a:latin typeface="+mj-lt"/>
                <a:ea typeface="Times New Roman" panose="02020603050405020304" pitchFamily="18" charset="0"/>
              </a:rPr>
              <a:t>adalah bidang penelitian yang berada di</a:t>
            </a:r>
            <a:r>
              <a:rPr lang="en-US" dirty="0">
                <a:latin typeface="+mj-lt"/>
                <a:ea typeface="Times New Roman" panose="02020603050405020304" pitchFamily="18" charset="0"/>
              </a:rPr>
              <a:t> </a:t>
            </a:r>
            <a:r>
              <a:rPr lang="id-ID" dirty="0">
                <a:latin typeface="+mj-lt"/>
                <a:ea typeface="Times New Roman" panose="02020603050405020304" pitchFamily="18" charset="0"/>
              </a:rPr>
              <a:t>persimpangan antara statistik, kecerdasan buatan, dan ilmu komputer dan juga dikenal sebagai analisis prediktif atau pembelajaran statistik. </a:t>
            </a:r>
            <a:endParaRPr lang="en-ID" dirty="0"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25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918477" y="2773180"/>
            <a:ext cx="5399097" cy="8244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5918476" y="4802662"/>
            <a:ext cx="5399097" cy="8244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918477" y="3787921"/>
            <a:ext cx="5399097" cy="8244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1" r="17611"/>
          <a:stretch>
            <a:fillRect/>
          </a:stretch>
        </p:blipFill>
        <p:spPr>
          <a:xfrm>
            <a:off x="569913" y="1114425"/>
            <a:ext cx="4887912" cy="5022850"/>
          </a:xfr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918477" y="1439056"/>
            <a:ext cx="5280565" cy="46677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Machine Learning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merupakan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penggunaan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pengembangan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sistem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b="1" dirty="0" err="1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komputer</a:t>
            </a:r>
            <a:r>
              <a:rPr lang="en-US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yang: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b="1" dirty="0">
              <a:solidFill>
                <a:schemeClr val="tx2"/>
              </a:solidFill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dapat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belajar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beradaptasi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tanpa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melalui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instruksi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eksplisit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menggunakan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algoritma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model statistic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menganalisis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2200" dirty="0"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membuat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inferensi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pola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berasal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data.</a:t>
            </a:r>
            <a:r>
              <a:rPr lang="en-US" sz="2200" dirty="0">
                <a:solidFill>
                  <a:srgbClr val="202124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065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781" y="2248526"/>
            <a:ext cx="5127232" cy="27064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Machine Learning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merupakan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ekstraksi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pengetahuan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dari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data,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memadukan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beberapa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bidang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ilmu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seperti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statistik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kecerdasan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buatan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ilmu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komputer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juga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dikenal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sebagai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analisis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prediktif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atau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pembelajaran</a:t>
            </a:r>
            <a:r>
              <a:rPr lang="en-US" sz="2400" b="1" dirty="0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solidFill>
                  <a:srgbClr val="FFC000"/>
                </a:solidFill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statistik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03975-802D-ADF5-5849-114A0E1C4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86" y="980440"/>
            <a:ext cx="5403156" cy="489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95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80" b="29880"/>
          <a:stretch>
            <a:fillRect/>
          </a:stretch>
        </p:blipFill>
        <p:spPr>
          <a:xfrm>
            <a:off x="752475" y="3346450"/>
            <a:ext cx="10491788" cy="2814638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751682" y="1603177"/>
            <a:ext cx="10493114" cy="145172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a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danya machine learning </a:t>
            </a:r>
            <a:r>
              <a:rPr lang="id-ID" sz="2200" b="1" dirty="0">
                <a:solidFill>
                  <a:schemeClr val="tx2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memungkinkan mesin atau komputer untuk bisa “belajar” secara mandiri tanpa harus melalui pemrograman yang eksplisit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Terlebih, “tingkat kepintaran” mesin bisa terus ditambah sesuai dengan kebutuhan. Prosesnya bahkan lebih sederhana dan efisien jika dibandingkan dengan membuat suatu program baru.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endParaRPr lang="en-US" sz="2200" dirty="0">
              <a:latin typeface="+mj-lt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>
          <a:xfrm>
            <a:off x="751682" y="939831"/>
            <a:ext cx="10493113" cy="6183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Mengapa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Machine Learning?</a:t>
            </a:r>
          </a:p>
        </p:txBody>
      </p:sp>
    </p:spTree>
    <p:extLst>
      <p:ext uri="{BB962C8B-B14F-4D97-AF65-F5344CB8AC3E}">
        <p14:creationId xmlns:p14="http://schemas.microsoft.com/office/powerpoint/2010/main" val="3434325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781662" y="1269615"/>
            <a:ext cx="10493113" cy="61837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Pentingnya</a:t>
            </a:r>
            <a:r>
              <a:rPr lang="en-US" dirty="0"/>
              <a:t>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662" y="2173573"/>
            <a:ext cx="3372787" cy="14690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Membantu</a:t>
            </a:r>
            <a:r>
              <a:rPr lang="en-US" sz="2400" b="1" dirty="0">
                <a:solidFill>
                  <a:schemeClr val="tx1"/>
                </a:solidFill>
              </a:rPr>
              <a:t> Proses </a:t>
            </a:r>
            <a:r>
              <a:rPr lang="en-US" sz="2400" b="1" dirty="0" err="1">
                <a:solidFill>
                  <a:schemeClr val="tx1"/>
                </a:solidFill>
              </a:rPr>
              <a:t>Penyelesaian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Masalah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Bisnis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411780" y="2173572"/>
            <a:ext cx="3372787" cy="14690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Membantu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Memahami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Perilaku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Konsumen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041898" y="2173571"/>
            <a:ext cx="3372787" cy="14690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Mewujudkan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Automasi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Bisnis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725386" y="3928189"/>
            <a:ext cx="3372787" cy="14690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Mempermudah</a:t>
            </a:r>
            <a:r>
              <a:rPr lang="en-US" sz="2400" b="1" dirty="0">
                <a:solidFill>
                  <a:schemeClr val="tx1"/>
                </a:solidFill>
              </a:rPr>
              <a:t> Proses </a:t>
            </a:r>
            <a:r>
              <a:rPr lang="en-US" sz="2400" b="1" dirty="0" err="1">
                <a:solidFill>
                  <a:schemeClr val="tx1"/>
                </a:solidFill>
              </a:rPr>
              <a:t>Intelegensi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Bisnis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355504" y="3928188"/>
            <a:ext cx="3372787" cy="146903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Meningkatkan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Efektivitas</a:t>
            </a:r>
            <a:r>
              <a:rPr lang="en-US" sz="2400" b="1" dirty="0">
                <a:solidFill>
                  <a:schemeClr val="tx1"/>
                </a:solidFill>
              </a:rPr>
              <a:t> Proses HR</a:t>
            </a:r>
          </a:p>
        </p:txBody>
      </p:sp>
    </p:spTree>
    <p:extLst>
      <p:ext uri="{BB962C8B-B14F-4D97-AF65-F5344CB8AC3E}">
        <p14:creationId xmlns:p14="http://schemas.microsoft.com/office/powerpoint/2010/main" val="157679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569913" y="1114425"/>
            <a:ext cx="4887912" cy="5022850"/>
          </a:xfr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918477" y="2138540"/>
            <a:ext cx="5280565" cy="3617683"/>
          </a:xfrm>
        </p:spPr>
        <p:txBody>
          <a:bodyPr>
            <a:normAutofit/>
          </a:bodyPr>
          <a:lstStyle/>
          <a:p>
            <a:pPr marL="285750" marR="15113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B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anyak situs web dan perangkat modern yang menggunakan algoritm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a 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ML sebagai intinya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misal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: 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Facebook, Amazon, atau Netflix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.</a:t>
            </a:r>
          </a:p>
          <a:p>
            <a:pPr marL="285750" marR="15113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500" dirty="0">
              <a:solidFill>
                <a:schemeClr val="tx1"/>
              </a:solidFill>
              <a:latin typeface="+mj-lt"/>
              <a:ea typeface="Times New Roman" panose="02020603050405020304" pitchFamily="18" charset="0"/>
            </a:endParaRPr>
          </a:p>
          <a:p>
            <a:pPr marL="285750" marR="15113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id-ID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ML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juga</a:t>
            </a:r>
            <a:r>
              <a:rPr lang="id-ID" sz="2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</a:rPr>
              <a:t> memberikan pengaruh yang luar biasa pada cara penelitian berbasis data dilakukan saat ini. </a:t>
            </a:r>
            <a:endParaRPr lang="en-ID" sz="2200" dirty="0">
              <a:solidFill>
                <a:schemeClr val="tx1"/>
              </a:solidFill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18476" y="1520164"/>
            <a:ext cx="5280566" cy="618376"/>
          </a:xfrm>
        </p:spPr>
        <p:txBody>
          <a:bodyPr/>
          <a:lstStyle/>
          <a:p>
            <a:r>
              <a:rPr lang="en-US" dirty="0" err="1"/>
              <a:t>Aplikasi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769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etflix recommendation system [50] | Download Scientific Diagram">
            <a:extLst>
              <a:ext uri="{FF2B5EF4-FFF2-40B4-BE49-F238E27FC236}">
                <a16:creationId xmlns:a16="http://schemas.microsoft.com/office/drawing/2014/main" id="{B20A9F29-3631-041A-C169-A78AEAB628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90" b="13361"/>
          <a:stretch/>
        </p:blipFill>
        <p:spPr bwMode="auto">
          <a:xfrm>
            <a:off x="1017665" y="1325642"/>
            <a:ext cx="10150008" cy="4295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8705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62" r="17562"/>
          <a:stretch>
            <a:fillRect/>
          </a:stretch>
        </p:blipFill>
        <p:spPr>
          <a:xfrm>
            <a:off x="569913" y="1114425"/>
            <a:ext cx="4887912" cy="5022850"/>
          </a:xfrm>
        </p:spPr>
      </p:pic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918477" y="1803149"/>
            <a:ext cx="5280565" cy="76955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</a:t>
            </a:r>
            <a:r>
              <a:rPr lang="id-ID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erbagai masalah ilmiah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telah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mampu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diselesaikan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dengan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ML, </a:t>
            </a:r>
            <a:r>
              <a:rPr lang="id-ID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seperti</a:t>
            </a:r>
            <a:r>
              <a:rPr lang="en-US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:</a:t>
            </a:r>
            <a:r>
              <a:rPr lang="id-ID" sz="24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endParaRPr lang="en-US" sz="2400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18476" y="1184772"/>
            <a:ext cx="5280566" cy="618376"/>
          </a:xfrm>
        </p:spPr>
        <p:txBody>
          <a:bodyPr/>
          <a:lstStyle/>
          <a:p>
            <a:r>
              <a:rPr lang="en-US" dirty="0" err="1"/>
              <a:t>Riset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71016" y="2737592"/>
            <a:ext cx="2670907" cy="449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chemeClr val="tx1"/>
                </a:solidFill>
              </a:rPr>
              <a:t>Memahami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binatang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071015" y="3352188"/>
            <a:ext cx="3721495" cy="449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chemeClr val="tx1"/>
                </a:solidFill>
              </a:rPr>
              <a:t>Menemukan</a:t>
            </a:r>
            <a:r>
              <a:rPr lang="en-US" sz="2200" b="1" dirty="0">
                <a:solidFill>
                  <a:schemeClr val="tx1"/>
                </a:solidFill>
              </a:rPr>
              <a:t> planet yang </a:t>
            </a:r>
            <a:r>
              <a:rPr lang="en-US" sz="2200" b="1" dirty="0" err="1">
                <a:solidFill>
                  <a:schemeClr val="tx1"/>
                </a:solidFill>
              </a:rPr>
              <a:t>jauh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71016" y="3966784"/>
            <a:ext cx="3232472" cy="449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chemeClr val="tx1"/>
                </a:solidFill>
              </a:rPr>
              <a:t>Menemukan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partikel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baru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71015" y="4581380"/>
            <a:ext cx="3477021" cy="4497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chemeClr val="tx1"/>
                </a:solidFill>
              </a:rPr>
              <a:t>Menganalisis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sekuens</a:t>
            </a:r>
            <a:r>
              <a:rPr lang="en-US" sz="2200" b="1" dirty="0">
                <a:solidFill>
                  <a:schemeClr val="tx1"/>
                </a:solidFill>
              </a:rPr>
              <a:t> DNA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015" y="5195976"/>
            <a:ext cx="5220762" cy="69931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b="1" dirty="0" err="1">
                <a:solidFill>
                  <a:schemeClr val="tx1"/>
                </a:solidFill>
              </a:rPr>
              <a:t>Menyediakan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perawatan</a:t>
            </a:r>
            <a:r>
              <a:rPr lang="en-US" sz="2200" b="1" dirty="0">
                <a:solidFill>
                  <a:schemeClr val="tx1"/>
                </a:solidFill>
              </a:rPr>
              <a:t> </a:t>
            </a:r>
            <a:r>
              <a:rPr lang="en-US" sz="2200" b="1" dirty="0" err="1">
                <a:solidFill>
                  <a:schemeClr val="tx1"/>
                </a:solidFill>
              </a:rPr>
              <a:t>kanker</a:t>
            </a:r>
            <a:r>
              <a:rPr lang="en-US" sz="2200" b="1" dirty="0">
                <a:solidFill>
                  <a:schemeClr val="tx1"/>
                </a:solidFill>
              </a:rPr>
              <a:t> yang </a:t>
            </a:r>
            <a:r>
              <a:rPr lang="en-US" sz="2200" b="1" dirty="0" err="1">
                <a:solidFill>
                  <a:schemeClr val="tx1"/>
                </a:solidFill>
              </a:rPr>
              <a:t>dipersonalisasi</a:t>
            </a:r>
            <a:endParaRPr lang="en-US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04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NA Sequencing Classifier using Machine Learning - YouTube">
            <a:extLst>
              <a:ext uri="{FF2B5EF4-FFF2-40B4-BE49-F238E27FC236}">
                <a16:creationId xmlns:a16="http://schemas.microsoft.com/office/drawing/2014/main" id="{6205251D-E367-8C74-E8E7-E97D4D4DE1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4631" r="2976" b="4747"/>
          <a:stretch/>
        </p:blipFill>
        <p:spPr bwMode="auto">
          <a:xfrm>
            <a:off x="1235242" y="1042738"/>
            <a:ext cx="9689431" cy="5231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8349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recision medicine in the era of artificial intelligence: implications in  chronic disease management | Journal of Translational Medicine | Full Text">
            <a:extLst>
              <a:ext uri="{FF2B5EF4-FFF2-40B4-BE49-F238E27FC236}">
                <a16:creationId xmlns:a16="http://schemas.microsoft.com/office/drawing/2014/main" id="{8E0B0BD8-F386-0F2C-FEF2-1B29E6D7C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495" y="969297"/>
            <a:ext cx="10311063" cy="5314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567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781662" y="1061068"/>
            <a:ext cx="10493113" cy="12810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Manual: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299410" y="2614864"/>
            <a:ext cx="4459706" cy="2630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1379620" y="2726126"/>
            <a:ext cx="4379496" cy="2519643"/>
          </a:xfrm>
        </p:spPr>
        <p:txBody>
          <a:bodyPr>
            <a:noAutofit/>
          </a:bodyPr>
          <a:lstStyle/>
          <a:p>
            <a:pPr marR="150495" lvl="0">
              <a:lnSpc>
                <a:spcPct val="100000"/>
              </a:lnSpc>
            </a:pPr>
            <a:r>
              <a:rPr lang="id-ID" sz="2400" dirty="0">
                <a:latin typeface="+mj-lt"/>
                <a:ea typeface="Times New Roman" panose="02020603050405020304" pitchFamily="18" charset="0"/>
              </a:rPr>
              <a:t>Logika yang diperlukan untuk membuat keputusan adalah </a:t>
            </a:r>
            <a:r>
              <a:rPr lang="id-ID" sz="2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</a:rPr>
              <a:t>khusus</a:t>
            </a:r>
            <a:r>
              <a:rPr lang="id-ID" sz="2400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</a:rPr>
              <a:t> </a:t>
            </a:r>
            <a:r>
              <a:rPr lang="id-ID" sz="2400" dirty="0">
                <a:latin typeface="+mj-lt"/>
                <a:ea typeface="Times New Roman" panose="02020603050405020304" pitchFamily="18" charset="0"/>
              </a:rPr>
              <a:t>untuk satu domain dan tugas. Mengubah tugas sedikit saja mungkin memerlukan </a:t>
            </a:r>
            <a:r>
              <a:rPr lang="id-ID" sz="2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</a:rPr>
              <a:t>penulisan ulang </a:t>
            </a:r>
            <a:r>
              <a:rPr lang="id-ID" sz="2400" dirty="0">
                <a:latin typeface="+mj-lt"/>
                <a:ea typeface="Times New Roman" panose="02020603050405020304" pitchFamily="18" charset="0"/>
              </a:rPr>
              <a:t>seluruh sistem.</a:t>
            </a:r>
            <a:endParaRPr lang="en-ID" sz="2400" dirty="0">
              <a:latin typeface="+mj-lt"/>
              <a:ea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68189" y="2614864"/>
            <a:ext cx="4596062" cy="2630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/>
          <p:cNvSpPr txBox="1">
            <a:spLocks/>
          </p:cNvSpPr>
          <p:nvPr/>
        </p:nvSpPr>
        <p:spPr>
          <a:xfrm>
            <a:off x="6248398" y="2726126"/>
            <a:ext cx="4515853" cy="25196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2000" b="0" kern="1200" baseline="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1pPr>
            <a:lvl2pPr marL="914400" indent="-4572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lphaLcPeriod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150495" lvl="0">
              <a:lnSpc>
                <a:spcPct val="100000"/>
              </a:lnSpc>
            </a:pPr>
            <a:r>
              <a:rPr lang="id-ID" sz="2400" dirty="0">
                <a:latin typeface="+mj-lt"/>
                <a:ea typeface="Times New Roman" panose="02020603050405020304" pitchFamily="18" charset="0"/>
              </a:rPr>
              <a:t>Merancang aturan </a:t>
            </a:r>
            <a:r>
              <a:rPr lang="id-ID" sz="2400" b="1" dirty="0">
                <a:solidFill>
                  <a:schemeClr val="tx2"/>
                </a:solidFill>
                <a:latin typeface="+mj-lt"/>
                <a:ea typeface="Times New Roman" panose="02020603050405020304" pitchFamily="18" charset="0"/>
              </a:rPr>
              <a:t>membutuhkan pemahaman yang mendalam </a:t>
            </a:r>
            <a:r>
              <a:rPr lang="id-ID" sz="2400" dirty="0">
                <a:latin typeface="+mj-lt"/>
                <a:ea typeface="Times New Roman" panose="02020603050405020304" pitchFamily="18" charset="0"/>
              </a:rPr>
              <a:t>tentang bagaimana sebuah keputusan harus dibuat oleh seorang pakar manusia.</a:t>
            </a:r>
            <a:endParaRPr lang="en-ID" sz="2400" dirty="0">
              <a:latin typeface="+mj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98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781662" y="1061068"/>
            <a:ext cx="10493113" cy="12810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Kelemahan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Manual: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Pakar</a:t>
            </a:r>
            <a:endParaRPr lang="en-US" dirty="0"/>
          </a:p>
        </p:txBody>
      </p:sp>
      <p:pic>
        <p:nvPicPr>
          <p:cNvPr id="11" name="Picture 2" descr="Expert Systems in AI">
            <a:extLst>
              <a:ext uri="{FF2B5EF4-FFF2-40B4-BE49-F238E27FC236}">
                <a16:creationId xmlns:a16="http://schemas.microsoft.com/office/drawing/2014/main" id="{3EB7B0A2-6BD0-30B9-A242-83F7B208C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647" y="2342148"/>
            <a:ext cx="8401142" cy="346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22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781662" y="1061068"/>
            <a:ext cx="10493113" cy="6714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Wajah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ML</a:t>
            </a:r>
          </a:p>
        </p:txBody>
      </p:sp>
      <p:pic>
        <p:nvPicPr>
          <p:cNvPr id="5" name="Picture 2" descr="Face Id: Deep learning for face recognition | by Youssef Fenjiro | Medium">
            <a:extLst>
              <a:ext uri="{FF2B5EF4-FFF2-40B4-BE49-F238E27FC236}">
                <a16:creationId xmlns:a16="http://schemas.microsoft.com/office/drawing/2014/main" id="{A78CECF0-4D72-1607-FC3E-694E3E737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494" y="1919581"/>
            <a:ext cx="5664385" cy="4048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Facebook's new face recognition knows you from the side">
            <a:extLst>
              <a:ext uri="{FF2B5EF4-FFF2-40B4-BE49-F238E27FC236}">
                <a16:creationId xmlns:a16="http://schemas.microsoft.com/office/drawing/2014/main" id="{5F8BA8CE-7308-2F68-A6B8-6F12E2BD8D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231" y="1919579"/>
            <a:ext cx="4878197" cy="404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182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upervised, Unsupervised, and Reinforcement Learning | by Renu Khandelwal |  Medium">
            <a:extLst>
              <a:ext uri="{FF2B5EF4-FFF2-40B4-BE49-F238E27FC236}">
                <a16:creationId xmlns:a16="http://schemas.microsoft.com/office/drawing/2014/main" id="{EFDA0B59-A903-8B76-F675-11E372C33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90" y="986063"/>
            <a:ext cx="10197460" cy="5142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9162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2010203"/>
            <a:ext cx="5280565" cy="400558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i="1" dirty="0">
                <a:latin typeface="+mj-lt"/>
                <a:ea typeface="Calibri" panose="020F0502020204030204" pitchFamily="34" charset="0"/>
              </a:rPr>
              <a:t>Supervised Learning: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pengguna memberikan algoritm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a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 dengan pasangan input dan output yang diinginkan, dan algoritm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a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 menemukan cara untuk menghasilkan output yang diinginkan dengan input yang diberikan. </a:t>
            </a:r>
            <a:endParaRPr lang="en-US" sz="2200" dirty="0">
              <a:latin typeface="+mj-lt"/>
              <a:ea typeface="Calibri" panose="020F0502020204030204" pitchFamily="34" charset="0"/>
            </a:endParaRP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j-lt"/>
                <a:ea typeface="Calibri" panose="020F0502020204030204" pitchFamily="34" charset="0"/>
              </a:rPr>
              <a:t>A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lgoritm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a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 ini dapat membuat output untuk input yang belum pernah dilihat sebelumnya tanpa bantuan dari manusia. </a:t>
            </a:r>
            <a:endParaRPr lang="en-ID" sz="2200" dirty="0">
              <a:latin typeface="+mj-lt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391827"/>
            <a:ext cx="5280566" cy="618376"/>
          </a:xfrm>
        </p:spPr>
        <p:txBody>
          <a:bodyPr/>
          <a:lstStyle/>
          <a:p>
            <a:r>
              <a:rPr lang="en-US" dirty="0"/>
              <a:t>Supervised Learning</a:t>
            </a:r>
          </a:p>
        </p:txBody>
      </p:sp>
      <p:pic>
        <p:nvPicPr>
          <p:cNvPr id="5" name="Picture 2" descr="Supervised Learning: Algorithms, Examples, and How It Works - DatabaseTown">
            <a:extLst>
              <a:ext uri="{FF2B5EF4-FFF2-40B4-BE49-F238E27FC236}">
                <a16:creationId xmlns:a16="http://schemas.microsoft.com/office/drawing/2014/main" id="{D4C9AD71-FD14-A2CB-859B-FF2662853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78" y="1472037"/>
            <a:ext cx="5618644" cy="3985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1219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2010203"/>
            <a:ext cx="5280565" cy="4005586"/>
          </a:xfrm>
        </p:spPr>
        <p:txBody>
          <a:bodyPr>
            <a:noAutofit/>
          </a:bodyPr>
          <a:lstStyle/>
          <a:p>
            <a:pPr marL="285750" marR="15049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spc="-50" dirty="0" err="1">
                <a:latin typeface="+mj-lt"/>
                <a:ea typeface="Calibri" panose="020F0502020204030204" pitchFamily="34" charset="0"/>
              </a:rPr>
              <a:t>Pada</a:t>
            </a:r>
            <a:r>
              <a:rPr lang="en-US" sz="2200" spc="-5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spc="-50" dirty="0" err="1">
                <a:latin typeface="+mj-lt"/>
                <a:ea typeface="Calibri" panose="020F0502020204030204" pitchFamily="34" charset="0"/>
              </a:rPr>
              <a:t>metode</a:t>
            </a:r>
            <a:r>
              <a:rPr lang="en-US" sz="2200" spc="-5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spc="-50" dirty="0" err="1">
                <a:latin typeface="+mj-lt"/>
                <a:ea typeface="Calibri" panose="020F0502020204030204" pitchFamily="34" charset="0"/>
              </a:rPr>
              <a:t>ini</a:t>
            </a:r>
            <a:r>
              <a:rPr lang="en-US" sz="2200" spc="-5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spc="-50" dirty="0" err="1">
                <a:latin typeface="+mj-lt"/>
                <a:ea typeface="Calibri" panose="020F0502020204030204" pitchFamily="34" charset="0"/>
              </a:rPr>
              <a:t>hanya</a:t>
            </a:r>
            <a:r>
              <a:rPr lang="id-ID" sz="2200" spc="-5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input</a:t>
            </a:r>
            <a:r>
              <a:rPr lang="id-ID" sz="2200" spc="-5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yang</a:t>
            </a:r>
            <a:r>
              <a:rPr lang="id-ID" sz="2200" spc="-50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diketahui</a:t>
            </a:r>
            <a:r>
              <a:rPr lang="id-ID" sz="2200" spc="-5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dan</a:t>
            </a:r>
            <a:r>
              <a:rPr lang="id-ID" sz="2200" spc="-22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tidak ada 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output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 yang diketahui yang diberikan kepada algoritma.</a:t>
            </a:r>
            <a:endParaRPr lang="en-US" sz="2200" dirty="0">
              <a:latin typeface="+mj-lt"/>
              <a:ea typeface="Calibri" panose="020F0502020204030204" pitchFamily="34" charset="0"/>
            </a:endParaRPr>
          </a:p>
          <a:p>
            <a:pPr marL="285750" marR="15049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id-ID" sz="2200" dirty="0">
                <a:latin typeface="+mj-lt"/>
                <a:ea typeface="Calibri" panose="020F0502020204030204" pitchFamily="34" charset="0"/>
              </a:rPr>
              <a:t>Meskipun</a:t>
            </a:r>
            <a:r>
              <a:rPr lang="id-ID" sz="2200" spc="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ada banyak aplikasi yang berhasil dari metode ini, </a:t>
            </a:r>
            <a:r>
              <a:rPr lang="en-US" sz="2200" dirty="0" err="1">
                <a:latin typeface="+mj-lt"/>
                <a:ea typeface="Calibri" panose="020F0502020204030204" pitchFamily="34" charset="0"/>
              </a:rPr>
              <a:t>cara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</a:rPr>
              <a:t>kerja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</a:rPr>
              <a:t>algoritma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</a:rPr>
              <a:t>ini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 biasanya lebih sulit untuk</a:t>
            </a:r>
            <a:r>
              <a:rPr lang="id-ID" sz="2200" spc="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dipahami</a:t>
            </a:r>
            <a:r>
              <a:rPr lang="id-ID" sz="2200" spc="-5" dirty="0">
                <a:latin typeface="+mj-lt"/>
                <a:ea typeface="Calibri" panose="020F0502020204030204" pitchFamily="34" charset="0"/>
              </a:rPr>
              <a:t> </a:t>
            </a:r>
            <a:r>
              <a:rPr lang="id-ID" sz="2200" dirty="0">
                <a:latin typeface="+mj-lt"/>
                <a:ea typeface="Calibri" panose="020F0502020204030204" pitchFamily="34" charset="0"/>
              </a:rPr>
              <a:t>dan dievaluasi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</a:rPr>
              <a:t>dibandingkan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S</a:t>
            </a:r>
            <a:r>
              <a:rPr lang="en-US" sz="2200" i="1" dirty="0">
                <a:latin typeface="+mj-lt"/>
                <a:ea typeface="Calibri" panose="020F0502020204030204" pitchFamily="34" charset="0"/>
              </a:rPr>
              <a:t>upervised</a:t>
            </a:r>
            <a:r>
              <a:rPr lang="en-US" sz="2200" dirty="0">
                <a:latin typeface="+mj-lt"/>
                <a:ea typeface="Calibri" panose="020F0502020204030204" pitchFamily="34" charset="0"/>
              </a:rPr>
              <a:t> ML.</a:t>
            </a:r>
            <a:endParaRPr lang="en-ID" sz="2200" dirty="0">
              <a:latin typeface="+mj-lt"/>
              <a:ea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391827"/>
            <a:ext cx="5280566" cy="618376"/>
          </a:xfrm>
        </p:spPr>
        <p:txBody>
          <a:bodyPr/>
          <a:lstStyle/>
          <a:p>
            <a:r>
              <a:rPr lang="en-US" dirty="0"/>
              <a:t>Unsupervised Learning</a:t>
            </a:r>
          </a:p>
        </p:txBody>
      </p:sp>
      <p:pic>
        <p:nvPicPr>
          <p:cNvPr id="6" name="Picture 2" descr="Unsupervised Learning: Types, Applications &amp; Advantages - DatabaseTown">
            <a:extLst>
              <a:ext uri="{FF2B5EF4-FFF2-40B4-BE49-F238E27FC236}">
                <a16:creationId xmlns:a16="http://schemas.microsoft.com/office/drawing/2014/main" id="{D3C3958D-A038-A89A-2CCA-A25E223DD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77" y="1472037"/>
            <a:ext cx="5618645" cy="398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93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3117109"/>
            <a:ext cx="5280565" cy="1438850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 err="1">
                <a:latin typeface="+mj-lt"/>
                <a:cs typeface="Arial" panose="020B0604020202020204" pitchFamily="34" charset="0"/>
              </a:rPr>
              <a:t>Merupakan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jenis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ML yang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melatih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algoritma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untuk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belajar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dari</a:t>
            </a:r>
            <a:r>
              <a:rPr lang="en-US" sz="2200" dirty="0">
                <a:latin typeface="+mj-lt"/>
                <a:cs typeface="Arial" panose="020B0604020202020204" pitchFamily="34" charset="0"/>
              </a:rPr>
              <a:t> </a:t>
            </a:r>
            <a:r>
              <a:rPr lang="en-US" sz="2200" dirty="0" err="1">
                <a:latin typeface="+mj-lt"/>
                <a:cs typeface="Arial" panose="020B0604020202020204" pitchFamily="34" charset="0"/>
              </a:rPr>
              <a:t>lingkungannya</a:t>
            </a:r>
            <a:endParaRPr lang="en-ID" sz="22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2498733"/>
            <a:ext cx="5280566" cy="618376"/>
          </a:xfrm>
        </p:spPr>
        <p:txBody>
          <a:bodyPr/>
          <a:lstStyle/>
          <a:p>
            <a:r>
              <a:rPr lang="en-US" dirty="0"/>
              <a:t>Reinforcement Learning</a:t>
            </a:r>
          </a:p>
        </p:txBody>
      </p:sp>
      <p:pic>
        <p:nvPicPr>
          <p:cNvPr id="5" name="Picture 2" descr="Reinforcement Learning Algorithms and Applications - TechVidvan">
            <a:extLst>
              <a:ext uri="{FF2B5EF4-FFF2-40B4-BE49-F238E27FC236}">
                <a16:creationId xmlns:a16="http://schemas.microsoft.com/office/drawing/2014/main" id="{29363F43-8E1A-F768-DE00-C4DFD1AA99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5" r="4260"/>
          <a:stretch/>
        </p:blipFill>
        <p:spPr bwMode="auto">
          <a:xfrm>
            <a:off x="224589" y="1871376"/>
            <a:ext cx="5623227" cy="315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64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2081" y="2362253"/>
            <a:ext cx="2502593" cy="1648274"/>
          </a:xfrm>
        </p:spPr>
        <p:txBody>
          <a:bodyPr/>
          <a:lstStyle/>
          <a:p>
            <a:r>
              <a:rPr lang="en-US" dirty="0" err="1"/>
              <a:t>Pemahaman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Solusi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ML</a:t>
            </a:r>
          </a:p>
        </p:txBody>
      </p:sp>
      <p:sp>
        <p:nvSpPr>
          <p:cNvPr id="5" name="Rectangle 4"/>
          <p:cNvSpPr/>
          <p:nvPr/>
        </p:nvSpPr>
        <p:spPr>
          <a:xfrm>
            <a:off x="4010526" y="1122948"/>
            <a:ext cx="7652084" cy="770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50495" lvl="0" algn="just">
              <a:spcBef>
                <a:spcPts val="390"/>
              </a:spcBef>
              <a:spcAft>
                <a:spcPts val="0"/>
              </a:spcAft>
              <a:tabLst>
                <a:tab pos="457200" algn="l"/>
                <a:tab pos="965200" algn="l"/>
              </a:tabLst>
            </a:pPr>
            <a:r>
              <a:rPr lang="en-US" sz="2000" spc="-5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Masalah</a:t>
            </a:r>
            <a:r>
              <a:rPr lang="en-US" sz="2000" spc="-5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apa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yang</a:t>
            </a:r>
            <a:r>
              <a:rPr lang="id-ID" sz="2000" spc="-5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ingin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</a:t>
            </a:r>
            <a:r>
              <a:rPr lang="id-ID" sz="2000" spc="-5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selesaikan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dengan</a:t>
            </a:r>
            <a:r>
              <a:rPr lang="en-US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ML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?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Apakah</a:t>
            </a:r>
            <a:r>
              <a:rPr lang="id-ID" sz="2000" spc="-5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data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yang</a:t>
            </a:r>
            <a:r>
              <a:rPr lang="id-ID" sz="2000" spc="-2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dikumpulkan</a:t>
            </a:r>
            <a:r>
              <a:rPr lang="id-ID" sz="2000" spc="-2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dapat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menjawab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pertanyaan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tersebut?</a:t>
            </a:r>
            <a:endParaRPr lang="en-ID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3416968" y="1251286"/>
            <a:ext cx="513346" cy="513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4010526" y="2057452"/>
            <a:ext cx="7652084" cy="770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50495" lvl="0" algn="just">
              <a:spcBef>
                <a:spcPts val="390"/>
              </a:spcBef>
              <a:spcAft>
                <a:spcPts val="0"/>
              </a:spcAft>
              <a:tabLst>
                <a:tab pos="457200" algn="l"/>
                <a:tab pos="965200" algn="l"/>
              </a:tabLst>
            </a:pP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Apakah</a:t>
            </a:r>
            <a:r>
              <a:rPr lang="id-ID" sz="2000" spc="-2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sudah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mengumpulkan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cukup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data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untuk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mewakili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masalah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yang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ingin</a:t>
            </a:r>
            <a:r>
              <a:rPr lang="id-ID" sz="2000" spc="-1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</a:t>
            </a:r>
            <a:r>
              <a:rPr lang="id-ID" sz="2000" spc="-2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selesaikan?</a:t>
            </a:r>
            <a:endParaRPr lang="en-ID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3416968" y="2185790"/>
            <a:ext cx="513346" cy="513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4010526" y="2979979"/>
            <a:ext cx="7652084" cy="770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50495" lvl="0" algn="just">
              <a:spcBef>
                <a:spcPts val="390"/>
              </a:spcBef>
              <a:spcAft>
                <a:spcPts val="0"/>
              </a:spcAft>
              <a:tabLst>
                <a:tab pos="457200" algn="l"/>
                <a:tab pos="965200" algn="l"/>
              </a:tabLst>
            </a:pP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Fitur</a:t>
            </a:r>
            <a:r>
              <a:rPr lang="id-ID" sz="2000" spc="-3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data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apa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yang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ekstrak,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dan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apakah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ini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akan</a:t>
            </a:r>
            <a:r>
              <a:rPr lang="id-ID" sz="2000" spc="-2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memungkinkan</a:t>
            </a:r>
            <a:r>
              <a:rPr lang="id-ID" sz="2000" spc="-3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prediksi</a:t>
            </a:r>
            <a:r>
              <a:rPr lang="id-ID" sz="2000" spc="-22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yang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tepat?</a:t>
            </a:r>
            <a:endParaRPr lang="en-ID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3416968" y="3108317"/>
            <a:ext cx="513346" cy="513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10526" y="3914483"/>
            <a:ext cx="7652084" cy="770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50495" lvl="0" algn="just">
              <a:spcBef>
                <a:spcPts val="390"/>
              </a:spcBef>
              <a:spcAft>
                <a:spcPts val="0"/>
              </a:spcAft>
              <a:tabLst>
                <a:tab pos="457200" algn="l"/>
                <a:tab pos="965200" algn="l"/>
              </a:tabLst>
            </a:pP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Bagaimana</a:t>
            </a:r>
            <a:r>
              <a:rPr lang="id-ID" sz="2000" spc="11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cara</a:t>
            </a:r>
            <a:r>
              <a:rPr lang="id-ID" sz="2000" spc="11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mengukur</a:t>
            </a:r>
            <a:r>
              <a:rPr lang="id-ID" sz="2000" spc="11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keberhasilan</a:t>
            </a:r>
            <a:r>
              <a:rPr lang="id-ID" sz="2000" spc="11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aplikasi</a:t>
            </a:r>
            <a:r>
              <a:rPr lang="id-ID" sz="2000" spc="8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saya?</a:t>
            </a:r>
            <a:endParaRPr lang="en-ID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3416968" y="4042821"/>
            <a:ext cx="513346" cy="513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10526" y="4848987"/>
            <a:ext cx="7652084" cy="7700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150495" lvl="0" algn="just">
              <a:spcBef>
                <a:spcPts val="390"/>
              </a:spcBef>
              <a:spcAft>
                <a:spcPts val="0"/>
              </a:spcAft>
              <a:tabLst>
                <a:tab pos="457200" algn="l"/>
                <a:tab pos="965200" algn="l"/>
              </a:tabLst>
            </a:pP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Bagaimana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solusi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ML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akan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berinteraksi</a:t>
            </a:r>
            <a:r>
              <a:rPr lang="id-ID" sz="2000" spc="-4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dengan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bagian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lain</a:t>
            </a:r>
            <a:r>
              <a:rPr lang="id-ID" sz="2000" spc="-5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dari</a:t>
            </a:r>
            <a:r>
              <a:rPr lang="id-ID" sz="2000" spc="-22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penelitian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atau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produk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bisnis</a:t>
            </a:r>
            <a:r>
              <a:rPr lang="id-ID" sz="2000" spc="-5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 </a:t>
            </a:r>
            <a:r>
              <a:rPr lang="id-ID" sz="20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</a:rPr>
              <a:t>saya?</a:t>
            </a:r>
            <a:endParaRPr lang="en-ID" dirty="0">
              <a:solidFill>
                <a:schemeClr val="tx1"/>
              </a:solidFill>
              <a:latin typeface="+mj-lt"/>
              <a:ea typeface="Calibri" panose="020F0502020204030204" pitchFamily="34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416968" y="4977325"/>
            <a:ext cx="513346" cy="51334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8083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>
          <a:xfrm>
            <a:off x="991727" y="1122851"/>
            <a:ext cx="10493113" cy="67147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Tool Machine Learning </a:t>
            </a:r>
          </a:p>
        </p:txBody>
      </p:sp>
      <p:pic>
        <p:nvPicPr>
          <p:cNvPr id="8" name="Picture 6" descr="Python PNG Images Transparent Free Download | PNGMart">
            <a:extLst>
              <a:ext uri="{FF2B5EF4-FFF2-40B4-BE49-F238E27FC236}">
                <a16:creationId xmlns:a16="http://schemas.microsoft.com/office/drawing/2014/main" id="{0AA86D77-945E-92A4-92A2-E74F0AD642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19" r="22647"/>
          <a:stretch/>
        </p:blipFill>
        <p:spPr bwMode="auto">
          <a:xfrm>
            <a:off x="1676158" y="2062327"/>
            <a:ext cx="2870657" cy="274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/>
          <p:cNvSpPr txBox="1">
            <a:spLocks/>
          </p:cNvSpPr>
          <p:nvPr/>
        </p:nvSpPr>
        <p:spPr>
          <a:xfrm>
            <a:off x="991727" y="4869696"/>
            <a:ext cx="4239517" cy="108405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E60AC"/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solidFill>
                  <a:schemeClr val="tx1"/>
                </a:solidFill>
              </a:rPr>
              <a:t>Machine Learning with Python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406406" y="2391189"/>
            <a:ext cx="5775158" cy="469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spc="-5" dirty="0">
                <a:ea typeface="Calibri" panose="020F0502020204030204" pitchFamily="34" charset="0"/>
              </a:rPr>
              <a:t>Tools yang </a:t>
            </a:r>
            <a:r>
              <a:rPr lang="en-US" sz="2400" spc="-5" dirty="0" err="1">
                <a:ea typeface="Calibri" panose="020F0502020204030204" pitchFamily="34" charset="0"/>
              </a:rPr>
              <a:t>digunakan</a:t>
            </a:r>
            <a:r>
              <a:rPr lang="en-US" sz="2400" spc="-5" dirty="0">
                <a:ea typeface="Calibri" panose="020F0502020204030204" pitchFamily="34" charset="0"/>
              </a:rPr>
              <a:t> </a:t>
            </a:r>
            <a:r>
              <a:rPr lang="en-US" sz="2400" spc="-5" dirty="0" err="1">
                <a:ea typeface="Calibri" panose="020F0502020204030204" pitchFamily="34" charset="0"/>
              </a:rPr>
              <a:t>sebagai</a:t>
            </a:r>
            <a:r>
              <a:rPr lang="en-US" sz="2400" spc="-5" dirty="0">
                <a:ea typeface="Calibri" panose="020F0502020204030204" pitchFamily="34" charset="0"/>
              </a:rPr>
              <a:t> </a:t>
            </a:r>
            <a:r>
              <a:rPr lang="en-US" sz="2400" spc="-5" dirty="0" err="1">
                <a:ea typeface="Calibri" panose="020F0502020204030204" pitchFamily="34" charset="0"/>
              </a:rPr>
              <a:t>berikut</a:t>
            </a:r>
            <a:r>
              <a:rPr lang="en-US" sz="2400" spc="-5" dirty="0">
                <a:ea typeface="Calibri" panose="020F0502020204030204" pitchFamily="34" charset="0"/>
              </a:rPr>
              <a:t>:</a:t>
            </a:r>
            <a:endParaRPr lang="en-US"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5486616" y="3005509"/>
            <a:ext cx="2646948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Jupyter</a:t>
            </a:r>
            <a:r>
              <a:rPr lang="en-US" sz="2400" b="1" dirty="0">
                <a:solidFill>
                  <a:schemeClr val="tx2"/>
                </a:solidFill>
              </a:rPr>
              <a:t> Notebook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38694" y="3005509"/>
            <a:ext cx="1190232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NumPy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34056" y="3005509"/>
            <a:ext cx="915024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SciPy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616" y="3711363"/>
            <a:ext cx="1593806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Matplotlib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93069" y="3711363"/>
            <a:ext cx="1190232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Pandas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95948" y="3711363"/>
            <a:ext cx="1292723" cy="56147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Mglearn</a:t>
            </a:r>
            <a:endParaRPr lang="en-US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3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2010203"/>
            <a:ext cx="5280565" cy="38345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Scikit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-learn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modul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Python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mesin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dibangun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didistribusikan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bawah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lisensi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3-Clause BSD.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sv-SE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Pustaka scikit-learn adalah kumpulan lengkap alat paling efisien untuk pemodelan statistik dan Pembelajaran Mesin. Scikit Learn dibangun di atas beberapa data umum dan pustaka matematika Python.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391827"/>
            <a:ext cx="5280566" cy="618376"/>
          </a:xfrm>
        </p:spPr>
        <p:txBody>
          <a:bodyPr/>
          <a:lstStyle/>
          <a:p>
            <a:r>
              <a:rPr lang="en-US" dirty="0" err="1"/>
              <a:t>Scikit</a:t>
            </a:r>
            <a:r>
              <a:rPr lang="en-US" dirty="0"/>
              <a:t> Learn</a:t>
            </a:r>
          </a:p>
        </p:txBody>
      </p:sp>
      <p:pic>
        <p:nvPicPr>
          <p:cNvPr id="6" name="Picture 4" descr="Choosing the right estimator — scikit-learn 1.3.0 documentation">
            <a:extLst>
              <a:ext uri="{FF2B5EF4-FFF2-40B4-BE49-F238E27FC236}">
                <a16:creationId xmlns:a16="http://schemas.microsoft.com/office/drawing/2014/main" id="{BCA87942-585E-B0EC-14C3-7204E3BAE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978" y="1701015"/>
            <a:ext cx="5524125" cy="3444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2043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1422244"/>
            <a:ext cx="5280565" cy="357505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Notebook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singkatan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tiga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bahasa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pemrograman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yakni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Julia (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Ju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), Python (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R.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Aplikasi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dipakai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membuat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membagikan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dokumen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memiliki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kode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hitungan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visualisasi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teks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Berikut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fitur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diberikan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Jupyter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Notebook: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803868"/>
            <a:ext cx="5280566" cy="618376"/>
          </a:xfrm>
        </p:spPr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pic>
        <p:nvPicPr>
          <p:cNvPr id="5" name="Picture 2" descr="Pengenalan dan Panduan Jupyter Notebook untuk Pemula – Belajar Pembelajaran  Mesin Indonesia">
            <a:extLst>
              <a:ext uri="{FF2B5EF4-FFF2-40B4-BE49-F238E27FC236}">
                <a16:creationId xmlns:a16="http://schemas.microsoft.com/office/drawing/2014/main" id="{8FF8C627-0968-8716-966D-FBA837816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078" y="2341197"/>
            <a:ext cx="5262552" cy="22345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ounded Rectangle 6"/>
          <p:cNvSpPr/>
          <p:nvPr/>
        </p:nvSpPr>
        <p:spPr>
          <a:xfrm>
            <a:off x="6166764" y="4973143"/>
            <a:ext cx="727942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14235" y="4973143"/>
            <a:ext cx="882856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620" y="4973143"/>
            <a:ext cx="702195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Edit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38344" y="4973143"/>
            <a:ext cx="942965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Insert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6764" y="5478834"/>
            <a:ext cx="727942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Cell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4234" y="5478834"/>
            <a:ext cx="1083747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Kernel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7509" y="5478834"/>
            <a:ext cx="815655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Help</a:t>
            </a:r>
          </a:p>
        </p:txBody>
      </p:sp>
    </p:spTree>
    <p:extLst>
      <p:ext uri="{BB962C8B-B14F-4D97-AF65-F5344CB8AC3E}">
        <p14:creationId xmlns:p14="http://schemas.microsoft.com/office/powerpoint/2010/main" val="3512063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2214920"/>
            <a:ext cx="5280565" cy="335336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(Numerical Python)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library Python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fokus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scientific computing. </a:t>
            </a:r>
          </a:p>
          <a:p>
            <a:pPr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Simpelnya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menyediakan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siap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pakai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memudahkan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kita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perhitungan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saintifik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matriks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aljabar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statistik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sebagainya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Gambar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samping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contoh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Create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Python.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596544"/>
            <a:ext cx="5280566" cy="618376"/>
          </a:xfrm>
        </p:spPr>
        <p:txBody>
          <a:bodyPr/>
          <a:lstStyle/>
          <a:p>
            <a:r>
              <a:rPr lang="en-US" dirty="0" err="1"/>
              <a:t>Numpy</a:t>
            </a:r>
            <a:endParaRPr lang="en-US" dirty="0"/>
          </a:p>
        </p:txBody>
      </p:sp>
      <p:pic>
        <p:nvPicPr>
          <p:cNvPr id="5" name="Picture 2" descr="Yuk Pelajari Dasar-Dasar NumPy Array Menggunakan Python!">
            <a:extLst>
              <a:ext uri="{FF2B5EF4-FFF2-40B4-BE49-F238E27FC236}">
                <a16:creationId xmlns:a16="http://schemas.microsoft.com/office/drawing/2014/main" id="{5F581A94-BBD7-B541-5769-F498CBEB2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63" y="1391827"/>
            <a:ext cx="4655867" cy="445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148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2214920"/>
            <a:ext cx="5280565" cy="33533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pustaka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komputasi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ilmiah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bawahnya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singkatan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Scientific Python.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menyediakan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banyak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utilitas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pengoptimalan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statistik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pemrosesan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sinyal.Seperti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SciPy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open source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sehingga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kita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menggunakannya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596544"/>
            <a:ext cx="5280566" cy="618376"/>
          </a:xfrm>
        </p:spPr>
        <p:txBody>
          <a:bodyPr/>
          <a:lstStyle/>
          <a:p>
            <a:r>
              <a:rPr lang="en-US" dirty="0" err="1"/>
              <a:t>Scipy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9F0BC9-78CF-E704-93DD-10C9A90D3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957" y="1094621"/>
            <a:ext cx="3808433" cy="32863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105B4-5EE8-74C7-C693-CF1D6772E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574" y="4591670"/>
            <a:ext cx="2956816" cy="145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9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062856" y="1814131"/>
            <a:ext cx="5280565" cy="292525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library Python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fokus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visualisasi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plot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grafik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pertama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kali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diluncurkan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John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D.Hunter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sekarang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sudah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dikelola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tim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developer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 5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visualisasi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Matplotlib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62855" y="1195754"/>
            <a:ext cx="5280566" cy="618376"/>
          </a:xfrm>
        </p:spPr>
        <p:txBody>
          <a:bodyPr/>
          <a:lstStyle/>
          <a:p>
            <a:r>
              <a:rPr lang="en-US" dirty="0" err="1"/>
              <a:t>Matplotlib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6166764" y="4754017"/>
            <a:ext cx="1667815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Scatter Plot</a:t>
            </a:r>
          </a:p>
        </p:txBody>
      </p:sp>
      <p:pic>
        <p:nvPicPr>
          <p:cNvPr id="14" name="Picture 2" descr="Visualisasi Matplotlib : Mengenal Library Matplotlib -">
            <a:extLst>
              <a:ext uri="{FF2B5EF4-FFF2-40B4-BE49-F238E27FC236}">
                <a16:creationId xmlns:a16="http://schemas.microsoft.com/office/drawing/2014/main" id="{63938DD4-97FE-D255-98DC-DA6F1612B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04" y="1674603"/>
            <a:ext cx="4960548" cy="3681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ounded Rectangle 14"/>
          <p:cNvSpPr/>
          <p:nvPr/>
        </p:nvSpPr>
        <p:spPr>
          <a:xfrm>
            <a:off x="7938487" y="4754017"/>
            <a:ext cx="1220143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Bar Plot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62538" y="4754016"/>
            <a:ext cx="1307926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Box Plot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764" y="5250232"/>
            <a:ext cx="1543457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Histogram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9949" y="5250232"/>
            <a:ext cx="1324051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2"/>
                </a:solidFill>
              </a:rPr>
              <a:t>Line Plot</a:t>
            </a:r>
          </a:p>
        </p:txBody>
      </p:sp>
    </p:spTree>
    <p:extLst>
      <p:ext uri="{BB962C8B-B14F-4D97-AF65-F5344CB8AC3E}">
        <p14:creationId xmlns:p14="http://schemas.microsoft.com/office/powerpoint/2010/main" val="150846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422085" y="2214920"/>
            <a:ext cx="5280565" cy="323882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Pandas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library di Python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berlisensi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BSD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open source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menyediakan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struktur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mudah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Pandas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biasa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membuat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tabel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mengubah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dimensi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mengecek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data,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lain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sebagainya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22084" y="1596544"/>
            <a:ext cx="5280566" cy="618376"/>
          </a:xfrm>
        </p:spPr>
        <p:txBody>
          <a:bodyPr/>
          <a:lstStyle/>
          <a:p>
            <a:r>
              <a:rPr lang="en-US" dirty="0"/>
              <a:t>Pandas</a:t>
            </a:r>
          </a:p>
        </p:txBody>
      </p:sp>
      <p:pic>
        <p:nvPicPr>
          <p:cNvPr id="8" name="Picture 2" descr="Mengenal Library Pandas Python untuk Data Wrangling">
            <a:extLst>
              <a:ext uri="{FF2B5EF4-FFF2-40B4-BE49-F238E27FC236}">
                <a16:creationId xmlns:a16="http://schemas.microsoft.com/office/drawing/2014/main" id="{E3E2F854-4E2C-2AA9-E7E9-F969975A7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47" y="2231249"/>
            <a:ext cx="5905042" cy="245505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1127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6422085" y="1435229"/>
            <a:ext cx="5280565" cy="354906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Mglearn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sebuah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pustaka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Python 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mempermudah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pemahaman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penggunaan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konsep-konsep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pembelajaran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mesin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(machine learning)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pemrosesan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Pustaka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Mglearn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menyediakan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berbagai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alat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fungsi</a:t>
            </a:r>
            <a:r>
              <a:rPr lang="en-US" sz="2200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yang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memungkinkan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pengguna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memahami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konsep-konsep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2200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422084" y="816853"/>
            <a:ext cx="5280566" cy="618376"/>
          </a:xfrm>
        </p:spPr>
        <p:txBody>
          <a:bodyPr/>
          <a:lstStyle/>
          <a:p>
            <a:r>
              <a:rPr lang="en-US" dirty="0" err="1"/>
              <a:t>Mglearn</a:t>
            </a:r>
            <a:endParaRPr lang="en-US" dirty="0"/>
          </a:p>
        </p:txBody>
      </p:sp>
      <p:pic>
        <p:nvPicPr>
          <p:cNvPr id="5" name="Picture 2" descr="ModuleNotFoundError: No module named 'mglearn' · Issue #13 · amueller/ mglearn · GitHub">
            <a:extLst>
              <a:ext uri="{FF2B5EF4-FFF2-40B4-BE49-F238E27FC236}">
                <a16:creationId xmlns:a16="http://schemas.microsoft.com/office/drawing/2014/main" id="{73F6B5EE-0400-64CB-14E7-999FE6AEA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26" y="2693745"/>
            <a:ext cx="5707117" cy="148348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6487401" y="5098597"/>
            <a:ext cx="1562906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Klasifikasi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898907" y="5602671"/>
            <a:ext cx="1177423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Regresi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72765" y="5098596"/>
            <a:ext cx="2369729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Pemilihan</a:t>
            </a:r>
            <a:r>
              <a:rPr lang="en-US" sz="2400" b="1" dirty="0">
                <a:solidFill>
                  <a:schemeClr val="tx2"/>
                </a:solidFill>
              </a:rPr>
              <a:t>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7401" y="5602671"/>
            <a:ext cx="2298011" cy="38305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chemeClr val="tx2"/>
                </a:solidFill>
              </a:rPr>
              <a:t>Visualisasi</a:t>
            </a:r>
            <a:r>
              <a:rPr lang="en-US" sz="2400" b="1" dirty="0">
                <a:solidFill>
                  <a:schemeClr val="tx2"/>
                </a:solidFill>
              </a:rPr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68705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4603" y="2189276"/>
            <a:ext cx="5529197" cy="1920647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: </a:t>
            </a:r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Bunga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Algoritma</a:t>
            </a:r>
            <a:r>
              <a:rPr lang="en-US" dirty="0"/>
              <a:t> K-NN</a:t>
            </a:r>
          </a:p>
        </p:txBody>
      </p:sp>
      <p:pic>
        <p:nvPicPr>
          <p:cNvPr id="4" name="Picture Placeholder 3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39" r="19739"/>
          <a:stretch>
            <a:fillRect/>
          </a:stretch>
        </p:blipFill>
        <p:spPr>
          <a:xfrm>
            <a:off x="0" y="1001713"/>
            <a:ext cx="5316538" cy="5856287"/>
          </a:xfrm>
        </p:spPr>
      </p:pic>
    </p:spTree>
    <p:extLst>
      <p:ext uri="{BB962C8B-B14F-4D97-AF65-F5344CB8AC3E}">
        <p14:creationId xmlns:p14="http://schemas.microsoft.com/office/powerpoint/2010/main" val="383716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800725" y="1435229"/>
            <a:ext cx="5572125" cy="45655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K-Nearest Neighbor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klasifikasi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cara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membandingkan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jarak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ketetanggaan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tiap-tiap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titik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yang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diprediksi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algoritma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jarak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biasanya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jarak</a:t>
            </a:r>
            <a:r>
              <a:rPr lang="en-US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Euclidean.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1200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00000"/>
              </a:lnSpc>
            </a:pPr>
            <a:r>
              <a:rPr lang="en-ID" b="1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Visualisasi</a:t>
            </a:r>
            <a:r>
              <a:rPr lang="en-ID" b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KNN</a:t>
            </a:r>
          </a:p>
          <a:p>
            <a:pPr>
              <a:lnSpc>
                <a:spcPct val="100000"/>
              </a:lnSpc>
            </a:pP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Banyaknya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tetangga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menjadi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penentu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yang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baru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ditentukan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oleh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konstanta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D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bisa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ditentukan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melakukan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D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beberapa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D" i="1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hingga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akurasi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D" dirty="0" err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tertinggi</a:t>
            </a:r>
            <a:r>
              <a:rPr lang="en-ID" dirty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00724" y="816853"/>
            <a:ext cx="5901926" cy="618376"/>
          </a:xfrm>
        </p:spPr>
        <p:txBody>
          <a:bodyPr/>
          <a:lstStyle/>
          <a:p>
            <a:r>
              <a:rPr lang="en-US" dirty="0"/>
              <a:t>K-NN (K-Nearest Neighbor)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6539F5-26EB-7330-9719-6CA3D92AE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527" y="1545488"/>
            <a:ext cx="4489286" cy="377603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01684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5800725" y="1735266"/>
            <a:ext cx="5572125" cy="399402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Bunga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iris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memiliki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tiga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spesies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yaitu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: versicolor,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virginica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setosa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 Dataset yang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berisi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panjang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lebar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masing-masing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kelopak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pada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bunga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(sepal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petal).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200" dirty="0">
              <a:solidFill>
                <a:schemeClr val="tx1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200" b="1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Karakteristik</a:t>
            </a:r>
            <a:r>
              <a:rPr lang="en-US" sz="2200" b="1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dataset: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Kelas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output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seimbang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kosong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tersebar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membentuk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cluster.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Outlier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err="1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signifikan</a:t>
            </a:r>
            <a:r>
              <a:rPr lang="en-US" sz="2200" dirty="0">
                <a:solidFill>
                  <a:schemeClr val="tx1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00724" y="1116890"/>
            <a:ext cx="5901926" cy="618376"/>
          </a:xfrm>
        </p:spPr>
        <p:txBody>
          <a:bodyPr/>
          <a:lstStyle/>
          <a:p>
            <a:r>
              <a:rPr lang="en-US" dirty="0" err="1"/>
              <a:t>Klasifikasi</a:t>
            </a:r>
            <a:r>
              <a:rPr lang="en-US" dirty="0"/>
              <a:t> </a:t>
            </a:r>
            <a:r>
              <a:rPr lang="en-US" dirty="0" err="1"/>
              <a:t>Bunga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K-NN</a:t>
            </a:r>
          </a:p>
        </p:txBody>
      </p:sp>
      <p:pic>
        <p:nvPicPr>
          <p:cNvPr id="5" name="Picture 2" descr="Klasifikasi Iris menggunakan Decision Tree | by Eva Rahma Indriyani | Medium">
            <a:extLst>
              <a:ext uri="{FF2B5EF4-FFF2-40B4-BE49-F238E27FC236}">
                <a16:creationId xmlns:a16="http://schemas.microsoft.com/office/drawing/2014/main" id="{25476C3E-7774-A9AC-A3CB-9326CCCDD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62" y="2119613"/>
            <a:ext cx="5047063" cy="225603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0599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29113" y="0"/>
            <a:ext cx="227171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14" r="11514"/>
          <a:stretch>
            <a:fillRect/>
          </a:stretch>
        </p:blipFill>
        <p:spPr>
          <a:xfrm>
            <a:off x="6186488" y="1208088"/>
            <a:ext cx="5172075" cy="4800600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7780" y="953043"/>
            <a:ext cx="5127233" cy="796874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Kesimpulan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781" y="1909624"/>
            <a:ext cx="5127232" cy="4491177"/>
          </a:xfrm>
        </p:spPr>
        <p:txBody>
          <a:bodyPr>
            <a:noAutofit/>
          </a:bodyPr>
          <a:lstStyle/>
          <a:p>
            <a:r>
              <a:rPr lang="en-US" b="1" dirty="0" err="1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Terdapat</a:t>
            </a:r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 3 </a:t>
            </a:r>
            <a:r>
              <a:rPr lang="en-US" b="1" dirty="0" err="1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metode</a:t>
            </a:r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dasar</a:t>
            </a:r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b="1" dirty="0" err="1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dalam</a:t>
            </a:r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 ML, </a:t>
            </a:r>
            <a:r>
              <a:rPr lang="en-US" b="1" dirty="0" err="1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yaitu</a:t>
            </a:r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  <a:cs typeface="Arial" panose="020B0604020202020204" pitchFamily="34" charset="0"/>
              </a:rPr>
              <a:t>Supervised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  <a:cs typeface="Arial" panose="020B0604020202020204" pitchFamily="34" charset="0"/>
              </a:rPr>
              <a:t>Unsupervised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+mj-lt"/>
                <a:cs typeface="Arial" panose="020B0604020202020204" pitchFamily="34" charset="0"/>
              </a:rPr>
              <a:t>Reinforcement Learning</a:t>
            </a:r>
          </a:p>
          <a:p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Supervised Learning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bekerja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dengan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melabelkan</a:t>
            </a:r>
            <a:r>
              <a:rPr lang="en-US" dirty="0">
                <a:latin typeface="+mj-lt"/>
                <a:cs typeface="Arial" panose="020B0604020202020204" pitchFamily="34" charset="0"/>
              </a:rPr>
              <a:t> input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melakukan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pelatihan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tes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untuk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menghasilkan</a:t>
            </a:r>
            <a:r>
              <a:rPr lang="en-US" dirty="0">
                <a:latin typeface="+mj-lt"/>
                <a:cs typeface="Arial" panose="020B0604020202020204" pitchFamily="34" charset="0"/>
              </a:rPr>
              <a:t> output</a:t>
            </a:r>
          </a:p>
          <a:p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Unsupervised Learning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bekerja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tanpa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adanya</a:t>
            </a:r>
            <a:r>
              <a:rPr lang="en-US" dirty="0">
                <a:latin typeface="+mj-lt"/>
                <a:cs typeface="Arial" panose="020B0604020202020204" pitchFamily="34" charset="0"/>
              </a:rPr>
              <a:t> label input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melakukan</a:t>
            </a:r>
            <a:r>
              <a:rPr lang="en-US" dirty="0">
                <a:latin typeface="+mj-lt"/>
                <a:cs typeface="Arial" panose="020B0604020202020204" pitchFamily="34" charset="0"/>
              </a:rPr>
              <a:t> trial error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pelatihan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tes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hingga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menghasilkan</a:t>
            </a:r>
            <a:r>
              <a:rPr lang="en-US" dirty="0">
                <a:latin typeface="+mj-lt"/>
                <a:cs typeface="Arial" panose="020B0604020202020204" pitchFamily="34" charset="0"/>
              </a:rPr>
              <a:t> output</a:t>
            </a:r>
          </a:p>
          <a:p>
            <a:r>
              <a:rPr lang="en-US" b="1" dirty="0">
                <a:solidFill>
                  <a:srgbClr val="FFC000"/>
                </a:solidFill>
                <a:latin typeface="+mj-lt"/>
                <a:cs typeface="Arial" panose="020B0604020202020204" pitchFamily="34" charset="0"/>
              </a:rPr>
              <a:t>Reinforcement Learning </a:t>
            </a:r>
            <a:r>
              <a:rPr lang="en-US" dirty="0">
                <a:latin typeface="+mj-lt"/>
                <a:cs typeface="Arial" panose="020B0604020202020204" pitchFamily="34" charset="0"/>
              </a:rPr>
              <a:t>‘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memaksa</a:t>
            </a:r>
            <a:r>
              <a:rPr lang="en-US" dirty="0">
                <a:latin typeface="+mj-lt"/>
                <a:cs typeface="Arial" panose="020B0604020202020204" pitchFamily="34" charset="0"/>
              </a:rPr>
              <a:t>’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algoritma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berlatih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dan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belajar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dari</a:t>
            </a:r>
            <a:r>
              <a:rPr lang="en-US" dirty="0">
                <a:latin typeface="+mj-lt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j-lt"/>
                <a:cs typeface="Arial" panose="020B0604020202020204" pitchFamily="34" charset="0"/>
              </a:rPr>
              <a:t>lingkungannya</a:t>
            </a:r>
            <a:endParaRPr lang="en-ID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35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br>
              <a:rPr lang="en-US" dirty="0"/>
            </a:br>
            <a:r>
              <a:rPr lang="en-US" dirty="0" err="1"/>
              <a:t>Kasih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76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UEU Color">
      <a:dk1>
        <a:srgbClr val="363636"/>
      </a:dk1>
      <a:lt1>
        <a:srgbClr val="FFFFFF"/>
      </a:lt1>
      <a:dk2>
        <a:srgbClr val="0E60AC"/>
      </a:dk2>
      <a:lt2>
        <a:srgbClr val="F2F2F2"/>
      </a:lt2>
      <a:accent1>
        <a:srgbClr val="EF7220"/>
      </a:accent1>
      <a:accent2>
        <a:srgbClr val="F5AA79"/>
      </a:accent2>
      <a:accent3>
        <a:srgbClr val="0E60AC"/>
      </a:accent3>
      <a:accent4>
        <a:srgbClr val="87C0F5"/>
      </a:accent4>
      <a:accent5>
        <a:srgbClr val="C3DFFA"/>
      </a:accent5>
      <a:accent6>
        <a:srgbClr val="D8D8D8"/>
      </a:accent6>
      <a:hlink>
        <a:srgbClr val="EF7220"/>
      </a:hlink>
      <a:folHlink>
        <a:srgbClr val="EF7220"/>
      </a:folHlink>
    </a:clrScheme>
    <a:fontScheme name="Font UEU Basic">
      <a:majorFont>
        <a:latin typeface="Tw Cen MT"/>
        <a:ea typeface=""/>
        <a:cs typeface=""/>
      </a:majorFont>
      <a:minorFont>
        <a:latin typeface="Tw Cen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 TEMPLATE PPT UEU" id="{61C6813F-AFFC-42C3-8343-B418D1D4430D}" vid="{3A234C03-FC1E-4A99-8196-55A786EF84A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14 Perilaku Organisasi</Template>
  <TotalTime>2091</TotalTime>
  <Words>1266</Words>
  <Application>Microsoft Office PowerPoint</Application>
  <PresentationFormat>Widescreen</PresentationFormat>
  <Paragraphs>167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Tw Cen MT</vt:lpstr>
      <vt:lpstr>Twentieth Century</vt:lpstr>
      <vt:lpstr>1_Office Theme</vt:lpstr>
      <vt:lpstr>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Pengenalan Machine Learning</vt:lpstr>
      <vt:lpstr>Apa Itu Machine Learning?</vt:lpstr>
      <vt:lpstr>PowerPoint Presentation</vt:lpstr>
      <vt:lpstr>PowerPoint Presentation</vt:lpstr>
      <vt:lpstr>PowerPoint Presentation</vt:lpstr>
      <vt:lpstr>PowerPoint Presentation</vt:lpstr>
      <vt:lpstr>Aplikasi</vt:lpstr>
      <vt:lpstr>PowerPoint Presentation</vt:lpstr>
      <vt:lpstr>Riset Menggunakan ML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Supervised Learning</vt:lpstr>
      <vt:lpstr>Unsupervised Learning</vt:lpstr>
      <vt:lpstr>Reinforcement Learning</vt:lpstr>
      <vt:lpstr>Pemahaman untuk Solusi dengan ML</vt:lpstr>
      <vt:lpstr>PowerPoint Presentation</vt:lpstr>
      <vt:lpstr>Scikit Learn</vt:lpstr>
      <vt:lpstr>Jupyter Notebook</vt:lpstr>
      <vt:lpstr>Numpy</vt:lpstr>
      <vt:lpstr>Scipy</vt:lpstr>
      <vt:lpstr>Matplotlib</vt:lpstr>
      <vt:lpstr>Pandas</vt:lpstr>
      <vt:lpstr>Mglearn</vt:lpstr>
      <vt:lpstr>Contoh Kasus: Klasifikasi Bunga dengan Algoritma K-NN</vt:lpstr>
      <vt:lpstr>K-NN (K-Nearest Neighbor)</vt:lpstr>
      <vt:lpstr>Klasifikasi Bunga dengan K-NN</vt:lpstr>
      <vt:lpstr>Kesimpulan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Perilaku Organisasi</dc:title>
  <dc:creator>HP</dc:creator>
  <cp:lastModifiedBy>Rahmat Budiarsa</cp:lastModifiedBy>
  <cp:revision>223</cp:revision>
  <dcterms:created xsi:type="dcterms:W3CDTF">2023-10-03T06:37:44Z</dcterms:created>
  <dcterms:modified xsi:type="dcterms:W3CDTF">2025-03-18T04:03:48Z</dcterms:modified>
</cp:coreProperties>
</file>