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061" r:id="rId3"/>
    <p:sldId id="258" r:id="rId4"/>
    <p:sldId id="259" r:id="rId5"/>
    <p:sldId id="260" r:id="rId6"/>
    <p:sldId id="261" r:id="rId7"/>
    <p:sldId id="262" r:id="rId8"/>
    <p:sldId id="20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063"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gXbdYEYJjjd6m7CBcRog30AY/y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358" autoAdjust="0"/>
  </p:normalViewPr>
  <p:slideViewPr>
    <p:cSldViewPr snapToGrid="0">
      <p:cViewPr varScale="1">
        <p:scale>
          <a:sx n="64" d="100"/>
          <a:sy n="64" d="100"/>
        </p:scale>
        <p:origin x="90" y="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38" name="Google Shape;23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400"/>
              </a:lnSpc>
              <a:buFont typeface="Arial" panose="020B0604020202020204" pitchFamily="34" charset="0"/>
              <a:buChar char="•"/>
            </a:pPr>
            <a:r>
              <a:rPr lang="en-ID" b="0" i="1" dirty="0">
                <a:solidFill>
                  <a:srgbClr val="242424"/>
                </a:solidFill>
                <a:effectLst/>
                <a:latin typeface="source-serif-pro"/>
              </a:rPr>
              <a:t>Node Root</a:t>
            </a:r>
            <a:r>
              <a:rPr lang="en-ID" b="0" i="0" dirty="0">
                <a:solidFill>
                  <a:srgbClr val="242424"/>
                </a:solidFill>
                <a:effectLst/>
                <a:latin typeface="source-serif-pro"/>
              </a:rPr>
              <a:t> : </a:t>
            </a:r>
            <a:r>
              <a:rPr lang="en-ID" b="0" i="0" dirty="0" err="1">
                <a:solidFill>
                  <a:srgbClr val="242424"/>
                </a:solidFill>
                <a:effectLst/>
                <a:latin typeface="source-serif-pro"/>
              </a:rPr>
              <a:t>Merupakan</a:t>
            </a:r>
            <a:r>
              <a:rPr lang="en-ID" b="0" i="0" dirty="0">
                <a:solidFill>
                  <a:srgbClr val="242424"/>
                </a:solidFill>
                <a:effectLst/>
                <a:latin typeface="source-serif-pro"/>
              </a:rPr>
              <a:t> node paling </a:t>
            </a:r>
            <a:r>
              <a:rPr lang="en-ID" b="0" i="0" dirty="0" err="1">
                <a:solidFill>
                  <a:srgbClr val="242424"/>
                </a:solidFill>
                <a:effectLst/>
                <a:latin typeface="source-serif-pro"/>
              </a:rPr>
              <a:t>atas</a:t>
            </a:r>
            <a:r>
              <a:rPr lang="en-ID" b="0" i="0" dirty="0">
                <a:solidFill>
                  <a:srgbClr val="242424"/>
                </a:solidFill>
                <a:effectLst/>
                <a:latin typeface="source-serif-pro"/>
              </a:rPr>
              <a:t> </a:t>
            </a:r>
            <a:r>
              <a:rPr lang="en-ID" b="0" i="0" dirty="0" err="1">
                <a:solidFill>
                  <a:srgbClr val="242424"/>
                </a:solidFill>
                <a:effectLst/>
                <a:latin typeface="source-serif-pro"/>
              </a:rPr>
              <a:t>dari</a:t>
            </a:r>
            <a:r>
              <a:rPr lang="en-ID" b="0" i="0" dirty="0">
                <a:solidFill>
                  <a:srgbClr val="242424"/>
                </a:solidFill>
                <a:effectLst/>
                <a:latin typeface="source-serif-pro"/>
              </a:rPr>
              <a:t> </a:t>
            </a:r>
            <a:r>
              <a:rPr lang="en-ID" b="0" i="0" dirty="0" err="1">
                <a:solidFill>
                  <a:srgbClr val="242424"/>
                </a:solidFill>
                <a:effectLst/>
                <a:latin typeface="source-serif-pro"/>
              </a:rPr>
              <a:t>pohon</a:t>
            </a:r>
            <a:r>
              <a:rPr lang="en-ID" b="0" i="0" dirty="0">
                <a:solidFill>
                  <a:srgbClr val="242424"/>
                </a:solidFill>
                <a:effectLst/>
                <a:latin typeface="source-serif-pro"/>
              </a:rPr>
              <a:t> </a:t>
            </a:r>
            <a:r>
              <a:rPr lang="en-ID" b="0" i="0" dirty="0" err="1">
                <a:solidFill>
                  <a:srgbClr val="242424"/>
                </a:solidFill>
                <a:effectLst/>
                <a:latin typeface="source-serif-pro"/>
              </a:rPr>
              <a:t>keputusan</a:t>
            </a:r>
            <a:r>
              <a:rPr lang="en-ID" b="0" i="0" dirty="0">
                <a:solidFill>
                  <a:srgbClr val="242424"/>
                </a:solidFill>
                <a:effectLst/>
                <a:latin typeface="source-serif-pro"/>
              </a:rPr>
              <a:t> </a:t>
            </a:r>
            <a:r>
              <a:rPr lang="en-ID" b="0" i="0" dirty="0" err="1">
                <a:solidFill>
                  <a:srgbClr val="242424"/>
                </a:solidFill>
                <a:effectLst/>
                <a:latin typeface="source-serif-pro"/>
              </a:rPr>
              <a:t>dimana</a:t>
            </a:r>
            <a:r>
              <a:rPr lang="en-ID" b="0" i="0" dirty="0">
                <a:solidFill>
                  <a:srgbClr val="242424"/>
                </a:solidFill>
                <a:effectLst/>
                <a:latin typeface="source-serif-pro"/>
              </a:rPr>
              <a:t> </a:t>
            </a:r>
            <a:r>
              <a:rPr lang="en-ID" b="0" i="0" dirty="0" err="1">
                <a:solidFill>
                  <a:srgbClr val="242424"/>
                </a:solidFill>
                <a:effectLst/>
                <a:latin typeface="source-serif-pro"/>
              </a:rPr>
              <a:t>populasi</a:t>
            </a:r>
            <a:r>
              <a:rPr lang="en-ID" b="0" i="0" dirty="0">
                <a:solidFill>
                  <a:srgbClr val="242424"/>
                </a:solidFill>
                <a:effectLst/>
                <a:latin typeface="source-serif-pro"/>
              </a:rPr>
              <a:t> </a:t>
            </a:r>
            <a:r>
              <a:rPr lang="en-ID" b="0" i="0" dirty="0" err="1">
                <a:solidFill>
                  <a:srgbClr val="242424"/>
                </a:solidFill>
                <a:effectLst/>
                <a:latin typeface="source-serif-pro"/>
              </a:rPr>
              <a:t>dasar</a:t>
            </a:r>
            <a:r>
              <a:rPr lang="en-ID" b="0" i="0" dirty="0">
                <a:solidFill>
                  <a:srgbClr val="242424"/>
                </a:solidFill>
                <a:effectLst/>
                <a:latin typeface="source-serif-pro"/>
              </a:rPr>
              <a:t> </a:t>
            </a:r>
            <a:r>
              <a:rPr lang="en-ID" b="0" i="0" dirty="0" err="1">
                <a:solidFill>
                  <a:srgbClr val="242424"/>
                </a:solidFill>
                <a:effectLst/>
                <a:latin typeface="source-serif-pro"/>
              </a:rPr>
              <a:t>mulai</a:t>
            </a:r>
            <a:r>
              <a:rPr lang="en-ID" b="0" i="0" dirty="0">
                <a:solidFill>
                  <a:srgbClr val="242424"/>
                </a:solidFill>
                <a:effectLst/>
                <a:latin typeface="source-serif-pro"/>
              </a:rPr>
              <a:t> </a:t>
            </a:r>
            <a:r>
              <a:rPr lang="en-ID" b="0" i="0" dirty="0" err="1">
                <a:solidFill>
                  <a:srgbClr val="242424"/>
                </a:solidFill>
                <a:effectLst/>
                <a:latin typeface="source-serif-pro"/>
              </a:rPr>
              <a:t>terbagi</a:t>
            </a:r>
            <a:r>
              <a:rPr lang="en-ID" b="0" i="0" dirty="0">
                <a:solidFill>
                  <a:srgbClr val="242424"/>
                </a:solidFill>
                <a:effectLst/>
                <a:latin typeface="source-serif-pro"/>
              </a:rPr>
              <a:t> </a:t>
            </a:r>
            <a:r>
              <a:rPr lang="en-ID" b="0" i="0" dirty="0" err="1">
                <a:solidFill>
                  <a:srgbClr val="242424"/>
                </a:solidFill>
                <a:effectLst/>
                <a:latin typeface="source-serif-pro"/>
              </a:rPr>
              <a:t>berdasarkan</a:t>
            </a:r>
            <a:r>
              <a:rPr lang="en-ID" b="0" i="0" dirty="0">
                <a:solidFill>
                  <a:srgbClr val="242424"/>
                </a:solidFill>
                <a:effectLst/>
                <a:latin typeface="source-serif-pro"/>
              </a:rPr>
              <a:t> </a:t>
            </a:r>
            <a:r>
              <a:rPr lang="en-ID" b="0" i="0" dirty="0" err="1">
                <a:solidFill>
                  <a:srgbClr val="242424"/>
                </a:solidFill>
                <a:effectLst/>
                <a:latin typeface="source-serif-pro"/>
              </a:rPr>
              <a:t>kondisi</a:t>
            </a:r>
            <a:r>
              <a:rPr lang="en-ID" b="0" i="0" dirty="0">
                <a:solidFill>
                  <a:srgbClr val="242424"/>
                </a:solidFill>
                <a:effectLst/>
                <a:latin typeface="source-serif-pro"/>
              </a:rPr>
              <a:t>.</a:t>
            </a:r>
          </a:p>
          <a:p>
            <a:pPr algn="l">
              <a:lnSpc>
                <a:spcPts val="2400"/>
              </a:lnSpc>
              <a:buFont typeface="Arial" panose="020B0604020202020204" pitchFamily="34" charset="0"/>
              <a:buChar char="•"/>
            </a:pPr>
            <a:r>
              <a:rPr lang="en-ID" b="0" i="1" dirty="0">
                <a:solidFill>
                  <a:srgbClr val="242424"/>
                </a:solidFill>
                <a:effectLst/>
                <a:latin typeface="source-serif-pro"/>
              </a:rPr>
              <a:t>Node Internal</a:t>
            </a:r>
            <a:r>
              <a:rPr lang="en-ID" b="0" i="0" dirty="0">
                <a:solidFill>
                  <a:srgbClr val="242424"/>
                </a:solidFill>
                <a:effectLst/>
                <a:latin typeface="source-serif-pro"/>
              </a:rPr>
              <a:t> : </a:t>
            </a:r>
            <a:r>
              <a:rPr lang="en-ID" b="0" i="0" dirty="0" err="1">
                <a:solidFill>
                  <a:srgbClr val="242424"/>
                </a:solidFill>
                <a:effectLst/>
                <a:latin typeface="source-serif-pro"/>
              </a:rPr>
              <a:t>Semua</a:t>
            </a:r>
            <a:r>
              <a:rPr lang="en-ID" b="0" i="0" dirty="0">
                <a:solidFill>
                  <a:srgbClr val="242424"/>
                </a:solidFill>
                <a:effectLst/>
                <a:latin typeface="source-serif-pro"/>
              </a:rPr>
              <a:t> node, </a:t>
            </a:r>
            <a:r>
              <a:rPr lang="en-ID" b="0" i="0" dirty="0" err="1">
                <a:solidFill>
                  <a:srgbClr val="242424"/>
                </a:solidFill>
                <a:effectLst/>
                <a:latin typeface="source-serif-pro"/>
              </a:rPr>
              <a:t>setelah</a:t>
            </a:r>
            <a:r>
              <a:rPr lang="en-ID" b="0" i="0" dirty="0">
                <a:solidFill>
                  <a:srgbClr val="242424"/>
                </a:solidFill>
                <a:effectLst/>
                <a:latin typeface="source-serif-pro"/>
              </a:rPr>
              <a:t> node Root, yang </a:t>
            </a:r>
            <a:r>
              <a:rPr lang="en-ID" b="0" i="0" dirty="0" err="1">
                <a:solidFill>
                  <a:srgbClr val="242424"/>
                </a:solidFill>
                <a:effectLst/>
                <a:latin typeface="source-serif-pro"/>
              </a:rPr>
              <a:t>membagi</a:t>
            </a:r>
            <a:r>
              <a:rPr lang="en-ID" b="0" i="0" dirty="0">
                <a:solidFill>
                  <a:srgbClr val="242424"/>
                </a:solidFill>
                <a:effectLst/>
                <a:latin typeface="source-serif-pro"/>
              </a:rPr>
              <a:t> </a:t>
            </a:r>
            <a:r>
              <a:rPr lang="en-ID" b="0" i="0" dirty="0" err="1">
                <a:solidFill>
                  <a:srgbClr val="242424"/>
                </a:solidFill>
                <a:effectLst/>
                <a:latin typeface="source-serif-pro"/>
              </a:rPr>
              <a:t>populasi</a:t>
            </a:r>
            <a:r>
              <a:rPr lang="en-ID" b="0" i="0" dirty="0">
                <a:solidFill>
                  <a:srgbClr val="242424"/>
                </a:solidFill>
                <a:effectLst/>
                <a:latin typeface="source-serif-pro"/>
              </a:rPr>
              <a:t> </a:t>
            </a:r>
            <a:r>
              <a:rPr lang="en-ID" b="0" i="0" dirty="0" err="1">
                <a:solidFill>
                  <a:srgbClr val="242424"/>
                </a:solidFill>
                <a:effectLst/>
                <a:latin typeface="source-serif-pro"/>
              </a:rPr>
              <a:t>berdasarkan</a:t>
            </a:r>
            <a:r>
              <a:rPr lang="en-ID" b="0" i="0" dirty="0">
                <a:solidFill>
                  <a:srgbClr val="242424"/>
                </a:solidFill>
                <a:effectLst/>
                <a:latin typeface="source-serif-pro"/>
              </a:rPr>
              <a:t> </a:t>
            </a:r>
            <a:r>
              <a:rPr lang="en-ID" b="0" i="0" dirty="0" err="1">
                <a:solidFill>
                  <a:srgbClr val="242424"/>
                </a:solidFill>
                <a:effectLst/>
                <a:latin typeface="source-serif-pro"/>
              </a:rPr>
              <a:t>kondisi</a:t>
            </a:r>
            <a:r>
              <a:rPr lang="en-ID" b="0" i="0" dirty="0">
                <a:solidFill>
                  <a:srgbClr val="242424"/>
                </a:solidFill>
                <a:effectLst/>
                <a:latin typeface="source-serif-pro"/>
              </a:rPr>
              <a:t> </a:t>
            </a:r>
            <a:r>
              <a:rPr lang="en-ID" b="0" i="0" dirty="0" err="1">
                <a:solidFill>
                  <a:srgbClr val="242424"/>
                </a:solidFill>
                <a:effectLst/>
                <a:latin typeface="source-serif-pro"/>
              </a:rPr>
              <a:t>disebut</a:t>
            </a:r>
            <a:r>
              <a:rPr lang="en-ID" b="0" i="0" dirty="0">
                <a:solidFill>
                  <a:srgbClr val="242424"/>
                </a:solidFill>
                <a:effectLst/>
                <a:latin typeface="source-serif-pro"/>
              </a:rPr>
              <a:t> node Internal</a:t>
            </a:r>
          </a:p>
          <a:p>
            <a:pPr algn="l">
              <a:lnSpc>
                <a:spcPts val="2400"/>
              </a:lnSpc>
              <a:buFont typeface="Arial" panose="020B0604020202020204" pitchFamily="34" charset="0"/>
              <a:buChar char="•"/>
            </a:pPr>
            <a:r>
              <a:rPr lang="en-ID" b="0" i="1" dirty="0">
                <a:solidFill>
                  <a:srgbClr val="242424"/>
                </a:solidFill>
                <a:effectLst/>
                <a:latin typeface="source-serif-pro"/>
              </a:rPr>
              <a:t>Node Daun</a:t>
            </a:r>
            <a:r>
              <a:rPr lang="en-ID" b="0" i="0" dirty="0">
                <a:solidFill>
                  <a:srgbClr val="242424"/>
                </a:solidFill>
                <a:effectLst/>
                <a:latin typeface="source-serif-pro"/>
              </a:rPr>
              <a:t> : Node yang </a:t>
            </a:r>
            <a:r>
              <a:rPr lang="en-ID" b="0" i="0" dirty="0" err="1">
                <a:solidFill>
                  <a:srgbClr val="242424"/>
                </a:solidFill>
                <a:effectLst/>
                <a:latin typeface="source-serif-pro"/>
              </a:rPr>
              <a:t>setelahnya</a:t>
            </a:r>
            <a:r>
              <a:rPr lang="en-ID" b="0" i="0" dirty="0">
                <a:solidFill>
                  <a:srgbClr val="242424"/>
                </a:solidFill>
                <a:effectLst/>
                <a:latin typeface="source-serif-pro"/>
              </a:rPr>
              <a:t> </a:t>
            </a:r>
            <a:r>
              <a:rPr lang="en-ID" b="0" i="0" dirty="0" err="1">
                <a:solidFill>
                  <a:srgbClr val="242424"/>
                </a:solidFill>
                <a:effectLst/>
                <a:latin typeface="source-serif-pro"/>
              </a:rPr>
              <a:t>tidak</a:t>
            </a:r>
            <a:r>
              <a:rPr lang="en-ID" b="0" i="0" dirty="0">
                <a:solidFill>
                  <a:srgbClr val="242424"/>
                </a:solidFill>
                <a:effectLst/>
                <a:latin typeface="source-serif-pro"/>
              </a:rPr>
              <a:t> </a:t>
            </a:r>
            <a:r>
              <a:rPr lang="en-ID" b="0" i="0" dirty="0" err="1">
                <a:solidFill>
                  <a:srgbClr val="242424"/>
                </a:solidFill>
                <a:effectLst/>
                <a:latin typeface="source-serif-pro"/>
              </a:rPr>
              <a:t>dapat</a:t>
            </a:r>
            <a:r>
              <a:rPr lang="en-ID" b="0" i="0" dirty="0">
                <a:solidFill>
                  <a:srgbClr val="242424"/>
                </a:solidFill>
                <a:effectLst/>
                <a:latin typeface="source-serif-pro"/>
              </a:rPr>
              <a:t> </a:t>
            </a:r>
            <a:r>
              <a:rPr lang="en-ID" b="0" i="0" dirty="0" err="1">
                <a:solidFill>
                  <a:srgbClr val="242424"/>
                </a:solidFill>
                <a:effectLst/>
                <a:latin typeface="source-serif-pro"/>
              </a:rPr>
              <a:t>dipecah</a:t>
            </a:r>
            <a:r>
              <a:rPr lang="en-ID" b="0" i="0" dirty="0">
                <a:solidFill>
                  <a:srgbClr val="242424"/>
                </a:solidFill>
                <a:effectLst/>
                <a:latin typeface="source-serif-pro"/>
              </a:rPr>
              <a:t> </a:t>
            </a:r>
            <a:r>
              <a:rPr lang="en-ID" b="0" i="0" dirty="0" err="1">
                <a:solidFill>
                  <a:srgbClr val="242424"/>
                </a:solidFill>
                <a:effectLst/>
                <a:latin typeface="source-serif-pro"/>
              </a:rPr>
              <a:t>lagi</a:t>
            </a:r>
            <a:r>
              <a:rPr lang="en-ID" b="0" i="0" dirty="0">
                <a:solidFill>
                  <a:srgbClr val="242424"/>
                </a:solidFill>
                <a:effectLst/>
                <a:latin typeface="source-serif-pro"/>
              </a:rPr>
              <a:t> </a:t>
            </a:r>
            <a:r>
              <a:rPr lang="en-ID" b="0" i="0" dirty="0" err="1">
                <a:solidFill>
                  <a:srgbClr val="242424"/>
                </a:solidFill>
                <a:effectLst/>
                <a:latin typeface="source-serif-pro"/>
              </a:rPr>
              <a:t>disebut</a:t>
            </a:r>
            <a:r>
              <a:rPr lang="en-ID" b="0" i="0" dirty="0">
                <a:solidFill>
                  <a:srgbClr val="242424"/>
                </a:solidFill>
                <a:effectLst/>
                <a:latin typeface="source-serif-pro"/>
              </a:rPr>
              <a:t> node Daun </a:t>
            </a:r>
            <a:r>
              <a:rPr lang="en-ID" b="0" i="0" dirty="0" err="1">
                <a:solidFill>
                  <a:srgbClr val="242424"/>
                </a:solidFill>
                <a:effectLst/>
                <a:latin typeface="source-serif-pro"/>
              </a:rPr>
              <a:t>atau</a:t>
            </a:r>
            <a:r>
              <a:rPr lang="en-ID" b="0" i="0" dirty="0">
                <a:solidFill>
                  <a:srgbClr val="242424"/>
                </a:solidFill>
                <a:effectLst/>
                <a:latin typeface="source-serif-pro"/>
              </a:rPr>
              <a:t> node Terminal.</a:t>
            </a:r>
          </a:p>
          <a:p>
            <a:endParaRPr lang="en-ID"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54217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D" dirty="0" err="1"/>
              <a:t>bulu</a:t>
            </a:r>
            <a:r>
              <a:rPr lang="en-ID" dirty="0"/>
              <a:t>? </a:t>
            </a:r>
            <a:r>
              <a:rPr lang="en-ID" dirty="0" err="1"/>
              <a:t>sirip</a:t>
            </a:r>
            <a:endParaRPr dirty="0"/>
          </a:p>
        </p:txBody>
      </p:sp>
      <p:sp>
        <p:nvSpPr>
          <p:cNvPr id="297" name="Google Shape;2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D" b="0" i="0" dirty="0">
                <a:solidFill>
                  <a:srgbClr val="001D35"/>
                </a:solidFill>
                <a:effectLst/>
                <a:latin typeface="Google Sans"/>
              </a:rPr>
              <a:t>Gini Impurity </a:t>
            </a:r>
            <a:r>
              <a:rPr lang="en-ID" b="0" i="0" dirty="0" err="1">
                <a:solidFill>
                  <a:srgbClr val="001D35"/>
                </a:solidFill>
                <a:effectLst/>
                <a:latin typeface="Google Sans"/>
              </a:rPr>
              <a:t>dalam</a:t>
            </a:r>
            <a:r>
              <a:rPr lang="en-ID" b="0" i="0" dirty="0">
                <a:solidFill>
                  <a:srgbClr val="001D35"/>
                </a:solidFill>
                <a:effectLst/>
                <a:latin typeface="Google Sans"/>
              </a:rPr>
              <a:t> </a:t>
            </a:r>
            <a:r>
              <a:rPr lang="en-ID" b="0" i="0" dirty="0" err="1">
                <a:solidFill>
                  <a:srgbClr val="001D35"/>
                </a:solidFill>
                <a:effectLst/>
                <a:latin typeface="Google Sans"/>
              </a:rPr>
              <a:t>pohon</a:t>
            </a:r>
            <a:r>
              <a:rPr lang="en-ID" b="0" i="0" dirty="0">
                <a:solidFill>
                  <a:srgbClr val="001D35"/>
                </a:solidFill>
                <a:effectLst/>
                <a:latin typeface="Google Sans"/>
              </a:rPr>
              <a:t> </a:t>
            </a:r>
            <a:r>
              <a:rPr lang="en-ID" b="0" i="0" dirty="0" err="1">
                <a:solidFill>
                  <a:srgbClr val="001D35"/>
                </a:solidFill>
                <a:effectLst/>
                <a:latin typeface="Google Sans"/>
              </a:rPr>
              <a:t>keputusan</a:t>
            </a:r>
            <a:r>
              <a:rPr lang="en-ID" b="0" i="0" dirty="0">
                <a:solidFill>
                  <a:srgbClr val="001D35"/>
                </a:solidFill>
                <a:effectLst/>
                <a:latin typeface="Google Sans"/>
              </a:rPr>
              <a:t> (decision tree) </a:t>
            </a:r>
            <a:r>
              <a:rPr lang="en-ID" b="0" i="0" dirty="0" err="1">
                <a:solidFill>
                  <a:srgbClr val="001D35"/>
                </a:solidFill>
                <a:effectLst/>
                <a:latin typeface="Google Sans"/>
              </a:rPr>
              <a:t>adalah</a:t>
            </a:r>
            <a:r>
              <a:rPr lang="en-ID" b="0" i="0" dirty="0">
                <a:solidFill>
                  <a:srgbClr val="001D35"/>
                </a:solidFill>
                <a:effectLst/>
                <a:latin typeface="Google Sans"/>
              </a:rPr>
              <a:t> </a:t>
            </a:r>
            <a:r>
              <a:rPr lang="en-ID" b="0" i="0" dirty="0" err="1">
                <a:solidFill>
                  <a:srgbClr val="001D35"/>
                </a:solidFill>
                <a:effectLst/>
                <a:latin typeface="Google Sans"/>
              </a:rPr>
              <a:t>ukuran</a:t>
            </a:r>
            <a:r>
              <a:rPr lang="en-ID" b="0" i="0" dirty="0">
                <a:solidFill>
                  <a:srgbClr val="001D35"/>
                </a:solidFill>
                <a:effectLst/>
                <a:latin typeface="Google Sans"/>
              </a:rPr>
              <a:t> yang </a:t>
            </a:r>
            <a:r>
              <a:rPr lang="en-ID" b="0" i="0" dirty="0" err="1">
                <a:solidFill>
                  <a:srgbClr val="001D35"/>
                </a:solidFill>
                <a:effectLst/>
                <a:latin typeface="Google Sans"/>
              </a:rPr>
              <a:t>digunakan</a:t>
            </a:r>
            <a:r>
              <a:rPr lang="en-ID" b="0" i="0" dirty="0">
                <a:solidFill>
                  <a:srgbClr val="001D35"/>
                </a:solidFill>
                <a:effectLst/>
                <a:latin typeface="Google Sans"/>
              </a:rPr>
              <a:t> </a:t>
            </a:r>
            <a:r>
              <a:rPr lang="en-ID" b="0" i="0" dirty="0" err="1">
                <a:solidFill>
                  <a:srgbClr val="001D35"/>
                </a:solidFill>
                <a:effectLst/>
                <a:latin typeface="Google Sans"/>
              </a:rPr>
              <a:t>untuk</a:t>
            </a:r>
            <a:r>
              <a:rPr lang="en-ID" b="0" i="0" dirty="0">
                <a:solidFill>
                  <a:srgbClr val="001D35"/>
                </a:solidFill>
                <a:effectLst/>
                <a:latin typeface="Google Sans"/>
              </a:rPr>
              <a:t> </a:t>
            </a:r>
            <a:r>
              <a:rPr lang="en-ID" b="0" i="0" dirty="0" err="1">
                <a:solidFill>
                  <a:srgbClr val="001D35"/>
                </a:solidFill>
                <a:effectLst/>
                <a:latin typeface="Google Sans"/>
              </a:rPr>
              <a:t>menentukan</a:t>
            </a:r>
            <a:r>
              <a:rPr lang="en-ID" b="0" i="0" dirty="0">
                <a:solidFill>
                  <a:srgbClr val="001D35"/>
                </a:solidFill>
                <a:effectLst/>
                <a:latin typeface="Google Sans"/>
              </a:rPr>
              <a:t> </a:t>
            </a:r>
            <a:r>
              <a:rPr lang="en-ID" b="0" i="0" dirty="0" err="1">
                <a:solidFill>
                  <a:srgbClr val="001D35"/>
                </a:solidFill>
                <a:effectLst/>
                <a:latin typeface="Google Sans"/>
              </a:rPr>
              <a:t>bagaimana</a:t>
            </a:r>
            <a:r>
              <a:rPr lang="en-ID" b="0" i="0" dirty="0">
                <a:solidFill>
                  <a:srgbClr val="001D35"/>
                </a:solidFill>
                <a:effectLst/>
                <a:latin typeface="Google Sans"/>
              </a:rPr>
              <a:t> </a:t>
            </a:r>
            <a:r>
              <a:rPr lang="en-ID" b="0" i="0" dirty="0" err="1">
                <a:solidFill>
                  <a:srgbClr val="001D35"/>
                </a:solidFill>
                <a:effectLst/>
                <a:latin typeface="Google Sans"/>
              </a:rPr>
              <a:t>suatu</a:t>
            </a:r>
            <a:r>
              <a:rPr lang="en-ID" b="0" i="0" dirty="0">
                <a:solidFill>
                  <a:srgbClr val="001D35"/>
                </a:solidFill>
                <a:effectLst/>
                <a:latin typeface="Google Sans"/>
              </a:rPr>
              <a:t> </a:t>
            </a:r>
            <a:r>
              <a:rPr lang="en-ID" b="0" i="0" dirty="0" err="1">
                <a:solidFill>
                  <a:srgbClr val="001D35"/>
                </a:solidFill>
                <a:effectLst/>
                <a:latin typeface="Google Sans"/>
              </a:rPr>
              <a:t>fitur</a:t>
            </a:r>
            <a:r>
              <a:rPr lang="en-ID" b="0" i="0" dirty="0">
                <a:solidFill>
                  <a:srgbClr val="001D35"/>
                </a:solidFill>
                <a:effectLst/>
                <a:latin typeface="Google Sans"/>
              </a:rPr>
              <a:t> </a:t>
            </a:r>
            <a:r>
              <a:rPr lang="en-ID" b="0" i="0" dirty="0" err="1">
                <a:solidFill>
                  <a:srgbClr val="001D35"/>
                </a:solidFill>
                <a:effectLst/>
                <a:latin typeface="Google Sans"/>
              </a:rPr>
              <a:t>dari</a:t>
            </a:r>
            <a:r>
              <a:rPr lang="en-ID" b="0" i="0" dirty="0">
                <a:solidFill>
                  <a:srgbClr val="001D35"/>
                </a:solidFill>
                <a:effectLst/>
                <a:latin typeface="Google Sans"/>
              </a:rPr>
              <a:t> dataset </a:t>
            </a:r>
            <a:r>
              <a:rPr lang="en-ID" b="0" i="0" dirty="0" err="1">
                <a:solidFill>
                  <a:srgbClr val="001D35"/>
                </a:solidFill>
                <a:effectLst/>
                <a:latin typeface="Google Sans"/>
              </a:rPr>
              <a:t>harus</a:t>
            </a:r>
            <a:r>
              <a:rPr lang="en-ID" b="0" i="0" dirty="0">
                <a:solidFill>
                  <a:srgbClr val="001D35"/>
                </a:solidFill>
                <a:effectLst/>
                <a:latin typeface="Google Sans"/>
              </a:rPr>
              <a:t> </a:t>
            </a:r>
            <a:r>
              <a:rPr lang="en-ID" b="0" i="0" dirty="0" err="1">
                <a:solidFill>
                  <a:srgbClr val="001D35"/>
                </a:solidFill>
                <a:effectLst/>
                <a:latin typeface="Google Sans"/>
              </a:rPr>
              <a:t>membagi</a:t>
            </a:r>
            <a:r>
              <a:rPr lang="en-ID" b="0" i="0" dirty="0">
                <a:solidFill>
                  <a:srgbClr val="001D35"/>
                </a:solidFill>
                <a:effectLst/>
                <a:latin typeface="Google Sans"/>
              </a:rPr>
              <a:t> node (</a:t>
            </a:r>
            <a:r>
              <a:rPr lang="en-ID" b="0" i="0" dirty="0" err="1">
                <a:solidFill>
                  <a:srgbClr val="001D35"/>
                </a:solidFill>
                <a:effectLst/>
                <a:latin typeface="Google Sans"/>
              </a:rPr>
              <a:t>simpul</a:t>
            </a:r>
            <a:r>
              <a:rPr lang="en-ID" b="0" i="0" dirty="0">
                <a:solidFill>
                  <a:srgbClr val="001D35"/>
                </a:solidFill>
                <a:effectLst/>
                <a:latin typeface="Google Sans"/>
              </a:rPr>
              <a:t>) </a:t>
            </a:r>
            <a:r>
              <a:rPr lang="en-ID" b="0" i="0" dirty="0" err="1">
                <a:solidFill>
                  <a:srgbClr val="001D35"/>
                </a:solidFill>
                <a:effectLst/>
                <a:latin typeface="Google Sans"/>
              </a:rPr>
              <a:t>untuk</a:t>
            </a:r>
            <a:r>
              <a:rPr lang="en-ID" b="0" i="0" dirty="0">
                <a:solidFill>
                  <a:srgbClr val="001D35"/>
                </a:solidFill>
                <a:effectLst/>
                <a:latin typeface="Google Sans"/>
              </a:rPr>
              <a:t> </a:t>
            </a:r>
            <a:r>
              <a:rPr lang="en-ID" b="0" i="0" dirty="0" err="1">
                <a:solidFill>
                  <a:srgbClr val="001D35"/>
                </a:solidFill>
                <a:effectLst/>
                <a:latin typeface="Google Sans"/>
              </a:rPr>
              <a:t>membentuk</a:t>
            </a:r>
            <a:r>
              <a:rPr lang="en-ID" b="0" i="0" dirty="0">
                <a:solidFill>
                  <a:srgbClr val="001D35"/>
                </a:solidFill>
                <a:effectLst/>
                <a:latin typeface="Google Sans"/>
              </a:rPr>
              <a:t> </a:t>
            </a:r>
            <a:r>
              <a:rPr lang="en-ID" b="0" i="0" dirty="0" err="1">
                <a:solidFill>
                  <a:srgbClr val="001D35"/>
                </a:solidFill>
                <a:effectLst/>
                <a:latin typeface="Google Sans"/>
              </a:rPr>
              <a:t>pohon</a:t>
            </a:r>
            <a:r>
              <a:rPr lang="en-ID" b="0" i="0" dirty="0">
                <a:solidFill>
                  <a:srgbClr val="001D35"/>
                </a:solidFill>
                <a:effectLst/>
                <a:latin typeface="Google Sans"/>
              </a:rPr>
              <a:t>. </a:t>
            </a:r>
            <a:r>
              <a:rPr lang="en-ID" b="0" i="0" dirty="0" err="1">
                <a:solidFill>
                  <a:srgbClr val="001D35"/>
                </a:solidFill>
                <a:effectLst/>
                <a:latin typeface="Google Sans"/>
              </a:rPr>
              <a:t>Lebih</a:t>
            </a:r>
            <a:r>
              <a:rPr lang="en-ID" b="0" i="0" dirty="0">
                <a:solidFill>
                  <a:srgbClr val="001D35"/>
                </a:solidFill>
                <a:effectLst/>
                <a:latin typeface="Google Sans"/>
              </a:rPr>
              <a:t> </a:t>
            </a:r>
            <a:r>
              <a:rPr lang="en-ID" b="0" i="0" dirty="0" err="1">
                <a:solidFill>
                  <a:srgbClr val="001D35"/>
                </a:solidFill>
                <a:effectLst/>
                <a:latin typeface="Google Sans"/>
              </a:rPr>
              <a:t>tepatnya</a:t>
            </a:r>
            <a:r>
              <a:rPr lang="en-ID" b="0" i="0" dirty="0">
                <a:solidFill>
                  <a:srgbClr val="001D35"/>
                </a:solidFill>
                <a:effectLst/>
                <a:latin typeface="Google Sans"/>
              </a:rPr>
              <a:t>, Gini Impurity </a:t>
            </a:r>
            <a:r>
              <a:rPr lang="en-ID" b="0" i="0" dirty="0" err="1">
                <a:solidFill>
                  <a:srgbClr val="001D35"/>
                </a:solidFill>
                <a:effectLst/>
                <a:latin typeface="Google Sans"/>
              </a:rPr>
              <a:t>mengukur</a:t>
            </a:r>
            <a:r>
              <a:rPr lang="en-ID" b="0" i="0" dirty="0">
                <a:solidFill>
                  <a:srgbClr val="001D35"/>
                </a:solidFill>
                <a:effectLst/>
                <a:latin typeface="Google Sans"/>
              </a:rPr>
              <a:t> </a:t>
            </a:r>
            <a:r>
              <a:rPr lang="en-ID" b="0" i="0" dirty="0" err="1">
                <a:solidFill>
                  <a:srgbClr val="001D35"/>
                </a:solidFill>
                <a:effectLst/>
                <a:latin typeface="Google Sans"/>
              </a:rPr>
              <a:t>tingkat</a:t>
            </a:r>
            <a:r>
              <a:rPr lang="en-ID" b="0" i="0" dirty="0">
                <a:solidFill>
                  <a:srgbClr val="001D35"/>
                </a:solidFill>
                <a:effectLst/>
                <a:latin typeface="Google Sans"/>
              </a:rPr>
              <a:t> </a:t>
            </a:r>
            <a:r>
              <a:rPr lang="en-ID" b="0" i="0" dirty="0" err="1">
                <a:solidFill>
                  <a:srgbClr val="001D35"/>
                </a:solidFill>
                <a:effectLst/>
                <a:latin typeface="Google Sans"/>
              </a:rPr>
              <a:t>ketidakmurnian</a:t>
            </a:r>
            <a:r>
              <a:rPr lang="en-ID" b="0" i="0" dirty="0">
                <a:solidFill>
                  <a:srgbClr val="001D35"/>
                </a:solidFill>
                <a:effectLst/>
                <a:latin typeface="Google Sans"/>
              </a:rPr>
              <a:t> </a:t>
            </a:r>
            <a:r>
              <a:rPr lang="en-ID" b="0" i="0" dirty="0" err="1">
                <a:solidFill>
                  <a:srgbClr val="001D35"/>
                </a:solidFill>
                <a:effectLst/>
                <a:latin typeface="Google Sans"/>
              </a:rPr>
              <a:t>atau</a:t>
            </a:r>
            <a:r>
              <a:rPr lang="en-ID" b="0" i="0" dirty="0">
                <a:solidFill>
                  <a:srgbClr val="001D35"/>
                </a:solidFill>
                <a:effectLst/>
                <a:latin typeface="Google Sans"/>
              </a:rPr>
              <a:t> </a:t>
            </a:r>
            <a:r>
              <a:rPr lang="en-ID" b="0" i="0" dirty="0" err="1">
                <a:solidFill>
                  <a:srgbClr val="001D35"/>
                </a:solidFill>
                <a:effectLst/>
                <a:latin typeface="Google Sans"/>
              </a:rPr>
              <a:t>ketidakteraturan</a:t>
            </a:r>
            <a:r>
              <a:rPr lang="en-ID" b="0" i="0" dirty="0">
                <a:solidFill>
                  <a:srgbClr val="001D35"/>
                </a:solidFill>
                <a:effectLst/>
                <a:latin typeface="Google Sans"/>
              </a:rPr>
              <a:t> </a:t>
            </a:r>
            <a:r>
              <a:rPr lang="en-ID" b="0" i="0" dirty="0" err="1">
                <a:solidFill>
                  <a:srgbClr val="001D35"/>
                </a:solidFill>
                <a:effectLst/>
                <a:latin typeface="Google Sans"/>
              </a:rPr>
              <a:t>dalam</a:t>
            </a:r>
            <a:r>
              <a:rPr lang="en-ID" b="0" i="0" dirty="0">
                <a:solidFill>
                  <a:srgbClr val="001D35"/>
                </a:solidFill>
                <a:effectLst/>
                <a:latin typeface="Google Sans"/>
              </a:rPr>
              <a:t> </a:t>
            </a:r>
            <a:r>
              <a:rPr lang="en-ID" b="0" i="0" dirty="0" err="1">
                <a:solidFill>
                  <a:srgbClr val="001D35"/>
                </a:solidFill>
                <a:effectLst/>
                <a:latin typeface="Google Sans"/>
              </a:rPr>
              <a:t>kumpulan</a:t>
            </a:r>
            <a:r>
              <a:rPr lang="en-ID" b="0" i="0" dirty="0">
                <a:solidFill>
                  <a:srgbClr val="001D35"/>
                </a:solidFill>
                <a:effectLst/>
                <a:latin typeface="Google Sans"/>
              </a:rPr>
              <a:t> data, yang </a:t>
            </a:r>
            <a:r>
              <a:rPr lang="en-ID" b="0" i="0" dirty="0" err="1">
                <a:solidFill>
                  <a:srgbClr val="001D35"/>
                </a:solidFill>
                <a:effectLst/>
                <a:latin typeface="Google Sans"/>
              </a:rPr>
              <a:t>menunjukkan</a:t>
            </a:r>
            <a:r>
              <a:rPr lang="en-ID" b="0" i="0" dirty="0">
                <a:solidFill>
                  <a:srgbClr val="001D35"/>
                </a:solidFill>
                <a:effectLst/>
                <a:latin typeface="Google Sans"/>
              </a:rPr>
              <a:t> </a:t>
            </a:r>
            <a:r>
              <a:rPr lang="en-ID" b="0" i="0" dirty="0" err="1">
                <a:solidFill>
                  <a:srgbClr val="001D35"/>
                </a:solidFill>
                <a:effectLst/>
                <a:latin typeface="Google Sans"/>
              </a:rPr>
              <a:t>seberapa</a:t>
            </a:r>
            <a:r>
              <a:rPr lang="en-ID" b="0" i="0" dirty="0">
                <a:solidFill>
                  <a:srgbClr val="001D35"/>
                </a:solidFill>
                <a:effectLst/>
                <a:latin typeface="Google Sans"/>
              </a:rPr>
              <a:t> </a:t>
            </a:r>
            <a:r>
              <a:rPr lang="en-ID" b="0" i="0" dirty="0" err="1">
                <a:solidFill>
                  <a:srgbClr val="001D35"/>
                </a:solidFill>
                <a:effectLst/>
                <a:latin typeface="Google Sans"/>
              </a:rPr>
              <a:t>besar</a:t>
            </a:r>
            <a:r>
              <a:rPr lang="en-ID" b="0" i="0" dirty="0">
                <a:solidFill>
                  <a:srgbClr val="001D35"/>
                </a:solidFill>
                <a:effectLst/>
                <a:latin typeface="Google Sans"/>
              </a:rPr>
              <a:t> </a:t>
            </a:r>
            <a:r>
              <a:rPr lang="en-ID" b="0" i="0" dirty="0" err="1">
                <a:solidFill>
                  <a:srgbClr val="001D35"/>
                </a:solidFill>
                <a:effectLst/>
                <a:latin typeface="Google Sans"/>
              </a:rPr>
              <a:t>kemungkinan</a:t>
            </a:r>
            <a:r>
              <a:rPr lang="en-ID" b="0" i="0" dirty="0">
                <a:solidFill>
                  <a:srgbClr val="001D35"/>
                </a:solidFill>
                <a:effectLst/>
                <a:latin typeface="Google Sans"/>
              </a:rPr>
              <a:t> </a:t>
            </a:r>
            <a:r>
              <a:rPr lang="en-ID" b="0" i="0" dirty="0" err="1">
                <a:solidFill>
                  <a:srgbClr val="001D35"/>
                </a:solidFill>
                <a:effectLst/>
                <a:latin typeface="Google Sans"/>
              </a:rPr>
              <a:t>sebuah</a:t>
            </a:r>
            <a:r>
              <a:rPr lang="en-ID" b="0" i="0" dirty="0">
                <a:solidFill>
                  <a:srgbClr val="001D35"/>
                </a:solidFill>
                <a:effectLst/>
                <a:latin typeface="Google Sans"/>
              </a:rPr>
              <a:t> </a:t>
            </a:r>
            <a:r>
              <a:rPr lang="en-ID" b="0" i="0" dirty="0" err="1">
                <a:solidFill>
                  <a:srgbClr val="001D35"/>
                </a:solidFill>
                <a:effectLst/>
                <a:latin typeface="Google Sans"/>
              </a:rPr>
              <a:t>elemen</a:t>
            </a:r>
            <a:r>
              <a:rPr lang="en-ID" b="0" i="0" dirty="0">
                <a:solidFill>
                  <a:srgbClr val="001D35"/>
                </a:solidFill>
                <a:effectLst/>
                <a:latin typeface="Google Sans"/>
              </a:rPr>
              <a:t> yang </a:t>
            </a:r>
            <a:r>
              <a:rPr lang="en-ID" b="0" i="0" dirty="0" err="1">
                <a:solidFill>
                  <a:srgbClr val="001D35"/>
                </a:solidFill>
                <a:effectLst/>
                <a:latin typeface="Google Sans"/>
              </a:rPr>
              <a:t>dipilih</a:t>
            </a:r>
            <a:r>
              <a:rPr lang="en-ID" b="0" i="0" dirty="0">
                <a:solidFill>
                  <a:srgbClr val="001D35"/>
                </a:solidFill>
                <a:effectLst/>
                <a:latin typeface="Google Sans"/>
              </a:rPr>
              <a:t> </a:t>
            </a:r>
            <a:r>
              <a:rPr lang="en-ID" b="0" i="0" dirty="0" err="1">
                <a:solidFill>
                  <a:srgbClr val="001D35"/>
                </a:solidFill>
                <a:effectLst/>
                <a:latin typeface="Google Sans"/>
              </a:rPr>
              <a:t>secara</a:t>
            </a:r>
            <a:r>
              <a:rPr lang="en-ID" b="0" i="0" dirty="0">
                <a:solidFill>
                  <a:srgbClr val="001D35"/>
                </a:solidFill>
                <a:effectLst/>
                <a:latin typeface="Google Sans"/>
              </a:rPr>
              <a:t> </a:t>
            </a:r>
            <a:r>
              <a:rPr lang="en-ID" b="0" i="0" dirty="0" err="1">
                <a:solidFill>
                  <a:srgbClr val="001D35"/>
                </a:solidFill>
                <a:effectLst/>
                <a:latin typeface="Google Sans"/>
              </a:rPr>
              <a:t>acak</a:t>
            </a:r>
            <a:r>
              <a:rPr lang="en-ID" b="0" i="0" dirty="0">
                <a:solidFill>
                  <a:srgbClr val="001D35"/>
                </a:solidFill>
                <a:effectLst/>
                <a:latin typeface="Google Sans"/>
              </a:rPr>
              <a:t> </a:t>
            </a:r>
            <a:r>
              <a:rPr lang="en-ID" b="0" i="0" dirty="0" err="1">
                <a:solidFill>
                  <a:srgbClr val="001D35"/>
                </a:solidFill>
                <a:effectLst/>
                <a:latin typeface="Google Sans"/>
              </a:rPr>
              <a:t>akan</a:t>
            </a:r>
            <a:r>
              <a:rPr lang="en-ID" b="0" i="0" dirty="0">
                <a:solidFill>
                  <a:srgbClr val="001D35"/>
                </a:solidFill>
                <a:effectLst/>
                <a:latin typeface="Google Sans"/>
              </a:rPr>
              <a:t> </a:t>
            </a:r>
            <a:r>
              <a:rPr lang="en-ID" b="0" i="0" dirty="0" err="1">
                <a:solidFill>
                  <a:srgbClr val="001D35"/>
                </a:solidFill>
                <a:effectLst/>
                <a:latin typeface="Google Sans"/>
              </a:rPr>
              <a:t>diklasifikasikan</a:t>
            </a:r>
            <a:r>
              <a:rPr lang="en-ID" b="0" i="0" dirty="0">
                <a:solidFill>
                  <a:srgbClr val="001D35"/>
                </a:solidFill>
                <a:effectLst/>
                <a:latin typeface="Google Sans"/>
              </a:rPr>
              <a:t> </a:t>
            </a:r>
            <a:r>
              <a:rPr lang="en-ID" b="0" i="0" dirty="0" err="1">
                <a:solidFill>
                  <a:srgbClr val="001D35"/>
                </a:solidFill>
                <a:effectLst/>
                <a:latin typeface="Google Sans"/>
              </a:rPr>
              <a:t>dengan</a:t>
            </a:r>
            <a:r>
              <a:rPr lang="en-ID" b="0" i="0" dirty="0">
                <a:solidFill>
                  <a:srgbClr val="001D35"/>
                </a:solidFill>
                <a:effectLst/>
                <a:latin typeface="Google Sans"/>
              </a:rPr>
              <a:t> salah </a:t>
            </a:r>
            <a:r>
              <a:rPr lang="en-ID" b="0" i="0" dirty="0" err="1">
                <a:solidFill>
                  <a:srgbClr val="001D35"/>
                </a:solidFill>
                <a:effectLst/>
                <a:latin typeface="Google Sans"/>
              </a:rPr>
              <a:t>jika</a:t>
            </a:r>
            <a:r>
              <a:rPr lang="en-ID" b="0" i="0" dirty="0">
                <a:solidFill>
                  <a:srgbClr val="001D35"/>
                </a:solidFill>
                <a:effectLst/>
                <a:latin typeface="Google Sans"/>
              </a:rPr>
              <a:t> </a:t>
            </a:r>
            <a:r>
              <a:rPr lang="en-ID" b="0" i="0" dirty="0" err="1">
                <a:solidFill>
                  <a:srgbClr val="001D35"/>
                </a:solidFill>
                <a:effectLst/>
                <a:latin typeface="Google Sans"/>
              </a:rPr>
              <a:t>diberi</a:t>
            </a:r>
            <a:r>
              <a:rPr lang="en-ID" b="0" i="0" dirty="0">
                <a:solidFill>
                  <a:srgbClr val="001D35"/>
                </a:solidFill>
                <a:effectLst/>
                <a:latin typeface="Google Sans"/>
              </a:rPr>
              <a:t> label </a:t>
            </a:r>
            <a:r>
              <a:rPr lang="en-ID" b="0" i="0" dirty="0" err="1">
                <a:solidFill>
                  <a:srgbClr val="001D35"/>
                </a:solidFill>
                <a:effectLst/>
                <a:latin typeface="Google Sans"/>
              </a:rPr>
              <a:t>kelas</a:t>
            </a:r>
            <a:r>
              <a:rPr lang="en-ID" b="0" i="0" dirty="0">
                <a:solidFill>
                  <a:srgbClr val="001D35"/>
                </a:solidFill>
                <a:effectLst/>
                <a:latin typeface="Google Sans"/>
              </a:rPr>
              <a:t> </a:t>
            </a:r>
            <a:r>
              <a:rPr lang="en-ID" b="0" i="0" dirty="0" err="1">
                <a:solidFill>
                  <a:srgbClr val="001D35"/>
                </a:solidFill>
                <a:effectLst/>
                <a:latin typeface="Google Sans"/>
              </a:rPr>
              <a:t>secara</a:t>
            </a:r>
            <a:r>
              <a:rPr lang="en-ID" b="0" i="0" dirty="0">
                <a:solidFill>
                  <a:srgbClr val="001D35"/>
                </a:solidFill>
                <a:effectLst/>
                <a:latin typeface="Google Sans"/>
              </a:rPr>
              <a:t> </a:t>
            </a:r>
            <a:r>
              <a:rPr lang="en-ID" b="0" i="0" dirty="0" err="1">
                <a:solidFill>
                  <a:srgbClr val="001D35"/>
                </a:solidFill>
                <a:effectLst/>
                <a:latin typeface="Google Sans"/>
              </a:rPr>
              <a:t>acak</a:t>
            </a:r>
            <a:r>
              <a:rPr lang="en-ID" b="0" i="0" dirty="0">
                <a:solidFill>
                  <a:srgbClr val="001D35"/>
                </a:solidFill>
                <a:effectLst/>
                <a:latin typeface="Google Sans"/>
              </a:rPr>
              <a:t>. </a:t>
            </a:r>
            <a:endParaRPr dirty="0"/>
          </a:p>
        </p:txBody>
      </p:sp>
      <p:sp>
        <p:nvSpPr>
          <p:cNvPr id="316" name="Google Shape;31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lnSpc>
                <a:spcPts val="2400"/>
              </a:lnSpc>
              <a:buFont typeface="Arial" panose="020B0604020202020204" pitchFamily="34" charset="0"/>
              <a:buChar char="•"/>
            </a:pPr>
            <a:r>
              <a:rPr lang="en-ID" b="0" i="0" dirty="0" err="1">
                <a:solidFill>
                  <a:srgbClr val="242424"/>
                </a:solidFill>
                <a:effectLst/>
                <a:latin typeface="source-serif-pro"/>
              </a:rPr>
              <a:t>Kisaran</a:t>
            </a:r>
            <a:r>
              <a:rPr lang="en-ID" b="0" i="0" dirty="0">
                <a:solidFill>
                  <a:srgbClr val="242424"/>
                </a:solidFill>
                <a:effectLst/>
                <a:latin typeface="source-serif-pro"/>
              </a:rPr>
              <a:t> </a:t>
            </a:r>
            <a:r>
              <a:rPr lang="en-ID" b="0" i="0" dirty="0" err="1">
                <a:solidFill>
                  <a:srgbClr val="242424"/>
                </a:solidFill>
                <a:effectLst/>
                <a:latin typeface="source-serif-pro"/>
              </a:rPr>
              <a:t>nilai</a:t>
            </a:r>
            <a:r>
              <a:rPr lang="en-ID" b="0" i="0" dirty="0">
                <a:solidFill>
                  <a:srgbClr val="242424"/>
                </a:solidFill>
                <a:effectLst/>
                <a:latin typeface="source-serif-pro"/>
              </a:rPr>
              <a:t> Gini Impurity </a:t>
            </a:r>
            <a:r>
              <a:rPr lang="en-ID" b="0" i="0" dirty="0" err="1">
                <a:solidFill>
                  <a:srgbClr val="242424"/>
                </a:solidFill>
                <a:effectLst/>
                <a:latin typeface="source-serif-pro"/>
              </a:rPr>
              <a:t>adalah</a:t>
            </a:r>
            <a:r>
              <a:rPr lang="en-ID" b="0" i="0" dirty="0">
                <a:solidFill>
                  <a:srgbClr val="242424"/>
                </a:solidFill>
                <a:effectLst/>
                <a:latin typeface="source-serif-pro"/>
              </a:rPr>
              <a:t> </a:t>
            </a:r>
            <a:r>
              <a:rPr lang="en-ID" b="0" i="0" dirty="0" err="1">
                <a:solidFill>
                  <a:srgbClr val="242424"/>
                </a:solidFill>
                <a:effectLst/>
                <a:latin typeface="source-serif-pro"/>
              </a:rPr>
              <a:t>antara</a:t>
            </a:r>
            <a:r>
              <a:rPr lang="en-ID" b="0" i="0" dirty="0">
                <a:solidFill>
                  <a:srgbClr val="242424"/>
                </a:solidFill>
                <a:effectLst/>
                <a:latin typeface="source-serif-pro"/>
              </a:rPr>
              <a:t> 0 </a:t>
            </a:r>
            <a:r>
              <a:rPr lang="en-ID" b="0" i="0" dirty="0" err="1">
                <a:solidFill>
                  <a:srgbClr val="242424"/>
                </a:solidFill>
                <a:effectLst/>
                <a:latin typeface="source-serif-pro"/>
              </a:rPr>
              <a:t>hingga</a:t>
            </a:r>
            <a:r>
              <a:rPr lang="en-ID" b="0" i="0" dirty="0">
                <a:solidFill>
                  <a:srgbClr val="242424"/>
                </a:solidFill>
                <a:effectLst/>
                <a:latin typeface="source-serif-pro"/>
              </a:rPr>
              <a:t> 0,5</a:t>
            </a:r>
          </a:p>
          <a:p>
            <a:pPr algn="l">
              <a:lnSpc>
                <a:spcPts val="2400"/>
              </a:lnSpc>
              <a:buFont typeface="Arial" panose="020B0604020202020204" pitchFamily="34" charset="0"/>
              <a:buChar char="•"/>
            </a:pPr>
            <a:r>
              <a:rPr lang="en-ID" b="0" i="0" dirty="0">
                <a:solidFill>
                  <a:srgbClr val="242424"/>
                </a:solidFill>
                <a:effectLst/>
                <a:latin typeface="source-serif-pro"/>
              </a:rPr>
              <a:t>Makin </a:t>
            </a:r>
            <a:r>
              <a:rPr lang="en-ID" b="0" i="0" dirty="0" err="1">
                <a:solidFill>
                  <a:srgbClr val="242424"/>
                </a:solidFill>
                <a:effectLst/>
                <a:latin typeface="source-serif-pro"/>
              </a:rPr>
              <a:t>kecil</a:t>
            </a:r>
            <a:r>
              <a:rPr lang="en-ID" b="0" i="0" dirty="0">
                <a:solidFill>
                  <a:srgbClr val="242424"/>
                </a:solidFill>
                <a:effectLst/>
                <a:latin typeface="source-serif-pro"/>
              </a:rPr>
              <a:t> Gini Impurity, </a:t>
            </a:r>
            <a:r>
              <a:rPr lang="en-ID" b="0" i="0" dirty="0" err="1">
                <a:solidFill>
                  <a:srgbClr val="242424"/>
                </a:solidFill>
                <a:effectLst/>
                <a:latin typeface="source-serif-pro"/>
              </a:rPr>
              <a:t>makin</a:t>
            </a:r>
            <a:r>
              <a:rPr lang="en-ID" b="0" i="0" dirty="0">
                <a:solidFill>
                  <a:srgbClr val="242424"/>
                </a:solidFill>
                <a:effectLst/>
                <a:latin typeface="source-serif-pro"/>
              </a:rPr>
              <a:t> </a:t>
            </a:r>
            <a:r>
              <a:rPr lang="en-ID" b="0" i="0" dirty="0" err="1">
                <a:solidFill>
                  <a:srgbClr val="242424"/>
                </a:solidFill>
                <a:effectLst/>
                <a:latin typeface="source-serif-pro"/>
              </a:rPr>
              <a:t>baik</a:t>
            </a:r>
            <a:r>
              <a:rPr lang="en-ID" b="0" i="0" dirty="0">
                <a:solidFill>
                  <a:srgbClr val="242424"/>
                </a:solidFill>
                <a:effectLst/>
                <a:latin typeface="source-serif-pro"/>
              </a:rPr>
              <a:t> pula </a:t>
            </a:r>
            <a:r>
              <a:rPr lang="en-ID" b="0" i="0" dirty="0" err="1">
                <a:solidFill>
                  <a:srgbClr val="242424"/>
                </a:solidFill>
                <a:effectLst/>
                <a:latin typeface="source-serif-pro"/>
              </a:rPr>
              <a:t>pembagiannya</a:t>
            </a:r>
            <a:r>
              <a:rPr lang="en-ID" b="0" i="0" dirty="0">
                <a:solidFill>
                  <a:srgbClr val="242424"/>
                </a:solidFill>
                <a:effectLst/>
                <a:latin typeface="source-serif-pro"/>
              </a:rPr>
              <a:t>.</a:t>
            </a:r>
          </a:p>
          <a:p>
            <a:pPr algn="l">
              <a:lnSpc>
                <a:spcPts val="2400"/>
              </a:lnSpc>
              <a:buFont typeface="Arial" panose="020B0604020202020204" pitchFamily="34" charset="0"/>
              <a:buChar char="•"/>
            </a:pPr>
            <a:r>
              <a:rPr lang="en-ID" b="0" i="0" dirty="0" err="1">
                <a:solidFill>
                  <a:srgbClr val="242424"/>
                </a:solidFill>
                <a:effectLst/>
                <a:latin typeface="source-serif-pro"/>
              </a:rPr>
              <a:t>Impuritas</a:t>
            </a:r>
            <a:r>
              <a:rPr lang="en-ID" b="0" i="0" dirty="0">
                <a:solidFill>
                  <a:srgbClr val="242424"/>
                </a:solidFill>
                <a:effectLst/>
                <a:latin typeface="source-serif-pro"/>
              </a:rPr>
              <a:t> Gini </a:t>
            </a:r>
            <a:r>
              <a:rPr lang="en-ID" b="0" i="0" dirty="0" err="1">
                <a:solidFill>
                  <a:srgbClr val="242424"/>
                </a:solidFill>
                <a:effectLst/>
                <a:latin typeface="source-serif-pro"/>
              </a:rPr>
              <a:t>sebesar</a:t>
            </a:r>
            <a:r>
              <a:rPr lang="en-ID" b="0" i="0" dirty="0">
                <a:solidFill>
                  <a:srgbClr val="242424"/>
                </a:solidFill>
                <a:effectLst/>
                <a:latin typeface="source-serif-pro"/>
              </a:rPr>
              <a:t> 0 </a:t>
            </a:r>
            <a:r>
              <a:rPr lang="en-ID" b="0" i="0" dirty="0" err="1">
                <a:solidFill>
                  <a:srgbClr val="242424"/>
                </a:solidFill>
                <a:effectLst/>
                <a:latin typeface="source-serif-pro"/>
              </a:rPr>
              <a:t>menunjukkan</a:t>
            </a:r>
            <a:r>
              <a:rPr lang="en-ID" b="0" i="0" dirty="0">
                <a:solidFill>
                  <a:srgbClr val="242424"/>
                </a:solidFill>
                <a:effectLst/>
                <a:latin typeface="source-serif-pro"/>
              </a:rPr>
              <a:t> </a:t>
            </a:r>
            <a:r>
              <a:rPr lang="en-ID" b="0" i="0" dirty="0" err="1">
                <a:solidFill>
                  <a:srgbClr val="242424"/>
                </a:solidFill>
                <a:effectLst/>
                <a:latin typeface="source-serif-pro"/>
              </a:rPr>
              <a:t>simpul</a:t>
            </a:r>
            <a:r>
              <a:rPr lang="en-ID" b="0" i="0" dirty="0">
                <a:solidFill>
                  <a:srgbClr val="242424"/>
                </a:solidFill>
                <a:effectLst/>
                <a:latin typeface="source-serif-pro"/>
              </a:rPr>
              <a:t> </a:t>
            </a:r>
            <a:r>
              <a:rPr lang="en-ID" b="0" i="0" dirty="0" err="1">
                <a:solidFill>
                  <a:srgbClr val="242424"/>
                </a:solidFill>
                <a:effectLst/>
                <a:latin typeface="source-serif-pro"/>
              </a:rPr>
              <a:t>murni</a:t>
            </a:r>
            <a:r>
              <a:rPr lang="en-ID" b="0" i="0" dirty="0">
                <a:solidFill>
                  <a:srgbClr val="242424"/>
                </a:solidFill>
                <a:effectLst/>
                <a:latin typeface="source-serif-pro"/>
              </a:rPr>
              <a:t> dan 0,5 </a:t>
            </a:r>
            <a:r>
              <a:rPr lang="en-ID" b="0" i="0" dirty="0" err="1">
                <a:solidFill>
                  <a:srgbClr val="242424"/>
                </a:solidFill>
                <a:effectLst/>
                <a:latin typeface="source-serif-pro"/>
              </a:rPr>
              <a:t>menunjukkan</a:t>
            </a:r>
            <a:r>
              <a:rPr lang="en-ID" b="0" i="0" dirty="0">
                <a:solidFill>
                  <a:srgbClr val="242424"/>
                </a:solidFill>
                <a:effectLst/>
                <a:latin typeface="source-serif-pro"/>
              </a:rPr>
              <a:t> </a:t>
            </a:r>
            <a:r>
              <a:rPr lang="en-ID" b="0" i="0" dirty="0" err="1">
                <a:solidFill>
                  <a:srgbClr val="242424"/>
                </a:solidFill>
                <a:effectLst/>
                <a:latin typeface="source-serif-pro"/>
              </a:rPr>
              <a:t>simpul</a:t>
            </a:r>
            <a:r>
              <a:rPr lang="en-ID" b="0" i="0" dirty="0">
                <a:solidFill>
                  <a:srgbClr val="242424"/>
                </a:solidFill>
                <a:effectLst/>
                <a:latin typeface="source-serif-pro"/>
              </a:rPr>
              <a:t> paling </a:t>
            </a:r>
            <a:r>
              <a:rPr lang="en-ID" b="0" i="0" dirty="0" err="1">
                <a:solidFill>
                  <a:srgbClr val="242424"/>
                </a:solidFill>
                <a:effectLst/>
                <a:latin typeface="source-serif-pro"/>
              </a:rPr>
              <a:t>tidak</a:t>
            </a:r>
            <a:r>
              <a:rPr lang="en-ID" b="0" i="0" dirty="0">
                <a:solidFill>
                  <a:srgbClr val="242424"/>
                </a:solidFill>
                <a:effectLst/>
                <a:latin typeface="source-serif-pro"/>
              </a:rPr>
              <a:t> </a:t>
            </a:r>
            <a:r>
              <a:rPr lang="en-ID" b="0" i="0" dirty="0" err="1">
                <a:solidFill>
                  <a:srgbClr val="242424"/>
                </a:solidFill>
                <a:effectLst/>
                <a:latin typeface="source-serif-pro"/>
              </a:rPr>
              <a:t>murni</a:t>
            </a:r>
            <a:r>
              <a:rPr lang="en-ID" b="0" i="0" dirty="0">
                <a:solidFill>
                  <a:srgbClr val="242424"/>
                </a:solidFill>
                <a:effectLst/>
                <a:latin typeface="source-serif-pro"/>
              </a:rPr>
              <a:t>.</a:t>
            </a:r>
          </a:p>
          <a:p>
            <a:pPr marL="0" lvl="0" indent="0" algn="l" rtl="0">
              <a:spcBef>
                <a:spcPts val="0"/>
              </a:spcBef>
              <a:spcAft>
                <a:spcPts val="0"/>
              </a:spcAft>
              <a:buNone/>
            </a:pPr>
            <a:endParaRPr lang="en-US" dirty="0"/>
          </a:p>
          <a:p>
            <a:pPr algn="l" fontAlgn="ctr">
              <a:lnSpc>
                <a:spcPts val="1800"/>
              </a:lnSpc>
              <a:spcBef>
                <a:spcPts val="750"/>
              </a:spcBef>
              <a:spcAft>
                <a:spcPts val="750"/>
              </a:spcAft>
              <a:buNone/>
            </a:pPr>
            <a:r>
              <a:rPr lang="en-US" b="0" i="0" dirty="0">
                <a:solidFill>
                  <a:srgbClr val="001D35"/>
                </a:solidFill>
                <a:effectLst/>
                <a:latin typeface="Google Sans"/>
              </a:rPr>
              <a:t>Let's say you have a dataset with 10 data points, and 6 belong to class A and 4 belong to class B. </a:t>
            </a:r>
            <a:endParaRPr lang="en-US" b="0" i="0" dirty="0">
              <a:solidFill>
                <a:srgbClr val="0B57D0"/>
              </a:solidFill>
              <a:effectLst/>
              <a:latin typeface="Google Sans"/>
            </a:endParaRPr>
          </a:p>
          <a:p>
            <a:pPr algn="l">
              <a:lnSpc>
                <a:spcPts val="1650"/>
              </a:lnSpc>
              <a:spcBef>
                <a:spcPts val="750"/>
              </a:spcBef>
              <a:spcAft>
                <a:spcPts val="600"/>
              </a:spcAft>
              <a:buFont typeface="+mj-lt"/>
              <a:buAutoNum type="arabicPeriod"/>
            </a:pPr>
            <a:r>
              <a:rPr lang="en-US" b="1" i="0" dirty="0">
                <a:solidFill>
                  <a:srgbClr val="001D35"/>
                </a:solidFill>
                <a:effectLst/>
                <a:latin typeface="Google Sans"/>
              </a:rPr>
              <a:t>Proportions:</a:t>
            </a:r>
            <a:endParaRPr lang="en-US" b="0" i="0" dirty="0">
              <a:solidFill>
                <a:srgbClr val="001D35"/>
              </a:solidFill>
              <a:effectLst/>
              <a:latin typeface="Google Sans"/>
            </a:endParaRPr>
          </a:p>
          <a:p>
            <a:pPr marL="742950" lvl="1" indent="-285750" algn="l">
              <a:lnSpc>
                <a:spcPts val="1650"/>
              </a:lnSpc>
              <a:spcBef>
                <a:spcPts val="750"/>
              </a:spcBef>
              <a:spcAft>
                <a:spcPts val="600"/>
              </a:spcAft>
              <a:buFont typeface="Arial" panose="020B0604020202020204" pitchFamily="34" charset="0"/>
              <a:buChar char="•"/>
            </a:pPr>
            <a:r>
              <a:rPr lang="en-US" b="0" i="0" dirty="0">
                <a:solidFill>
                  <a:srgbClr val="001D35"/>
                </a:solidFill>
                <a:effectLst/>
                <a:latin typeface="Google Sans"/>
              </a:rPr>
              <a:t>p(A) = 6/10 = 0.6</a:t>
            </a:r>
          </a:p>
          <a:p>
            <a:pPr marL="742950" lvl="1" indent="-285750" algn="l">
              <a:lnSpc>
                <a:spcPts val="1650"/>
              </a:lnSpc>
              <a:spcBef>
                <a:spcPts val="750"/>
              </a:spcBef>
              <a:spcAft>
                <a:spcPts val="1500"/>
              </a:spcAft>
              <a:buFont typeface="Arial" panose="020B0604020202020204" pitchFamily="34" charset="0"/>
              <a:buChar char="•"/>
            </a:pPr>
            <a:r>
              <a:rPr lang="en-US" b="0" i="0" dirty="0">
                <a:solidFill>
                  <a:srgbClr val="001D35"/>
                </a:solidFill>
                <a:effectLst/>
                <a:latin typeface="Google Sans"/>
              </a:rPr>
              <a:t>p(B) = 4/10 = 0.4</a:t>
            </a:r>
          </a:p>
          <a:p>
            <a:pPr algn="l">
              <a:lnSpc>
                <a:spcPts val="1650"/>
              </a:lnSpc>
              <a:spcBef>
                <a:spcPts val="750"/>
              </a:spcBef>
              <a:spcAft>
                <a:spcPts val="1500"/>
              </a:spcAft>
              <a:buFont typeface="+mj-lt"/>
              <a:buAutoNum type="arabicPeriod" startAt="2"/>
            </a:pPr>
            <a:r>
              <a:rPr lang="en-US" b="1" i="0" dirty="0">
                <a:solidFill>
                  <a:srgbClr val="001D35"/>
                </a:solidFill>
                <a:effectLst/>
                <a:latin typeface="Google Sans"/>
              </a:rPr>
              <a:t>Entropy Calculation:</a:t>
            </a:r>
            <a:endParaRPr lang="en-US" b="0" i="0" dirty="0">
              <a:solidFill>
                <a:srgbClr val="001D35"/>
              </a:solidFill>
              <a:effectLst/>
              <a:latin typeface="Google Sans"/>
            </a:endParaRPr>
          </a:p>
          <a:p>
            <a:pPr marL="742950" lvl="1" indent="-285750" algn="l">
              <a:lnSpc>
                <a:spcPts val="1650"/>
              </a:lnSpc>
              <a:spcBef>
                <a:spcPts val="750"/>
              </a:spcBef>
              <a:spcAft>
                <a:spcPts val="1500"/>
              </a:spcAft>
              <a:buFont typeface="Arial" panose="020B0604020202020204" pitchFamily="34" charset="0"/>
              <a:buChar char="•"/>
            </a:pPr>
            <a:r>
              <a:rPr lang="en-US" b="0" i="0" dirty="0">
                <a:solidFill>
                  <a:srgbClr val="001D35"/>
                </a:solidFill>
                <a:effectLst/>
                <a:latin typeface="Google Sans"/>
              </a:rPr>
              <a:t>Entropy(S) = - (0.6 * log_2(0.6) + 0.4 * log_2(0.4)) |-0,7369 | -1,3219</a:t>
            </a:r>
          </a:p>
          <a:p>
            <a:pPr marL="742950" lvl="1" indent="-285750" algn="l">
              <a:lnSpc>
                <a:spcPts val="1650"/>
              </a:lnSpc>
              <a:spcBef>
                <a:spcPts val="750"/>
              </a:spcBef>
              <a:spcAft>
                <a:spcPts val="1500"/>
              </a:spcAft>
              <a:buFont typeface="Arial" panose="020B0604020202020204" pitchFamily="34" charset="0"/>
              <a:buChar char="•"/>
            </a:pPr>
            <a:r>
              <a:rPr lang="en-US" b="0" i="0" dirty="0">
                <a:solidFill>
                  <a:srgbClr val="001D35"/>
                </a:solidFill>
                <a:effectLst/>
                <a:latin typeface="Google Sans"/>
              </a:rPr>
              <a:t>-0,44214 -0,52876</a:t>
            </a:r>
          </a:p>
          <a:p>
            <a:pPr marL="742950" lvl="1" indent="-285750" algn="l">
              <a:lnSpc>
                <a:spcPts val="1650"/>
              </a:lnSpc>
              <a:spcBef>
                <a:spcPts val="750"/>
              </a:spcBef>
              <a:spcAft>
                <a:spcPts val="1500"/>
              </a:spcAft>
              <a:buFont typeface="Arial" panose="020B0604020202020204" pitchFamily="34" charset="0"/>
              <a:buChar char="•"/>
            </a:pPr>
            <a:r>
              <a:rPr lang="en-US" b="0" i="0" dirty="0">
                <a:solidFill>
                  <a:srgbClr val="001D35"/>
                </a:solidFill>
                <a:effectLst/>
                <a:latin typeface="Google Sans"/>
              </a:rPr>
              <a:t>-(-0,97) = 0.97</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324" name="Google Shape;32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57" name="Google Shape;35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2">
  <p:cSld name="1_Cover 2">
    <p:spTree>
      <p:nvGrpSpPr>
        <p:cNvPr id="1" name="Shape 18"/>
        <p:cNvGrpSpPr/>
        <p:nvPr/>
      </p:nvGrpSpPr>
      <p:grpSpPr>
        <a:xfrm>
          <a:off x="0" y="0"/>
          <a:ext cx="0" cy="0"/>
          <a:chOff x="0" y="0"/>
          <a:chExt cx="0" cy="0"/>
        </a:xfrm>
      </p:grpSpPr>
      <p:sp>
        <p:nvSpPr>
          <p:cNvPr id="19" name="Google Shape;19;p22"/>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0" name="Google Shape;20;p22"/>
          <p:cNvSpPr>
            <a:spLocks noGrp="1"/>
          </p:cNvSpPr>
          <p:nvPr>
            <p:ph type="pic" idx="2"/>
          </p:nvPr>
        </p:nvSpPr>
        <p:spPr>
          <a:xfrm flipH="1">
            <a:off x="7384744" y="0"/>
            <a:ext cx="4807256" cy="6858000"/>
          </a:xfrm>
          <a:prstGeom prst="flowChartDelay">
            <a:avLst/>
          </a:prstGeom>
          <a:noFill/>
          <a:ln>
            <a:noFill/>
          </a:ln>
        </p:spPr>
      </p:sp>
      <p:grpSp>
        <p:nvGrpSpPr>
          <p:cNvPr id="21" name="Google Shape;21;p22"/>
          <p:cNvGrpSpPr/>
          <p:nvPr/>
        </p:nvGrpSpPr>
        <p:grpSpPr>
          <a:xfrm>
            <a:off x="159779" y="171572"/>
            <a:ext cx="1971606" cy="729735"/>
            <a:chOff x="648649" y="653143"/>
            <a:chExt cx="2138362" cy="791455"/>
          </a:xfrm>
        </p:grpSpPr>
        <p:sp>
          <p:nvSpPr>
            <p:cNvPr id="22" name="Google Shape;22;p22"/>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23" name="Google Shape;23;p22"/>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
        <p:nvSpPr>
          <p:cNvPr id="24" name="Google Shape;24;p22"/>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2"/>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2"/>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2"/>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8" name="Google Shape;28;p22"/>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opik (Sebelum UTS)">
  <p:cSld name="Topik (Sebelum UTS)">
    <p:spTree>
      <p:nvGrpSpPr>
        <p:cNvPr id="1" name="Shape 39"/>
        <p:cNvGrpSpPr/>
        <p:nvPr/>
      </p:nvGrpSpPr>
      <p:grpSpPr>
        <a:xfrm>
          <a:off x="0" y="0"/>
          <a:ext cx="0" cy="0"/>
          <a:chOff x="0" y="0"/>
          <a:chExt cx="0" cy="0"/>
        </a:xfrm>
      </p:grpSpPr>
      <p:sp>
        <p:nvSpPr>
          <p:cNvPr id="40" name="Google Shape;4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41" name="Google Shape;41;p24"/>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42" name="Google Shape;42;p24"/>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24"/>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EB7020"/>
                </a:solidFill>
                <a:latin typeface="Twentieth Century"/>
                <a:ea typeface="Twentieth Century"/>
                <a:cs typeface="Twentieth Century"/>
                <a:sym typeface="Twentieth Century"/>
              </a:rPr>
              <a:t>Sesi 1</a:t>
            </a:r>
            <a:endParaRPr/>
          </a:p>
        </p:txBody>
      </p:sp>
      <p:sp>
        <p:nvSpPr>
          <p:cNvPr id="44" name="Google Shape;44;p24"/>
          <p:cNvSpPr/>
          <p:nvPr/>
        </p:nvSpPr>
        <p:spPr>
          <a:xfrm>
            <a:off x="3432142"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45" name="Google Shape;45;p24"/>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4"/>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2</a:t>
            </a:r>
            <a:endParaRPr/>
          </a:p>
        </p:txBody>
      </p:sp>
      <p:sp>
        <p:nvSpPr>
          <p:cNvPr id="47" name="Google Shape;47;p24"/>
          <p:cNvSpPr/>
          <p:nvPr/>
        </p:nvSpPr>
        <p:spPr>
          <a:xfrm>
            <a:off x="6226616"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48" name="Google Shape;48;p24"/>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4"/>
          <p:cNvSpPr txBox="1"/>
          <p:nvPr/>
        </p:nvSpPr>
        <p:spPr>
          <a:xfrm>
            <a:off x="6387656"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3</a:t>
            </a:r>
            <a:endParaRPr/>
          </a:p>
        </p:txBody>
      </p:sp>
      <p:sp>
        <p:nvSpPr>
          <p:cNvPr id="50" name="Google Shape;50;p24"/>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1" name="Google Shape;51;p24"/>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4"/>
          <p:cNvSpPr txBox="1"/>
          <p:nvPr/>
        </p:nvSpPr>
        <p:spPr>
          <a:xfrm>
            <a:off x="9179561"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4</a:t>
            </a:r>
            <a:endParaRPr/>
          </a:p>
        </p:txBody>
      </p:sp>
      <p:sp>
        <p:nvSpPr>
          <p:cNvPr id="53" name="Google Shape;53;p24"/>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4" name="Google Shape;54;p24"/>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4"/>
          <p:cNvSpPr txBox="1"/>
          <p:nvPr/>
        </p:nvSpPr>
        <p:spPr>
          <a:xfrm>
            <a:off x="801277"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5</a:t>
            </a:r>
            <a:endParaRPr/>
          </a:p>
        </p:txBody>
      </p:sp>
      <p:sp>
        <p:nvSpPr>
          <p:cNvPr id="56" name="Google Shape;56;p24"/>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7" name="Google Shape;57;p24"/>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4"/>
          <p:cNvSpPr txBox="1"/>
          <p:nvPr/>
        </p:nvSpPr>
        <p:spPr>
          <a:xfrm>
            <a:off x="3593182"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6</a:t>
            </a:r>
            <a:endParaRPr/>
          </a:p>
        </p:txBody>
      </p:sp>
      <p:sp>
        <p:nvSpPr>
          <p:cNvPr id="59" name="Google Shape;59;p24"/>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0" name="Google Shape;60;p24"/>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24"/>
          <p:cNvSpPr txBox="1"/>
          <p:nvPr/>
        </p:nvSpPr>
        <p:spPr>
          <a:xfrm>
            <a:off x="6387656"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7</a:t>
            </a:r>
            <a:endParaRPr/>
          </a:p>
        </p:txBody>
      </p:sp>
      <p:sp>
        <p:nvSpPr>
          <p:cNvPr id="62" name="Google Shape;62;p24"/>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3" name="Google Shape;63;p24"/>
          <p:cNvSpPr txBox="1"/>
          <p:nvPr/>
        </p:nvSpPr>
        <p:spPr>
          <a:xfrm>
            <a:off x="9179561" y="4139355"/>
            <a:ext cx="188276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Tengah</a:t>
            </a:r>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64" name="Google Shape;64;p24"/>
          <p:cNvSpPr/>
          <p:nvPr/>
        </p:nvSpPr>
        <p:spPr>
          <a:xfrm>
            <a:off x="571756" y="804529"/>
            <a:ext cx="382489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wentieth Century"/>
                <a:ea typeface="Twentieth Century"/>
                <a:cs typeface="Twentieth Century"/>
                <a:sym typeface="Twentieth Century"/>
              </a:rPr>
              <a:t>Topik Sebelum UTS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opik (Sebelum UAS)">
  <p:cSld name="Topik (Sebelum UAS)">
    <p:spTree>
      <p:nvGrpSpPr>
        <p:cNvPr id="1" name="Shape 65"/>
        <p:cNvGrpSpPr/>
        <p:nvPr/>
      </p:nvGrpSpPr>
      <p:grpSpPr>
        <a:xfrm>
          <a:off x="0" y="0"/>
          <a:ext cx="0" cy="0"/>
          <a:chOff x="0" y="0"/>
          <a:chExt cx="0" cy="0"/>
        </a:xfrm>
      </p:grpSpPr>
      <p:sp>
        <p:nvSpPr>
          <p:cNvPr id="66" name="Google Shape;6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67" name="Google Shape;67;p25"/>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8" name="Google Shape;68;p25"/>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5"/>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8</a:t>
            </a:r>
            <a:endParaRPr/>
          </a:p>
        </p:txBody>
      </p:sp>
      <p:sp>
        <p:nvSpPr>
          <p:cNvPr id="70" name="Google Shape;70;p25"/>
          <p:cNvSpPr/>
          <p:nvPr/>
        </p:nvSpPr>
        <p:spPr>
          <a:xfrm>
            <a:off x="3432142"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1" name="Google Shape;71;p25"/>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25"/>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9</a:t>
            </a:r>
            <a:endParaRPr/>
          </a:p>
        </p:txBody>
      </p:sp>
      <p:sp>
        <p:nvSpPr>
          <p:cNvPr id="73" name="Google Shape;73;p25"/>
          <p:cNvSpPr/>
          <p:nvPr/>
        </p:nvSpPr>
        <p:spPr>
          <a:xfrm>
            <a:off x="6226616"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4" name="Google Shape;74;p25"/>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p:nvPr/>
        </p:nvSpPr>
        <p:spPr>
          <a:xfrm>
            <a:off x="6387656"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10</a:t>
            </a:r>
            <a:endParaRPr/>
          </a:p>
        </p:txBody>
      </p:sp>
      <p:sp>
        <p:nvSpPr>
          <p:cNvPr id="76" name="Google Shape;76;p25"/>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7" name="Google Shape;77;p25"/>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5"/>
          <p:cNvSpPr txBox="1"/>
          <p:nvPr/>
        </p:nvSpPr>
        <p:spPr>
          <a:xfrm>
            <a:off x="9179561"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11</a:t>
            </a:r>
            <a:endParaRPr/>
          </a:p>
        </p:txBody>
      </p:sp>
      <p:sp>
        <p:nvSpPr>
          <p:cNvPr id="79" name="Google Shape;79;p25"/>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0" name="Google Shape;80;p25"/>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5"/>
          <p:cNvSpPr txBox="1"/>
          <p:nvPr/>
        </p:nvSpPr>
        <p:spPr>
          <a:xfrm>
            <a:off x="801277"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12</a:t>
            </a:r>
            <a:endParaRPr/>
          </a:p>
        </p:txBody>
      </p:sp>
      <p:sp>
        <p:nvSpPr>
          <p:cNvPr id="82" name="Google Shape;82;p25"/>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3" name="Google Shape;83;p25"/>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5"/>
          <p:cNvSpPr txBox="1"/>
          <p:nvPr/>
        </p:nvSpPr>
        <p:spPr>
          <a:xfrm>
            <a:off x="3593182"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13</a:t>
            </a:r>
            <a:endParaRPr/>
          </a:p>
        </p:txBody>
      </p:sp>
      <p:sp>
        <p:nvSpPr>
          <p:cNvPr id="85" name="Google Shape;85;p25"/>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6" name="Google Shape;86;p25"/>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5"/>
          <p:cNvSpPr txBox="1"/>
          <p:nvPr/>
        </p:nvSpPr>
        <p:spPr>
          <a:xfrm>
            <a:off x="6387656"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14</a:t>
            </a:r>
            <a:endParaRPr/>
          </a:p>
        </p:txBody>
      </p:sp>
      <p:sp>
        <p:nvSpPr>
          <p:cNvPr id="88" name="Google Shape;88;p25"/>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9" name="Google Shape;89;p25"/>
          <p:cNvSpPr txBox="1"/>
          <p:nvPr/>
        </p:nvSpPr>
        <p:spPr>
          <a:xfrm>
            <a:off x="9179561" y="4139355"/>
            <a:ext cx="164660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Akhir</a:t>
            </a:r>
            <a:endParaRPr sz="2400" b="1">
              <a:solidFill>
                <a:schemeClr val="lt1"/>
              </a:solidFill>
              <a:latin typeface="Twentieth Century"/>
              <a:ea typeface="Twentieth Century"/>
              <a:cs typeface="Twentieth Century"/>
              <a:sym typeface="Twentieth Century"/>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90" name="Google Shape;90;p25"/>
          <p:cNvSpPr/>
          <p:nvPr/>
        </p:nvSpPr>
        <p:spPr>
          <a:xfrm>
            <a:off x="571756" y="804529"/>
            <a:ext cx="391184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wentieth Century"/>
                <a:ea typeface="Twentieth Century"/>
                <a:cs typeface="Twentieth Century"/>
                <a:sym typeface="Twentieth Century"/>
              </a:rPr>
              <a:t>Topik Sebelum UAS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ujuan Pembelajaran">
  <p:cSld name="1_Tujuan Pembelajaran">
    <p:spTree>
      <p:nvGrpSpPr>
        <p:cNvPr id="1" name="Shape 91"/>
        <p:cNvGrpSpPr/>
        <p:nvPr/>
      </p:nvGrpSpPr>
      <p:grpSpPr>
        <a:xfrm>
          <a:off x="0" y="0"/>
          <a:ext cx="0" cy="0"/>
          <a:chOff x="0" y="0"/>
          <a:chExt cx="0" cy="0"/>
        </a:xfrm>
      </p:grpSpPr>
      <p:sp>
        <p:nvSpPr>
          <p:cNvPr id="92" name="Google Shape;9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93" name="Google Shape;93;p26"/>
          <p:cNvGrpSpPr/>
          <p:nvPr/>
        </p:nvGrpSpPr>
        <p:grpSpPr>
          <a:xfrm>
            <a:off x="753475" y="1125069"/>
            <a:ext cx="6438605" cy="769441"/>
            <a:chOff x="753475" y="569942"/>
            <a:chExt cx="6438605" cy="769441"/>
          </a:xfrm>
        </p:grpSpPr>
        <p:sp>
          <p:nvSpPr>
            <p:cNvPr id="94" name="Google Shape;94;p26"/>
            <p:cNvSpPr/>
            <p:nvPr/>
          </p:nvSpPr>
          <p:spPr>
            <a:xfrm>
              <a:off x="1282044" y="716437"/>
              <a:ext cx="5910035"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5" name="Google Shape;95;p26"/>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6" name="Google Shape;96;p26"/>
            <p:cNvSpPr/>
            <p:nvPr/>
          </p:nvSpPr>
          <p:spPr>
            <a:xfrm>
              <a:off x="1654410" y="569942"/>
              <a:ext cx="553767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Capaian Pembelajaran</a:t>
              </a:r>
              <a:endParaRPr sz="4400" b="1">
                <a:solidFill>
                  <a:schemeClr val="accent3"/>
                </a:solidFill>
                <a:latin typeface="Twentieth Century"/>
                <a:ea typeface="Twentieth Century"/>
                <a:cs typeface="Twentieth Century"/>
                <a:sym typeface="Twentieth Century"/>
              </a:endParaRPr>
            </a:p>
          </p:txBody>
        </p:sp>
        <p:pic>
          <p:nvPicPr>
            <p:cNvPr id="97" name="Google Shape;97;p26"/>
            <p:cNvPicPr preferRelativeResize="0"/>
            <p:nvPr/>
          </p:nvPicPr>
          <p:blipFill rotWithShape="1">
            <a:blip r:embed="rId2">
              <a:alphaModFix/>
            </a:blip>
            <a:srcRect/>
            <a:stretch/>
          </p:blipFill>
          <p:spPr>
            <a:xfrm>
              <a:off x="753475" y="649446"/>
              <a:ext cx="791900" cy="632821"/>
            </a:xfrm>
            <a:prstGeom prst="rect">
              <a:avLst/>
            </a:prstGeom>
            <a:noFill/>
            <a:ln>
              <a:noFill/>
            </a:ln>
          </p:spPr>
        </p:pic>
      </p:grpSp>
      <p:sp>
        <p:nvSpPr>
          <p:cNvPr id="98" name="Google Shape;98;p26"/>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 Topic 2">
  <p:cSld name="Sub Topic 2">
    <p:spTree>
      <p:nvGrpSpPr>
        <p:cNvPr id="1" name="Shape 99"/>
        <p:cNvGrpSpPr/>
        <p:nvPr/>
      </p:nvGrpSpPr>
      <p:grpSpPr>
        <a:xfrm>
          <a:off x="0" y="0"/>
          <a:ext cx="0" cy="0"/>
          <a:chOff x="0" y="0"/>
          <a:chExt cx="0" cy="0"/>
        </a:xfrm>
      </p:grpSpPr>
      <p:sp>
        <p:nvSpPr>
          <p:cNvPr id="100" name="Google Shape;100;p27"/>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01" name="Google Shape;101;p27"/>
          <p:cNvSpPr txBox="1">
            <a:spLocks noGrp="1"/>
          </p:cNvSpPr>
          <p:nvPr>
            <p:ph type="ctrTitle"/>
          </p:nvPr>
        </p:nvSpPr>
        <p:spPr>
          <a:xfrm>
            <a:off x="5824603" y="2217851"/>
            <a:ext cx="5529197" cy="192064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03" name="Google Shape;103;p27"/>
          <p:cNvSpPr>
            <a:spLocks noGrp="1"/>
          </p:cNvSpPr>
          <p:nvPr>
            <p:ph type="pic" idx="2"/>
          </p:nvPr>
        </p:nvSpPr>
        <p:spPr>
          <a:xfrm>
            <a:off x="0" y="499621"/>
            <a:ext cx="5316718" cy="5856730"/>
          </a:xfrm>
          <a:prstGeom prst="flowChartDelay">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1">
  <p:cSld name="Picture with Caption 1">
    <p:spTree>
      <p:nvGrpSpPr>
        <p:cNvPr id="1" name="Shape 104"/>
        <p:cNvGrpSpPr/>
        <p:nvPr/>
      </p:nvGrpSpPr>
      <p:grpSpPr>
        <a:xfrm>
          <a:off x="0" y="0"/>
          <a:ext cx="0" cy="0"/>
          <a:chOff x="0" y="0"/>
          <a:chExt cx="0" cy="0"/>
        </a:xfrm>
      </p:grpSpPr>
      <p:sp>
        <p:nvSpPr>
          <p:cNvPr id="105" name="Google Shape;105;p28"/>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06" name="Google Shape;106;p28"/>
          <p:cNvSpPr>
            <a:spLocks noGrp="1"/>
          </p:cNvSpPr>
          <p:nvPr>
            <p:ph type="pic" idx="2"/>
          </p:nvPr>
        </p:nvSpPr>
        <p:spPr>
          <a:xfrm>
            <a:off x="5183188" y="1107481"/>
            <a:ext cx="5900448" cy="4800705"/>
          </a:xfrm>
          <a:prstGeom prst="rect">
            <a:avLst/>
          </a:prstGeom>
          <a:noFill/>
          <a:ln>
            <a:noFill/>
          </a:ln>
        </p:spPr>
      </p:sp>
      <p:sp>
        <p:nvSpPr>
          <p:cNvPr id="107" name="Google Shape;10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08" name="Google Shape;108;p28"/>
          <p:cNvSpPr txBox="1">
            <a:spLocks noGrp="1"/>
          </p:cNvSpPr>
          <p:nvPr>
            <p:ph type="title"/>
          </p:nvPr>
        </p:nvSpPr>
        <p:spPr>
          <a:xfrm>
            <a:off x="802081" y="886379"/>
            <a:ext cx="3751066" cy="121815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C000"/>
              </a:buClr>
              <a:buSzPts val="3200"/>
              <a:buFont typeface="Twentieth Century"/>
              <a:buNone/>
              <a:defRPr sz="3200">
                <a:solidFill>
                  <a:srgbClr val="FFC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28"/>
          <p:cNvSpPr txBox="1">
            <a:spLocks noGrp="1"/>
          </p:cNvSpPr>
          <p:nvPr>
            <p:ph type="body" idx="1"/>
          </p:nvPr>
        </p:nvSpPr>
        <p:spPr>
          <a:xfrm>
            <a:off x="802081" y="2264241"/>
            <a:ext cx="3751066"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000"/>
              <a:buNone/>
              <a:defRPr sz="2000">
                <a:solidFill>
                  <a:schemeClr val="lt1"/>
                </a:solidFill>
              </a:defRPr>
            </a:lvl1pPr>
            <a:lvl2pPr marL="914400" lvl="1" indent="-228600" algn="just">
              <a:lnSpc>
                <a:spcPct val="90000"/>
              </a:lnSpc>
              <a:spcBef>
                <a:spcPts val="500"/>
              </a:spcBef>
              <a:spcAft>
                <a:spcPts val="0"/>
              </a:spcAft>
              <a:buClr>
                <a:srgbClr val="151515"/>
              </a:buClr>
              <a:buSzPts val="1400"/>
              <a:buNone/>
              <a:defRPr sz="1400"/>
            </a:lvl2pPr>
            <a:lvl3pPr marL="1371600" lvl="2" indent="-228600" algn="just">
              <a:lnSpc>
                <a:spcPct val="90000"/>
              </a:lnSpc>
              <a:spcBef>
                <a:spcPts val="500"/>
              </a:spcBef>
              <a:spcAft>
                <a:spcPts val="0"/>
              </a:spcAft>
              <a:buClr>
                <a:srgbClr val="151515"/>
              </a:buClr>
              <a:buSzPts val="1200"/>
              <a:buNone/>
              <a:defRPr sz="1200"/>
            </a:lvl3pPr>
            <a:lvl4pPr marL="1828800" lvl="3" indent="-228600" algn="just">
              <a:lnSpc>
                <a:spcPct val="90000"/>
              </a:lnSpc>
              <a:spcBef>
                <a:spcPts val="500"/>
              </a:spcBef>
              <a:spcAft>
                <a:spcPts val="0"/>
              </a:spcAft>
              <a:buClr>
                <a:srgbClr val="151515"/>
              </a:buClr>
              <a:buSzPts val="1000"/>
              <a:buNone/>
              <a:defRPr sz="1000"/>
            </a:lvl4pPr>
            <a:lvl5pPr marL="2286000" lvl="4" indent="-228600" algn="just">
              <a:lnSpc>
                <a:spcPct val="90000"/>
              </a:lnSpc>
              <a:spcBef>
                <a:spcPts val="500"/>
              </a:spcBef>
              <a:spcAft>
                <a:spcPts val="0"/>
              </a:spcAft>
              <a:buClr>
                <a:srgbClr val="151515"/>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110"/>
        <p:cNvGrpSpPr/>
        <p:nvPr/>
      </p:nvGrpSpPr>
      <p:grpSpPr>
        <a:xfrm>
          <a:off x="0" y="0"/>
          <a:ext cx="0" cy="0"/>
          <a:chOff x="0" y="0"/>
          <a:chExt cx="0" cy="0"/>
        </a:xfrm>
      </p:grpSpPr>
      <p:sp>
        <p:nvSpPr>
          <p:cNvPr id="111" name="Google Shape;111;p29"/>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2" name="Google Shape;112;p29"/>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p30"/>
          <p:cNvSpPr txBox="1">
            <a:spLocks noGrp="1"/>
          </p:cNvSpPr>
          <p:nvPr>
            <p:ph type="title"/>
          </p:nvPr>
        </p:nvSpPr>
        <p:spPr>
          <a:xfrm>
            <a:off x="838200" y="960120"/>
            <a:ext cx="10515600" cy="19316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5">
  <p:cSld name="Picture with Caption 5">
    <p:spTree>
      <p:nvGrpSpPr>
        <p:cNvPr id="1" name="Shape 117"/>
        <p:cNvGrpSpPr/>
        <p:nvPr/>
      </p:nvGrpSpPr>
      <p:grpSpPr>
        <a:xfrm>
          <a:off x="0" y="0"/>
          <a:ext cx="0" cy="0"/>
          <a:chOff x="0" y="0"/>
          <a:chExt cx="0" cy="0"/>
        </a:xfrm>
      </p:grpSpPr>
      <p:sp>
        <p:nvSpPr>
          <p:cNvPr id="118" name="Google Shape;118;p31"/>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19" name="Google Shape;119;p31"/>
          <p:cNvSpPr>
            <a:spLocks noGrp="1"/>
          </p:cNvSpPr>
          <p:nvPr>
            <p:ph type="pic" idx="2"/>
          </p:nvPr>
        </p:nvSpPr>
        <p:spPr>
          <a:xfrm>
            <a:off x="569929" y="886379"/>
            <a:ext cx="4888191" cy="5021807"/>
          </a:xfrm>
          <a:prstGeom prst="rect">
            <a:avLst/>
          </a:prstGeom>
          <a:noFill/>
          <a:ln>
            <a:noFill/>
          </a:ln>
        </p:spPr>
      </p:sp>
      <p:sp>
        <p:nvSpPr>
          <p:cNvPr id="120" name="Google Shape;12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21" name="Google Shape;121;p31"/>
          <p:cNvSpPr txBox="1">
            <a:spLocks noGrp="1"/>
          </p:cNvSpPr>
          <p:nvPr>
            <p:ph type="title"/>
          </p:nvPr>
        </p:nvSpPr>
        <p:spPr>
          <a:xfrm>
            <a:off x="5918477" y="886379"/>
            <a:ext cx="5280565"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31"/>
          <p:cNvSpPr txBox="1">
            <a:spLocks noGrp="1"/>
          </p:cNvSpPr>
          <p:nvPr>
            <p:ph type="body" idx="1"/>
          </p:nvPr>
        </p:nvSpPr>
        <p:spPr>
          <a:xfrm>
            <a:off x="5918477" y="2264241"/>
            <a:ext cx="5280565"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363636"/>
              </a:buClr>
              <a:buSzPts val="2000"/>
              <a:buNone/>
              <a:defRPr sz="2000">
                <a:solidFill>
                  <a:srgbClr val="363636"/>
                </a:solidFill>
              </a:defRPr>
            </a:lvl1pPr>
            <a:lvl2pPr marL="914400" lvl="1" indent="-228600" algn="just">
              <a:lnSpc>
                <a:spcPct val="90000"/>
              </a:lnSpc>
              <a:spcBef>
                <a:spcPts val="500"/>
              </a:spcBef>
              <a:spcAft>
                <a:spcPts val="0"/>
              </a:spcAft>
              <a:buClr>
                <a:srgbClr val="151515"/>
              </a:buClr>
              <a:buSzPts val="1400"/>
              <a:buNone/>
              <a:defRPr sz="1400"/>
            </a:lvl2pPr>
            <a:lvl3pPr marL="1371600" lvl="2" indent="-228600" algn="just">
              <a:lnSpc>
                <a:spcPct val="90000"/>
              </a:lnSpc>
              <a:spcBef>
                <a:spcPts val="500"/>
              </a:spcBef>
              <a:spcAft>
                <a:spcPts val="0"/>
              </a:spcAft>
              <a:buClr>
                <a:srgbClr val="151515"/>
              </a:buClr>
              <a:buSzPts val="1200"/>
              <a:buNone/>
              <a:defRPr sz="1200"/>
            </a:lvl3pPr>
            <a:lvl4pPr marL="1828800" lvl="3" indent="-228600" algn="just">
              <a:lnSpc>
                <a:spcPct val="90000"/>
              </a:lnSpc>
              <a:spcBef>
                <a:spcPts val="500"/>
              </a:spcBef>
              <a:spcAft>
                <a:spcPts val="0"/>
              </a:spcAft>
              <a:buClr>
                <a:srgbClr val="151515"/>
              </a:buClr>
              <a:buSzPts val="1000"/>
              <a:buNone/>
              <a:defRPr sz="1000"/>
            </a:lvl4pPr>
            <a:lvl5pPr marL="2286000" lvl="4" indent="-228600" algn="just">
              <a:lnSpc>
                <a:spcPct val="90000"/>
              </a:lnSpc>
              <a:spcBef>
                <a:spcPts val="500"/>
              </a:spcBef>
              <a:spcAft>
                <a:spcPts val="0"/>
              </a:spcAft>
              <a:buClr>
                <a:srgbClr val="151515"/>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enutup">
  <p:cSld name="Penutup">
    <p:spTree>
      <p:nvGrpSpPr>
        <p:cNvPr id="1" name="Shape 123"/>
        <p:cNvGrpSpPr/>
        <p:nvPr/>
      </p:nvGrpSpPr>
      <p:grpSpPr>
        <a:xfrm>
          <a:off x="0" y="0"/>
          <a:ext cx="0" cy="0"/>
          <a:chOff x="0" y="0"/>
          <a:chExt cx="0" cy="0"/>
        </a:xfrm>
      </p:grpSpPr>
      <p:pic>
        <p:nvPicPr>
          <p:cNvPr id="124" name="Google Shape;124;p32" descr="Business people  clapping their hands at the meeting Premium Photo"/>
          <p:cNvPicPr preferRelativeResize="0"/>
          <p:nvPr/>
        </p:nvPicPr>
        <p:blipFill rotWithShape="1">
          <a:blip r:embed="rId2">
            <a:alphaModFix/>
          </a:blip>
          <a:srcRect r="8529"/>
          <a:stretch/>
        </p:blipFill>
        <p:spPr>
          <a:xfrm>
            <a:off x="2790216" y="-5350"/>
            <a:ext cx="9401784" cy="6863350"/>
          </a:xfrm>
          <a:prstGeom prst="rect">
            <a:avLst/>
          </a:prstGeom>
          <a:noFill/>
          <a:ln>
            <a:noFill/>
          </a:ln>
        </p:spPr>
      </p:pic>
      <p:sp>
        <p:nvSpPr>
          <p:cNvPr id="125" name="Google Shape;125;p32"/>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26" name="Google Shape;126;p32"/>
          <p:cNvSpPr/>
          <p:nvPr/>
        </p:nvSpPr>
        <p:spPr>
          <a:xfrm>
            <a:off x="1500193" y="1347793"/>
            <a:ext cx="4162414" cy="4162414"/>
          </a:xfrm>
          <a:prstGeom prst="ellipse">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27" name="Google Shape;127;p32"/>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Twentieth Centur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28" name="Google Shape;128;p32"/>
          <p:cNvGrpSpPr/>
          <p:nvPr/>
        </p:nvGrpSpPr>
        <p:grpSpPr>
          <a:xfrm>
            <a:off x="159779" y="171572"/>
            <a:ext cx="1971606" cy="729735"/>
            <a:chOff x="648649" y="653143"/>
            <a:chExt cx="2138362" cy="791455"/>
          </a:xfrm>
        </p:grpSpPr>
        <p:sp>
          <p:nvSpPr>
            <p:cNvPr id="129" name="Google Shape;129;p32"/>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30" name="Google Shape;130;p32"/>
            <p:cNvPicPr preferRelativeResize="0"/>
            <p:nvPr/>
          </p:nvPicPr>
          <p:blipFill rotWithShape="1">
            <a:blip r:embed="rId3">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131"/>
        <p:cNvGrpSpPr/>
        <p:nvPr/>
      </p:nvGrpSpPr>
      <p:grpSpPr>
        <a:xfrm>
          <a:off x="0" y="0"/>
          <a:ext cx="0" cy="0"/>
          <a:chOff x="0" y="0"/>
          <a:chExt cx="0" cy="0"/>
        </a:xfrm>
      </p:grpSpPr>
      <p:sp>
        <p:nvSpPr>
          <p:cNvPr id="132" name="Google Shape;132;p33"/>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3" name="Google Shape;133;p33"/>
          <p:cNvSpPr>
            <a:spLocks noGrp="1"/>
          </p:cNvSpPr>
          <p:nvPr>
            <p:ph type="pic" idx="2"/>
          </p:nvPr>
        </p:nvSpPr>
        <p:spPr>
          <a:xfrm>
            <a:off x="0" y="814192"/>
            <a:ext cx="4509370" cy="5235878"/>
          </a:xfrm>
          <a:prstGeom prst="rect">
            <a:avLst/>
          </a:prstGeom>
          <a:noFill/>
          <a:ln>
            <a:noFill/>
          </a:ln>
        </p:spPr>
      </p:sp>
      <p:sp>
        <p:nvSpPr>
          <p:cNvPr id="134" name="Google Shape;13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135" name="Google Shape;135;p33"/>
          <p:cNvSpPr txBox="1">
            <a:spLocks noGrp="1"/>
          </p:cNvSpPr>
          <p:nvPr>
            <p:ph type="title"/>
          </p:nvPr>
        </p:nvSpPr>
        <p:spPr>
          <a:xfrm>
            <a:off x="4968465" y="161031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5400"/>
              <a:buFont typeface="Twentieth Century"/>
              <a:buNone/>
              <a:defRPr sz="5400" b="1">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33"/>
          <p:cNvSpPr txBox="1">
            <a:spLocks noGrp="1"/>
          </p:cNvSpPr>
          <p:nvPr>
            <p:ph type="body" idx="1"/>
          </p:nvPr>
        </p:nvSpPr>
        <p:spPr>
          <a:xfrm>
            <a:off x="4968465" y="453951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400"/>
              <a:buNone/>
              <a:defRPr sz="2400">
                <a:solidFill>
                  <a:srgbClr val="151515"/>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33"/>
          <p:cNvSpPr txBox="1">
            <a:spLocks noGrp="1"/>
          </p:cNvSpPr>
          <p:nvPr>
            <p:ph type="body" idx="3"/>
          </p:nvPr>
        </p:nvSpPr>
        <p:spPr>
          <a:xfrm>
            <a:off x="4968465" y="403445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33"/>
          <p:cNvSpPr/>
          <p:nvPr/>
        </p:nvSpPr>
        <p:spPr>
          <a:xfrm>
            <a:off x="4968465" y="3811581"/>
            <a:ext cx="1659545" cy="45719"/>
          </a:xfrm>
          <a:prstGeom prst="roundRect">
            <a:avLst>
              <a:gd name="adj" fmla="val 16667"/>
            </a:avLst>
          </a:prstGeom>
          <a:solidFill>
            <a:srgbClr val="EC7C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9" name="Google Shape;139;p33"/>
          <p:cNvSpPr txBox="1">
            <a:spLocks noGrp="1"/>
          </p:cNvSpPr>
          <p:nvPr>
            <p:ph type="body" idx="4"/>
          </p:nvPr>
        </p:nvSpPr>
        <p:spPr>
          <a:xfrm>
            <a:off x="4968464" y="110526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2">
  <p:cSld name="Cover 2">
    <p:spTree>
      <p:nvGrpSpPr>
        <p:cNvPr id="1" name="Shape 140"/>
        <p:cNvGrpSpPr/>
        <p:nvPr/>
      </p:nvGrpSpPr>
      <p:grpSpPr>
        <a:xfrm>
          <a:off x="0" y="0"/>
          <a:ext cx="0" cy="0"/>
          <a:chOff x="0" y="0"/>
          <a:chExt cx="0" cy="0"/>
        </a:xfrm>
      </p:grpSpPr>
      <p:sp>
        <p:nvSpPr>
          <p:cNvPr id="141" name="Google Shape;141;p34"/>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42" name="Google Shape;142;p34"/>
          <p:cNvSpPr>
            <a:spLocks noGrp="1"/>
          </p:cNvSpPr>
          <p:nvPr>
            <p:ph type="pic" idx="2"/>
          </p:nvPr>
        </p:nvSpPr>
        <p:spPr>
          <a:xfrm flipH="1">
            <a:off x="7384744" y="0"/>
            <a:ext cx="4807256" cy="6858000"/>
          </a:xfrm>
          <a:prstGeom prst="flowChartDelay">
            <a:avLst/>
          </a:prstGeom>
          <a:noFill/>
          <a:ln>
            <a:noFill/>
          </a:ln>
        </p:spPr>
      </p:sp>
      <p:grpSp>
        <p:nvGrpSpPr>
          <p:cNvPr id="143" name="Google Shape;143;p34"/>
          <p:cNvGrpSpPr/>
          <p:nvPr/>
        </p:nvGrpSpPr>
        <p:grpSpPr>
          <a:xfrm>
            <a:off x="159779" y="171572"/>
            <a:ext cx="1971606" cy="729735"/>
            <a:chOff x="648649" y="653143"/>
            <a:chExt cx="2138362" cy="791455"/>
          </a:xfrm>
        </p:grpSpPr>
        <p:sp>
          <p:nvSpPr>
            <p:cNvPr id="144" name="Google Shape;144;p34"/>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45" name="Google Shape;145;p34"/>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
        <p:nvSpPr>
          <p:cNvPr id="146" name="Google Shape;146;p34"/>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34"/>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34"/>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34"/>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0" name="Google Shape;150;p34"/>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endahuluan">
  <p:cSld name="Pendahuluan">
    <p:bg>
      <p:bgPr>
        <a:solidFill>
          <a:schemeClr val="lt1"/>
        </a:solidFill>
        <a:effectLst/>
      </p:bgPr>
    </p:bg>
    <p:spTree>
      <p:nvGrpSpPr>
        <p:cNvPr id="1" name="Shape 151"/>
        <p:cNvGrpSpPr/>
        <p:nvPr/>
      </p:nvGrpSpPr>
      <p:grpSpPr>
        <a:xfrm>
          <a:off x="0" y="0"/>
          <a:ext cx="0" cy="0"/>
          <a:chOff x="0" y="0"/>
          <a:chExt cx="0" cy="0"/>
        </a:xfrm>
      </p:grpSpPr>
      <p:sp>
        <p:nvSpPr>
          <p:cNvPr id="152" name="Google Shape;152;p35"/>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3" name="Google Shape;153;p35"/>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55" name="Google Shape;155;p35"/>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6" name="Google Shape;156;p35"/>
          <p:cNvSpPr/>
          <p:nvPr/>
        </p:nvSpPr>
        <p:spPr>
          <a:xfrm>
            <a:off x="1654410" y="569942"/>
            <a:ext cx="3273525"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Pendahuluan</a:t>
            </a:r>
            <a:endParaRPr sz="4400" b="1">
              <a:solidFill>
                <a:schemeClr val="dk1"/>
              </a:solidFill>
              <a:latin typeface="Twentieth Century"/>
              <a:ea typeface="Twentieth Century"/>
              <a:cs typeface="Twentieth Century"/>
              <a:sym typeface="Twentieth Century"/>
            </a:endParaRPr>
          </a:p>
        </p:txBody>
      </p:sp>
      <p:pic>
        <p:nvPicPr>
          <p:cNvPr id="157" name="Google Shape;157;p35"/>
          <p:cNvPicPr preferRelativeResize="0"/>
          <p:nvPr/>
        </p:nvPicPr>
        <p:blipFill rotWithShape="1">
          <a:blip r:embed="rId2">
            <a:alphaModFix/>
          </a:blip>
          <a:srcRect/>
          <a:stretch/>
        </p:blipFill>
        <p:spPr>
          <a:xfrm>
            <a:off x="883077" y="544975"/>
            <a:ext cx="665176" cy="76237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ujuan Pembelajaran">
  <p:cSld name="Tujuan Pembelajaran">
    <p:spTree>
      <p:nvGrpSpPr>
        <p:cNvPr id="1" name="Shape 158"/>
        <p:cNvGrpSpPr/>
        <p:nvPr/>
      </p:nvGrpSpPr>
      <p:grpSpPr>
        <a:xfrm>
          <a:off x="0" y="0"/>
          <a:ext cx="0" cy="0"/>
          <a:chOff x="0" y="0"/>
          <a:chExt cx="0" cy="0"/>
        </a:xfrm>
      </p:grpSpPr>
      <p:sp>
        <p:nvSpPr>
          <p:cNvPr id="159" name="Google Shape;159;p36"/>
          <p:cNvSpPr/>
          <p:nvPr/>
        </p:nvSpPr>
        <p:spPr>
          <a:xfrm>
            <a:off x="1282044" y="716437"/>
            <a:ext cx="5910035"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0" name="Google Shape;160;p36"/>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62" name="Google Shape;162;p36"/>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3" name="Google Shape;163;p36"/>
          <p:cNvSpPr/>
          <p:nvPr/>
        </p:nvSpPr>
        <p:spPr>
          <a:xfrm>
            <a:off x="1654410" y="569942"/>
            <a:ext cx="553767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Capaian Pembelajaran</a:t>
            </a:r>
            <a:endParaRPr sz="4400" b="1">
              <a:solidFill>
                <a:schemeClr val="dk1"/>
              </a:solidFill>
              <a:latin typeface="Twentieth Century"/>
              <a:ea typeface="Twentieth Century"/>
              <a:cs typeface="Twentieth Century"/>
              <a:sym typeface="Twentieth Century"/>
            </a:endParaRPr>
          </a:p>
        </p:txBody>
      </p:sp>
      <p:pic>
        <p:nvPicPr>
          <p:cNvPr id="164" name="Google Shape;164;p36"/>
          <p:cNvPicPr preferRelativeResize="0"/>
          <p:nvPr/>
        </p:nvPicPr>
        <p:blipFill rotWithShape="1">
          <a:blip r:embed="rId2">
            <a:alphaModFix/>
          </a:blip>
          <a:srcRect/>
          <a:stretch/>
        </p:blipFill>
        <p:spPr>
          <a:xfrm>
            <a:off x="753475" y="649446"/>
            <a:ext cx="791900" cy="63282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Komponen Penilaian">
  <p:cSld name="Komponen Penilaian">
    <p:spTree>
      <p:nvGrpSpPr>
        <p:cNvPr id="1" name="Shape 165"/>
        <p:cNvGrpSpPr/>
        <p:nvPr/>
      </p:nvGrpSpPr>
      <p:grpSpPr>
        <a:xfrm>
          <a:off x="0" y="0"/>
          <a:ext cx="0" cy="0"/>
          <a:chOff x="0" y="0"/>
          <a:chExt cx="0" cy="0"/>
        </a:xfrm>
      </p:grpSpPr>
      <p:sp>
        <p:nvSpPr>
          <p:cNvPr id="166" name="Google Shape;166;p37"/>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7" name="Google Shape;16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68" name="Google Shape;168;p37"/>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9" name="Google Shape;169;p37"/>
          <p:cNvSpPr/>
          <p:nvPr/>
        </p:nvSpPr>
        <p:spPr>
          <a:xfrm>
            <a:off x="1654410" y="569942"/>
            <a:ext cx="50687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Komponen Penilaian</a:t>
            </a:r>
            <a:endParaRPr sz="4400" b="1">
              <a:solidFill>
                <a:schemeClr val="dk1"/>
              </a:solidFill>
              <a:latin typeface="Twentieth Century"/>
              <a:ea typeface="Twentieth Century"/>
              <a:cs typeface="Twentieth Century"/>
              <a:sym typeface="Twentieth Century"/>
            </a:endParaRPr>
          </a:p>
        </p:txBody>
      </p:sp>
      <p:pic>
        <p:nvPicPr>
          <p:cNvPr id="170" name="Google Shape;170;p37"/>
          <p:cNvPicPr preferRelativeResize="0"/>
          <p:nvPr/>
        </p:nvPicPr>
        <p:blipFill rotWithShape="1">
          <a:blip r:embed="rId2">
            <a:alphaModFix/>
          </a:blip>
          <a:srcRect/>
          <a:stretch/>
        </p:blipFill>
        <p:spPr>
          <a:xfrm>
            <a:off x="921012" y="616587"/>
            <a:ext cx="589305" cy="67542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ub Topic 1">
  <p:cSld name="Sub Topic 1">
    <p:spTree>
      <p:nvGrpSpPr>
        <p:cNvPr id="1" name="Shape 171"/>
        <p:cNvGrpSpPr/>
        <p:nvPr/>
      </p:nvGrpSpPr>
      <p:grpSpPr>
        <a:xfrm>
          <a:off x="0" y="0"/>
          <a:ext cx="0" cy="0"/>
          <a:chOff x="0" y="0"/>
          <a:chExt cx="0" cy="0"/>
        </a:xfrm>
      </p:grpSpPr>
      <p:sp>
        <p:nvSpPr>
          <p:cNvPr id="172" name="Google Shape;172;p38"/>
          <p:cNvSpPr txBox="1">
            <a:spLocks noGrp="1"/>
          </p:cNvSpPr>
          <p:nvPr>
            <p:ph type="ctrTitle"/>
          </p:nvPr>
        </p:nvSpPr>
        <p:spPr>
          <a:xfrm>
            <a:off x="1524000" y="824826"/>
            <a:ext cx="9144000" cy="176884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74" name="Google Shape;174;p38"/>
          <p:cNvSpPr>
            <a:spLocks noGrp="1"/>
          </p:cNvSpPr>
          <p:nvPr>
            <p:ph type="pic" idx="2"/>
          </p:nvPr>
        </p:nvSpPr>
        <p:spPr>
          <a:xfrm>
            <a:off x="1524000" y="2843408"/>
            <a:ext cx="9144000" cy="3376417"/>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5"/>
        <p:cNvGrpSpPr/>
        <p:nvPr/>
      </p:nvGrpSpPr>
      <p:grpSpPr>
        <a:xfrm>
          <a:off x="0" y="0"/>
          <a:ext cx="0" cy="0"/>
          <a:chOff x="0" y="0"/>
          <a:chExt cx="0" cy="0"/>
        </a:xfrm>
      </p:grpSpPr>
      <p:sp>
        <p:nvSpPr>
          <p:cNvPr id="176" name="Google Shape;176;p39"/>
          <p:cNvSpPr txBox="1">
            <a:spLocks noGrp="1"/>
          </p:cNvSpPr>
          <p:nvPr>
            <p:ph type="title"/>
          </p:nvPr>
        </p:nvSpPr>
        <p:spPr>
          <a:xfrm>
            <a:off x="831850" y="1389699"/>
            <a:ext cx="10515600" cy="161792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p39"/>
          <p:cNvSpPr txBox="1">
            <a:spLocks noGrp="1"/>
          </p:cNvSpPr>
          <p:nvPr>
            <p:ph type="body" idx="1"/>
          </p:nvPr>
        </p:nvSpPr>
        <p:spPr>
          <a:xfrm>
            <a:off x="831850" y="3185341"/>
            <a:ext cx="10515600" cy="1500187"/>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400"/>
              <a:buNone/>
              <a:defRPr sz="2400">
                <a:solidFill>
                  <a:srgbClr val="151515"/>
                </a:solidFill>
              </a:defRPr>
            </a:lvl1pPr>
            <a:lvl2pPr marL="914400" lvl="1" indent="-228600" algn="just">
              <a:lnSpc>
                <a:spcPct val="90000"/>
              </a:lnSpc>
              <a:spcBef>
                <a:spcPts val="500"/>
              </a:spcBef>
              <a:spcAft>
                <a:spcPts val="0"/>
              </a:spcAft>
              <a:buClr>
                <a:srgbClr val="889CC5"/>
              </a:buClr>
              <a:buSzPts val="2000"/>
              <a:buNone/>
              <a:defRPr sz="2000">
                <a:solidFill>
                  <a:srgbClr val="889CC5"/>
                </a:solidFill>
              </a:defRPr>
            </a:lvl2pPr>
            <a:lvl3pPr marL="1371600" lvl="2" indent="-228600" algn="just">
              <a:lnSpc>
                <a:spcPct val="90000"/>
              </a:lnSpc>
              <a:spcBef>
                <a:spcPts val="500"/>
              </a:spcBef>
              <a:spcAft>
                <a:spcPts val="0"/>
              </a:spcAft>
              <a:buClr>
                <a:srgbClr val="889CC5"/>
              </a:buClr>
              <a:buSzPts val="1800"/>
              <a:buNone/>
              <a:defRPr sz="1800">
                <a:solidFill>
                  <a:srgbClr val="889CC5"/>
                </a:solidFill>
              </a:defRPr>
            </a:lvl3pPr>
            <a:lvl4pPr marL="1828800" lvl="3" indent="-228600" algn="just">
              <a:lnSpc>
                <a:spcPct val="90000"/>
              </a:lnSpc>
              <a:spcBef>
                <a:spcPts val="500"/>
              </a:spcBef>
              <a:spcAft>
                <a:spcPts val="0"/>
              </a:spcAft>
              <a:buClr>
                <a:srgbClr val="889CC5"/>
              </a:buClr>
              <a:buSzPts val="1600"/>
              <a:buNone/>
              <a:defRPr sz="1600">
                <a:solidFill>
                  <a:srgbClr val="889CC5"/>
                </a:solidFill>
              </a:defRPr>
            </a:lvl4pPr>
            <a:lvl5pPr marL="2286000" lvl="4" indent="-228600" algn="just">
              <a:lnSpc>
                <a:spcPct val="90000"/>
              </a:lnSpc>
              <a:spcBef>
                <a:spcPts val="500"/>
              </a:spcBef>
              <a:spcAft>
                <a:spcPts val="0"/>
              </a:spcAft>
              <a:buClr>
                <a:srgbClr val="889CC5"/>
              </a:buClr>
              <a:buSzPts val="1600"/>
              <a:buNone/>
              <a:defRPr sz="1600">
                <a:solidFill>
                  <a:srgbClr val="889CC5"/>
                </a:solidFill>
              </a:defRPr>
            </a:lvl5pPr>
            <a:lvl6pPr marL="2743200" lvl="5" indent="-228600" algn="l">
              <a:lnSpc>
                <a:spcPct val="90000"/>
              </a:lnSpc>
              <a:spcBef>
                <a:spcPts val="500"/>
              </a:spcBef>
              <a:spcAft>
                <a:spcPts val="0"/>
              </a:spcAft>
              <a:buClr>
                <a:srgbClr val="889CC5"/>
              </a:buClr>
              <a:buSzPts val="1600"/>
              <a:buNone/>
              <a:defRPr sz="1600">
                <a:solidFill>
                  <a:srgbClr val="889CC5"/>
                </a:solidFill>
              </a:defRPr>
            </a:lvl6pPr>
            <a:lvl7pPr marL="3200400" lvl="6" indent="-228600" algn="l">
              <a:lnSpc>
                <a:spcPct val="90000"/>
              </a:lnSpc>
              <a:spcBef>
                <a:spcPts val="500"/>
              </a:spcBef>
              <a:spcAft>
                <a:spcPts val="0"/>
              </a:spcAft>
              <a:buClr>
                <a:srgbClr val="889CC5"/>
              </a:buClr>
              <a:buSzPts val="1600"/>
              <a:buNone/>
              <a:defRPr sz="1600">
                <a:solidFill>
                  <a:srgbClr val="889CC5"/>
                </a:solidFill>
              </a:defRPr>
            </a:lvl7pPr>
            <a:lvl8pPr marL="3657600" lvl="7" indent="-228600" algn="l">
              <a:lnSpc>
                <a:spcPct val="90000"/>
              </a:lnSpc>
              <a:spcBef>
                <a:spcPts val="500"/>
              </a:spcBef>
              <a:spcAft>
                <a:spcPts val="0"/>
              </a:spcAft>
              <a:buClr>
                <a:srgbClr val="889CC5"/>
              </a:buClr>
              <a:buSzPts val="1600"/>
              <a:buNone/>
              <a:defRPr sz="1600">
                <a:solidFill>
                  <a:srgbClr val="889CC5"/>
                </a:solidFill>
              </a:defRPr>
            </a:lvl8pPr>
            <a:lvl9pPr marL="4114800" lvl="8" indent="-228600" algn="l">
              <a:lnSpc>
                <a:spcPct val="90000"/>
              </a:lnSpc>
              <a:spcBef>
                <a:spcPts val="500"/>
              </a:spcBef>
              <a:spcAft>
                <a:spcPts val="0"/>
              </a:spcAft>
              <a:buClr>
                <a:srgbClr val="889CC5"/>
              </a:buClr>
              <a:buSzPts val="1600"/>
              <a:buNone/>
              <a:defRPr sz="1600">
                <a:solidFill>
                  <a:srgbClr val="889CC5"/>
                </a:solidFill>
              </a:defRPr>
            </a:lvl9pPr>
          </a:lstStyle>
          <a:p>
            <a:endParaRPr/>
          </a:p>
        </p:txBody>
      </p:sp>
      <p:sp>
        <p:nvSpPr>
          <p:cNvPr id="178" name="Google Shape;178;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1pPr>
            <a:lvl2pPr marL="0" lvl="1"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2pPr>
            <a:lvl3pPr marL="0" lvl="2"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3pPr>
            <a:lvl4pPr marL="0" lvl="3"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4pPr>
            <a:lvl5pPr marL="0" lvl="4"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5pPr>
            <a:lvl6pPr marL="0" lvl="5"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6pPr>
            <a:lvl7pPr marL="0" lvl="6"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7pPr>
            <a:lvl8pPr marL="0" lvl="7"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8pPr>
            <a:lvl9pPr marL="0" lvl="8"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40"/>
          <p:cNvSpPr txBox="1">
            <a:spLocks noGrp="1"/>
          </p:cNvSpPr>
          <p:nvPr>
            <p:ph type="title"/>
          </p:nvPr>
        </p:nvSpPr>
        <p:spPr>
          <a:xfrm>
            <a:off x="838200" y="2991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4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4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84"/>
        <p:cNvGrpSpPr/>
        <p:nvPr/>
      </p:nvGrpSpPr>
      <p:grpSpPr>
        <a:xfrm>
          <a:off x="0" y="0"/>
          <a:ext cx="0" cy="0"/>
          <a:chOff x="0" y="0"/>
          <a:chExt cx="0" cy="0"/>
        </a:xfrm>
      </p:grpSpPr>
      <p:sp>
        <p:nvSpPr>
          <p:cNvPr id="185" name="Google Shape;185;p4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p41"/>
          <p:cNvSpPr txBox="1">
            <a:spLocks noGrp="1"/>
          </p:cNvSpPr>
          <p:nvPr>
            <p:ph type="body" idx="1"/>
          </p:nvPr>
        </p:nvSpPr>
        <p:spPr>
          <a:xfrm>
            <a:off x="839788" y="1772239"/>
            <a:ext cx="5157787"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151515"/>
              </a:buClr>
              <a:buSzPts val="2000"/>
              <a:buNone/>
              <a:defRPr sz="2000" b="1"/>
            </a:lvl2pPr>
            <a:lvl3pPr marL="1371600" lvl="2" indent="-228600" algn="just">
              <a:lnSpc>
                <a:spcPct val="90000"/>
              </a:lnSpc>
              <a:spcBef>
                <a:spcPts val="500"/>
              </a:spcBef>
              <a:spcAft>
                <a:spcPts val="0"/>
              </a:spcAft>
              <a:buClr>
                <a:srgbClr val="151515"/>
              </a:buClr>
              <a:buSzPts val="1800"/>
              <a:buNone/>
              <a:defRPr sz="1800" b="1"/>
            </a:lvl3pPr>
            <a:lvl4pPr marL="1828800" lvl="3" indent="-228600" algn="just">
              <a:lnSpc>
                <a:spcPct val="90000"/>
              </a:lnSpc>
              <a:spcBef>
                <a:spcPts val="500"/>
              </a:spcBef>
              <a:spcAft>
                <a:spcPts val="0"/>
              </a:spcAft>
              <a:buClr>
                <a:srgbClr val="151515"/>
              </a:buClr>
              <a:buSzPts val="1600"/>
              <a:buNone/>
              <a:defRPr sz="1600" b="1"/>
            </a:lvl4pPr>
            <a:lvl5pPr marL="2286000" lvl="4" indent="-228600" algn="just">
              <a:lnSpc>
                <a:spcPct val="90000"/>
              </a:lnSpc>
              <a:spcBef>
                <a:spcPts val="500"/>
              </a:spcBef>
              <a:spcAft>
                <a:spcPts val="0"/>
              </a:spcAft>
              <a:buClr>
                <a:srgbClr val="151515"/>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7" name="Google Shape;187;p4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8" name="Google Shape;188;p41"/>
          <p:cNvSpPr txBox="1">
            <a:spLocks noGrp="1"/>
          </p:cNvSpPr>
          <p:nvPr>
            <p:ph type="body" idx="3"/>
          </p:nvPr>
        </p:nvSpPr>
        <p:spPr>
          <a:xfrm>
            <a:off x="6172200" y="1772239"/>
            <a:ext cx="5183188"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151515"/>
              </a:buClr>
              <a:buSzPts val="2000"/>
              <a:buNone/>
              <a:defRPr sz="2000" b="1"/>
            </a:lvl2pPr>
            <a:lvl3pPr marL="1371600" lvl="2" indent="-228600" algn="just">
              <a:lnSpc>
                <a:spcPct val="90000"/>
              </a:lnSpc>
              <a:spcBef>
                <a:spcPts val="500"/>
              </a:spcBef>
              <a:spcAft>
                <a:spcPts val="0"/>
              </a:spcAft>
              <a:buClr>
                <a:srgbClr val="151515"/>
              </a:buClr>
              <a:buSzPts val="1800"/>
              <a:buNone/>
              <a:defRPr sz="1800" b="1"/>
            </a:lvl3pPr>
            <a:lvl4pPr marL="1828800" lvl="3" indent="-228600" algn="just">
              <a:lnSpc>
                <a:spcPct val="90000"/>
              </a:lnSpc>
              <a:spcBef>
                <a:spcPts val="500"/>
              </a:spcBef>
              <a:spcAft>
                <a:spcPts val="0"/>
              </a:spcAft>
              <a:buClr>
                <a:srgbClr val="151515"/>
              </a:buClr>
              <a:buSzPts val="1600"/>
              <a:buNone/>
              <a:defRPr sz="1600" b="1"/>
            </a:lvl4pPr>
            <a:lvl5pPr marL="2286000" lvl="4" indent="-228600" algn="just">
              <a:lnSpc>
                <a:spcPct val="90000"/>
              </a:lnSpc>
              <a:spcBef>
                <a:spcPts val="500"/>
              </a:spcBef>
              <a:spcAft>
                <a:spcPts val="0"/>
              </a:spcAft>
              <a:buClr>
                <a:srgbClr val="151515"/>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9" name="Google Shape;189;p4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0" name="Google Shape;19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2">
  <p:cSld name="Picture with Caption 2">
    <p:spTree>
      <p:nvGrpSpPr>
        <p:cNvPr id="1" name="Shape 191"/>
        <p:cNvGrpSpPr/>
        <p:nvPr/>
      </p:nvGrpSpPr>
      <p:grpSpPr>
        <a:xfrm>
          <a:off x="0" y="0"/>
          <a:ext cx="0" cy="0"/>
          <a:chOff x="0" y="0"/>
          <a:chExt cx="0" cy="0"/>
        </a:xfrm>
      </p:grpSpPr>
      <p:sp>
        <p:nvSpPr>
          <p:cNvPr id="192" name="Google Shape;192;p42"/>
          <p:cNvSpPr/>
          <p:nvPr/>
        </p:nvSpPr>
        <p:spPr>
          <a:xfrm>
            <a:off x="0" y="0"/>
            <a:ext cx="4873658"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93" name="Google Shape;193;p42"/>
          <p:cNvSpPr/>
          <p:nvPr/>
        </p:nvSpPr>
        <p:spPr>
          <a:xfrm>
            <a:off x="1061967" y="466091"/>
            <a:ext cx="4066216" cy="2843046"/>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94" name="Google Shape;194;p42"/>
          <p:cNvSpPr>
            <a:spLocks noGrp="1"/>
          </p:cNvSpPr>
          <p:nvPr>
            <p:ph type="pic" idx="2"/>
          </p:nvPr>
        </p:nvSpPr>
        <p:spPr>
          <a:xfrm>
            <a:off x="1135825" y="526915"/>
            <a:ext cx="3918815" cy="2710584"/>
          </a:xfrm>
          <a:prstGeom prst="rect">
            <a:avLst/>
          </a:prstGeom>
          <a:noFill/>
          <a:ln>
            <a:noFill/>
          </a:ln>
        </p:spPr>
      </p:sp>
      <p:sp>
        <p:nvSpPr>
          <p:cNvPr id="195" name="Google Shape;195;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96" name="Google Shape;196;p42"/>
          <p:cNvSpPr txBox="1">
            <a:spLocks noGrp="1"/>
          </p:cNvSpPr>
          <p:nvPr>
            <p:ph type="title"/>
          </p:nvPr>
        </p:nvSpPr>
        <p:spPr>
          <a:xfrm>
            <a:off x="5817139" y="867524"/>
            <a:ext cx="4740881"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42"/>
          <p:cNvSpPr txBox="1">
            <a:spLocks noGrp="1"/>
          </p:cNvSpPr>
          <p:nvPr>
            <p:ph type="body" idx="1"/>
          </p:nvPr>
        </p:nvSpPr>
        <p:spPr>
          <a:xfrm>
            <a:off x="5817139" y="2245386"/>
            <a:ext cx="4740881"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000"/>
              <a:buNone/>
              <a:defRPr sz="2000">
                <a:solidFill>
                  <a:srgbClr val="151515"/>
                </a:solidFill>
              </a:defRPr>
            </a:lvl1pPr>
            <a:lvl2pPr marL="914400" lvl="1" indent="-228600" algn="just">
              <a:lnSpc>
                <a:spcPct val="90000"/>
              </a:lnSpc>
              <a:spcBef>
                <a:spcPts val="500"/>
              </a:spcBef>
              <a:spcAft>
                <a:spcPts val="0"/>
              </a:spcAft>
              <a:buClr>
                <a:srgbClr val="151515"/>
              </a:buClr>
              <a:buSzPts val="1400"/>
              <a:buNone/>
              <a:defRPr sz="1400"/>
            </a:lvl2pPr>
            <a:lvl3pPr marL="1371600" lvl="2" indent="-228600" algn="just">
              <a:lnSpc>
                <a:spcPct val="90000"/>
              </a:lnSpc>
              <a:spcBef>
                <a:spcPts val="500"/>
              </a:spcBef>
              <a:spcAft>
                <a:spcPts val="0"/>
              </a:spcAft>
              <a:buClr>
                <a:srgbClr val="151515"/>
              </a:buClr>
              <a:buSzPts val="1200"/>
              <a:buNone/>
              <a:defRPr sz="1200"/>
            </a:lvl3pPr>
            <a:lvl4pPr marL="1828800" lvl="3" indent="-228600" algn="just">
              <a:lnSpc>
                <a:spcPct val="90000"/>
              </a:lnSpc>
              <a:spcBef>
                <a:spcPts val="500"/>
              </a:spcBef>
              <a:spcAft>
                <a:spcPts val="0"/>
              </a:spcAft>
              <a:buClr>
                <a:srgbClr val="151515"/>
              </a:buClr>
              <a:buSzPts val="1000"/>
              <a:buNone/>
              <a:defRPr sz="1000"/>
            </a:lvl4pPr>
            <a:lvl5pPr marL="2286000" lvl="4" indent="-228600" algn="just">
              <a:lnSpc>
                <a:spcPct val="90000"/>
              </a:lnSpc>
              <a:spcBef>
                <a:spcPts val="500"/>
              </a:spcBef>
              <a:spcAft>
                <a:spcPts val="0"/>
              </a:spcAft>
              <a:buClr>
                <a:srgbClr val="151515"/>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8" name="Google Shape;198;p42"/>
          <p:cNvSpPr/>
          <p:nvPr/>
        </p:nvSpPr>
        <p:spPr>
          <a:xfrm>
            <a:off x="1061967" y="3560439"/>
            <a:ext cx="4066216" cy="2843046"/>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99" name="Google Shape;199;p42"/>
          <p:cNvSpPr>
            <a:spLocks noGrp="1"/>
          </p:cNvSpPr>
          <p:nvPr>
            <p:ph type="pic" idx="3"/>
          </p:nvPr>
        </p:nvSpPr>
        <p:spPr>
          <a:xfrm>
            <a:off x="1135825" y="3621263"/>
            <a:ext cx="3918815" cy="2710584"/>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Uraian Materi">
  <p:cSld name="Slide Uraian Materi">
    <p:spTree>
      <p:nvGrpSpPr>
        <p:cNvPr id="1" name="Shape 200"/>
        <p:cNvGrpSpPr/>
        <p:nvPr/>
      </p:nvGrpSpPr>
      <p:grpSpPr>
        <a:xfrm>
          <a:off x="0" y="0"/>
          <a:ext cx="0" cy="0"/>
          <a:chOff x="0" y="0"/>
          <a:chExt cx="0" cy="0"/>
        </a:xfrm>
      </p:grpSpPr>
      <p:sp>
        <p:nvSpPr>
          <p:cNvPr id="201" name="Google Shape;201;p43"/>
          <p:cNvSpPr txBox="1">
            <a:spLocks noGrp="1"/>
          </p:cNvSpPr>
          <p:nvPr>
            <p:ph type="title"/>
          </p:nvPr>
        </p:nvSpPr>
        <p:spPr>
          <a:xfrm>
            <a:off x="838200" y="640080"/>
            <a:ext cx="10515600" cy="98462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203" name="Google Shape;203;p43"/>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3">
  <p:cSld name="Picture with Caption 3">
    <p:spTree>
      <p:nvGrpSpPr>
        <p:cNvPr id="1" name="Shape 204"/>
        <p:cNvGrpSpPr/>
        <p:nvPr/>
      </p:nvGrpSpPr>
      <p:grpSpPr>
        <a:xfrm>
          <a:off x="0" y="0"/>
          <a:ext cx="0" cy="0"/>
          <a:chOff x="0" y="0"/>
          <a:chExt cx="0" cy="0"/>
        </a:xfrm>
      </p:grpSpPr>
      <p:sp>
        <p:nvSpPr>
          <p:cNvPr id="205" name="Google Shape;205;p44"/>
          <p:cNvSpPr>
            <a:spLocks noGrp="1"/>
          </p:cNvSpPr>
          <p:nvPr>
            <p:ph type="pic" idx="2"/>
          </p:nvPr>
        </p:nvSpPr>
        <p:spPr>
          <a:xfrm>
            <a:off x="770701" y="1491242"/>
            <a:ext cx="3356431" cy="3405612"/>
          </a:xfrm>
          <a:prstGeom prst="rect">
            <a:avLst/>
          </a:prstGeom>
          <a:noFill/>
          <a:ln>
            <a:noFill/>
          </a:ln>
        </p:spPr>
      </p:sp>
      <p:sp>
        <p:nvSpPr>
          <p:cNvPr id="206" name="Google Shape;206;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07" name="Google Shape;207;p44"/>
          <p:cNvSpPr txBox="1">
            <a:spLocks noGrp="1"/>
          </p:cNvSpPr>
          <p:nvPr>
            <p:ph type="title"/>
          </p:nvPr>
        </p:nvSpPr>
        <p:spPr>
          <a:xfrm>
            <a:off x="770701" y="605658"/>
            <a:ext cx="10851171" cy="701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rgbClr val="0E60AC"/>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8" name="Google Shape;208;p44"/>
          <p:cNvSpPr>
            <a:spLocks noGrp="1"/>
          </p:cNvSpPr>
          <p:nvPr>
            <p:ph type="pic" idx="3"/>
          </p:nvPr>
        </p:nvSpPr>
        <p:spPr>
          <a:xfrm>
            <a:off x="4518071" y="1491242"/>
            <a:ext cx="3356431" cy="3405612"/>
          </a:xfrm>
          <a:prstGeom prst="rect">
            <a:avLst/>
          </a:prstGeom>
          <a:noFill/>
          <a:ln>
            <a:noFill/>
          </a:ln>
        </p:spPr>
      </p:sp>
      <p:sp>
        <p:nvSpPr>
          <p:cNvPr id="209" name="Google Shape;209;p44"/>
          <p:cNvSpPr>
            <a:spLocks noGrp="1"/>
          </p:cNvSpPr>
          <p:nvPr>
            <p:ph type="pic" idx="4"/>
          </p:nvPr>
        </p:nvSpPr>
        <p:spPr>
          <a:xfrm>
            <a:off x="8265441" y="1491242"/>
            <a:ext cx="3356431" cy="3405612"/>
          </a:xfrm>
          <a:prstGeom prst="rect">
            <a:avLst/>
          </a:prstGeom>
          <a:noFill/>
          <a:ln>
            <a:noFill/>
          </a:ln>
        </p:spPr>
      </p:sp>
      <p:sp>
        <p:nvSpPr>
          <p:cNvPr id="210" name="Google Shape;210;p44"/>
          <p:cNvSpPr txBox="1">
            <a:spLocks noGrp="1"/>
          </p:cNvSpPr>
          <p:nvPr>
            <p:ph type="body" idx="1"/>
          </p:nvPr>
        </p:nvSpPr>
        <p:spPr>
          <a:xfrm>
            <a:off x="770700" y="5080981"/>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44"/>
          <p:cNvSpPr txBox="1">
            <a:spLocks noGrp="1"/>
          </p:cNvSpPr>
          <p:nvPr>
            <p:ph type="body" idx="5"/>
          </p:nvPr>
        </p:nvSpPr>
        <p:spPr>
          <a:xfrm>
            <a:off x="4518071" y="5080981"/>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2" name="Google Shape;212;p44"/>
          <p:cNvSpPr txBox="1">
            <a:spLocks noGrp="1"/>
          </p:cNvSpPr>
          <p:nvPr>
            <p:ph type="body" idx="6"/>
          </p:nvPr>
        </p:nvSpPr>
        <p:spPr>
          <a:xfrm>
            <a:off x="8265441" y="5080981"/>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4">
  <p:cSld name="Picture with Caption 4">
    <p:spTree>
      <p:nvGrpSpPr>
        <p:cNvPr id="1" name="Shape 213"/>
        <p:cNvGrpSpPr/>
        <p:nvPr/>
      </p:nvGrpSpPr>
      <p:grpSpPr>
        <a:xfrm>
          <a:off x="0" y="0"/>
          <a:ext cx="0" cy="0"/>
          <a:chOff x="0" y="0"/>
          <a:chExt cx="0" cy="0"/>
        </a:xfrm>
      </p:grpSpPr>
      <p:sp>
        <p:nvSpPr>
          <p:cNvPr id="214" name="Google Shape;214;p45"/>
          <p:cNvSpPr>
            <a:spLocks noGrp="1"/>
          </p:cNvSpPr>
          <p:nvPr>
            <p:ph type="pic" idx="2"/>
          </p:nvPr>
        </p:nvSpPr>
        <p:spPr>
          <a:xfrm>
            <a:off x="1930198" y="688159"/>
            <a:ext cx="8495847" cy="3909440"/>
          </a:xfrm>
          <a:prstGeom prst="rect">
            <a:avLst/>
          </a:prstGeom>
          <a:noFill/>
          <a:ln>
            <a:noFill/>
          </a:ln>
        </p:spPr>
      </p:sp>
      <p:sp>
        <p:nvSpPr>
          <p:cNvPr id="215" name="Google Shape;215;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16" name="Google Shape;216;p45"/>
          <p:cNvSpPr txBox="1">
            <a:spLocks noGrp="1"/>
          </p:cNvSpPr>
          <p:nvPr>
            <p:ph type="body" idx="1"/>
          </p:nvPr>
        </p:nvSpPr>
        <p:spPr>
          <a:xfrm>
            <a:off x="1930197" y="4751111"/>
            <a:ext cx="8495850" cy="1451728"/>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nsert Video">
  <p:cSld name="Insert Video">
    <p:spTree>
      <p:nvGrpSpPr>
        <p:cNvPr id="1" name="Shape 217"/>
        <p:cNvGrpSpPr/>
        <p:nvPr/>
      </p:nvGrpSpPr>
      <p:grpSpPr>
        <a:xfrm>
          <a:off x="0" y="0"/>
          <a:ext cx="0" cy="0"/>
          <a:chOff x="0" y="0"/>
          <a:chExt cx="0" cy="0"/>
        </a:xfrm>
      </p:grpSpPr>
      <p:sp>
        <p:nvSpPr>
          <p:cNvPr id="218" name="Google Shape;218;p46"/>
          <p:cNvSpPr txBox="1">
            <a:spLocks noGrp="1"/>
          </p:cNvSpPr>
          <p:nvPr>
            <p:ph type="title"/>
          </p:nvPr>
        </p:nvSpPr>
        <p:spPr>
          <a:xfrm>
            <a:off x="1576887" y="404617"/>
            <a:ext cx="9184670" cy="701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rgbClr val="0E60AC"/>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9" name="Google Shape;219;p46"/>
          <p:cNvSpPr>
            <a:spLocks noGrp="1"/>
          </p:cNvSpPr>
          <p:nvPr>
            <p:ph type="media" idx="2"/>
          </p:nvPr>
        </p:nvSpPr>
        <p:spPr>
          <a:xfrm>
            <a:off x="1576887" y="1319017"/>
            <a:ext cx="9184670" cy="5166377"/>
          </a:xfrm>
          <a:prstGeom prst="rect">
            <a:avLst/>
          </a:prstGeom>
          <a:noFill/>
          <a:ln>
            <a:noFill/>
          </a:ln>
        </p:spPr>
        <p:txBody>
          <a:bodyPr spcFirstLastPara="1" wrap="square" lIns="91425" tIns="45700" rIns="91425" bIns="45700" anchor="t" anchorCtr="0">
            <a:normAutofit/>
          </a:bodyPr>
          <a:lstStyle>
            <a:lvl1pPr marR="0" lvl="0" algn="just" rtl="0">
              <a:lnSpc>
                <a:spcPct val="90000"/>
              </a:lnSpc>
              <a:spcBef>
                <a:spcPts val="1000"/>
              </a:spcBef>
              <a:spcAft>
                <a:spcPts val="0"/>
              </a:spcAft>
              <a:buClr>
                <a:srgbClr val="151515"/>
              </a:buClr>
              <a:buSzPts val="2200"/>
              <a:buFont typeface="Twentieth Century"/>
              <a:buNone/>
              <a:defRPr sz="2200" b="0" i="0" u="none" strike="noStrike" cap="none">
                <a:solidFill>
                  <a:srgbClr val="151515"/>
                </a:solidFill>
                <a:latin typeface="Twentieth Century"/>
                <a:ea typeface="Twentieth Century"/>
                <a:cs typeface="Twentieth Century"/>
                <a:sym typeface="Twentieth Century"/>
              </a:defRPr>
            </a:lvl1pPr>
            <a:lvl2pPr marR="0" lvl="1" algn="just" rtl="0">
              <a:lnSpc>
                <a:spcPct val="90000"/>
              </a:lnSpc>
              <a:spcBef>
                <a:spcPts val="500"/>
              </a:spcBef>
              <a:spcAft>
                <a:spcPts val="0"/>
              </a:spcAft>
              <a:buClr>
                <a:srgbClr val="151515"/>
              </a:buClr>
              <a:buSzPts val="2200"/>
              <a:buFont typeface="Twentieth Century"/>
              <a:buAutoNum type="alphaLcPeriod"/>
              <a:defRPr sz="2200" b="0" i="0" u="none" strike="noStrike" cap="none">
                <a:solidFill>
                  <a:srgbClr val="151515"/>
                </a:solidFill>
                <a:latin typeface="Twentieth Century"/>
                <a:ea typeface="Twentieth Century"/>
                <a:cs typeface="Twentieth Century"/>
                <a:sym typeface="Twentieth Century"/>
              </a:defRPr>
            </a:lvl2pPr>
            <a:lvl3pPr marR="0" lvl="2"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3pPr>
            <a:lvl4pPr marR="0" lvl="3"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4pPr>
            <a:lvl5pPr marR="0" lvl="4"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0"/>
        <p:cNvGrpSpPr/>
        <p:nvPr/>
      </p:nvGrpSpPr>
      <p:grpSpPr>
        <a:xfrm>
          <a:off x="0" y="0"/>
          <a:ext cx="0" cy="0"/>
          <a:chOff x="0" y="0"/>
          <a:chExt cx="0" cy="0"/>
        </a:xfrm>
      </p:grpSpPr>
      <p:sp>
        <p:nvSpPr>
          <p:cNvPr id="221" name="Google Shape;221;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atihan">
  <p:cSld name="Latihan">
    <p:spTree>
      <p:nvGrpSpPr>
        <p:cNvPr id="1" name="Shape 222"/>
        <p:cNvGrpSpPr/>
        <p:nvPr/>
      </p:nvGrpSpPr>
      <p:grpSpPr>
        <a:xfrm>
          <a:off x="0" y="0"/>
          <a:ext cx="0" cy="0"/>
          <a:chOff x="0" y="0"/>
          <a:chExt cx="0" cy="0"/>
        </a:xfrm>
      </p:grpSpPr>
      <p:sp>
        <p:nvSpPr>
          <p:cNvPr id="223" name="Google Shape;223;p48"/>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24" name="Google Shape;224;p48"/>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26" name="Google Shape;226;p48"/>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27" name="Google Shape;227;p48"/>
          <p:cNvSpPr/>
          <p:nvPr/>
        </p:nvSpPr>
        <p:spPr>
          <a:xfrm>
            <a:off x="1654410" y="569942"/>
            <a:ext cx="192398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Latihan</a:t>
            </a:r>
            <a:endParaRPr sz="4400" b="1">
              <a:solidFill>
                <a:schemeClr val="dk1"/>
              </a:solidFill>
              <a:latin typeface="Twentieth Century"/>
              <a:ea typeface="Twentieth Century"/>
              <a:cs typeface="Twentieth Century"/>
              <a:sym typeface="Twentieth Century"/>
            </a:endParaRPr>
          </a:p>
        </p:txBody>
      </p:sp>
      <p:pic>
        <p:nvPicPr>
          <p:cNvPr id="228" name="Google Shape;228;p48"/>
          <p:cNvPicPr preferRelativeResize="0"/>
          <p:nvPr/>
        </p:nvPicPr>
        <p:blipFill rotWithShape="1">
          <a:blip r:embed="rId2">
            <a:alphaModFix/>
          </a:blip>
          <a:srcRect/>
          <a:stretch/>
        </p:blipFill>
        <p:spPr>
          <a:xfrm>
            <a:off x="917419" y="581911"/>
            <a:ext cx="650450" cy="7455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aftar Pustaka">
  <p:cSld name="Daftar Pustaka">
    <p:spTree>
      <p:nvGrpSpPr>
        <p:cNvPr id="1" name="Shape 229"/>
        <p:cNvGrpSpPr/>
        <p:nvPr/>
      </p:nvGrpSpPr>
      <p:grpSpPr>
        <a:xfrm>
          <a:off x="0" y="0"/>
          <a:ext cx="0" cy="0"/>
          <a:chOff x="0" y="0"/>
          <a:chExt cx="0" cy="0"/>
        </a:xfrm>
      </p:grpSpPr>
      <p:sp>
        <p:nvSpPr>
          <p:cNvPr id="230" name="Google Shape;230;p49"/>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31" name="Google Shape;231;p49"/>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2" name="Google Shape;232;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33" name="Google Shape;233;p49"/>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34" name="Google Shape;234;p49"/>
          <p:cNvSpPr/>
          <p:nvPr/>
        </p:nvSpPr>
        <p:spPr>
          <a:xfrm>
            <a:off x="1654410" y="569942"/>
            <a:ext cx="364074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Daftar Pustaka</a:t>
            </a:r>
            <a:endParaRPr sz="4400" b="1">
              <a:solidFill>
                <a:schemeClr val="dk1"/>
              </a:solidFill>
              <a:latin typeface="Twentieth Century"/>
              <a:ea typeface="Twentieth Century"/>
              <a:cs typeface="Twentieth Century"/>
              <a:sym typeface="Twentieth Century"/>
            </a:endParaRPr>
          </a:p>
        </p:txBody>
      </p:sp>
      <p:pic>
        <p:nvPicPr>
          <p:cNvPr id="235" name="Google Shape;235;p49"/>
          <p:cNvPicPr preferRelativeResize="0"/>
          <p:nvPr/>
        </p:nvPicPr>
        <p:blipFill rotWithShape="1">
          <a:blip r:embed="rId2">
            <a:alphaModFix/>
          </a:blip>
          <a:srcRect/>
          <a:stretch/>
        </p:blipFill>
        <p:spPr>
          <a:xfrm>
            <a:off x="898017" y="661014"/>
            <a:ext cx="606720" cy="6293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Dosen Pengampu">
    <p:spTree>
      <p:nvGrpSpPr>
        <p:cNvPr id="1" name=""/>
        <p:cNvGrpSpPr/>
        <p:nvPr/>
      </p:nvGrpSpPr>
      <p:grpSpPr>
        <a:xfrm>
          <a:off x="0" y="0"/>
          <a:ext cx="0" cy="0"/>
          <a:chOff x="0" y="0"/>
          <a:chExt cx="0" cy="0"/>
        </a:xfrm>
      </p:grpSpPr>
      <p:sp>
        <p:nvSpPr>
          <p:cNvPr id="7" name="Rectangle 6"/>
          <p:cNvSpPr/>
          <p:nvPr userDrawn="1"/>
        </p:nvSpPr>
        <p:spPr>
          <a:xfrm>
            <a:off x="0" y="0"/>
            <a:ext cx="3641036" cy="6858000"/>
          </a:xfrm>
          <a:prstGeom prst="rect">
            <a:avLst/>
          </a:prstGeom>
          <a:solidFill>
            <a:srgbClr val="EB7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endParaRPr lang="en-US" dirty="0"/>
          </a:p>
        </p:txBody>
      </p:sp>
      <p:sp>
        <p:nvSpPr>
          <p:cNvPr id="9" name="Picture Placeholder 8"/>
          <p:cNvSpPr>
            <a:spLocks noGrp="1"/>
          </p:cNvSpPr>
          <p:nvPr>
            <p:ph type="pic" sz="quarter" idx="13" hasCustomPrompt="1"/>
          </p:nvPr>
        </p:nvSpPr>
        <p:spPr>
          <a:xfrm>
            <a:off x="1745563" y="1842892"/>
            <a:ext cx="3063907" cy="3063908"/>
          </a:xfrm>
          <a:prstGeom prst="ellipse">
            <a:avLst/>
          </a:prstGeom>
        </p:spPr>
        <p:txBody>
          <a:bodyPr>
            <a:normAutofit/>
          </a:bodyPr>
          <a:lstStyle>
            <a:lvl1pPr marL="0" indent="0" algn="ctr">
              <a:buNone/>
              <a:defRPr sz="2800" baseline="0"/>
            </a:lvl1pPr>
          </a:lstStyle>
          <a:p>
            <a:r>
              <a:rPr lang="en-US" dirty="0" err="1"/>
              <a:t>Foto</a:t>
            </a:r>
            <a:r>
              <a:rPr lang="en-US" dirty="0"/>
              <a:t> </a:t>
            </a:r>
            <a:r>
              <a:rPr lang="en-US" dirty="0" err="1"/>
              <a:t>Dosen</a:t>
            </a:r>
            <a:endParaRPr lang="en-US" dirty="0"/>
          </a:p>
        </p:txBody>
      </p:sp>
      <p:sp>
        <p:nvSpPr>
          <p:cNvPr id="13" name="Text Placeholder 12"/>
          <p:cNvSpPr>
            <a:spLocks noGrp="1"/>
          </p:cNvSpPr>
          <p:nvPr>
            <p:ph type="body" sz="quarter" idx="14" hasCustomPrompt="1"/>
          </p:nvPr>
        </p:nvSpPr>
        <p:spPr>
          <a:xfrm>
            <a:off x="5154979" y="2275496"/>
            <a:ext cx="6198821" cy="406777"/>
          </a:xfrm>
        </p:spPr>
        <p:txBody>
          <a:bodyPr/>
          <a:lstStyle>
            <a:lvl1pPr marL="0" indent="0">
              <a:buNone/>
              <a:defRPr b="1" baseline="0">
                <a:solidFill>
                  <a:srgbClr val="0E60AC"/>
                </a:solidFill>
              </a:defRPr>
            </a:lvl1pPr>
          </a:lstStyle>
          <a:p>
            <a:pPr lvl="0"/>
            <a:r>
              <a:rPr lang="en-US" dirty="0"/>
              <a:t>Nama </a:t>
            </a:r>
            <a:r>
              <a:rPr lang="en-US" dirty="0" err="1"/>
              <a:t>dan</a:t>
            </a:r>
            <a:r>
              <a:rPr lang="en-US" dirty="0"/>
              <a:t> </a:t>
            </a:r>
            <a:r>
              <a:rPr lang="en-US" dirty="0" err="1"/>
              <a:t>Gelar</a:t>
            </a:r>
            <a:r>
              <a:rPr lang="en-US" dirty="0"/>
              <a:t> </a:t>
            </a:r>
            <a:r>
              <a:rPr lang="en-US" dirty="0" err="1"/>
              <a:t>Dosen</a:t>
            </a:r>
            <a:endParaRPr lang="en-US" dirty="0"/>
          </a:p>
          <a:p>
            <a:pPr lvl="0"/>
            <a:endParaRPr lang="en-US" dirty="0"/>
          </a:p>
        </p:txBody>
      </p:sp>
      <p:sp>
        <p:nvSpPr>
          <p:cNvPr id="14" name="Title 1"/>
          <p:cNvSpPr txBox="1">
            <a:spLocks/>
          </p:cNvSpPr>
          <p:nvPr userDrawn="1"/>
        </p:nvSpPr>
        <p:spPr>
          <a:xfrm>
            <a:off x="5164108" y="1988095"/>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err="1"/>
              <a:t>Dosen</a:t>
            </a:r>
            <a:r>
              <a:rPr lang="en-US" sz="2000" dirty="0"/>
              <a:t> </a:t>
            </a:r>
            <a:r>
              <a:rPr lang="en-US" sz="2000" dirty="0" err="1"/>
              <a:t>Koordinator</a:t>
            </a:r>
            <a:r>
              <a:rPr lang="en-US" sz="2000" dirty="0"/>
              <a:t>:</a:t>
            </a:r>
          </a:p>
        </p:txBody>
      </p:sp>
      <p:sp>
        <p:nvSpPr>
          <p:cNvPr id="15" name="Text Placeholder 12"/>
          <p:cNvSpPr>
            <a:spLocks noGrp="1"/>
          </p:cNvSpPr>
          <p:nvPr>
            <p:ph type="body" sz="quarter" idx="15" hasCustomPrompt="1"/>
          </p:nvPr>
        </p:nvSpPr>
        <p:spPr>
          <a:xfrm>
            <a:off x="5154979" y="3176643"/>
            <a:ext cx="6198821" cy="406777"/>
          </a:xfrm>
        </p:spPr>
        <p:txBody>
          <a:bodyPr/>
          <a:lstStyle>
            <a:lvl1pPr marL="0" indent="0">
              <a:buNone/>
              <a:defRPr b="1" baseline="0">
                <a:solidFill>
                  <a:srgbClr val="0E60AC"/>
                </a:solidFill>
              </a:defRPr>
            </a:lvl1pPr>
          </a:lstStyle>
          <a:p>
            <a:pPr lvl="0"/>
            <a:r>
              <a:rPr lang="en-US" dirty="0"/>
              <a:t>NID</a:t>
            </a:r>
          </a:p>
        </p:txBody>
      </p:sp>
      <p:sp>
        <p:nvSpPr>
          <p:cNvPr id="16" name="Title 1"/>
          <p:cNvSpPr txBox="1">
            <a:spLocks/>
          </p:cNvSpPr>
          <p:nvPr userDrawn="1"/>
        </p:nvSpPr>
        <p:spPr>
          <a:xfrm>
            <a:off x="5164108" y="2889242"/>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NID:</a:t>
            </a:r>
          </a:p>
        </p:txBody>
      </p:sp>
      <p:sp>
        <p:nvSpPr>
          <p:cNvPr id="17" name="Text Placeholder 12"/>
          <p:cNvSpPr>
            <a:spLocks noGrp="1"/>
          </p:cNvSpPr>
          <p:nvPr>
            <p:ph type="body" sz="quarter" idx="16" hasCustomPrompt="1"/>
          </p:nvPr>
        </p:nvSpPr>
        <p:spPr>
          <a:xfrm>
            <a:off x="5154979" y="4077790"/>
            <a:ext cx="6198821" cy="406777"/>
          </a:xfrm>
        </p:spPr>
        <p:txBody>
          <a:bodyPr/>
          <a:lstStyle>
            <a:lvl1pPr marL="0" indent="0">
              <a:buNone/>
              <a:defRPr b="1" baseline="0">
                <a:solidFill>
                  <a:srgbClr val="0E60AC"/>
                </a:solidFill>
              </a:defRPr>
            </a:lvl1pPr>
          </a:lstStyle>
          <a:p>
            <a:pPr lvl="0"/>
            <a:r>
              <a:rPr lang="en-US" dirty="0"/>
              <a:t>E-mail</a:t>
            </a:r>
          </a:p>
        </p:txBody>
      </p:sp>
      <p:sp>
        <p:nvSpPr>
          <p:cNvPr id="18" name="Title 1"/>
          <p:cNvSpPr txBox="1">
            <a:spLocks/>
          </p:cNvSpPr>
          <p:nvPr userDrawn="1"/>
        </p:nvSpPr>
        <p:spPr>
          <a:xfrm>
            <a:off x="5164108" y="3790389"/>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E-mail:</a:t>
            </a:r>
          </a:p>
        </p:txBody>
      </p:sp>
      <p:grpSp>
        <p:nvGrpSpPr>
          <p:cNvPr id="11" name="Group 10"/>
          <p:cNvGrpSpPr/>
          <p:nvPr userDrawn="1"/>
        </p:nvGrpSpPr>
        <p:grpSpPr>
          <a:xfrm>
            <a:off x="98180" y="96425"/>
            <a:ext cx="1971606" cy="729735"/>
            <a:chOff x="648649" y="653143"/>
            <a:chExt cx="2138362" cy="791455"/>
          </a:xfrm>
        </p:grpSpPr>
        <p:sp>
          <p:nvSpPr>
            <p:cNvPr id="12" name="Rounded Rectangle 11"/>
            <p:cNvSpPr/>
            <p:nvPr userDrawn="1"/>
          </p:nvSpPr>
          <p:spPr>
            <a:xfrm>
              <a:off x="648649" y="653143"/>
              <a:ext cx="2138362" cy="79145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rotWithShape="1">
            <a:blip r:embed="rId2" cstate="print">
              <a:extLst>
                <a:ext uri="{28A0092B-C50C-407E-A947-70E740481C1C}">
                  <a14:useLocalDpi xmlns:a14="http://schemas.microsoft.com/office/drawing/2010/main" val="0"/>
                </a:ext>
              </a:extLst>
            </a:blip>
            <a:srcRect t="16017" b="18101"/>
            <a:stretch/>
          </p:blipFill>
          <p:spPr>
            <a:xfrm>
              <a:off x="702844" y="653143"/>
              <a:ext cx="2029972" cy="753035"/>
            </a:xfrm>
            <a:prstGeom prst="rect">
              <a:avLst/>
            </a:prstGeom>
          </p:spPr>
        </p:pic>
      </p:grpSp>
    </p:spTree>
    <p:extLst>
      <p:ext uri="{BB962C8B-B14F-4D97-AF65-F5344CB8AC3E}">
        <p14:creationId xmlns:p14="http://schemas.microsoft.com/office/powerpoint/2010/main" val="244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p:nvPr/>
        </p:nvSpPr>
        <p:spPr>
          <a:xfrm>
            <a:off x="0" y="0"/>
            <a:ext cx="121920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1" name="Google Shape;11;p21"/>
          <p:cNvPicPr preferRelativeResize="0"/>
          <p:nvPr/>
        </p:nvPicPr>
        <p:blipFill rotWithShape="1">
          <a:blip r:embed="rId30">
            <a:alphaModFix/>
          </a:blip>
          <a:srcRect/>
          <a:stretch/>
        </p:blipFill>
        <p:spPr>
          <a:xfrm>
            <a:off x="0" y="5470264"/>
            <a:ext cx="12110720" cy="1400730"/>
          </a:xfrm>
          <a:prstGeom prst="rect">
            <a:avLst/>
          </a:prstGeom>
          <a:noFill/>
          <a:ln>
            <a:noFill/>
          </a:ln>
        </p:spPr>
      </p:pic>
      <p:sp>
        <p:nvSpPr>
          <p:cNvPr id="12" name="Google Shape;12;p21"/>
          <p:cNvSpPr txBox="1">
            <a:spLocks noGrp="1"/>
          </p:cNvSpPr>
          <p:nvPr>
            <p:ph type="title"/>
          </p:nvPr>
        </p:nvSpPr>
        <p:spPr>
          <a:xfrm>
            <a:off x="838200" y="29913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E60AC"/>
              </a:buClr>
              <a:buSzPts val="3600"/>
              <a:buFont typeface="Twentieth Century"/>
              <a:buNone/>
              <a:defRPr sz="3600" b="1" i="0" u="none" strike="noStrike" cap="none">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1"/>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marR="0" lvl="0" indent="-368300" algn="just" rtl="0">
              <a:lnSpc>
                <a:spcPct val="90000"/>
              </a:lnSpc>
              <a:spcBef>
                <a:spcPts val="1000"/>
              </a:spcBef>
              <a:spcAft>
                <a:spcPts val="0"/>
              </a:spcAft>
              <a:buClr>
                <a:srgbClr val="151515"/>
              </a:buClr>
              <a:buSzPts val="2200"/>
              <a:buFont typeface="Twentieth Century"/>
              <a:buAutoNum type="arabicPeriod"/>
              <a:defRPr sz="2200" b="0" i="0" u="none" strike="noStrike" cap="none">
                <a:solidFill>
                  <a:srgbClr val="151515"/>
                </a:solidFill>
                <a:latin typeface="Twentieth Century"/>
                <a:ea typeface="Twentieth Century"/>
                <a:cs typeface="Twentieth Century"/>
                <a:sym typeface="Twentieth Century"/>
              </a:defRPr>
            </a:lvl1pPr>
            <a:lvl2pPr marL="914400" marR="0" lvl="1" indent="-368300" algn="just" rtl="0">
              <a:lnSpc>
                <a:spcPct val="90000"/>
              </a:lnSpc>
              <a:spcBef>
                <a:spcPts val="500"/>
              </a:spcBef>
              <a:spcAft>
                <a:spcPts val="0"/>
              </a:spcAft>
              <a:buClr>
                <a:srgbClr val="151515"/>
              </a:buClr>
              <a:buSzPts val="2200"/>
              <a:buFont typeface="Twentieth Century"/>
              <a:buAutoNum type="alphaLcPeriod"/>
              <a:defRPr sz="2200" b="0" i="0" u="none" strike="noStrike" cap="none">
                <a:solidFill>
                  <a:srgbClr val="151515"/>
                </a:solidFill>
                <a:latin typeface="Twentieth Century"/>
                <a:ea typeface="Twentieth Century"/>
                <a:cs typeface="Twentieth Century"/>
                <a:sym typeface="Twentieth Century"/>
              </a:defRPr>
            </a:lvl2pPr>
            <a:lvl3pPr marL="1371600" marR="0" lvl="2" indent="-368300"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3pPr>
            <a:lvl4pPr marL="1828800" marR="0" lvl="3" indent="-368300"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4pPr>
            <a:lvl5pPr marL="2286000" marR="0" lvl="4" indent="-368300"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1pPr>
            <a:lvl2pPr marL="0" marR="0" lvl="1"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2pPr>
            <a:lvl3pPr marL="0" marR="0" lvl="2"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3pPr>
            <a:lvl4pPr marL="0" marR="0" lvl="3"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4pPr>
            <a:lvl5pPr marL="0" marR="0" lvl="4"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5pPr>
            <a:lvl6pPr marL="0" marR="0" lvl="5"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6pPr>
            <a:lvl7pPr marL="0" marR="0" lvl="6"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7pPr>
            <a:lvl8pPr marL="0" marR="0" lvl="7"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8pPr>
            <a:lvl9pPr marL="0" marR="0" lvl="8"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15" name="Google Shape;15;p21"/>
          <p:cNvGrpSpPr/>
          <p:nvPr/>
        </p:nvGrpSpPr>
        <p:grpSpPr>
          <a:xfrm>
            <a:off x="10071739" y="152987"/>
            <a:ext cx="1971606" cy="729735"/>
            <a:chOff x="648649" y="653143"/>
            <a:chExt cx="2138362" cy="791455"/>
          </a:xfrm>
        </p:grpSpPr>
        <p:sp>
          <p:nvSpPr>
            <p:cNvPr id="16" name="Google Shape;16;p21"/>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7" name="Google Shape;17;p21"/>
            <p:cNvPicPr preferRelativeResize="0"/>
            <p:nvPr/>
          </p:nvPicPr>
          <p:blipFill rotWithShape="1">
            <a:blip r:embed="rId31">
              <a:alphaModFix/>
            </a:blip>
            <a:srcRect t="16017" b="18101"/>
            <a:stretch/>
          </p:blipFill>
          <p:spPr>
            <a:xfrm>
              <a:off x="702844" y="653143"/>
              <a:ext cx="2029972" cy="753035"/>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
          <p:cNvSpPr txBox="1">
            <a:spLocks noGrp="1"/>
          </p:cNvSpPr>
          <p:nvPr>
            <p:ph type="title"/>
          </p:nvPr>
        </p:nvSpPr>
        <p:spPr>
          <a:xfrm>
            <a:off x="588970" y="1773946"/>
            <a:ext cx="6869665" cy="202410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5400"/>
              <a:buFont typeface="Twentieth Century"/>
              <a:buNone/>
            </a:pPr>
            <a:r>
              <a:rPr lang="en-US">
                <a:latin typeface="Twentieth Century"/>
                <a:ea typeface="Twentieth Century"/>
                <a:cs typeface="Twentieth Century"/>
                <a:sym typeface="Twentieth Century"/>
              </a:rPr>
              <a:t>Machine</a:t>
            </a:r>
            <a:br>
              <a:rPr lang="en-US">
                <a:latin typeface="Twentieth Century"/>
                <a:ea typeface="Twentieth Century"/>
                <a:cs typeface="Twentieth Century"/>
                <a:sym typeface="Twentieth Century"/>
              </a:rPr>
            </a:br>
            <a:r>
              <a:rPr lang="en-US">
                <a:latin typeface="Twentieth Century"/>
                <a:ea typeface="Twentieth Century"/>
                <a:cs typeface="Twentieth Century"/>
                <a:sym typeface="Twentieth Century"/>
              </a:rPr>
              <a:t>Learning</a:t>
            </a:r>
            <a:endParaRPr i="1">
              <a:latin typeface="Twentieth Century"/>
              <a:ea typeface="Twentieth Century"/>
              <a:cs typeface="Twentieth Century"/>
              <a:sym typeface="Twentieth Century"/>
            </a:endParaRPr>
          </a:p>
        </p:txBody>
      </p:sp>
      <p:sp>
        <p:nvSpPr>
          <p:cNvPr id="241" name="Google Shape;241;p1"/>
          <p:cNvSpPr txBox="1">
            <a:spLocks noGrp="1"/>
          </p:cNvSpPr>
          <p:nvPr>
            <p:ph type="body" idx="1"/>
          </p:nvPr>
        </p:nvSpPr>
        <p:spPr>
          <a:xfrm>
            <a:off x="588970" y="4703142"/>
            <a:ext cx="6822483" cy="1212175"/>
          </a:xfrm>
          <a:prstGeom prst="rect">
            <a:avLst/>
          </a:prstGeom>
          <a:noFill/>
          <a:ln>
            <a:noFill/>
          </a:ln>
        </p:spPr>
        <p:txBody>
          <a:bodyPr spcFirstLastPara="1" wrap="square" lIns="91425" tIns="45700" rIns="91425" bIns="45700" anchor="t" anchorCtr="0">
            <a:normAutofit/>
          </a:bodyPr>
          <a:lstStyle/>
          <a:p>
            <a:pPr marL="168275" lvl="0" indent="0" algn="just" rtl="0">
              <a:lnSpc>
                <a:spcPct val="90000"/>
              </a:lnSpc>
              <a:spcBef>
                <a:spcPts val="1000"/>
              </a:spcBef>
              <a:spcAft>
                <a:spcPts val="0"/>
              </a:spcAft>
              <a:buSzPts val="2400"/>
              <a:buNone/>
            </a:pPr>
            <a:r>
              <a:rPr lang="en-US" b="1"/>
              <a:t>Supervised Learning: </a:t>
            </a:r>
            <a:endParaRPr b="1"/>
          </a:p>
          <a:p>
            <a:pPr marL="241300" lvl="0" indent="-73025" algn="just" rtl="0">
              <a:lnSpc>
                <a:spcPct val="90000"/>
              </a:lnSpc>
              <a:spcBef>
                <a:spcPts val="1000"/>
              </a:spcBef>
              <a:spcAft>
                <a:spcPts val="0"/>
              </a:spcAft>
              <a:buSzPts val="2400"/>
              <a:buNone/>
            </a:pPr>
            <a:r>
              <a:rPr lang="en-US" b="1"/>
              <a:t>Decision Tree, gini impurity dan Entropi</a:t>
            </a:r>
            <a:endParaRPr/>
          </a:p>
          <a:p>
            <a:pPr marL="241300" lvl="0" indent="-73025" algn="just" rtl="0">
              <a:lnSpc>
                <a:spcPct val="90000"/>
              </a:lnSpc>
              <a:spcBef>
                <a:spcPts val="1000"/>
              </a:spcBef>
              <a:spcAft>
                <a:spcPts val="0"/>
              </a:spcAft>
              <a:buSzPts val="2400"/>
              <a:buNone/>
            </a:pPr>
            <a:endParaRPr b="1"/>
          </a:p>
          <a:p>
            <a:pPr marL="457200" lvl="0" indent="-228600" algn="just" rtl="0">
              <a:lnSpc>
                <a:spcPct val="90000"/>
              </a:lnSpc>
              <a:spcBef>
                <a:spcPts val="1000"/>
              </a:spcBef>
              <a:spcAft>
                <a:spcPts val="0"/>
              </a:spcAft>
              <a:buClr>
                <a:schemeClr val="lt1"/>
              </a:buClr>
              <a:buSzPts val="2400"/>
              <a:buNone/>
            </a:pPr>
            <a:endParaRPr b="1"/>
          </a:p>
        </p:txBody>
      </p:sp>
      <p:sp>
        <p:nvSpPr>
          <p:cNvPr id="242" name="Google Shape;242;p1"/>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Sesi 6</a:t>
            </a:r>
            <a:endParaRPr/>
          </a:p>
        </p:txBody>
      </p:sp>
      <p:sp>
        <p:nvSpPr>
          <p:cNvPr id="243" name="Google Shape;243;p1"/>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CIE407</a:t>
            </a:r>
            <a:endParaRPr/>
          </a:p>
        </p:txBody>
      </p:sp>
      <p:pic>
        <p:nvPicPr>
          <p:cNvPr id="244" name="Google Shape;244;p1"/>
          <p:cNvPicPr preferRelativeResize="0">
            <a:picLocks noGrp="1"/>
          </p:cNvPicPr>
          <p:nvPr>
            <p:ph type="pic" idx="2"/>
          </p:nvPr>
        </p:nvPicPr>
        <p:blipFill rotWithShape="1">
          <a:blip r:embed="rId3">
            <a:alphaModFix/>
          </a:blip>
          <a:srcRect l="26635" r="26636"/>
          <a:stretch/>
        </p:blipFill>
        <p:spPr>
          <a:xfrm flipH="1">
            <a:off x="7384744" y="0"/>
            <a:ext cx="4807256" cy="685800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5154979" y="2248625"/>
            <a:ext cx="6198821" cy="406777"/>
          </a:xfrm>
        </p:spPr>
        <p:txBody>
          <a:bodyPr>
            <a:normAutofit fontScale="77500" lnSpcReduction="20000"/>
          </a:bodyPr>
          <a:lstStyle/>
          <a:p>
            <a:r>
              <a:rPr lang="en-US" dirty="0"/>
              <a:t>Dr. Rahmat Budiarsa, </a:t>
            </a:r>
            <a:r>
              <a:rPr lang="en-US" dirty="0" err="1"/>
              <a:t>S.Kom</a:t>
            </a:r>
            <a:r>
              <a:rPr lang="en-US" dirty="0"/>
              <a:t>.</a:t>
            </a:r>
          </a:p>
          <a:p>
            <a:endParaRPr lang="en-US" dirty="0"/>
          </a:p>
          <a:p>
            <a:endParaRPr lang="en-US" dirty="0"/>
          </a:p>
        </p:txBody>
      </p:sp>
      <p:sp>
        <p:nvSpPr>
          <p:cNvPr id="10" name="Text Placeholder 9">
            <a:extLst>
              <a:ext uri="{FF2B5EF4-FFF2-40B4-BE49-F238E27FC236}">
                <a16:creationId xmlns:a16="http://schemas.microsoft.com/office/drawing/2014/main" id="{AD49BF15-A3C7-8807-54BE-DD9F243DEA0D}"/>
              </a:ext>
            </a:extLst>
          </p:cNvPr>
          <p:cNvSpPr>
            <a:spLocks noGrp="1"/>
          </p:cNvSpPr>
          <p:nvPr>
            <p:ph type="body" sz="quarter" idx="16"/>
          </p:nvPr>
        </p:nvSpPr>
        <p:spPr/>
        <p:txBody>
          <a:bodyPr>
            <a:normAutofit fontScale="77500" lnSpcReduction="20000"/>
          </a:bodyPr>
          <a:lstStyle/>
          <a:p>
            <a:r>
              <a:rPr lang="en-ID"/>
              <a:t>rahmat.budiarsa@esaunggul.ac.id</a:t>
            </a:r>
          </a:p>
          <a:p>
            <a:endParaRPr lang="en-ID" dirty="0"/>
          </a:p>
        </p:txBody>
      </p:sp>
      <p:sp>
        <p:nvSpPr>
          <p:cNvPr id="12" name="Text Placeholder 11">
            <a:extLst>
              <a:ext uri="{FF2B5EF4-FFF2-40B4-BE49-F238E27FC236}">
                <a16:creationId xmlns:a16="http://schemas.microsoft.com/office/drawing/2014/main" id="{855CCF90-E809-9E7D-836F-C4D3D4F3AFC9}"/>
              </a:ext>
            </a:extLst>
          </p:cNvPr>
          <p:cNvSpPr>
            <a:spLocks noGrp="1"/>
          </p:cNvSpPr>
          <p:nvPr>
            <p:ph type="body" sz="quarter" idx="15"/>
          </p:nvPr>
        </p:nvSpPr>
        <p:spPr/>
        <p:txBody>
          <a:bodyPr>
            <a:normAutofit fontScale="77500" lnSpcReduction="20000"/>
          </a:bodyPr>
          <a:lstStyle/>
          <a:p>
            <a:r>
              <a:rPr lang="en-ID" dirty="0"/>
              <a:t>8482</a:t>
            </a:r>
          </a:p>
          <a:p>
            <a:endParaRPr lang="en-ID" dirty="0"/>
          </a:p>
        </p:txBody>
      </p:sp>
      <p:pic>
        <p:nvPicPr>
          <p:cNvPr id="26" name="Picture Placeholder 25" descr="A person in a suit and tie&#10;&#10;AI-generated content may be incorrect.">
            <a:extLst>
              <a:ext uri="{FF2B5EF4-FFF2-40B4-BE49-F238E27FC236}">
                <a16:creationId xmlns:a16="http://schemas.microsoft.com/office/drawing/2014/main" id="{DE1D53B0-E00D-EA8D-1E4A-F8F7FAC420B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008" b="2008"/>
          <a:stretch>
            <a:fillRect/>
          </a:stretch>
        </p:blipFill>
        <p:spPr/>
      </p:pic>
    </p:spTree>
    <p:extLst>
      <p:ext uri="{BB962C8B-B14F-4D97-AF65-F5344CB8AC3E}">
        <p14:creationId xmlns:p14="http://schemas.microsoft.com/office/powerpoint/2010/main" val="111028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Pengenalan Machine Learning</a:t>
            </a:r>
            <a:endParaRPr/>
          </a:p>
        </p:txBody>
      </p:sp>
      <p:sp>
        <p:nvSpPr>
          <p:cNvPr id="258" name="Google Shape;258;p3"/>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vs Unsupervised Learning</a:t>
            </a:r>
            <a:endParaRPr/>
          </a:p>
        </p:txBody>
      </p:sp>
      <p:sp>
        <p:nvSpPr>
          <p:cNvPr id="259" name="Google Shape;259;p3"/>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Algoritma Supervised Learning</a:t>
            </a:r>
            <a:endParaRPr/>
          </a:p>
        </p:txBody>
      </p:sp>
      <p:sp>
        <p:nvSpPr>
          <p:cNvPr id="260" name="Google Shape;260;p3"/>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b="1"/>
              <a:t>Algoritma Unsupervised Learning</a:t>
            </a:r>
            <a:endParaRPr/>
          </a:p>
        </p:txBody>
      </p:sp>
      <p:sp>
        <p:nvSpPr>
          <p:cNvPr id="261" name="Google Shape;261;p3"/>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363636"/>
              </a:buClr>
              <a:buSzPts val="1600"/>
              <a:buNone/>
            </a:pPr>
            <a:r>
              <a:rPr lang="en-US" b="1"/>
              <a:t>Supervised Learning: Classification dan Regresi</a:t>
            </a:r>
            <a:endParaRPr b="1"/>
          </a:p>
        </p:txBody>
      </p:sp>
      <p:sp>
        <p:nvSpPr>
          <p:cNvPr id="262" name="Google Shape;262;p3"/>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b="1"/>
              <a:t>Supervised Learning: Decision Tree (DT)</a:t>
            </a:r>
            <a:endParaRPr/>
          </a:p>
        </p:txBody>
      </p:sp>
      <p:sp>
        <p:nvSpPr>
          <p:cNvPr id="263" name="Google Shape;263;p3"/>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363636"/>
              </a:buClr>
              <a:buSzPts val="1600"/>
              <a:buNone/>
            </a:pPr>
            <a:r>
              <a:rPr lang="en-US"/>
              <a:t>Supervised Machine Learning Algorithm: Support Vector Machine (SVM)</a:t>
            </a:r>
            <a:endParaRPr/>
          </a:p>
        </p:txBody>
      </p:sp>
      <p:sp>
        <p:nvSpPr>
          <p:cNvPr id="264" name="Google Shape;264;p3"/>
          <p:cNvSpPr/>
          <p:nvPr/>
        </p:nvSpPr>
        <p:spPr>
          <a:xfrm>
            <a:off x="3410103" y="3792353"/>
            <a:ext cx="2531165" cy="1588168"/>
          </a:xfrm>
          <a:prstGeom prst="rect">
            <a:avLst/>
          </a:prstGeom>
          <a:noFill/>
          <a:ln w="57150" cap="flat" cmpd="sng">
            <a:solidFill>
              <a:srgbClr val="0E60A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Neural Network (Deep Learning)</a:t>
            </a:r>
            <a:endParaRPr/>
          </a:p>
        </p:txBody>
      </p:sp>
      <p:sp>
        <p:nvSpPr>
          <p:cNvPr id="270" name="Google Shape;270;p4"/>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K-Nearest Neighbor</a:t>
            </a:r>
            <a:endParaRPr/>
          </a:p>
        </p:txBody>
      </p:sp>
      <p:sp>
        <p:nvSpPr>
          <p:cNvPr id="271" name="Google Shape;271;p4"/>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Unsupervised Learning: Clustering</a:t>
            </a:r>
            <a:endParaRPr/>
          </a:p>
        </p:txBody>
      </p:sp>
      <p:sp>
        <p:nvSpPr>
          <p:cNvPr id="272" name="Google Shape;272;p4"/>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Unsupervised Learning: Principal Component Analysis</a:t>
            </a:r>
            <a:endParaRPr/>
          </a:p>
        </p:txBody>
      </p:sp>
      <p:sp>
        <p:nvSpPr>
          <p:cNvPr id="273" name="Google Shape;273;p4"/>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Fitur Representasi dan Rekayasa Data</a:t>
            </a:r>
            <a:endParaRPr/>
          </a:p>
        </p:txBody>
      </p:sp>
      <p:sp>
        <p:nvSpPr>
          <p:cNvPr id="274" name="Google Shape;274;p4"/>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Evaluasi dan Perbaikan Model</a:t>
            </a:r>
            <a:endParaRPr/>
          </a:p>
        </p:txBody>
      </p:sp>
      <p:sp>
        <p:nvSpPr>
          <p:cNvPr id="275" name="Google Shape;275;p4"/>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Tantangan dalam Machine Learning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5"/>
          <p:cNvSpPr txBox="1">
            <a:spLocks noGrp="1"/>
          </p:cNvSpPr>
          <p:nvPr>
            <p:ph type="body" idx="1"/>
          </p:nvPr>
        </p:nvSpPr>
        <p:spPr>
          <a:xfrm>
            <a:off x="838200" y="2139885"/>
            <a:ext cx="10515600" cy="3960664"/>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151515"/>
              </a:buClr>
              <a:buSzPts val="2200"/>
              <a:buNone/>
            </a:pPr>
            <a:r>
              <a:rPr lang="en-US" b="1"/>
              <a:t>Setelah mempelajari materi pada sesi ini, diharapkan mahasiswa:</a:t>
            </a:r>
            <a:endParaRPr/>
          </a:p>
          <a:p>
            <a:pPr marL="342900" lvl="0" indent="-342900" algn="just" rtl="0">
              <a:lnSpc>
                <a:spcPct val="90000"/>
              </a:lnSpc>
              <a:spcBef>
                <a:spcPts val="1000"/>
              </a:spcBef>
              <a:spcAft>
                <a:spcPts val="0"/>
              </a:spcAft>
              <a:buClr>
                <a:srgbClr val="151515"/>
              </a:buClr>
              <a:buSzPts val="2200"/>
              <a:buFont typeface="Arial"/>
              <a:buChar char="•"/>
            </a:pPr>
            <a:r>
              <a:rPr lang="en-US"/>
              <a:t>Mampu menjelaskan Decision Tree</a:t>
            </a:r>
            <a:endParaRPr/>
          </a:p>
          <a:p>
            <a:pPr marL="342900" lvl="0" indent="-342900" algn="just" rtl="0">
              <a:lnSpc>
                <a:spcPct val="90000"/>
              </a:lnSpc>
              <a:spcBef>
                <a:spcPts val="1000"/>
              </a:spcBef>
              <a:spcAft>
                <a:spcPts val="0"/>
              </a:spcAft>
              <a:buClr>
                <a:srgbClr val="151515"/>
              </a:buClr>
              <a:buSzPts val="2200"/>
              <a:buFont typeface="Arial"/>
              <a:buChar char="•"/>
            </a:pPr>
            <a:r>
              <a:rPr lang="en-US"/>
              <a:t>Mampu menjelaskan Gini impurity </a:t>
            </a:r>
            <a:endParaRPr/>
          </a:p>
          <a:p>
            <a:pPr marL="342900" lvl="0" indent="-342900" algn="just" rtl="0">
              <a:lnSpc>
                <a:spcPct val="90000"/>
              </a:lnSpc>
              <a:spcBef>
                <a:spcPts val="1000"/>
              </a:spcBef>
              <a:spcAft>
                <a:spcPts val="0"/>
              </a:spcAft>
              <a:buClr>
                <a:srgbClr val="151515"/>
              </a:buClr>
              <a:buSzPts val="2200"/>
              <a:buFont typeface="Arial"/>
              <a:buChar char="•"/>
            </a:pPr>
            <a:r>
              <a:rPr lang="en-US"/>
              <a:t>Mampu menguraikan entropi</a:t>
            </a:r>
            <a:endParaRPr/>
          </a:p>
          <a:p>
            <a:pPr marL="342900" lvl="0" indent="-342900" algn="just" rtl="0">
              <a:lnSpc>
                <a:spcPct val="90000"/>
              </a:lnSpc>
              <a:spcBef>
                <a:spcPts val="1000"/>
              </a:spcBef>
              <a:spcAft>
                <a:spcPts val="0"/>
              </a:spcAft>
              <a:buClr>
                <a:srgbClr val="151515"/>
              </a:buClr>
              <a:buSzPts val="2200"/>
              <a:buFont typeface="Arial"/>
              <a:buChar char="•"/>
            </a:pPr>
            <a:r>
              <a:rPr lang="en-US"/>
              <a:t>Mampu menguraikan kelebihan dan kekurangan dari Decision Tree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6"/>
          <p:cNvSpPr txBox="1">
            <a:spLocks noGrp="1"/>
          </p:cNvSpPr>
          <p:nvPr>
            <p:ph type="ctrTitle"/>
          </p:nvPr>
        </p:nvSpPr>
        <p:spPr>
          <a:xfrm>
            <a:off x="5835541" y="2275158"/>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SUPERVISED LEARNING: </a:t>
            </a:r>
            <a:br>
              <a:rPr lang="en-US" sz="5400"/>
            </a:br>
            <a:r>
              <a:rPr lang="en-US" sz="5400"/>
              <a:t>DECISION TREE</a:t>
            </a:r>
            <a:br>
              <a:rPr lang="en-US" sz="5400"/>
            </a:br>
            <a:endParaRPr sz="5400"/>
          </a:p>
        </p:txBody>
      </p:sp>
      <p:pic>
        <p:nvPicPr>
          <p:cNvPr id="286" name="Google Shape;286;p6"/>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7"/>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92" name="Google Shape;292;p7"/>
          <p:cNvSpPr txBox="1">
            <a:spLocks noGrp="1"/>
          </p:cNvSpPr>
          <p:nvPr>
            <p:ph type="title"/>
          </p:nvPr>
        </p:nvSpPr>
        <p:spPr>
          <a:xfrm>
            <a:off x="337736" y="748759"/>
            <a:ext cx="5127233" cy="796874"/>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FFC000"/>
              </a:buClr>
              <a:buSzPts val="3200"/>
              <a:buFont typeface="Twentieth Century"/>
              <a:buNone/>
            </a:pPr>
            <a:r>
              <a:rPr lang="en-US"/>
              <a:t>APA ITU DECISION TREE?</a:t>
            </a:r>
            <a:endParaRPr/>
          </a:p>
        </p:txBody>
      </p:sp>
      <p:sp>
        <p:nvSpPr>
          <p:cNvPr id="293" name="Google Shape;293;p7"/>
          <p:cNvSpPr txBox="1">
            <a:spLocks noGrp="1"/>
          </p:cNvSpPr>
          <p:nvPr>
            <p:ph type="body" idx="1"/>
          </p:nvPr>
        </p:nvSpPr>
        <p:spPr>
          <a:xfrm>
            <a:off x="446375" y="1898668"/>
            <a:ext cx="5649625" cy="2675652"/>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2400"/>
              <a:buNone/>
            </a:pPr>
            <a:r>
              <a:rPr lang="en-US" sz="2400">
                <a:latin typeface="Twentieth Century"/>
                <a:ea typeface="Twentieth Century"/>
                <a:cs typeface="Twentieth Century"/>
                <a:sym typeface="Twentieth Century"/>
              </a:rPr>
              <a:t>Adalah model yang banyak digunakan untuk tugas klasifikasi dan regresi. Pada dasarnya, mereka mempelajari hirarki pertanyaan jika/lainnya, yang mengarah pada sebuah keputusan. Tujuan dari adanya model ini adalah untuk mendapatkan jawaban yang benar dengan mengajukan pertanyaan jika/lainnya sesedikit mungkin. </a:t>
            </a:r>
            <a:endParaRPr/>
          </a:p>
        </p:txBody>
      </p:sp>
      <p:pic>
        <p:nvPicPr>
          <p:cNvPr id="294" name="Google Shape;294;p7"/>
          <p:cNvPicPr preferRelativeResize="0">
            <a:picLocks noGrp="1"/>
          </p:cNvPicPr>
          <p:nvPr>
            <p:ph type="pic" idx="2"/>
          </p:nvPr>
        </p:nvPicPr>
        <p:blipFill rotWithShape="1">
          <a:blip r:embed="rId3">
            <a:alphaModFix/>
          </a:blip>
          <a:srcRect l="9027" r="9028"/>
          <a:stretch/>
        </p:blipFill>
        <p:spPr>
          <a:xfrm>
            <a:off x="6248897" y="1389596"/>
            <a:ext cx="5508508" cy="44818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EC964B-3DFE-E071-9F39-3ECE86388D3E}"/>
              </a:ext>
            </a:extLst>
          </p:cNvPr>
          <p:cNvSpPr>
            <a:spLocks noGrp="1"/>
          </p:cNvSpPr>
          <p:nvPr>
            <p:ph type="title"/>
          </p:nvPr>
        </p:nvSpPr>
        <p:spPr/>
        <p:txBody>
          <a:bodyPr/>
          <a:lstStyle/>
          <a:p>
            <a:pPr algn="ctr"/>
            <a:r>
              <a:rPr lang="en-ID" dirty="0"/>
              <a:t>Tujuan</a:t>
            </a:r>
          </a:p>
        </p:txBody>
      </p:sp>
      <p:sp>
        <p:nvSpPr>
          <p:cNvPr id="4" name="Text Placeholder 3">
            <a:extLst>
              <a:ext uri="{FF2B5EF4-FFF2-40B4-BE49-F238E27FC236}">
                <a16:creationId xmlns:a16="http://schemas.microsoft.com/office/drawing/2014/main" id="{BFD5B682-3EFF-702E-5313-130E07073B2D}"/>
              </a:ext>
            </a:extLst>
          </p:cNvPr>
          <p:cNvSpPr>
            <a:spLocks noGrp="1"/>
          </p:cNvSpPr>
          <p:nvPr>
            <p:ph type="body" idx="1"/>
          </p:nvPr>
        </p:nvSpPr>
        <p:spPr>
          <a:xfrm>
            <a:off x="5583196" y="1847681"/>
            <a:ext cx="5938243" cy="4123940"/>
          </a:xfrm>
        </p:spPr>
        <p:txBody>
          <a:bodyPr>
            <a:normAutofit lnSpcReduction="10000"/>
          </a:bodyPr>
          <a:lstStyle/>
          <a:p>
            <a:pPr marL="228600" indent="0"/>
            <a:r>
              <a:rPr lang="en-ID" dirty="0"/>
              <a:t>	</a:t>
            </a:r>
            <a:r>
              <a:rPr lang="en-ID" b="1" dirty="0"/>
              <a:t>Decision tree </a:t>
            </a:r>
            <a:r>
              <a:rPr lang="en-ID" dirty="0" err="1"/>
              <a:t>dapat</a:t>
            </a:r>
            <a:r>
              <a:rPr lang="en-ID" dirty="0"/>
              <a:t> </a:t>
            </a:r>
            <a:r>
              <a:rPr lang="en-ID" dirty="0" err="1"/>
              <a:t>digunakan</a:t>
            </a:r>
            <a:r>
              <a:rPr lang="en-ID" dirty="0"/>
              <a:t> </a:t>
            </a:r>
            <a:r>
              <a:rPr lang="en-ID" dirty="0" err="1"/>
              <a:t>untuk</a:t>
            </a:r>
            <a:r>
              <a:rPr lang="en-ID" dirty="0"/>
              <a:t> </a:t>
            </a:r>
            <a:r>
              <a:rPr lang="en-ID" dirty="0" err="1"/>
              <a:t>berbagai</a:t>
            </a:r>
            <a:r>
              <a:rPr lang="en-ID" dirty="0"/>
              <a:t> </a:t>
            </a:r>
            <a:r>
              <a:rPr lang="en-ID" dirty="0" err="1"/>
              <a:t>tujuan</a:t>
            </a:r>
            <a:r>
              <a:rPr lang="en-ID" dirty="0"/>
              <a:t>, </a:t>
            </a:r>
            <a:r>
              <a:rPr lang="en-ID" dirty="0" err="1"/>
              <a:t>seperti</a:t>
            </a:r>
            <a:r>
              <a:rPr lang="en-ID" dirty="0"/>
              <a:t>:</a:t>
            </a:r>
          </a:p>
          <a:p>
            <a:pPr marL="571500" indent="-342900">
              <a:buFont typeface="Arial" panose="020B0604020202020204" pitchFamily="34" charset="0"/>
              <a:buChar char="•"/>
            </a:pPr>
            <a:r>
              <a:rPr lang="en-ID" b="1" dirty="0" err="1"/>
              <a:t>Klasifikasi</a:t>
            </a:r>
            <a:r>
              <a:rPr lang="en-ID" b="1" dirty="0"/>
              <a:t>: </a:t>
            </a:r>
            <a:r>
              <a:rPr lang="en-ID" dirty="0" err="1"/>
              <a:t>Memprediksi</a:t>
            </a:r>
            <a:r>
              <a:rPr lang="en-ID" dirty="0"/>
              <a:t> </a:t>
            </a:r>
            <a:r>
              <a:rPr lang="en-ID" dirty="0" err="1"/>
              <a:t>kategori</a:t>
            </a:r>
            <a:r>
              <a:rPr lang="en-ID" dirty="0"/>
              <a:t> </a:t>
            </a:r>
            <a:r>
              <a:rPr lang="en-ID" dirty="0" err="1"/>
              <a:t>atau</a:t>
            </a:r>
            <a:r>
              <a:rPr lang="en-ID" dirty="0"/>
              <a:t> label </a:t>
            </a:r>
            <a:r>
              <a:rPr lang="en-ID" dirty="0" err="1"/>
              <a:t>dari</a:t>
            </a:r>
            <a:r>
              <a:rPr lang="en-ID" dirty="0"/>
              <a:t> </a:t>
            </a:r>
            <a:r>
              <a:rPr lang="en-ID" dirty="0" err="1"/>
              <a:t>suatu</a:t>
            </a:r>
            <a:r>
              <a:rPr lang="en-ID" dirty="0"/>
              <a:t> data, </a:t>
            </a:r>
            <a:r>
              <a:rPr lang="en-ID" dirty="0" err="1"/>
              <a:t>misalnya</a:t>
            </a:r>
            <a:r>
              <a:rPr lang="en-ID" dirty="0"/>
              <a:t> </a:t>
            </a:r>
            <a:r>
              <a:rPr lang="en-ID" dirty="0" err="1"/>
              <a:t>memprediksi</a:t>
            </a:r>
            <a:r>
              <a:rPr lang="en-ID" dirty="0"/>
              <a:t> </a:t>
            </a:r>
            <a:r>
              <a:rPr lang="en-ID" dirty="0" err="1"/>
              <a:t>apakah</a:t>
            </a:r>
            <a:r>
              <a:rPr lang="en-ID" dirty="0"/>
              <a:t> </a:t>
            </a:r>
            <a:r>
              <a:rPr lang="en-ID" dirty="0" err="1"/>
              <a:t>pelanggan</a:t>
            </a:r>
            <a:r>
              <a:rPr lang="en-ID" dirty="0"/>
              <a:t> </a:t>
            </a:r>
            <a:r>
              <a:rPr lang="en-ID" dirty="0" err="1"/>
              <a:t>akan</a:t>
            </a:r>
            <a:r>
              <a:rPr lang="en-ID" dirty="0"/>
              <a:t> </a:t>
            </a:r>
            <a:r>
              <a:rPr lang="en-ID" dirty="0" err="1"/>
              <a:t>membeli</a:t>
            </a:r>
            <a:r>
              <a:rPr lang="en-ID" dirty="0"/>
              <a:t> </a:t>
            </a:r>
            <a:r>
              <a:rPr lang="en-ID" dirty="0" err="1"/>
              <a:t>produk</a:t>
            </a:r>
            <a:r>
              <a:rPr lang="en-ID" dirty="0"/>
              <a:t> </a:t>
            </a:r>
            <a:r>
              <a:rPr lang="en-ID" dirty="0" err="1"/>
              <a:t>atau</a:t>
            </a:r>
            <a:r>
              <a:rPr lang="en-ID" dirty="0"/>
              <a:t> </a:t>
            </a:r>
            <a:r>
              <a:rPr lang="en-ID" dirty="0" err="1"/>
              <a:t>tidak</a:t>
            </a:r>
            <a:r>
              <a:rPr lang="en-ID" dirty="0"/>
              <a:t>. </a:t>
            </a:r>
          </a:p>
          <a:p>
            <a:pPr marL="571500" indent="-342900">
              <a:buFont typeface="Arial" panose="020B0604020202020204" pitchFamily="34" charset="0"/>
              <a:buChar char="•"/>
            </a:pPr>
            <a:r>
              <a:rPr lang="en-ID" b="1" dirty="0" err="1"/>
              <a:t>Regresi</a:t>
            </a:r>
            <a:r>
              <a:rPr lang="en-ID" b="1" dirty="0"/>
              <a:t>: </a:t>
            </a:r>
            <a:r>
              <a:rPr lang="en-ID" dirty="0" err="1"/>
              <a:t>Memprediksi</a:t>
            </a:r>
            <a:r>
              <a:rPr lang="en-ID" dirty="0"/>
              <a:t> </a:t>
            </a:r>
            <a:r>
              <a:rPr lang="en-ID" dirty="0" err="1"/>
              <a:t>nilai</a:t>
            </a:r>
            <a:r>
              <a:rPr lang="en-ID" dirty="0"/>
              <a:t> </a:t>
            </a:r>
            <a:r>
              <a:rPr lang="en-ID" dirty="0" err="1"/>
              <a:t>numerik</a:t>
            </a:r>
            <a:r>
              <a:rPr lang="en-ID" dirty="0"/>
              <a:t>, </a:t>
            </a:r>
            <a:r>
              <a:rPr lang="en-ID" dirty="0" err="1"/>
              <a:t>misalnya</a:t>
            </a:r>
            <a:r>
              <a:rPr lang="en-ID" dirty="0"/>
              <a:t> </a:t>
            </a:r>
            <a:r>
              <a:rPr lang="en-ID" dirty="0" err="1"/>
              <a:t>memprediksi</a:t>
            </a:r>
            <a:r>
              <a:rPr lang="en-ID" dirty="0"/>
              <a:t> </a:t>
            </a:r>
            <a:r>
              <a:rPr lang="en-ID" dirty="0" err="1"/>
              <a:t>harga</a:t>
            </a:r>
            <a:r>
              <a:rPr lang="en-ID" dirty="0"/>
              <a:t> </a:t>
            </a:r>
            <a:r>
              <a:rPr lang="en-ID" dirty="0" err="1"/>
              <a:t>rumah</a:t>
            </a:r>
            <a:r>
              <a:rPr lang="en-ID" dirty="0"/>
              <a:t> </a:t>
            </a:r>
            <a:r>
              <a:rPr lang="en-ID" dirty="0" err="1"/>
              <a:t>berdasarkan</a:t>
            </a:r>
            <a:r>
              <a:rPr lang="en-ID" dirty="0"/>
              <a:t> </a:t>
            </a:r>
            <a:r>
              <a:rPr lang="en-ID" dirty="0" err="1"/>
              <a:t>berbagai</a:t>
            </a:r>
            <a:r>
              <a:rPr lang="en-ID" dirty="0"/>
              <a:t> </a:t>
            </a:r>
            <a:r>
              <a:rPr lang="en-ID" dirty="0" err="1"/>
              <a:t>faktor</a:t>
            </a:r>
            <a:r>
              <a:rPr lang="en-ID" dirty="0"/>
              <a:t>. </a:t>
            </a:r>
          </a:p>
          <a:p>
            <a:pPr marL="571500" indent="-342900">
              <a:buFont typeface="Arial" panose="020B0604020202020204" pitchFamily="34" charset="0"/>
              <a:buChar char="•"/>
            </a:pPr>
            <a:r>
              <a:rPr lang="en-ID" b="1" dirty="0" err="1"/>
              <a:t>Eksplorasi</a:t>
            </a:r>
            <a:r>
              <a:rPr lang="en-ID" b="1" dirty="0"/>
              <a:t> Data: </a:t>
            </a:r>
            <a:r>
              <a:rPr lang="en-ID" dirty="0" err="1"/>
              <a:t>Membantu</a:t>
            </a:r>
            <a:r>
              <a:rPr lang="en-ID" dirty="0"/>
              <a:t> </a:t>
            </a:r>
            <a:r>
              <a:rPr lang="en-ID" dirty="0" err="1"/>
              <a:t>memahami</a:t>
            </a:r>
            <a:r>
              <a:rPr lang="en-ID" dirty="0"/>
              <a:t> </a:t>
            </a:r>
            <a:r>
              <a:rPr lang="en-ID" dirty="0" err="1"/>
              <a:t>hubungan</a:t>
            </a:r>
            <a:r>
              <a:rPr lang="en-ID" dirty="0"/>
              <a:t> </a:t>
            </a:r>
            <a:r>
              <a:rPr lang="en-ID" dirty="0" err="1"/>
              <a:t>antara</a:t>
            </a:r>
            <a:r>
              <a:rPr lang="en-ID" dirty="0"/>
              <a:t> </a:t>
            </a:r>
            <a:r>
              <a:rPr lang="en-ID" dirty="0" err="1"/>
              <a:t>variabel-variabel</a:t>
            </a:r>
            <a:r>
              <a:rPr lang="en-ID" dirty="0"/>
              <a:t> </a:t>
            </a:r>
            <a:r>
              <a:rPr lang="en-ID" dirty="0" err="1"/>
              <a:t>dalam</a:t>
            </a:r>
            <a:r>
              <a:rPr lang="en-ID" dirty="0"/>
              <a:t> data dan </a:t>
            </a:r>
            <a:r>
              <a:rPr lang="en-ID" dirty="0" err="1"/>
              <a:t>menemukan</a:t>
            </a:r>
            <a:r>
              <a:rPr lang="en-ID" dirty="0"/>
              <a:t> </a:t>
            </a:r>
            <a:r>
              <a:rPr lang="en-ID" dirty="0" err="1"/>
              <a:t>pola</a:t>
            </a:r>
            <a:r>
              <a:rPr lang="en-ID" dirty="0"/>
              <a:t> yang </a:t>
            </a:r>
            <a:r>
              <a:rPr lang="en-ID" dirty="0" err="1"/>
              <a:t>mungkin</a:t>
            </a:r>
            <a:r>
              <a:rPr lang="en-ID" dirty="0"/>
              <a:t> </a:t>
            </a:r>
            <a:r>
              <a:rPr lang="en-ID" dirty="0" err="1"/>
              <a:t>tersembuny</a:t>
            </a:r>
            <a:endParaRPr lang="en-ID" dirty="0"/>
          </a:p>
        </p:txBody>
      </p:sp>
      <p:pic>
        <p:nvPicPr>
          <p:cNvPr id="1026" name="Picture 2" descr="Decision Tree: Pengertian, Plus Minus, dan Cara Membuatnya">
            <a:extLst>
              <a:ext uri="{FF2B5EF4-FFF2-40B4-BE49-F238E27FC236}">
                <a16:creationId xmlns:a16="http://schemas.microsoft.com/office/drawing/2014/main" id="{3FF53BAA-A745-2C8F-F0CE-A8724378ED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477" y="1504950"/>
            <a:ext cx="5188767" cy="34937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14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8"/>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E60AC"/>
              </a:buClr>
              <a:buSzPct val="100000"/>
              <a:buFont typeface="Twentieth Century"/>
              <a:buNone/>
            </a:pPr>
            <a:r>
              <a:rPr lang="en-US"/>
              <a:t/>
            </a:r>
            <a:br>
              <a:rPr lang="en-US"/>
            </a:br>
            <a:endParaRPr/>
          </a:p>
        </p:txBody>
      </p:sp>
      <p:pic>
        <p:nvPicPr>
          <p:cNvPr id="300" name="Google Shape;300;p8" descr="A diagram of a bird's feather&#10;&#10;Description automatically generated"/>
          <p:cNvPicPr preferRelativeResize="0"/>
          <p:nvPr/>
        </p:nvPicPr>
        <p:blipFill rotWithShape="1">
          <a:blip r:embed="rId3">
            <a:alphaModFix/>
          </a:blip>
          <a:srcRect/>
          <a:stretch/>
        </p:blipFill>
        <p:spPr>
          <a:xfrm>
            <a:off x="2469420" y="886120"/>
            <a:ext cx="7253161" cy="5506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9"/>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E60AC"/>
              </a:buClr>
              <a:buSzPct val="100000"/>
              <a:buFont typeface="Twentieth Century"/>
              <a:buNone/>
            </a:pPr>
            <a:r>
              <a:rPr lang="en-US"/>
              <a:t/>
            </a:r>
            <a:br>
              <a:rPr lang="en-US"/>
            </a:br>
            <a:endParaRPr/>
          </a:p>
        </p:txBody>
      </p:sp>
      <p:pic>
        <p:nvPicPr>
          <p:cNvPr id="306" name="Google Shape;306;p9" descr="A diagram of a bird's feather&#10;&#10;Description automatically generated"/>
          <p:cNvPicPr preferRelativeResize="0"/>
          <p:nvPr/>
        </p:nvPicPr>
        <p:blipFill rotWithShape="1">
          <a:blip r:embed="rId3">
            <a:alphaModFix/>
          </a:blip>
          <a:srcRect/>
          <a:stretch/>
        </p:blipFill>
        <p:spPr>
          <a:xfrm>
            <a:off x="3641274" y="717677"/>
            <a:ext cx="4909452" cy="3726985"/>
          </a:xfrm>
          <a:prstGeom prst="rect">
            <a:avLst/>
          </a:prstGeom>
          <a:noFill/>
          <a:ln>
            <a:noFill/>
          </a:ln>
        </p:spPr>
      </p:pic>
      <p:sp>
        <p:nvSpPr>
          <p:cNvPr id="307" name="Google Shape;307;p9"/>
          <p:cNvSpPr/>
          <p:nvPr/>
        </p:nvSpPr>
        <p:spPr>
          <a:xfrm>
            <a:off x="593558" y="4444663"/>
            <a:ext cx="10668000" cy="193899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Twentieth Century"/>
                <a:ea typeface="Twentieth Century"/>
                <a:cs typeface="Twentieth Century"/>
                <a:sym typeface="Twentieth Century"/>
              </a:rPr>
              <a:t>Dalam ilustrasi di atas, setiap simpul dalam pohon merepresentasikan sebuah pertanyaan atau simpul akhir (disebut juga daun) yang berisi jawabannya. Ujung-ujungnya menghubungkan jawaban dari sebuah pertanyaan dengan pertanyaan berikutnya yang akan Anda ajukan. Lalu bagaimana cara memilih fitur dan ambang batas optimal untuk ditempatkan di setiap node?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0"/>
          <p:cNvSpPr txBox="1">
            <a:spLocks noGrp="1"/>
          </p:cNvSpPr>
          <p:nvPr>
            <p:ph type="ctrTitle"/>
          </p:nvPr>
        </p:nvSpPr>
        <p:spPr>
          <a:xfrm>
            <a:off x="5835541" y="2275158"/>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SUPERVISED LEARNING: </a:t>
            </a:r>
            <a:br>
              <a:rPr lang="en-US" sz="5400"/>
            </a:br>
            <a:r>
              <a:rPr lang="en-US" sz="5400"/>
              <a:t>GINI IMPURITY</a:t>
            </a:r>
            <a:br>
              <a:rPr lang="en-US" sz="5400"/>
            </a:br>
            <a:r>
              <a:rPr lang="en-US" sz="5400"/>
              <a:t/>
            </a:r>
            <a:br>
              <a:rPr lang="en-US" sz="5400"/>
            </a:br>
            <a:endParaRPr sz="5400"/>
          </a:p>
        </p:txBody>
      </p:sp>
      <p:pic>
        <p:nvPicPr>
          <p:cNvPr id="313" name="Google Shape;313;p10"/>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11"/>
          <p:cNvSpPr/>
          <p:nvPr/>
        </p:nvSpPr>
        <p:spPr>
          <a:xfrm>
            <a:off x="4329112" y="0"/>
            <a:ext cx="2528887"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19" name="Google Shape;319;p11"/>
          <p:cNvSpPr txBox="1">
            <a:spLocks noGrp="1"/>
          </p:cNvSpPr>
          <p:nvPr>
            <p:ph type="title"/>
          </p:nvPr>
        </p:nvSpPr>
        <p:spPr>
          <a:xfrm>
            <a:off x="337736" y="511855"/>
            <a:ext cx="5127233" cy="7968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C000"/>
              </a:buClr>
              <a:buSzPts val="3200"/>
              <a:buFont typeface="Twentieth Century"/>
              <a:buNone/>
            </a:pPr>
            <a:r>
              <a:rPr lang="en-US"/>
              <a:t>GINI IMPURITY</a:t>
            </a:r>
            <a:endParaRPr/>
          </a:p>
        </p:txBody>
      </p:sp>
      <p:sp>
        <p:nvSpPr>
          <p:cNvPr id="320" name="Google Shape;320;p11"/>
          <p:cNvSpPr txBox="1">
            <a:spLocks noGrp="1"/>
          </p:cNvSpPr>
          <p:nvPr>
            <p:ph type="body" idx="1"/>
          </p:nvPr>
        </p:nvSpPr>
        <p:spPr>
          <a:xfrm>
            <a:off x="409075" y="1275347"/>
            <a:ext cx="6160167" cy="4957011"/>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lt1"/>
              </a:buClr>
              <a:buSzPts val="2000"/>
              <a:buNone/>
            </a:pPr>
            <a:r>
              <a:rPr lang="en-US">
                <a:latin typeface="Calibri"/>
                <a:ea typeface="Calibri"/>
                <a:cs typeface="Calibri"/>
                <a:sym typeface="Calibri"/>
              </a:rPr>
              <a:t>Indeks Gini impurity (diambil dari nama ahli statistik Italia Corrado Gini) adalah ukuran alami untuk akurasi klasifikasi. Gini yang tinggi menunjukkan populasi yang heterogen (jumlah sampel yang sama dari setiap kelas) sedangkan Gini yang rendah menunjukkan populasi yang homogen (yakni sebagian besar terdiri dari satu kelas).</a:t>
            </a:r>
            <a:endParaRPr/>
          </a:p>
          <a:p>
            <a:pPr marL="0" lvl="0" indent="0" algn="just" rtl="0">
              <a:lnSpc>
                <a:spcPct val="150000"/>
              </a:lnSpc>
              <a:spcBef>
                <a:spcPts val="1000"/>
              </a:spcBef>
              <a:spcAft>
                <a:spcPts val="0"/>
              </a:spcAft>
              <a:buClr>
                <a:schemeClr val="lt1"/>
              </a:buClr>
              <a:buSzPts val="2000"/>
              <a:buNone/>
            </a:pPr>
            <a:r>
              <a:rPr lang="en-US">
                <a:latin typeface="Calibri"/>
                <a:ea typeface="Calibri"/>
                <a:cs typeface="Calibri"/>
                <a:sym typeface="Calibri"/>
              </a:rPr>
              <a:t>Nilai Gini maksimum yang mungkin bergantung pada jumlah kelas: dalam masalah klasifikasi dengan kelas C, Gini maksimum yang mungkin adalah 1–1/C (bila kelas-kelas tersebut terisi secara merata). Gini minimum adalah 0 dan dicapai bila seluruh populasi terdiri dari satu kelas.</a:t>
            </a:r>
            <a:endParaRPr/>
          </a:p>
        </p:txBody>
      </p:sp>
      <p:pic>
        <p:nvPicPr>
          <p:cNvPr id="2050" name="Picture 2">
            <a:extLst>
              <a:ext uri="{FF2B5EF4-FFF2-40B4-BE49-F238E27FC236}">
                <a16:creationId xmlns:a16="http://schemas.microsoft.com/office/drawing/2014/main" id="{1863E9E6-8D00-04FD-DAAC-17E366FD7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4679" y="1576387"/>
            <a:ext cx="4905375" cy="370522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12"/>
          <p:cNvSpPr txBox="1"/>
          <p:nvPr/>
        </p:nvSpPr>
        <p:spPr>
          <a:xfrm>
            <a:off x="2214399" y="585100"/>
            <a:ext cx="7763202" cy="606600"/>
          </a:xfrm>
          <a:prstGeom prst="rect">
            <a:avLst/>
          </a:prstGeom>
          <a:noFill/>
          <a:ln>
            <a:noFill/>
          </a:ln>
        </p:spPr>
        <p:txBody>
          <a:bodyPr spcFirstLastPara="1" wrap="square" lIns="91425" tIns="91425" rIns="91425" bIns="91425" anchor="b" anchorCtr="0">
            <a:noAutofit/>
          </a:bodyPr>
          <a:lstStyle/>
          <a:p>
            <a:pPr marL="0" marR="148590" lvl="0" indent="0" algn="ctr" rtl="0">
              <a:lnSpc>
                <a:spcPct val="150000"/>
              </a:lnSpc>
              <a:spcBef>
                <a:spcPts val="0"/>
              </a:spcBef>
              <a:spcAft>
                <a:spcPts val="0"/>
              </a:spcAft>
              <a:buClr>
                <a:srgbClr val="0E60AC"/>
              </a:buClr>
              <a:buSzPts val="3200"/>
              <a:buFont typeface="Twentieth Century"/>
              <a:buNone/>
            </a:pPr>
            <a:r>
              <a:rPr lang="en-US" sz="3200" b="1" i="1">
                <a:solidFill>
                  <a:srgbClr val="0E60AC"/>
                </a:solidFill>
                <a:latin typeface="Twentieth Century"/>
                <a:ea typeface="Twentieth Century"/>
                <a:cs typeface="Twentieth Century"/>
                <a:sym typeface="Twentieth Century"/>
              </a:rPr>
              <a:t>Gini impurity</a:t>
            </a:r>
            <a:endParaRPr sz="3200" b="1">
              <a:solidFill>
                <a:srgbClr val="0E60AC"/>
              </a:solidFill>
              <a:latin typeface="Twentieth Century"/>
              <a:ea typeface="Twentieth Century"/>
              <a:cs typeface="Twentieth Century"/>
              <a:sym typeface="Twentieth Century"/>
            </a:endParaRPr>
          </a:p>
        </p:txBody>
      </p:sp>
      <p:cxnSp>
        <p:nvCxnSpPr>
          <p:cNvPr id="327" name="Google Shape;327;p12"/>
          <p:cNvCxnSpPr/>
          <p:nvPr/>
        </p:nvCxnSpPr>
        <p:spPr>
          <a:xfrm>
            <a:off x="423460" y="1191700"/>
            <a:ext cx="11067488" cy="0"/>
          </a:xfrm>
          <a:prstGeom prst="straightConnector1">
            <a:avLst/>
          </a:prstGeom>
          <a:noFill/>
          <a:ln w="9525" cap="flat" cmpd="sng">
            <a:solidFill>
              <a:schemeClr val="accent1"/>
            </a:solidFill>
            <a:prstDash val="solid"/>
            <a:round/>
            <a:headEnd type="none" w="sm" len="sm"/>
            <a:tailEnd type="none" w="sm" len="sm"/>
          </a:ln>
        </p:spPr>
      </p:cxnSp>
      <p:sp>
        <p:nvSpPr>
          <p:cNvPr id="328" name="Google Shape;328;p12"/>
          <p:cNvSpPr txBox="1"/>
          <p:nvPr/>
        </p:nvSpPr>
        <p:spPr>
          <a:xfrm>
            <a:off x="301534" y="1287880"/>
            <a:ext cx="11311340" cy="4985020"/>
          </a:xfrm>
          <a:prstGeom prst="rect">
            <a:avLst/>
          </a:prstGeom>
          <a:noFill/>
          <a:ln>
            <a:noFill/>
          </a:ln>
        </p:spPr>
        <p:txBody>
          <a:bodyPr spcFirstLastPara="1" wrap="square" lIns="91425" tIns="91425" rIns="91425" bIns="91425" anchor="t" anchorCtr="0">
            <a:noAutofit/>
          </a:bodyPr>
          <a:lstStyle/>
          <a:p>
            <a:pPr marL="0" marR="148590" lvl="0" indent="0" algn="just" rtl="0">
              <a:lnSpc>
                <a:spcPct val="150000"/>
              </a:lnSpc>
              <a:spcBef>
                <a:spcPts val="1000"/>
              </a:spcBef>
              <a:spcAft>
                <a:spcPts val="0"/>
              </a:spcAft>
              <a:buClr>
                <a:srgbClr val="151515"/>
              </a:buClr>
              <a:buSzPts val="2000"/>
              <a:buFont typeface="Twentieth Century"/>
              <a:buNone/>
            </a:pPr>
            <a:r>
              <a:rPr lang="en-US" sz="2000">
                <a:solidFill>
                  <a:srgbClr val="151515"/>
                </a:solidFill>
                <a:latin typeface="Twentieth Century"/>
                <a:ea typeface="Twentieth Century"/>
                <a:cs typeface="Twentieth Century"/>
                <a:sym typeface="Twentieth Century"/>
              </a:rPr>
              <a:t>Indeks </a:t>
            </a:r>
            <a:r>
              <a:rPr lang="en-US" sz="2000" i="1">
                <a:solidFill>
                  <a:srgbClr val="151515"/>
                </a:solidFill>
                <a:latin typeface="Twentieth Century"/>
                <a:ea typeface="Twentieth Century"/>
                <a:cs typeface="Twentieth Century"/>
                <a:sym typeface="Twentieth Century"/>
              </a:rPr>
              <a:t>Gini impurity</a:t>
            </a:r>
            <a:r>
              <a:rPr lang="en-US" sz="2000">
                <a:solidFill>
                  <a:srgbClr val="151515"/>
                </a:solidFill>
                <a:latin typeface="Twentieth Century"/>
                <a:ea typeface="Twentieth Century"/>
                <a:cs typeface="Twentieth Century"/>
                <a:sym typeface="Twentieth Century"/>
              </a:rPr>
              <a:t> merupakan nilai ekspektasi kesalahan klasifikasi jika klasifikasi dilakukan secara acak. Karena peluang terambilnya sampel secara acak dari kelas ci adalah p(ci). Setelah dipilih, peluang memprediksi kelas yang salah adalah (1-p(ci)). Jika kita menjumlahkan p(ci)*(1-p(ci)) pada semua kelas, kita mendapatkan rumus </a:t>
            </a:r>
            <a:r>
              <a:rPr lang="en-US" sz="2000" i="1">
                <a:solidFill>
                  <a:srgbClr val="151515"/>
                </a:solidFill>
                <a:latin typeface="Twentieth Century"/>
                <a:ea typeface="Twentieth Century"/>
                <a:cs typeface="Twentieth Century"/>
                <a:sym typeface="Twentieth Century"/>
              </a:rPr>
              <a:t>Gini impurity</a:t>
            </a:r>
            <a:r>
              <a:rPr lang="en-US" sz="2000">
                <a:solidFill>
                  <a:srgbClr val="151515"/>
                </a:solidFill>
                <a:latin typeface="Twentieth Century"/>
                <a:ea typeface="Twentieth Century"/>
                <a:cs typeface="Twentieth Century"/>
                <a:sym typeface="Twentieth Century"/>
              </a:rPr>
              <a:t> seperti pada gambar di bawah:</a:t>
            </a:r>
            <a:endParaRPr sz="2000">
              <a:solidFill>
                <a:srgbClr val="151515"/>
              </a:solidFill>
              <a:latin typeface="Twentieth Century"/>
              <a:ea typeface="Twentieth Century"/>
              <a:cs typeface="Twentieth Century"/>
              <a:sym typeface="Twentieth Century"/>
            </a:endParaRPr>
          </a:p>
          <a:p>
            <a:pPr marL="0" marR="148590" lvl="0" indent="0" algn="just" rtl="0">
              <a:lnSpc>
                <a:spcPct val="150000"/>
              </a:lnSpc>
              <a:spcBef>
                <a:spcPts val="1000"/>
              </a:spcBef>
              <a:spcAft>
                <a:spcPts val="0"/>
              </a:spcAft>
              <a:buClr>
                <a:srgbClr val="151515"/>
              </a:buClr>
              <a:buSzPts val="2000"/>
              <a:buFont typeface="Twentieth Century"/>
              <a:buNone/>
            </a:pPr>
            <a:endParaRPr sz="2000">
              <a:solidFill>
                <a:srgbClr val="151515"/>
              </a:solidFill>
              <a:latin typeface="Twentieth Century"/>
              <a:ea typeface="Twentieth Century"/>
              <a:cs typeface="Twentieth Century"/>
              <a:sym typeface="Twentieth Century"/>
            </a:endParaRPr>
          </a:p>
        </p:txBody>
      </p:sp>
      <p:sp>
        <p:nvSpPr>
          <p:cNvPr id="329" name="Google Shape;329;p12"/>
          <p:cNvSpPr/>
          <p:nvPr/>
        </p:nvSpPr>
        <p:spPr>
          <a:xfrm>
            <a:off x="2666104" y="3443704"/>
            <a:ext cx="6020696" cy="1676399"/>
          </a:xfrm>
          <a:custGeom>
            <a:avLst/>
            <a:gdLst/>
            <a:ahLst/>
            <a:cxnLst/>
            <a:rect l="l" t="t" r="r" b="b"/>
            <a:pathLst>
              <a:path w="4936900" h="4909971" extrusionOk="0">
                <a:moveTo>
                  <a:pt x="0" y="0"/>
                </a:moveTo>
                <a:lnTo>
                  <a:pt x="4936900" y="0"/>
                </a:lnTo>
                <a:lnTo>
                  <a:pt x="4936900" y="4909971"/>
                </a:lnTo>
                <a:lnTo>
                  <a:pt x="0" y="490997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wentieth Century"/>
              <a:ea typeface="Twentieth Century"/>
              <a:cs typeface="Twentieth Century"/>
              <a:sym typeface="Twentieth Century"/>
            </a:endParaRPr>
          </a:p>
        </p:txBody>
      </p:sp>
      <p:pic>
        <p:nvPicPr>
          <p:cNvPr id="330" name="Google Shape;330;p12"/>
          <p:cNvPicPr preferRelativeResize="0"/>
          <p:nvPr/>
        </p:nvPicPr>
        <p:blipFill rotWithShape="1">
          <a:blip r:embed="rId4">
            <a:alphaModFix/>
          </a:blip>
          <a:srcRect/>
          <a:stretch/>
        </p:blipFill>
        <p:spPr>
          <a:xfrm>
            <a:off x="2810697" y="3479717"/>
            <a:ext cx="5731510" cy="1546609"/>
          </a:xfrm>
          <a:prstGeom prst="rect">
            <a:avLst/>
          </a:prstGeom>
          <a:noFill/>
          <a:ln>
            <a:noFill/>
          </a:ln>
        </p:spPr>
      </p:pic>
      <p:sp>
        <p:nvSpPr>
          <p:cNvPr id="331" name="Google Shape;331;p12"/>
          <p:cNvSpPr txBox="1"/>
          <p:nvPr/>
        </p:nvSpPr>
        <p:spPr>
          <a:xfrm>
            <a:off x="440330" y="4856478"/>
            <a:ext cx="11311340" cy="4985020"/>
          </a:xfrm>
          <a:prstGeom prst="rect">
            <a:avLst/>
          </a:prstGeom>
          <a:noFill/>
          <a:ln>
            <a:noFill/>
          </a:ln>
        </p:spPr>
        <p:txBody>
          <a:bodyPr spcFirstLastPara="1" wrap="square" lIns="91425" tIns="91425" rIns="91425" bIns="91425" anchor="t" anchorCtr="0">
            <a:noAutofit/>
          </a:bodyPr>
          <a:lstStyle/>
          <a:p>
            <a:pPr marL="0" marR="148590" lvl="0" indent="0" algn="ctr" rtl="0">
              <a:lnSpc>
                <a:spcPct val="150000"/>
              </a:lnSpc>
              <a:spcBef>
                <a:spcPts val="1000"/>
              </a:spcBef>
              <a:spcAft>
                <a:spcPts val="0"/>
              </a:spcAft>
              <a:buClr>
                <a:srgbClr val="151515"/>
              </a:buClr>
              <a:buSzPts val="2000"/>
              <a:buFont typeface="Twentieth Century"/>
              <a:buNone/>
            </a:pPr>
            <a:r>
              <a:rPr lang="en-US" sz="2000">
                <a:solidFill>
                  <a:srgbClr val="151515"/>
                </a:solidFill>
                <a:latin typeface="Twentieth Century"/>
                <a:ea typeface="Twentieth Century"/>
                <a:cs typeface="Twentieth Century"/>
                <a:sym typeface="Twentieth Century"/>
              </a:rPr>
              <a:t>Dua tujuan rangkaian umum untuk pohon: Gini dan entropi. P(ci) adalah probabilitas pengambilan sampel kelas ci secara acak dari populasi. n adalah jumlah kelas</a:t>
            </a:r>
            <a:endParaRPr sz="2000">
              <a:solidFill>
                <a:srgbClr val="151515"/>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13"/>
          <p:cNvSpPr txBox="1">
            <a:spLocks noGrp="1"/>
          </p:cNvSpPr>
          <p:nvPr>
            <p:ph type="ctrTitle"/>
          </p:nvPr>
        </p:nvSpPr>
        <p:spPr>
          <a:xfrm>
            <a:off x="5835541" y="2275158"/>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SUPERVISED LEARNING: </a:t>
            </a:r>
            <a:br>
              <a:rPr lang="en-US" sz="5400"/>
            </a:br>
            <a:r>
              <a:rPr lang="en-US" sz="5400"/>
              <a:t>ENTROPI</a:t>
            </a:r>
            <a:br>
              <a:rPr lang="en-US" sz="5400"/>
            </a:br>
            <a:r>
              <a:rPr lang="en-US" sz="5400"/>
              <a:t/>
            </a:r>
            <a:br>
              <a:rPr lang="en-US" sz="5400"/>
            </a:br>
            <a:endParaRPr sz="5400"/>
          </a:p>
        </p:txBody>
      </p:sp>
      <p:pic>
        <p:nvPicPr>
          <p:cNvPr id="337" name="Google Shape;337;p13"/>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4"/>
          <p:cNvSpPr txBox="1"/>
          <p:nvPr/>
        </p:nvSpPr>
        <p:spPr>
          <a:xfrm>
            <a:off x="2214399" y="585100"/>
            <a:ext cx="7763202" cy="606600"/>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rgbClr val="0E60AC"/>
              </a:buClr>
              <a:buSzPts val="3200"/>
              <a:buFont typeface="Calibri"/>
              <a:buNone/>
            </a:pPr>
            <a:r>
              <a:rPr lang="en-US" sz="3200" b="1">
                <a:solidFill>
                  <a:srgbClr val="0E60AC"/>
                </a:solidFill>
                <a:latin typeface="Calibri"/>
                <a:ea typeface="Calibri"/>
                <a:cs typeface="Calibri"/>
                <a:sym typeface="Calibri"/>
              </a:rPr>
              <a:t>Entropi</a:t>
            </a:r>
            <a:endParaRPr sz="3200" b="1">
              <a:solidFill>
                <a:srgbClr val="0E60AC"/>
              </a:solidFill>
              <a:latin typeface="Calibri"/>
              <a:ea typeface="Calibri"/>
              <a:cs typeface="Calibri"/>
              <a:sym typeface="Calibri"/>
            </a:endParaRPr>
          </a:p>
        </p:txBody>
      </p:sp>
      <p:cxnSp>
        <p:nvCxnSpPr>
          <p:cNvPr id="343" name="Google Shape;343;p14"/>
          <p:cNvCxnSpPr/>
          <p:nvPr/>
        </p:nvCxnSpPr>
        <p:spPr>
          <a:xfrm>
            <a:off x="423460" y="1191700"/>
            <a:ext cx="11067488" cy="0"/>
          </a:xfrm>
          <a:prstGeom prst="straightConnector1">
            <a:avLst/>
          </a:prstGeom>
          <a:noFill/>
          <a:ln w="9525" cap="flat" cmpd="sng">
            <a:solidFill>
              <a:schemeClr val="accent1"/>
            </a:solidFill>
            <a:prstDash val="solid"/>
            <a:round/>
            <a:headEnd type="none" w="sm" len="sm"/>
            <a:tailEnd type="none" w="sm" len="sm"/>
          </a:ln>
        </p:spPr>
      </p:cxnSp>
      <p:sp>
        <p:nvSpPr>
          <p:cNvPr id="344" name="Google Shape;344;p14"/>
          <p:cNvSpPr txBox="1"/>
          <p:nvPr/>
        </p:nvSpPr>
        <p:spPr>
          <a:xfrm>
            <a:off x="301534" y="1287880"/>
            <a:ext cx="11311340" cy="4985020"/>
          </a:xfrm>
          <a:prstGeom prst="rect">
            <a:avLst/>
          </a:prstGeom>
          <a:noFill/>
          <a:ln>
            <a:noFill/>
          </a:ln>
        </p:spPr>
        <p:txBody>
          <a:bodyPr spcFirstLastPara="1" wrap="square" lIns="91425" tIns="91425" rIns="91425" bIns="91425" anchor="t" anchorCtr="0">
            <a:noAutofit/>
          </a:bodyPr>
          <a:lstStyle/>
          <a:p>
            <a:pPr marL="0" marR="148590" lvl="0" indent="0" algn="just" rtl="0">
              <a:lnSpc>
                <a:spcPct val="150000"/>
              </a:lnSpc>
              <a:spcBef>
                <a:spcPts val="1000"/>
              </a:spcBef>
              <a:spcAft>
                <a:spcPts val="0"/>
              </a:spcAft>
              <a:buClr>
                <a:srgbClr val="151515"/>
              </a:buClr>
              <a:buSzPts val="1800"/>
              <a:buFont typeface="Twentieth Century"/>
              <a:buNone/>
            </a:pPr>
            <a:r>
              <a:rPr lang="en-US" sz="1800" dirty="0">
                <a:solidFill>
                  <a:srgbClr val="151515"/>
                </a:solidFill>
                <a:latin typeface="Arial"/>
                <a:ea typeface="Arial"/>
                <a:cs typeface="Arial"/>
                <a:sym typeface="Arial"/>
              </a:rPr>
              <a:t>Jika strategi Gini </a:t>
            </a:r>
            <a:r>
              <a:rPr lang="en-US" sz="1800" dirty="0" err="1">
                <a:solidFill>
                  <a:srgbClr val="151515"/>
                </a:solidFill>
                <a:latin typeface="Arial"/>
                <a:ea typeface="Arial"/>
                <a:cs typeface="Arial"/>
                <a:sym typeface="Arial"/>
              </a:rPr>
              <a:t>bertujuan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untuk</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meminimalkan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kesalahan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klasifikasi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acak</a:t>
            </a:r>
            <a:r>
              <a:rPr lang="en-US" sz="1800" dirty="0">
                <a:solidFill>
                  <a:srgbClr val="151515"/>
                </a:solidFill>
                <a:latin typeface="Arial"/>
                <a:ea typeface="Arial"/>
                <a:cs typeface="Arial"/>
                <a:sym typeface="Arial"/>
              </a:rPr>
              <a:t> pada </a:t>
            </a:r>
            <a:r>
              <a:rPr lang="en-US" sz="1800" dirty="0" err="1">
                <a:solidFill>
                  <a:srgbClr val="151515"/>
                </a:solidFill>
                <a:latin typeface="Arial"/>
                <a:ea typeface="Arial"/>
                <a:cs typeface="Arial"/>
                <a:sym typeface="Arial"/>
              </a:rPr>
              <a:t>langkah</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berikutnya</a:t>
            </a:r>
            <a:r>
              <a:rPr lang="en-US" sz="1800" dirty="0">
                <a:solidFill>
                  <a:srgbClr val="151515"/>
                </a:solidFill>
                <a:latin typeface="Arial"/>
                <a:ea typeface="Arial"/>
                <a:cs typeface="Arial"/>
                <a:sym typeface="Arial"/>
              </a:rPr>
              <a:t>, strategi </a:t>
            </a:r>
            <a:r>
              <a:rPr lang="en-US" sz="1800" dirty="0" err="1">
                <a:solidFill>
                  <a:srgbClr val="151515"/>
                </a:solidFill>
                <a:latin typeface="Arial"/>
                <a:ea typeface="Arial"/>
                <a:cs typeface="Arial"/>
                <a:sym typeface="Arial"/>
              </a:rPr>
              <a:t>minimalisasi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entropi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bertujuan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untuk</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memaksimalkan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perolehan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informasi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meskipun</a:t>
            </a:r>
            <a:r>
              <a:rPr lang="en-US" sz="1800" dirty="0">
                <a:solidFill>
                  <a:srgbClr val="151515"/>
                </a:solidFill>
                <a:latin typeface="Arial"/>
                <a:ea typeface="Arial"/>
                <a:cs typeface="Arial"/>
                <a:sym typeface="Arial"/>
              </a:rPr>
              <a:t> Gini </a:t>
            </a:r>
            <a:r>
              <a:rPr lang="en-US" sz="1800" dirty="0" err="1">
                <a:solidFill>
                  <a:srgbClr val="151515"/>
                </a:solidFill>
                <a:latin typeface="Arial"/>
                <a:ea typeface="Arial"/>
                <a:cs typeface="Arial"/>
                <a:sym typeface="Arial"/>
              </a:rPr>
              <a:t>memaksimalkan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nilai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ekspektasi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probabilitas</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kelas</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entropi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memaksimalkan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nilai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ekspektasi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probabilitas</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kelas</a:t>
            </a:r>
            <a:r>
              <a:rPr lang="en-US" sz="1800" dirty="0">
                <a:solidFill>
                  <a:srgbClr val="151515"/>
                </a:solidFill>
                <a:latin typeface="Arial"/>
                <a:ea typeface="Arial"/>
                <a:cs typeface="Arial"/>
                <a:sym typeface="Arial"/>
              </a:rPr>
              <a:t> log. </a:t>
            </a:r>
            <a:r>
              <a:rPr lang="en-US" sz="1800" dirty="0" err="1">
                <a:solidFill>
                  <a:srgbClr val="151515"/>
                </a:solidFill>
                <a:latin typeface="Arial"/>
                <a:ea typeface="Arial"/>
                <a:cs typeface="Arial"/>
                <a:sym typeface="Arial"/>
              </a:rPr>
              <a:t>Namun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probabilitas</a:t>
            </a:r>
            <a:r>
              <a:rPr lang="en-US" sz="1800" dirty="0">
                <a:solidFill>
                  <a:srgbClr val="151515"/>
                </a:solidFill>
                <a:latin typeface="Arial"/>
                <a:ea typeface="Arial"/>
                <a:cs typeface="Arial"/>
                <a:sym typeface="Arial"/>
              </a:rPr>
              <a:t> log </a:t>
            </a:r>
            <a:r>
              <a:rPr lang="en-US" sz="1800" dirty="0" err="1">
                <a:solidFill>
                  <a:srgbClr val="151515"/>
                </a:solidFill>
                <a:latin typeface="Arial"/>
                <a:ea typeface="Arial"/>
                <a:cs typeface="Arial"/>
                <a:sym typeface="Arial"/>
              </a:rPr>
              <a:t>adalah</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fungsi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probabilitas</a:t>
            </a:r>
            <a:r>
              <a:rPr lang="en-US" sz="1800" dirty="0">
                <a:solidFill>
                  <a:srgbClr val="151515"/>
                </a:solidFill>
                <a:latin typeface="Arial"/>
                <a:ea typeface="Arial"/>
                <a:cs typeface="Arial"/>
                <a:sym typeface="Arial"/>
              </a:rPr>
              <a:t> yang </a:t>
            </a:r>
            <a:r>
              <a:rPr lang="en-US" sz="1800" dirty="0" err="1">
                <a:solidFill>
                  <a:srgbClr val="151515"/>
                </a:solidFill>
                <a:latin typeface="Arial"/>
                <a:ea typeface="Arial"/>
                <a:cs typeface="Arial"/>
                <a:sym typeface="Arial"/>
              </a:rPr>
              <a:t>meningkat</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secara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monoton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sehingga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biasanya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cara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kerjanya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hampir</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sama</a:t>
            </a:r>
            <a:r>
              <a:rPr lang="en-US" sz="1800" dirty="0">
                <a:solidFill>
                  <a:srgbClr val="151515"/>
                </a:solidFill>
                <a:latin typeface="Arial"/>
                <a:ea typeface="Arial"/>
                <a:cs typeface="Arial"/>
                <a:sym typeface="Arial"/>
              </a:rPr>
              <a:t>. </a:t>
            </a:r>
            <a:endParaRPr sz="1800" dirty="0">
              <a:solidFill>
                <a:srgbClr val="151515"/>
              </a:solidFill>
              <a:latin typeface="Arial"/>
              <a:ea typeface="Arial"/>
              <a:cs typeface="Arial"/>
              <a:sym typeface="Arial"/>
            </a:endParaRPr>
          </a:p>
          <a:p>
            <a:pPr marL="0" marR="148590" lvl="0" indent="0" algn="just" rtl="0">
              <a:lnSpc>
                <a:spcPct val="150000"/>
              </a:lnSpc>
              <a:spcBef>
                <a:spcPts val="1000"/>
              </a:spcBef>
              <a:spcAft>
                <a:spcPts val="0"/>
              </a:spcAft>
              <a:buClr>
                <a:srgbClr val="151515"/>
              </a:buClr>
              <a:buSzPts val="1800"/>
              <a:buFont typeface="Twentieth Century"/>
              <a:buNone/>
            </a:pPr>
            <a:r>
              <a:rPr lang="en-US" sz="1800" dirty="0" err="1">
                <a:solidFill>
                  <a:srgbClr val="151515"/>
                </a:solidFill>
                <a:latin typeface="Arial"/>
                <a:ea typeface="Arial"/>
                <a:cs typeface="Arial"/>
                <a:sym typeface="Arial"/>
              </a:rPr>
              <a:t>Namun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minimalisasi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entropi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mungkin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memerlukan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konfigurasi</a:t>
            </a:r>
            <a:r>
              <a:rPr lang="en-US" sz="1800" dirty="0">
                <a:solidFill>
                  <a:srgbClr val="151515"/>
                </a:solidFill>
                <a:latin typeface="Arial"/>
                <a:ea typeface="Arial"/>
                <a:cs typeface="Arial"/>
                <a:sym typeface="Arial"/>
              </a:rPr>
              <a:t> yang </a:t>
            </a:r>
            <a:r>
              <a:rPr lang="en-US" sz="1800" dirty="0" err="1">
                <a:solidFill>
                  <a:srgbClr val="151515"/>
                </a:solidFill>
                <a:latin typeface="Arial"/>
                <a:ea typeface="Arial"/>
                <a:cs typeface="Arial"/>
                <a:sym typeface="Arial"/>
              </a:rPr>
              <a:t>berbeda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dari</a:t>
            </a:r>
            <a:r>
              <a:rPr lang="en-US" sz="1800" dirty="0">
                <a:solidFill>
                  <a:srgbClr val="151515"/>
                </a:solidFill>
                <a:latin typeface="Arial"/>
                <a:ea typeface="Arial"/>
                <a:cs typeface="Arial"/>
                <a:sym typeface="Arial"/>
              </a:rPr>
              <a:t> Gini, </a:t>
            </a:r>
            <a:r>
              <a:rPr lang="en-US" sz="1800" dirty="0" err="1">
                <a:solidFill>
                  <a:srgbClr val="151515"/>
                </a:solidFill>
                <a:latin typeface="Arial"/>
                <a:ea typeface="Arial"/>
                <a:cs typeface="Arial"/>
                <a:sym typeface="Arial"/>
              </a:rPr>
              <a:t>ketika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populasi</a:t>
            </a:r>
            <a:r>
              <a:rPr lang="en-US" sz="1800" dirty="0">
                <a:solidFill>
                  <a:srgbClr val="151515"/>
                </a:solidFill>
                <a:latin typeface="Arial"/>
                <a:ea typeface="Arial"/>
                <a:cs typeface="Arial"/>
                <a:sym typeface="Arial"/>
              </a:rPr>
              <a:t> sangat </a:t>
            </a:r>
            <a:r>
              <a:rPr lang="en-US" sz="1800" dirty="0" err="1">
                <a:solidFill>
                  <a:srgbClr val="151515"/>
                </a:solidFill>
                <a:latin typeface="Arial"/>
                <a:ea typeface="Arial"/>
                <a:cs typeface="Arial"/>
                <a:sym typeface="Arial"/>
              </a:rPr>
              <a:t>tidak</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seimbang</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Misalnya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kita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dapat</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membayangkan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kumpulan</a:t>
            </a:r>
            <a:r>
              <a:rPr lang="en-US" sz="1800" dirty="0">
                <a:solidFill>
                  <a:srgbClr val="151515"/>
                </a:solidFill>
                <a:latin typeface="Arial"/>
                <a:ea typeface="Arial"/>
                <a:cs typeface="Arial"/>
                <a:sym typeface="Arial"/>
              </a:rPr>
              <a:t> data </a:t>
            </a:r>
            <a:r>
              <a:rPr lang="en-US" sz="1800" dirty="0" err="1">
                <a:solidFill>
                  <a:srgbClr val="151515"/>
                </a:solidFill>
                <a:latin typeface="Arial"/>
                <a:ea typeface="Arial"/>
                <a:cs typeface="Arial"/>
                <a:sym typeface="Arial"/>
              </a:rPr>
              <a:t>dengan</a:t>
            </a:r>
            <a:r>
              <a:rPr lang="en-US" sz="1800" dirty="0">
                <a:solidFill>
                  <a:srgbClr val="151515"/>
                </a:solidFill>
                <a:latin typeface="Arial"/>
                <a:ea typeface="Arial"/>
                <a:cs typeface="Arial"/>
                <a:sym typeface="Arial"/>
              </a:rPr>
              <a:t> 1000 </a:t>
            </a:r>
            <a:r>
              <a:rPr lang="en-US" sz="1800" dirty="0" err="1">
                <a:solidFill>
                  <a:srgbClr val="151515"/>
                </a:solidFill>
                <a:latin typeface="Arial"/>
                <a:ea typeface="Arial"/>
                <a:cs typeface="Arial"/>
                <a:sym typeface="Arial"/>
              </a:rPr>
              <a:t>sampel</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pelatihan</a:t>
            </a:r>
            <a:r>
              <a:rPr lang="en-US" sz="1800" dirty="0">
                <a:solidFill>
                  <a:srgbClr val="151515"/>
                </a:solidFill>
                <a:latin typeface="Arial"/>
                <a:ea typeface="Arial"/>
                <a:cs typeface="Arial"/>
                <a:sym typeface="Arial"/>
              </a:rPr>
              <a:t> - 980 </a:t>
            </a:r>
            <a:r>
              <a:rPr lang="en-US" sz="1800" dirty="0" err="1">
                <a:solidFill>
                  <a:srgbClr val="151515"/>
                </a:solidFill>
                <a:latin typeface="Arial"/>
                <a:ea typeface="Arial"/>
                <a:cs typeface="Arial"/>
                <a:sym typeface="Arial"/>
              </a:rPr>
              <a:t>milik</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kelas</a:t>
            </a:r>
            <a:r>
              <a:rPr lang="en-US" sz="1800" dirty="0">
                <a:solidFill>
                  <a:srgbClr val="151515"/>
                </a:solidFill>
                <a:latin typeface="Arial"/>
                <a:ea typeface="Arial"/>
                <a:cs typeface="Arial"/>
                <a:sym typeface="Arial"/>
              </a:rPr>
              <a:t> 0 dan 20 </a:t>
            </a:r>
            <a:r>
              <a:rPr lang="en-US" sz="1800" dirty="0" err="1">
                <a:solidFill>
                  <a:srgbClr val="151515"/>
                </a:solidFill>
                <a:latin typeface="Arial"/>
                <a:ea typeface="Arial"/>
                <a:cs typeface="Arial"/>
                <a:sym typeface="Arial"/>
              </a:rPr>
              <a:t>milik</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kelas</a:t>
            </a:r>
            <a:r>
              <a:rPr lang="en-US" sz="1800" dirty="0">
                <a:solidFill>
                  <a:srgbClr val="151515"/>
                </a:solidFill>
                <a:latin typeface="Arial"/>
                <a:ea typeface="Arial"/>
                <a:cs typeface="Arial"/>
                <a:sym typeface="Arial"/>
              </a:rPr>
              <a:t> 1. Katakanlah </a:t>
            </a:r>
            <a:r>
              <a:rPr lang="en-US" sz="1800" dirty="0" err="1">
                <a:solidFill>
                  <a:srgbClr val="151515"/>
                </a:solidFill>
                <a:latin typeface="Arial"/>
                <a:ea typeface="Arial"/>
                <a:cs typeface="Arial"/>
                <a:sym typeface="Arial"/>
              </a:rPr>
              <a:t>pohon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dapat</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memilih</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ambang</a:t>
            </a:r>
            <a:r>
              <a:rPr lang="en-US" sz="1800" dirty="0">
                <a:solidFill>
                  <a:srgbClr val="151515"/>
                </a:solidFill>
                <a:latin typeface="Arial"/>
                <a:ea typeface="Arial"/>
                <a:cs typeface="Arial"/>
                <a:sym typeface="Arial"/>
              </a:rPr>
              <a:t> batas yang </a:t>
            </a:r>
            <a:r>
              <a:rPr lang="en-US" sz="1800" dirty="0" err="1">
                <a:solidFill>
                  <a:srgbClr val="151515"/>
                </a:solidFill>
                <a:latin typeface="Arial"/>
                <a:ea typeface="Arial"/>
                <a:cs typeface="Arial"/>
                <a:sym typeface="Arial"/>
              </a:rPr>
              <a:t>akan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membaginya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berdasarkan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contoh</a:t>
            </a:r>
            <a:r>
              <a:rPr lang="en-US" sz="1800" dirty="0">
                <a:solidFill>
                  <a:srgbClr val="151515"/>
                </a:solidFill>
                <a:latin typeface="Arial"/>
                <a:ea typeface="Arial"/>
                <a:cs typeface="Arial"/>
                <a:sym typeface="Arial"/>
              </a:rPr>
              <a:t> a </a:t>
            </a:r>
            <a:r>
              <a:rPr lang="en-US" sz="1800" dirty="0" err="1">
                <a:solidFill>
                  <a:srgbClr val="151515"/>
                </a:solidFill>
                <a:latin typeface="Arial"/>
                <a:ea typeface="Arial"/>
                <a:cs typeface="Arial"/>
                <a:sym typeface="Arial"/>
              </a:rPr>
              <a:t>atau</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contoh</a:t>
            </a:r>
            <a:r>
              <a:rPr lang="en-US" sz="1800" dirty="0">
                <a:solidFill>
                  <a:srgbClr val="151515"/>
                </a:solidFill>
                <a:latin typeface="Arial"/>
                <a:ea typeface="Arial"/>
                <a:cs typeface="Arial"/>
                <a:sym typeface="Arial"/>
              </a:rPr>
              <a:t> b pada </a:t>
            </a:r>
            <a:r>
              <a:rPr lang="en-US" sz="1800" dirty="0" err="1">
                <a:solidFill>
                  <a:srgbClr val="151515"/>
                </a:solidFill>
                <a:latin typeface="Arial"/>
                <a:ea typeface="Arial"/>
                <a:cs typeface="Arial"/>
                <a:sym typeface="Arial"/>
              </a:rPr>
              <a:t>gambar</a:t>
            </a:r>
            <a:r>
              <a:rPr lang="en-US" sz="1800" dirty="0">
                <a:solidFill>
                  <a:srgbClr val="151515"/>
                </a:solidFill>
                <a:latin typeface="Arial"/>
                <a:ea typeface="Arial"/>
                <a:cs typeface="Arial"/>
                <a:sym typeface="Arial"/>
              </a:rPr>
              <a:t> di </a:t>
            </a:r>
            <a:r>
              <a:rPr lang="en-US" sz="1800" dirty="0" err="1">
                <a:solidFill>
                  <a:srgbClr val="151515"/>
                </a:solidFill>
                <a:latin typeface="Arial"/>
                <a:ea typeface="Arial"/>
                <a:cs typeface="Arial"/>
                <a:sym typeface="Arial"/>
              </a:rPr>
              <a:t>bawah</a:t>
            </a:r>
            <a:r>
              <a:rPr lang="en-US" sz="1800" dirty="0">
                <a:solidFill>
                  <a:srgbClr val="151515"/>
                </a:solidFill>
                <a:latin typeface="Arial"/>
                <a:ea typeface="Arial"/>
                <a:cs typeface="Arial"/>
                <a:sym typeface="Arial"/>
              </a:rPr>
              <a:t>. Kita </a:t>
            </a:r>
            <a:r>
              <a:rPr lang="en-US" sz="1800" dirty="0" err="1">
                <a:solidFill>
                  <a:srgbClr val="151515"/>
                </a:solidFill>
                <a:latin typeface="Arial"/>
                <a:ea typeface="Arial"/>
                <a:cs typeface="Arial"/>
                <a:sym typeface="Arial"/>
              </a:rPr>
              <a:t>perhatikan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bahwa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kedua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contoh</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tersebut</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menciptakan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sebuah</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simpul</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dengan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populasi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besar</a:t>
            </a:r>
            <a:r>
              <a:rPr lang="en-US" sz="1800" dirty="0">
                <a:solidFill>
                  <a:srgbClr val="151515"/>
                </a:solidFill>
                <a:latin typeface="Arial"/>
                <a:ea typeface="Arial"/>
                <a:cs typeface="Arial"/>
                <a:sym typeface="Arial"/>
              </a:rPr>
              <a:t> yang </a:t>
            </a:r>
            <a:r>
              <a:rPr lang="en-US" sz="1800" dirty="0" err="1">
                <a:solidFill>
                  <a:srgbClr val="151515"/>
                </a:solidFill>
                <a:latin typeface="Arial"/>
                <a:ea typeface="Arial"/>
                <a:cs typeface="Arial"/>
                <a:sym typeface="Arial"/>
              </a:rPr>
              <a:t>sebagian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besar</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terdiri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dari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kelas</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mayoritas</a:t>
            </a:r>
            <a:r>
              <a:rPr lang="en-US" sz="1800" dirty="0">
                <a:solidFill>
                  <a:srgbClr val="151515"/>
                </a:solidFill>
                <a:latin typeface="Arial"/>
                <a:ea typeface="Arial"/>
                <a:cs typeface="Arial"/>
                <a:sym typeface="Arial"/>
              </a:rPr>
              <a:t>, dan </a:t>
            </a:r>
            <a:r>
              <a:rPr lang="en-US" sz="1800" dirty="0" err="1">
                <a:solidFill>
                  <a:srgbClr val="151515"/>
                </a:solidFill>
                <a:latin typeface="Arial"/>
                <a:ea typeface="Arial"/>
                <a:cs typeface="Arial"/>
                <a:sym typeface="Arial"/>
              </a:rPr>
              <a:t>simpul</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kedua</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dengan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populasi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kecil</a:t>
            </a:r>
            <a:r>
              <a:rPr lang="en-US" sz="1800" dirty="0">
                <a:solidFill>
                  <a:srgbClr val="151515"/>
                </a:solidFill>
                <a:latin typeface="Arial"/>
                <a:ea typeface="Arial"/>
                <a:cs typeface="Arial"/>
                <a:sym typeface="Arial"/>
              </a:rPr>
              <a:t> yang </a:t>
            </a:r>
            <a:r>
              <a:rPr lang="en-US" sz="1800" dirty="0" err="1">
                <a:solidFill>
                  <a:srgbClr val="151515"/>
                </a:solidFill>
                <a:latin typeface="Arial"/>
                <a:ea typeface="Arial"/>
                <a:cs typeface="Arial"/>
                <a:sym typeface="Arial"/>
              </a:rPr>
              <a:t>sebagian</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besar</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terdiri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dari</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kelas</a:t>
            </a:r>
            <a:r>
              <a:rPr lang="en-US" sz="1800" dirty="0">
                <a:solidFill>
                  <a:srgbClr val="151515"/>
                </a:solidFill>
                <a:latin typeface="Arial"/>
                <a:ea typeface="Arial"/>
                <a:cs typeface="Arial"/>
                <a:sym typeface="Arial"/>
              </a:rPr>
              <a:t> </a:t>
            </a:r>
            <a:r>
              <a:rPr lang="en-US" sz="1800" dirty="0" err="1">
                <a:solidFill>
                  <a:srgbClr val="151515"/>
                </a:solidFill>
                <a:latin typeface="Arial"/>
                <a:ea typeface="Arial"/>
                <a:cs typeface="Arial"/>
                <a:sym typeface="Arial"/>
              </a:rPr>
              <a:t>minoritas</a:t>
            </a:r>
            <a:r>
              <a:rPr lang="en-US" sz="1800" dirty="0">
                <a:solidFill>
                  <a:srgbClr val="151515"/>
                </a:solidFill>
                <a:latin typeface="Arial"/>
                <a:ea typeface="Arial"/>
                <a:cs typeface="Arial"/>
                <a:sym typeface="Arial"/>
              </a:rPr>
              <a:t>.</a:t>
            </a:r>
            <a:endParaRPr sz="1800" dirty="0">
              <a:solidFill>
                <a:srgbClr val="151515"/>
              </a:solidFill>
              <a:latin typeface="Calibri"/>
              <a:ea typeface="Calibri"/>
              <a:cs typeface="Calibri"/>
              <a:sym typeface="Calibri"/>
            </a:endParaRPr>
          </a:p>
          <a:p>
            <a:pPr marL="0" marR="148590" lvl="0" indent="0" algn="just" rtl="0">
              <a:lnSpc>
                <a:spcPct val="150000"/>
              </a:lnSpc>
              <a:spcBef>
                <a:spcPts val="1000"/>
              </a:spcBef>
              <a:spcAft>
                <a:spcPts val="0"/>
              </a:spcAft>
              <a:buClr>
                <a:srgbClr val="151515"/>
              </a:buClr>
              <a:buSzPts val="1800"/>
              <a:buFont typeface="Twentieth Century"/>
              <a:buNone/>
            </a:pPr>
            <a:endParaRPr sz="1800" dirty="0">
              <a:solidFill>
                <a:srgbClr val="151515"/>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pic>
        <p:nvPicPr>
          <p:cNvPr id="349" name="Google Shape;349;p15"/>
          <p:cNvPicPr preferRelativeResize="0"/>
          <p:nvPr/>
        </p:nvPicPr>
        <p:blipFill rotWithShape="1">
          <a:blip r:embed="rId3">
            <a:alphaModFix/>
          </a:blip>
          <a:srcRect/>
          <a:stretch/>
        </p:blipFill>
        <p:spPr>
          <a:xfrm>
            <a:off x="1207941" y="1773002"/>
            <a:ext cx="9664436" cy="3783971"/>
          </a:xfrm>
          <a:prstGeom prst="rect">
            <a:avLst/>
          </a:prstGeom>
          <a:noFill/>
          <a:ln>
            <a:noFill/>
          </a:ln>
        </p:spPr>
      </p:pic>
      <p:sp>
        <p:nvSpPr>
          <p:cNvPr id="350" name="Google Shape;350;p15"/>
          <p:cNvSpPr txBox="1"/>
          <p:nvPr/>
        </p:nvSpPr>
        <p:spPr>
          <a:xfrm>
            <a:off x="2752398" y="585100"/>
            <a:ext cx="6687203" cy="606600"/>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rgbClr val="0E60AC"/>
              </a:buClr>
              <a:buSzPts val="3200"/>
              <a:buFont typeface="Calibri"/>
              <a:buNone/>
            </a:pPr>
            <a:r>
              <a:rPr lang="en-US" sz="3200" b="1">
                <a:solidFill>
                  <a:srgbClr val="0E60AC"/>
                </a:solidFill>
                <a:latin typeface="Calibri"/>
                <a:ea typeface="Calibri"/>
                <a:cs typeface="Calibri"/>
                <a:sym typeface="Calibri"/>
              </a:rPr>
              <a:t>Entropi</a:t>
            </a:r>
            <a:endParaRPr sz="3000" b="1">
              <a:solidFill>
                <a:srgbClr val="0E60AC"/>
              </a:solidFill>
              <a:latin typeface="Calibri"/>
              <a:ea typeface="Calibri"/>
              <a:cs typeface="Calibri"/>
              <a:sym typeface="Calibri"/>
            </a:endParaRPr>
          </a:p>
        </p:txBody>
      </p:sp>
      <p:cxnSp>
        <p:nvCxnSpPr>
          <p:cNvPr id="351" name="Google Shape;351;p15"/>
          <p:cNvCxnSpPr/>
          <p:nvPr/>
        </p:nvCxnSpPr>
        <p:spPr>
          <a:xfrm>
            <a:off x="423460" y="1191700"/>
            <a:ext cx="11067488" cy="0"/>
          </a:xfrm>
          <a:prstGeom prst="straightConnector1">
            <a:avLst/>
          </a:prstGeom>
          <a:noFill/>
          <a:ln w="9525" cap="flat" cmpd="sng">
            <a:solidFill>
              <a:schemeClr val="accent1"/>
            </a:solidFill>
            <a:prstDash val="solid"/>
            <a:round/>
            <a:headEnd type="none" w="sm" len="sm"/>
            <a:tailEnd type="none" w="sm" len="sm"/>
          </a:ln>
        </p:spPr>
      </p:cxnSp>
      <p:sp>
        <p:nvSpPr>
          <p:cNvPr id="352" name="Google Shape;352;p15"/>
          <p:cNvSpPr/>
          <p:nvPr/>
        </p:nvSpPr>
        <p:spPr>
          <a:xfrm rot="10800000">
            <a:off x="1259018" y="1515897"/>
            <a:ext cx="794870" cy="514214"/>
          </a:xfrm>
          <a:custGeom>
            <a:avLst/>
            <a:gdLst/>
            <a:ahLst/>
            <a:cxnLst/>
            <a:rect l="l" t="t" r="r" b="b"/>
            <a:pathLst>
              <a:path w="1590141" h="1028427" extrusionOk="0">
                <a:moveTo>
                  <a:pt x="0" y="40640"/>
                </a:moveTo>
                <a:lnTo>
                  <a:pt x="1590141" y="0"/>
                </a:lnTo>
                <a:lnTo>
                  <a:pt x="1590141" y="1028428"/>
                </a:lnTo>
                <a:lnTo>
                  <a:pt x="101626" y="1028428"/>
                </a:lnTo>
                <a:lnTo>
                  <a:pt x="0" y="4064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wentieth Century"/>
              <a:ea typeface="Twentieth Century"/>
              <a:cs typeface="Twentieth Century"/>
              <a:sym typeface="Twentieth Century"/>
            </a:endParaRPr>
          </a:p>
        </p:txBody>
      </p:sp>
      <p:sp>
        <p:nvSpPr>
          <p:cNvPr id="353" name="Google Shape;353;p15"/>
          <p:cNvSpPr/>
          <p:nvPr/>
        </p:nvSpPr>
        <p:spPr>
          <a:xfrm rot="10800000">
            <a:off x="10216030" y="5299867"/>
            <a:ext cx="744070" cy="514215"/>
          </a:xfrm>
          <a:custGeom>
            <a:avLst/>
            <a:gdLst/>
            <a:ahLst/>
            <a:cxnLst/>
            <a:rect l="l" t="t" r="r" b="b"/>
            <a:pathLst>
              <a:path w="1488515" h="1028429" extrusionOk="0">
                <a:moveTo>
                  <a:pt x="0" y="0"/>
                </a:moveTo>
                <a:lnTo>
                  <a:pt x="1488515" y="0"/>
                </a:lnTo>
                <a:lnTo>
                  <a:pt x="1488515" y="1028428"/>
                </a:lnTo>
                <a:lnTo>
                  <a:pt x="0" y="1028428"/>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wentieth Century"/>
              <a:ea typeface="Twentieth Century"/>
              <a:cs typeface="Twentieth Century"/>
              <a:sym typeface="Twentieth Century"/>
            </a:endParaRPr>
          </a:p>
        </p:txBody>
      </p:sp>
      <p:sp>
        <p:nvSpPr>
          <p:cNvPr id="354" name="Google Shape;354;p15"/>
          <p:cNvSpPr/>
          <p:nvPr/>
        </p:nvSpPr>
        <p:spPr>
          <a:xfrm rot="-426732">
            <a:off x="5744605" y="5561671"/>
            <a:ext cx="3905556" cy="468667"/>
          </a:xfrm>
          <a:custGeom>
            <a:avLst/>
            <a:gdLst/>
            <a:ahLst/>
            <a:cxnLst/>
            <a:rect l="l" t="t" r="r" b="b"/>
            <a:pathLst>
              <a:path w="3905556" h="468667" extrusionOk="0">
                <a:moveTo>
                  <a:pt x="0" y="0"/>
                </a:moveTo>
                <a:lnTo>
                  <a:pt x="3905557" y="0"/>
                </a:lnTo>
                <a:lnTo>
                  <a:pt x="3905557" y="468667"/>
                </a:lnTo>
                <a:lnTo>
                  <a:pt x="0" y="468667"/>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6"/>
          <p:cNvSpPr txBox="1"/>
          <p:nvPr/>
        </p:nvSpPr>
        <p:spPr>
          <a:xfrm>
            <a:off x="2214399" y="585100"/>
            <a:ext cx="7763202" cy="606600"/>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rgbClr val="0E60AC"/>
              </a:buClr>
              <a:buSzPts val="3200"/>
              <a:buFont typeface="Calibri"/>
              <a:buNone/>
            </a:pPr>
            <a:r>
              <a:rPr lang="en-US" sz="3200" b="1">
                <a:solidFill>
                  <a:srgbClr val="0E60AC"/>
                </a:solidFill>
                <a:latin typeface="Calibri"/>
                <a:ea typeface="Calibri"/>
                <a:cs typeface="Calibri"/>
                <a:sym typeface="Calibri"/>
              </a:rPr>
              <a:t>Entropi</a:t>
            </a:r>
            <a:endParaRPr sz="3200" b="1">
              <a:solidFill>
                <a:srgbClr val="0E60AC"/>
              </a:solidFill>
              <a:latin typeface="Calibri"/>
              <a:ea typeface="Calibri"/>
              <a:cs typeface="Calibri"/>
              <a:sym typeface="Calibri"/>
            </a:endParaRPr>
          </a:p>
        </p:txBody>
      </p:sp>
      <p:cxnSp>
        <p:nvCxnSpPr>
          <p:cNvPr id="360" name="Google Shape;360;p16"/>
          <p:cNvCxnSpPr/>
          <p:nvPr/>
        </p:nvCxnSpPr>
        <p:spPr>
          <a:xfrm>
            <a:off x="423460" y="1191700"/>
            <a:ext cx="11067488" cy="0"/>
          </a:xfrm>
          <a:prstGeom prst="straightConnector1">
            <a:avLst/>
          </a:prstGeom>
          <a:noFill/>
          <a:ln w="9525" cap="flat" cmpd="sng">
            <a:solidFill>
              <a:schemeClr val="accent1"/>
            </a:solidFill>
            <a:prstDash val="solid"/>
            <a:round/>
            <a:headEnd type="none" w="sm" len="sm"/>
            <a:tailEnd type="none" w="sm" len="sm"/>
          </a:ln>
        </p:spPr>
      </p:cxnSp>
      <p:sp>
        <p:nvSpPr>
          <p:cNvPr id="361" name="Google Shape;361;p16"/>
          <p:cNvSpPr txBox="1"/>
          <p:nvPr/>
        </p:nvSpPr>
        <p:spPr>
          <a:xfrm>
            <a:off x="301534" y="1287880"/>
            <a:ext cx="11311340" cy="4985020"/>
          </a:xfrm>
          <a:prstGeom prst="rect">
            <a:avLst/>
          </a:prstGeom>
          <a:noFill/>
          <a:ln>
            <a:noFill/>
          </a:ln>
        </p:spPr>
        <p:txBody>
          <a:bodyPr spcFirstLastPara="1" wrap="square" lIns="91425" tIns="91425" rIns="91425" bIns="91425" anchor="t" anchorCtr="0">
            <a:noAutofit/>
          </a:bodyPr>
          <a:lstStyle/>
          <a:p>
            <a:pPr marL="0" marR="148590" lvl="0" indent="0" algn="just" rtl="0">
              <a:lnSpc>
                <a:spcPct val="150000"/>
              </a:lnSpc>
              <a:spcBef>
                <a:spcPts val="1000"/>
              </a:spcBef>
              <a:spcAft>
                <a:spcPts val="0"/>
              </a:spcAft>
              <a:buClr>
                <a:srgbClr val="151515"/>
              </a:buClr>
              <a:buSzPts val="1800"/>
              <a:buFont typeface="Twentieth Century"/>
              <a:buNone/>
            </a:pPr>
            <a:r>
              <a:rPr lang="en-US" sz="1800">
                <a:solidFill>
                  <a:srgbClr val="151515"/>
                </a:solidFill>
                <a:latin typeface="Arial"/>
                <a:ea typeface="Arial"/>
                <a:cs typeface="Arial"/>
                <a:sym typeface="Arial"/>
              </a:rPr>
              <a:t>Dalam kasus seperti ini, kecuraman fungsi log pada nilai yang kecil akan memotivasi kriteria entropi untuk memurnikan node dengan populasi yang besar, lebih kuat dari kriteria Gini. Jadi jika kita menghitungnya, kita akan melihat bahwa kriteria Gini akan memilih pemisahan a, dan kriteria entropi akan memilih pemisahan b. Hal ini dapat menyebabkan pilihan fitur/ambang batas yang berbeda. Belum tentu lebih baik atau lebih buruk – ini tergantung pada tujuan kita.</a:t>
            </a:r>
            <a:endParaRPr sz="1800">
              <a:solidFill>
                <a:srgbClr val="151515"/>
              </a:solidFill>
              <a:latin typeface="Calibri"/>
              <a:ea typeface="Calibri"/>
              <a:cs typeface="Calibri"/>
              <a:sym typeface="Calibri"/>
            </a:endParaRPr>
          </a:p>
          <a:p>
            <a:pPr marL="0" marR="148590" lvl="0" indent="0" algn="just" rtl="0">
              <a:lnSpc>
                <a:spcPct val="150000"/>
              </a:lnSpc>
              <a:spcBef>
                <a:spcPts val="1000"/>
              </a:spcBef>
              <a:spcAft>
                <a:spcPts val="0"/>
              </a:spcAft>
              <a:buClr>
                <a:srgbClr val="151515"/>
              </a:buClr>
              <a:buSzPts val="1800"/>
              <a:buFont typeface="Twentieth Century"/>
              <a:buNone/>
            </a:pPr>
            <a:endParaRPr sz="1800">
              <a:solidFill>
                <a:srgbClr val="151515"/>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7"/>
          <p:cNvSpPr txBox="1">
            <a:spLocks noGrp="1"/>
          </p:cNvSpPr>
          <p:nvPr>
            <p:ph type="ctrTitle"/>
          </p:nvPr>
        </p:nvSpPr>
        <p:spPr>
          <a:xfrm>
            <a:off x="5835541" y="2275158"/>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KELEBIHAN DAN KEKURANGAN DECISION TREE</a:t>
            </a:r>
            <a:br>
              <a:rPr lang="en-US" sz="5400"/>
            </a:br>
            <a:r>
              <a:rPr lang="en-US" sz="5400"/>
              <a:t/>
            </a:r>
            <a:br>
              <a:rPr lang="en-US" sz="5400"/>
            </a:br>
            <a:endParaRPr sz="5400"/>
          </a:p>
        </p:txBody>
      </p:sp>
      <p:pic>
        <p:nvPicPr>
          <p:cNvPr id="367" name="Google Shape;367;p17"/>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18"/>
          <p:cNvSpPr txBox="1">
            <a:spLocks noGrp="1"/>
          </p:cNvSpPr>
          <p:nvPr>
            <p:ph type="body" idx="1"/>
          </p:nvPr>
        </p:nvSpPr>
        <p:spPr>
          <a:xfrm>
            <a:off x="5846287" y="1668155"/>
            <a:ext cx="5752155" cy="4465731"/>
          </a:xfrm>
          <a:prstGeom prst="rect">
            <a:avLst/>
          </a:prstGeom>
          <a:noFill/>
          <a:ln>
            <a:noFill/>
          </a:ln>
        </p:spPr>
        <p:txBody>
          <a:bodyPr spcFirstLastPara="1" wrap="square" lIns="91425" tIns="45700" rIns="91425" bIns="45700" anchor="t" anchorCtr="0">
            <a:noAutofit/>
          </a:bodyPr>
          <a:lstStyle/>
          <a:p>
            <a:pPr marL="168275" lvl="0" indent="-168275" algn="just" rtl="0">
              <a:lnSpc>
                <a:spcPct val="90000"/>
              </a:lnSpc>
              <a:spcBef>
                <a:spcPts val="0"/>
              </a:spcBef>
              <a:spcAft>
                <a:spcPts val="0"/>
              </a:spcAft>
              <a:buClr>
                <a:srgbClr val="363636"/>
              </a:buClr>
              <a:buSzPts val="2000"/>
              <a:buFont typeface="Arial"/>
              <a:buChar char="•"/>
            </a:pPr>
            <a:r>
              <a:rPr lang="en-US"/>
              <a:t>Dibandingkan dengan algoritma lain, pohon keputusan memerlukan lebih sedikit usaha untuk persiapan data selama pra-pemrosesan.</a:t>
            </a:r>
            <a:endParaRPr/>
          </a:p>
          <a:p>
            <a:pPr marL="168275" lvl="0" indent="-168275" algn="just" rtl="0">
              <a:lnSpc>
                <a:spcPct val="90000"/>
              </a:lnSpc>
              <a:spcBef>
                <a:spcPts val="1000"/>
              </a:spcBef>
              <a:spcAft>
                <a:spcPts val="0"/>
              </a:spcAft>
              <a:buClr>
                <a:srgbClr val="363636"/>
              </a:buClr>
              <a:buSzPts val="2000"/>
              <a:buFont typeface="Arial"/>
              <a:buChar char="•"/>
            </a:pPr>
            <a:r>
              <a:rPr lang="en-US"/>
              <a:t>Pohon keputusan tidak memerlukan normalisasi data.</a:t>
            </a:r>
            <a:endParaRPr/>
          </a:p>
          <a:p>
            <a:pPr marL="168275" lvl="0" indent="-168275" algn="just" rtl="0">
              <a:lnSpc>
                <a:spcPct val="90000"/>
              </a:lnSpc>
              <a:spcBef>
                <a:spcPts val="1000"/>
              </a:spcBef>
              <a:spcAft>
                <a:spcPts val="0"/>
              </a:spcAft>
              <a:buClr>
                <a:srgbClr val="363636"/>
              </a:buClr>
              <a:buSzPts val="2000"/>
              <a:buFont typeface="Arial"/>
              <a:buChar char="•"/>
            </a:pPr>
            <a:r>
              <a:rPr lang="en-US"/>
              <a:t>Pohon keputusan juga tidak memerlukan penskalaan data.</a:t>
            </a:r>
            <a:endParaRPr/>
          </a:p>
          <a:p>
            <a:pPr marL="168275" lvl="0" indent="-168275" algn="just" rtl="0">
              <a:lnSpc>
                <a:spcPct val="90000"/>
              </a:lnSpc>
              <a:spcBef>
                <a:spcPts val="1000"/>
              </a:spcBef>
              <a:spcAft>
                <a:spcPts val="0"/>
              </a:spcAft>
              <a:buClr>
                <a:srgbClr val="363636"/>
              </a:buClr>
              <a:buSzPts val="2000"/>
              <a:buFont typeface="Arial"/>
              <a:buChar char="•"/>
            </a:pPr>
            <a:r>
              <a:rPr lang="en-US"/>
              <a:t>Nilai yang hilang dalam data juga TIDAK mempengaruhi proses pembuatan pohon keputusan sampai batas tertentu.</a:t>
            </a:r>
            <a:endParaRPr/>
          </a:p>
          <a:p>
            <a:pPr marL="168275" lvl="0" indent="-168275" algn="just" rtl="0">
              <a:lnSpc>
                <a:spcPct val="90000"/>
              </a:lnSpc>
              <a:spcBef>
                <a:spcPts val="1000"/>
              </a:spcBef>
              <a:spcAft>
                <a:spcPts val="0"/>
              </a:spcAft>
              <a:buClr>
                <a:srgbClr val="363636"/>
              </a:buClr>
              <a:buSzPts val="2000"/>
              <a:buFont typeface="Arial"/>
              <a:buChar char="•"/>
            </a:pPr>
            <a:r>
              <a:rPr lang="en-US"/>
              <a:t>Model pohon keputusan sangat intuitif dan mudah dijelaskan kepada tim teknis serta pemangku kepentingan.</a:t>
            </a:r>
            <a:endParaRPr/>
          </a:p>
          <a:p>
            <a:pPr marL="0" lvl="0" indent="0" algn="just" rtl="0">
              <a:lnSpc>
                <a:spcPct val="90000"/>
              </a:lnSpc>
              <a:spcBef>
                <a:spcPts val="1000"/>
              </a:spcBef>
              <a:spcAft>
                <a:spcPts val="0"/>
              </a:spcAft>
              <a:buClr>
                <a:srgbClr val="363636"/>
              </a:buClr>
              <a:buSzPts val="2000"/>
              <a:buNone/>
            </a:pPr>
            <a:endParaRPr/>
          </a:p>
        </p:txBody>
      </p:sp>
      <p:sp>
        <p:nvSpPr>
          <p:cNvPr id="373" name="Google Shape;373;p18"/>
          <p:cNvSpPr txBox="1">
            <a:spLocks noGrp="1"/>
          </p:cNvSpPr>
          <p:nvPr>
            <p:ph type="title"/>
          </p:nvPr>
        </p:nvSpPr>
        <p:spPr>
          <a:xfrm>
            <a:off x="5861324" y="1015826"/>
            <a:ext cx="5511524" cy="55607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E60AC"/>
              </a:buClr>
              <a:buSzPts val="3200"/>
              <a:buFont typeface="Twentieth Century"/>
              <a:buNone/>
            </a:pPr>
            <a:r>
              <a:rPr lang="en-US"/>
              <a:t>Kelebihan Decision Tree</a:t>
            </a:r>
            <a:endParaRPr/>
          </a:p>
        </p:txBody>
      </p:sp>
      <p:pic>
        <p:nvPicPr>
          <p:cNvPr id="374" name="Google Shape;374;p18"/>
          <p:cNvPicPr preferRelativeResize="0">
            <a:picLocks noGrp="1"/>
          </p:cNvPicPr>
          <p:nvPr>
            <p:ph type="pic" idx="2"/>
          </p:nvPr>
        </p:nvPicPr>
        <p:blipFill rotWithShape="1">
          <a:blip r:embed="rId3">
            <a:alphaModFix/>
          </a:blip>
          <a:srcRect l="35127" r="-3"/>
          <a:stretch/>
        </p:blipFill>
        <p:spPr>
          <a:xfrm flipH="1">
            <a:off x="569929" y="886379"/>
            <a:ext cx="4888191" cy="50218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9"/>
          <p:cNvSpPr txBox="1">
            <a:spLocks noGrp="1"/>
          </p:cNvSpPr>
          <p:nvPr>
            <p:ph type="body" idx="1"/>
          </p:nvPr>
        </p:nvSpPr>
        <p:spPr>
          <a:xfrm>
            <a:off x="5846287" y="1668155"/>
            <a:ext cx="5752155" cy="4465731"/>
          </a:xfrm>
          <a:prstGeom prst="rect">
            <a:avLst/>
          </a:prstGeom>
          <a:noFill/>
          <a:ln>
            <a:noFill/>
          </a:ln>
        </p:spPr>
        <p:txBody>
          <a:bodyPr spcFirstLastPara="1" wrap="square" lIns="91425" tIns="45700" rIns="91425" bIns="45700" anchor="t" anchorCtr="0">
            <a:noAutofit/>
          </a:bodyPr>
          <a:lstStyle/>
          <a:p>
            <a:pPr marL="168275" lvl="0" indent="-168275" algn="just" rtl="0">
              <a:lnSpc>
                <a:spcPct val="90000"/>
              </a:lnSpc>
              <a:spcBef>
                <a:spcPts val="0"/>
              </a:spcBef>
              <a:spcAft>
                <a:spcPts val="0"/>
              </a:spcAft>
              <a:buClr>
                <a:srgbClr val="363636"/>
              </a:buClr>
              <a:buSzPts val="2000"/>
              <a:buFont typeface="Arial"/>
              <a:buChar char="•"/>
            </a:pPr>
            <a:r>
              <a:rPr lang="en-US"/>
              <a:t>Perubahan kecil pada data dapat menyebabkan perubahan besar pada struktur pohon keputusan sehingga menyebabkan ketidakstabilan.</a:t>
            </a:r>
            <a:endParaRPr/>
          </a:p>
          <a:p>
            <a:pPr marL="168275" lvl="0" indent="-168275" algn="just" rtl="0">
              <a:lnSpc>
                <a:spcPct val="90000"/>
              </a:lnSpc>
              <a:spcBef>
                <a:spcPts val="1000"/>
              </a:spcBef>
              <a:spcAft>
                <a:spcPts val="0"/>
              </a:spcAft>
              <a:buClr>
                <a:srgbClr val="363636"/>
              </a:buClr>
              <a:buSzPts val="2000"/>
              <a:buFont typeface="Arial"/>
              <a:buChar char="•"/>
            </a:pPr>
            <a:r>
              <a:rPr lang="en-US"/>
              <a:t>Untuk pohon Keputusan terkadang penghitungan bisa menjadi jauh lebih kompleks dibandingkan dengan algoritma lainnya.</a:t>
            </a:r>
            <a:endParaRPr/>
          </a:p>
          <a:p>
            <a:pPr marL="168275" lvl="0" indent="-168275" algn="just" rtl="0">
              <a:lnSpc>
                <a:spcPct val="90000"/>
              </a:lnSpc>
              <a:spcBef>
                <a:spcPts val="1000"/>
              </a:spcBef>
              <a:spcAft>
                <a:spcPts val="0"/>
              </a:spcAft>
              <a:buClr>
                <a:srgbClr val="363636"/>
              </a:buClr>
              <a:buSzPts val="2000"/>
              <a:buFont typeface="Arial"/>
              <a:buChar char="•"/>
            </a:pPr>
            <a:r>
              <a:rPr lang="en-US"/>
              <a:t>Pohon keputusan sering kali memerlukan waktu yang lebih lama untuk melatih model.</a:t>
            </a:r>
            <a:endParaRPr/>
          </a:p>
          <a:p>
            <a:pPr marL="168275" lvl="0" indent="-168275" algn="just" rtl="0">
              <a:lnSpc>
                <a:spcPct val="90000"/>
              </a:lnSpc>
              <a:spcBef>
                <a:spcPts val="1000"/>
              </a:spcBef>
              <a:spcAft>
                <a:spcPts val="0"/>
              </a:spcAft>
              <a:buClr>
                <a:srgbClr val="363636"/>
              </a:buClr>
              <a:buSzPts val="2000"/>
              <a:buFont typeface="Arial"/>
              <a:buChar char="•"/>
            </a:pPr>
            <a:r>
              <a:rPr lang="en-US"/>
              <a:t>Pelatihan pohon keputusan relatif mahal karena kompleksitas dan waktu yang dibutuhkan lebih banyak.</a:t>
            </a:r>
            <a:endParaRPr/>
          </a:p>
          <a:p>
            <a:pPr marL="168275" lvl="0" indent="-168275" algn="just" rtl="0">
              <a:lnSpc>
                <a:spcPct val="90000"/>
              </a:lnSpc>
              <a:spcBef>
                <a:spcPts val="1000"/>
              </a:spcBef>
              <a:spcAft>
                <a:spcPts val="0"/>
              </a:spcAft>
              <a:buClr>
                <a:srgbClr val="363636"/>
              </a:buClr>
              <a:buSzPts val="2000"/>
              <a:buFont typeface="Arial"/>
              <a:buChar char="•"/>
            </a:pPr>
            <a:r>
              <a:rPr lang="en-US"/>
              <a:t>Algoritma Pohon Keputusan tidak memadai untuk menerapkan regresi dan memprediksi nilai kontinu.</a:t>
            </a:r>
            <a:endParaRPr/>
          </a:p>
          <a:p>
            <a:pPr marL="0" lvl="0" indent="0" algn="just" rtl="0">
              <a:lnSpc>
                <a:spcPct val="90000"/>
              </a:lnSpc>
              <a:spcBef>
                <a:spcPts val="1000"/>
              </a:spcBef>
              <a:spcAft>
                <a:spcPts val="0"/>
              </a:spcAft>
              <a:buClr>
                <a:srgbClr val="363636"/>
              </a:buClr>
              <a:buSzPts val="2000"/>
              <a:buNone/>
            </a:pPr>
            <a:endParaRPr/>
          </a:p>
        </p:txBody>
      </p:sp>
      <p:sp>
        <p:nvSpPr>
          <p:cNvPr id="380" name="Google Shape;380;p19"/>
          <p:cNvSpPr txBox="1">
            <a:spLocks noGrp="1"/>
          </p:cNvSpPr>
          <p:nvPr>
            <p:ph type="title"/>
          </p:nvPr>
        </p:nvSpPr>
        <p:spPr>
          <a:xfrm>
            <a:off x="5861324" y="1015826"/>
            <a:ext cx="5511524" cy="55607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E60AC"/>
              </a:buClr>
              <a:buSzPts val="3200"/>
              <a:buFont typeface="Twentieth Century"/>
              <a:buNone/>
            </a:pPr>
            <a:r>
              <a:rPr lang="en-US"/>
              <a:t>Kekurangan Decision Tree</a:t>
            </a:r>
            <a:endParaRPr/>
          </a:p>
        </p:txBody>
      </p:sp>
      <p:pic>
        <p:nvPicPr>
          <p:cNvPr id="381" name="Google Shape;381;p19"/>
          <p:cNvPicPr preferRelativeResize="0">
            <a:picLocks noGrp="1"/>
          </p:cNvPicPr>
          <p:nvPr>
            <p:ph type="pic" idx="2"/>
          </p:nvPr>
        </p:nvPicPr>
        <p:blipFill rotWithShape="1">
          <a:blip r:embed="rId3">
            <a:alphaModFix/>
          </a:blip>
          <a:srcRect l="35446" r="-321"/>
          <a:stretch/>
        </p:blipFill>
        <p:spPr>
          <a:xfrm rot="10800000">
            <a:off x="569929" y="886379"/>
            <a:ext cx="4888191" cy="50218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0"/>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Twentieth Century"/>
              <a:buNone/>
            </a:pPr>
            <a:r>
              <a:rPr lang="en-US"/>
              <a:t>Terima</a:t>
            </a:r>
            <a:br>
              <a:rPr lang="en-US"/>
            </a:br>
            <a:r>
              <a:rPr lang="en-US"/>
              <a:t>Kasih</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C0487-67C5-010E-B6E2-FE9C85E0120C}"/>
              </a:ext>
            </a:extLst>
          </p:cNvPr>
          <p:cNvSpPr>
            <a:spLocks noGrp="1"/>
          </p:cNvSpPr>
          <p:nvPr>
            <p:ph type="title"/>
          </p:nvPr>
        </p:nvSpPr>
        <p:spPr/>
        <p:txBody>
          <a:bodyPr/>
          <a:lstStyle/>
          <a:p>
            <a:r>
              <a:rPr lang="en-US" dirty="0"/>
              <a:t>Nilai </a:t>
            </a:r>
            <a:r>
              <a:rPr lang="en-US" dirty="0" err="1"/>
              <a:t>Tambah</a:t>
            </a:r>
            <a:endParaRPr lang="en-ID" dirty="0"/>
          </a:p>
        </p:txBody>
      </p:sp>
      <p:sp>
        <p:nvSpPr>
          <p:cNvPr id="3" name="Text Placeholder 2">
            <a:extLst>
              <a:ext uri="{FF2B5EF4-FFF2-40B4-BE49-F238E27FC236}">
                <a16:creationId xmlns:a16="http://schemas.microsoft.com/office/drawing/2014/main" id="{ED05F91D-2EF8-6683-E608-D03EB5F4EB7B}"/>
              </a:ext>
            </a:extLst>
          </p:cNvPr>
          <p:cNvSpPr>
            <a:spLocks noGrp="1"/>
          </p:cNvSpPr>
          <p:nvPr>
            <p:ph type="body" idx="1"/>
          </p:nvPr>
        </p:nvSpPr>
        <p:spPr/>
        <p:txBody>
          <a:bodyPr/>
          <a:lstStyle/>
          <a:p>
            <a:r>
              <a:rPr lang="en-ID" dirty="0" smtClean="0"/>
              <a:t>20240801102 – </a:t>
            </a:r>
            <a:r>
              <a:rPr lang="en-ID" dirty="0" err="1" smtClean="0"/>
              <a:t>Ilham</a:t>
            </a:r>
            <a:r>
              <a:rPr lang="en-ID" dirty="0" smtClean="0"/>
              <a:t> </a:t>
            </a:r>
            <a:r>
              <a:rPr lang="en-ID" dirty="0" err="1" smtClean="0"/>
              <a:t>Firmansyah</a:t>
            </a:r>
            <a:endParaRPr lang="en-ID" dirty="0" smtClean="0"/>
          </a:p>
          <a:p>
            <a:r>
              <a:rPr lang="en-ID" dirty="0" smtClean="0"/>
              <a:t>20240801234 – Muhammad Aditya</a:t>
            </a:r>
          </a:p>
          <a:p>
            <a:r>
              <a:rPr lang="en-ID" dirty="0" smtClean="0"/>
              <a:t>20230801006 – </a:t>
            </a:r>
            <a:r>
              <a:rPr lang="en-ID" dirty="0" err="1" smtClean="0"/>
              <a:t>Fauzi</a:t>
            </a:r>
            <a:r>
              <a:rPr lang="en-ID" dirty="0" smtClean="0"/>
              <a:t> </a:t>
            </a:r>
            <a:r>
              <a:rPr lang="en-ID" dirty="0" err="1" smtClean="0"/>
              <a:t>Rizki</a:t>
            </a:r>
            <a:r>
              <a:rPr lang="en-ID" dirty="0" smtClean="0"/>
              <a:t> </a:t>
            </a:r>
            <a:r>
              <a:rPr lang="en-ID" dirty="0" err="1" smtClean="0"/>
              <a:t>Maulana</a:t>
            </a:r>
            <a:endParaRPr lang="en-ID" dirty="0"/>
          </a:p>
        </p:txBody>
      </p:sp>
    </p:spTree>
    <p:extLst>
      <p:ext uri="{BB962C8B-B14F-4D97-AF65-F5344CB8AC3E}">
        <p14:creationId xmlns:p14="http://schemas.microsoft.com/office/powerpoint/2010/main" val="264977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UEU Color">
      <a:dk1>
        <a:srgbClr val="0E60AC"/>
      </a:dk1>
      <a:lt1>
        <a:srgbClr val="FFFFFF"/>
      </a:lt1>
      <a:dk2>
        <a:srgbClr val="0E60AC"/>
      </a:dk2>
      <a:lt2>
        <a:srgbClr val="FFFFFF"/>
      </a:lt2>
      <a:accent1>
        <a:srgbClr val="0B4E8B"/>
      </a:accent1>
      <a:accent2>
        <a:srgbClr val="EF7220"/>
      </a:accent2>
      <a:accent3>
        <a:srgbClr val="0F68B9"/>
      </a:accent3>
      <a:accent4>
        <a:srgbClr val="DA6210"/>
      </a:accent4>
      <a:accent5>
        <a:srgbClr val="D8D8D8"/>
      </a:accent5>
      <a:accent6>
        <a:srgbClr val="0B4E8B"/>
      </a:accent6>
      <a:hlink>
        <a:srgbClr val="DA6210"/>
      </a:hlink>
      <a:folHlink>
        <a:srgbClr val="EF722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896</Words>
  <Application>Microsoft Office PowerPoint</Application>
  <PresentationFormat>Widescreen</PresentationFormat>
  <Paragraphs>88</Paragraphs>
  <Slides>22</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Google Sans</vt:lpstr>
      <vt:lpstr>source-serif-pro</vt:lpstr>
      <vt:lpstr>Tw Cen MT</vt:lpstr>
      <vt:lpstr>Twentieth Century</vt:lpstr>
      <vt:lpstr>Office Theme</vt:lpstr>
      <vt:lpstr>Machine Learning</vt:lpstr>
      <vt:lpstr>PowerPoint Presentation</vt:lpstr>
      <vt:lpstr>PowerPoint Presentation</vt:lpstr>
      <vt:lpstr>PowerPoint Presentation</vt:lpstr>
      <vt:lpstr>PowerPoint Presentation</vt:lpstr>
      <vt:lpstr>SUPERVISED LEARNING:  DECISION TREE </vt:lpstr>
      <vt:lpstr>APA ITU DECISION TREE?</vt:lpstr>
      <vt:lpstr>Tujuan</vt:lpstr>
      <vt:lpstr> </vt:lpstr>
      <vt:lpstr> </vt:lpstr>
      <vt:lpstr>SUPERVISED LEARNING:  GINI IMPURITY  </vt:lpstr>
      <vt:lpstr>GINI IMPURITY</vt:lpstr>
      <vt:lpstr>PowerPoint Presentation</vt:lpstr>
      <vt:lpstr>SUPERVISED LEARNING:  ENTROPI  </vt:lpstr>
      <vt:lpstr>PowerPoint Presentation</vt:lpstr>
      <vt:lpstr>PowerPoint Presentation</vt:lpstr>
      <vt:lpstr>PowerPoint Presentation</vt:lpstr>
      <vt:lpstr>KELEBIHAN DAN KEKURANGAN DECISION TREE  </vt:lpstr>
      <vt:lpstr>Kelebihan Decision Tree</vt:lpstr>
      <vt:lpstr>Kekurangan Decision Tree</vt:lpstr>
      <vt:lpstr>Terima Kasih</vt:lpstr>
      <vt:lpstr>Nilai Tambah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Ari Candra</dc:creator>
  <cp:lastModifiedBy>UEU</cp:lastModifiedBy>
  <cp:revision>13</cp:revision>
  <dcterms:created xsi:type="dcterms:W3CDTF">2023-08-22T04:51:45Z</dcterms:created>
  <dcterms:modified xsi:type="dcterms:W3CDTF">2026-05-08T02:20:56Z</dcterms:modified>
</cp:coreProperties>
</file>