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45"/>
  </p:notesMasterIdLst>
  <p:sldIdLst>
    <p:sldId id="256" r:id="rId2"/>
    <p:sldId id="2061" r:id="rId3"/>
    <p:sldId id="258" r:id="rId4"/>
    <p:sldId id="259" r:id="rId5"/>
    <p:sldId id="260" r:id="rId6"/>
    <p:sldId id="2062" r:id="rId7"/>
    <p:sldId id="257" r:id="rId8"/>
    <p:sldId id="295" r:id="rId9"/>
    <p:sldId id="310" r:id="rId10"/>
    <p:sldId id="296" r:id="rId11"/>
    <p:sldId id="300" r:id="rId12"/>
    <p:sldId id="375" r:id="rId13"/>
    <p:sldId id="261" r:id="rId14"/>
    <p:sldId id="2063" r:id="rId15"/>
    <p:sldId id="309" r:id="rId16"/>
    <p:sldId id="265" r:id="rId17"/>
    <p:sldId id="266" r:id="rId18"/>
    <p:sldId id="267" r:id="rId19"/>
    <p:sldId id="302" r:id="rId20"/>
    <p:sldId id="303" r:id="rId21"/>
    <p:sldId id="268" r:id="rId22"/>
    <p:sldId id="314" r:id="rId23"/>
    <p:sldId id="298" r:id="rId24"/>
    <p:sldId id="299" r:id="rId25"/>
    <p:sldId id="272" r:id="rId26"/>
    <p:sldId id="2064" r:id="rId27"/>
    <p:sldId id="2065" r:id="rId28"/>
    <p:sldId id="2066" r:id="rId29"/>
    <p:sldId id="2067" r:id="rId30"/>
    <p:sldId id="2068" r:id="rId31"/>
    <p:sldId id="2069" r:id="rId32"/>
    <p:sldId id="279" r:id="rId33"/>
    <p:sldId id="290" r:id="rId34"/>
    <p:sldId id="311" r:id="rId35"/>
    <p:sldId id="312" r:id="rId36"/>
    <p:sldId id="313" r:id="rId37"/>
    <p:sldId id="291" r:id="rId38"/>
    <p:sldId id="301" r:id="rId39"/>
    <p:sldId id="367" r:id="rId40"/>
    <p:sldId id="286" r:id="rId41"/>
    <p:sldId id="2070" r:id="rId42"/>
    <p:sldId id="288" r:id="rId43"/>
    <p:sldId id="289" r:id="rId4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6" roundtripDataSignature="AMtx7mijjJ0RA3zXeCLE4ZAIcneW3a967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52" autoAdjust="0"/>
    <p:restoredTop sz="90719" autoAdjust="0"/>
  </p:normalViewPr>
  <p:slideViewPr>
    <p:cSldViewPr snapToGrid="0">
      <p:cViewPr varScale="1">
        <p:scale>
          <a:sx n="71" d="100"/>
          <a:sy n="71" d="100"/>
        </p:scale>
        <p:origin x="1056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customschemas.google.com/relationships/presentationmetadata" Target="meta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238" name="Google Shape;23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>
          <a:extLst>
            <a:ext uri="{FF2B5EF4-FFF2-40B4-BE49-F238E27FC236}">
              <a16:creationId xmlns:a16="http://schemas.microsoft.com/office/drawing/2014/main" id="{5CEFB3DE-8571-86BF-BB85-0348B9CD7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6:notes">
            <a:extLst>
              <a:ext uri="{FF2B5EF4-FFF2-40B4-BE49-F238E27FC236}">
                <a16:creationId xmlns:a16="http://schemas.microsoft.com/office/drawing/2014/main" id="{4BFA5BAA-EB17-3D7C-CC97-EA9362C5FD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ID" dirty="0"/>
          </a:p>
        </p:txBody>
      </p:sp>
      <p:sp>
        <p:nvSpPr>
          <p:cNvPr id="283" name="Google Shape;283;p6:notes">
            <a:extLst>
              <a:ext uri="{FF2B5EF4-FFF2-40B4-BE49-F238E27FC236}">
                <a16:creationId xmlns:a16="http://schemas.microsoft.com/office/drawing/2014/main" id="{10A36822-68B8-D03E-2711-EC60DF540A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487941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ID" dirty="0"/>
          </a:p>
        </p:txBody>
      </p:sp>
      <p:sp>
        <p:nvSpPr>
          <p:cNvPr id="283" name="Google Shape;28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187118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8" name="Google Shape;33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5" name="Google Shape;36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7" name="Google Shape;407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1" name="Google Shape;461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 2">
  <p:cSld name="1_Cover 2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60A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wentieth Century"/>
              <a:buNone/>
            </a:pPr>
            <a:endParaRPr sz="1800" b="0" i="0" u="none" strike="noStrike" cap="non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0" name="Google Shape;20;p36"/>
          <p:cNvSpPr>
            <a:spLocks noGrp="1"/>
          </p:cNvSpPr>
          <p:nvPr>
            <p:ph type="pic" idx="2"/>
          </p:nvPr>
        </p:nvSpPr>
        <p:spPr>
          <a:xfrm flipH="1">
            <a:off x="7384744" y="0"/>
            <a:ext cx="4807256" cy="6858000"/>
          </a:xfrm>
          <a:prstGeom prst="flowChartDelay">
            <a:avLst/>
          </a:prstGeom>
          <a:noFill/>
          <a:ln>
            <a:noFill/>
          </a:ln>
        </p:spPr>
        <p:txBody>
          <a:bodyPr/>
          <a:lstStyle/>
          <a:p>
            <a:endParaRPr lang="en-ID"/>
          </a:p>
        </p:txBody>
      </p:sp>
      <p:grpSp>
        <p:nvGrpSpPr>
          <p:cNvPr id="21" name="Google Shape;21;p36"/>
          <p:cNvGrpSpPr/>
          <p:nvPr/>
        </p:nvGrpSpPr>
        <p:grpSpPr>
          <a:xfrm>
            <a:off x="159779" y="171572"/>
            <a:ext cx="1971606" cy="729735"/>
            <a:chOff x="648649" y="653143"/>
            <a:chExt cx="2138362" cy="791455"/>
          </a:xfrm>
        </p:grpSpPr>
        <p:sp>
          <p:nvSpPr>
            <p:cNvPr id="22" name="Google Shape;22;p36"/>
            <p:cNvSpPr/>
            <p:nvPr/>
          </p:nvSpPr>
          <p:spPr>
            <a:xfrm>
              <a:off x="648649" y="653143"/>
              <a:ext cx="2138362" cy="791455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wentieth Century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pic>
          <p:nvPicPr>
            <p:cNvPr id="23" name="Google Shape;23;p36"/>
            <p:cNvPicPr preferRelativeResize="0"/>
            <p:nvPr/>
          </p:nvPicPr>
          <p:blipFill rotWithShape="1">
            <a:blip r:embed="rId2">
              <a:alphaModFix/>
            </a:blip>
            <a:srcRect t="16017" b="18101"/>
            <a:stretch/>
          </p:blipFill>
          <p:spPr>
            <a:xfrm>
              <a:off x="702844" y="653143"/>
              <a:ext cx="2029972" cy="75303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" name="Google Shape;24;p36"/>
          <p:cNvSpPr txBox="1">
            <a:spLocks noGrp="1"/>
          </p:cNvSpPr>
          <p:nvPr>
            <p:ph type="title"/>
          </p:nvPr>
        </p:nvSpPr>
        <p:spPr>
          <a:xfrm>
            <a:off x="588970" y="1773946"/>
            <a:ext cx="6385335" cy="2024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Twentieth Century"/>
              <a:buNone/>
              <a:defRPr sz="5400" b="1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6"/>
          <p:cNvSpPr txBox="1">
            <a:spLocks noGrp="1"/>
          </p:cNvSpPr>
          <p:nvPr>
            <p:ph type="body" idx="1"/>
          </p:nvPr>
        </p:nvSpPr>
        <p:spPr>
          <a:xfrm>
            <a:off x="588970" y="4703142"/>
            <a:ext cx="6385335" cy="1212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914400" lvl="1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1800"/>
              <a:buAutoNum type="alphaLcPeriod"/>
              <a:defRPr/>
            </a:lvl2pPr>
            <a:lvl3pPr marL="1371600" lvl="2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1800"/>
              <a:buChar char="•"/>
              <a:defRPr/>
            </a:lvl3pPr>
            <a:lvl4pPr marL="1828800" lvl="3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1800"/>
              <a:buChar char="•"/>
              <a:defRPr/>
            </a:lvl4pPr>
            <a:lvl5pPr marL="2286000" lvl="4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36"/>
          <p:cNvSpPr txBox="1">
            <a:spLocks noGrp="1"/>
          </p:cNvSpPr>
          <p:nvPr>
            <p:ph type="body" idx="3"/>
          </p:nvPr>
        </p:nvSpPr>
        <p:spPr>
          <a:xfrm>
            <a:off x="588970" y="4198087"/>
            <a:ext cx="3642135" cy="425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C000"/>
              </a:buClr>
              <a:buSzPts val="2800"/>
              <a:buNone/>
              <a:defRPr sz="2800" b="1">
                <a:solidFill>
                  <a:srgbClr val="FFC000"/>
                </a:solidFill>
              </a:defRPr>
            </a:lvl1pPr>
            <a:lvl2pPr marL="914400" lvl="1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1800"/>
              <a:buAutoNum type="alphaLcPeriod"/>
              <a:defRPr/>
            </a:lvl2pPr>
            <a:lvl3pPr marL="1371600" lvl="2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1800"/>
              <a:buChar char="•"/>
              <a:defRPr/>
            </a:lvl3pPr>
            <a:lvl4pPr marL="1828800" lvl="3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1800"/>
              <a:buChar char="•"/>
              <a:defRPr/>
            </a:lvl4pPr>
            <a:lvl5pPr marL="2286000" lvl="4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" name="Google Shape;27;p36"/>
          <p:cNvSpPr/>
          <p:nvPr/>
        </p:nvSpPr>
        <p:spPr>
          <a:xfrm>
            <a:off x="588970" y="3975211"/>
            <a:ext cx="1659545" cy="45719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wentieth Century"/>
              <a:buNone/>
            </a:pPr>
            <a:endParaRPr sz="1800" b="0" i="0" u="none" strike="noStrike" cap="non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8" name="Google Shape;28;p36"/>
          <p:cNvSpPr txBox="1">
            <a:spLocks noGrp="1"/>
          </p:cNvSpPr>
          <p:nvPr>
            <p:ph type="body" idx="4"/>
          </p:nvPr>
        </p:nvSpPr>
        <p:spPr>
          <a:xfrm>
            <a:off x="588969" y="1268891"/>
            <a:ext cx="3642135" cy="425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C000"/>
              </a:buClr>
              <a:buSzPts val="2800"/>
              <a:buNone/>
              <a:defRPr sz="2800" b="1">
                <a:solidFill>
                  <a:srgbClr val="FFC000"/>
                </a:solidFill>
              </a:defRPr>
            </a:lvl1pPr>
            <a:lvl2pPr marL="914400" lvl="1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1800"/>
              <a:buAutoNum type="alphaLcPeriod"/>
              <a:defRPr/>
            </a:lvl2pPr>
            <a:lvl3pPr marL="1371600" lvl="2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1800"/>
              <a:buChar char="•"/>
              <a:defRPr/>
            </a:lvl3pPr>
            <a:lvl4pPr marL="1828800" lvl="3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1800"/>
              <a:buChar char="•"/>
              <a:defRPr/>
            </a:lvl4pPr>
            <a:lvl5pPr marL="2286000" lvl="4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opik (Sebelum UTS)">
  <p:cSld name="Topik (Sebelum UTS)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/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/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/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/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/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/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/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/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38"/>
          <p:cNvSpPr/>
          <p:nvPr/>
        </p:nvSpPr>
        <p:spPr>
          <a:xfrm>
            <a:off x="640237" y="1899390"/>
            <a:ext cx="2542295" cy="156754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42" name="Google Shape;42;p38"/>
          <p:cNvSpPr txBox="1">
            <a:spLocks noGrp="1"/>
          </p:cNvSpPr>
          <p:nvPr>
            <p:ph type="body" idx="1"/>
          </p:nvPr>
        </p:nvSpPr>
        <p:spPr>
          <a:xfrm>
            <a:off x="801277" y="2394950"/>
            <a:ext cx="2243579" cy="932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63636"/>
              </a:buClr>
              <a:buSzPts val="1600"/>
              <a:buNone/>
              <a:defRPr sz="1600">
                <a:solidFill>
                  <a:srgbClr val="363636"/>
                </a:solidFill>
              </a:defRPr>
            </a:lvl1pPr>
            <a:lvl2pPr marL="914400" lvl="1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AutoNum type="alphaLcPeriod"/>
              <a:defRPr>
                <a:solidFill>
                  <a:schemeClr val="lt1"/>
                </a:solidFill>
              </a:defRPr>
            </a:lvl2pPr>
            <a:lvl3pPr marL="1371600" lvl="2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3pPr>
            <a:lvl4pPr marL="1828800" lvl="3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4pPr>
            <a:lvl5pPr marL="2286000" lvl="4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38"/>
          <p:cNvSpPr txBox="1"/>
          <p:nvPr/>
        </p:nvSpPr>
        <p:spPr>
          <a:xfrm>
            <a:off x="801277" y="1962504"/>
            <a:ext cx="74571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EB702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Sesi 1</a:t>
            </a:r>
            <a:endParaRPr/>
          </a:p>
        </p:txBody>
      </p:sp>
      <p:sp>
        <p:nvSpPr>
          <p:cNvPr id="44" name="Google Shape;44;p38"/>
          <p:cNvSpPr/>
          <p:nvPr/>
        </p:nvSpPr>
        <p:spPr>
          <a:xfrm>
            <a:off x="3432142" y="1899390"/>
            <a:ext cx="2542295" cy="156754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45" name="Google Shape;45;p38"/>
          <p:cNvSpPr txBox="1">
            <a:spLocks noGrp="1"/>
          </p:cNvSpPr>
          <p:nvPr>
            <p:ph type="body" idx="2"/>
          </p:nvPr>
        </p:nvSpPr>
        <p:spPr>
          <a:xfrm>
            <a:off x="3593182" y="2394950"/>
            <a:ext cx="2243579" cy="932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63636"/>
              </a:buClr>
              <a:buSzPts val="1600"/>
              <a:buNone/>
              <a:defRPr sz="1600">
                <a:solidFill>
                  <a:srgbClr val="363636"/>
                </a:solidFill>
              </a:defRPr>
            </a:lvl1pPr>
            <a:lvl2pPr marL="914400" lvl="1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AutoNum type="alphaLcPeriod"/>
              <a:defRPr>
                <a:solidFill>
                  <a:schemeClr val="lt1"/>
                </a:solidFill>
              </a:defRPr>
            </a:lvl2pPr>
            <a:lvl3pPr marL="1371600" lvl="2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3pPr>
            <a:lvl4pPr marL="1828800" lvl="3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4pPr>
            <a:lvl5pPr marL="2286000" lvl="4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38"/>
          <p:cNvSpPr txBox="1"/>
          <p:nvPr/>
        </p:nvSpPr>
        <p:spPr>
          <a:xfrm>
            <a:off x="3593182" y="1962504"/>
            <a:ext cx="74571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EB702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Sesi 2</a:t>
            </a:r>
            <a:endParaRPr/>
          </a:p>
        </p:txBody>
      </p:sp>
      <p:sp>
        <p:nvSpPr>
          <p:cNvPr id="47" name="Google Shape;47;p38"/>
          <p:cNvSpPr/>
          <p:nvPr/>
        </p:nvSpPr>
        <p:spPr>
          <a:xfrm>
            <a:off x="6226616" y="1899390"/>
            <a:ext cx="2542295" cy="156754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48" name="Google Shape;48;p38"/>
          <p:cNvSpPr txBox="1">
            <a:spLocks noGrp="1"/>
          </p:cNvSpPr>
          <p:nvPr>
            <p:ph type="body" idx="3"/>
          </p:nvPr>
        </p:nvSpPr>
        <p:spPr>
          <a:xfrm>
            <a:off x="6387656" y="2394950"/>
            <a:ext cx="2243579" cy="932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63636"/>
              </a:buClr>
              <a:buSzPts val="1600"/>
              <a:buNone/>
              <a:defRPr sz="1600">
                <a:solidFill>
                  <a:srgbClr val="363636"/>
                </a:solidFill>
              </a:defRPr>
            </a:lvl1pPr>
            <a:lvl2pPr marL="914400" lvl="1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AutoNum type="alphaLcPeriod"/>
              <a:defRPr>
                <a:solidFill>
                  <a:schemeClr val="lt1"/>
                </a:solidFill>
              </a:defRPr>
            </a:lvl2pPr>
            <a:lvl3pPr marL="1371600" lvl="2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3pPr>
            <a:lvl4pPr marL="1828800" lvl="3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4pPr>
            <a:lvl5pPr marL="2286000" lvl="4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38"/>
          <p:cNvSpPr txBox="1"/>
          <p:nvPr/>
        </p:nvSpPr>
        <p:spPr>
          <a:xfrm>
            <a:off x="6387656" y="1962504"/>
            <a:ext cx="74571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EB702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Sesi 3</a:t>
            </a:r>
            <a:endParaRPr/>
          </a:p>
        </p:txBody>
      </p:sp>
      <p:sp>
        <p:nvSpPr>
          <p:cNvPr id="50" name="Google Shape;50;p38"/>
          <p:cNvSpPr/>
          <p:nvPr/>
        </p:nvSpPr>
        <p:spPr>
          <a:xfrm>
            <a:off x="9018521" y="1899390"/>
            <a:ext cx="2542295" cy="156754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1" name="Google Shape;51;p38"/>
          <p:cNvSpPr txBox="1">
            <a:spLocks noGrp="1"/>
          </p:cNvSpPr>
          <p:nvPr>
            <p:ph type="body" idx="4"/>
          </p:nvPr>
        </p:nvSpPr>
        <p:spPr>
          <a:xfrm>
            <a:off x="9179561" y="2394950"/>
            <a:ext cx="2243579" cy="932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63636"/>
              </a:buClr>
              <a:buSzPts val="1600"/>
              <a:buNone/>
              <a:defRPr sz="1600">
                <a:solidFill>
                  <a:srgbClr val="363636"/>
                </a:solidFill>
              </a:defRPr>
            </a:lvl1pPr>
            <a:lvl2pPr marL="914400" lvl="1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AutoNum type="alphaLcPeriod"/>
              <a:defRPr>
                <a:solidFill>
                  <a:schemeClr val="lt1"/>
                </a:solidFill>
              </a:defRPr>
            </a:lvl2pPr>
            <a:lvl3pPr marL="1371600" lvl="2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3pPr>
            <a:lvl4pPr marL="1828800" lvl="3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4pPr>
            <a:lvl5pPr marL="2286000" lvl="4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38"/>
          <p:cNvSpPr txBox="1"/>
          <p:nvPr/>
        </p:nvSpPr>
        <p:spPr>
          <a:xfrm>
            <a:off x="9179561" y="1962504"/>
            <a:ext cx="74571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EB702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Sesi 4</a:t>
            </a:r>
            <a:endParaRPr/>
          </a:p>
        </p:txBody>
      </p:sp>
      <p:sp>
        <p:nvSpPr>
          <p:cNvPr id="53" name="Google Shape;53;p38"/>
          <p:cNvSpPr/>
          <p:nvPr/>
        </p:nvSpPr>
        <p:spPr>
          <a:xfrm>
            <a:off x="640237" y="3771083"/>
            <a:ext cx="2542295" cy="156754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4" name="Google Shape;54;p38"/>
          <p:cNvSpPr txBox="1">
            <a:spLocks noGrp="1"/>
          </p:cNvSpPr>
          <p:nvPr>
            <p:ph type="body" idx="5"/>
          </p:nvPr>
        </p:nvSpPr>
        <p:spPr>
          <a:xfrm>
            <a:off x="801277" y="4266643"/>
            <a:ext cx="2243579" cy="932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63636"/>
              </a:buClr>
              <a:buSzPts val="1600"/>
              <a:buNone/>
              <a:defRPr sz="1600">
                <a:solidFill>
                  <a:srgbClr val="363636"/>
                </a:solidFill>
              </a:defRPr>
            </a:lvl1pPr>
            <a:lvl2pPr marL="914400" lvl="1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AutoNum type="alphaLcPeriod"/>
              <a:defRPr>
                <a:solidFill>
                  <a:schemeClr val="lt1"/>
                </a:solidFill>
              </a:defRPr>
            </a:lvl2pPr>
            <a:lvl3pPr marL="1371600" lvl="2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3pPr>
            <a:lvl4pPr marL="1828800" lvl="3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4pPr>
            <a:lvl5pPr marL="2286000" lvl="4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38"/>
          <p:cNvSpPr txBox="1"/>
          <p:nvPr/>
        </p:nvSpPr>
        <p:spPr>
          <a:xfrm>
            <a:off x="801277" y="3834197"/>
            <a:ext cx="74571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EB702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Sesi 5</a:t>
            </a:r>
            <a:endParaRPr/>
          </a:p>
        </p:txBody>
      </p:sp>
      <p:sp>
        <p:nvSpPr>
          <p:cNvPr id="56" name="Google Shape;56;p38"/>
          <p:cNvSpPr/>
          <p:nvPr/>
        </p:nvSpPr>
        <p:spPr>
          <a:xfrm>
            <a:off x="3432142" y="3771083"/>
            <a:ext cx="2542295" cy="156754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57" name="Google Shape;57;p38"/>
          <p:cNvSpPr txBox="1">
            <a:spLocks noGrp="1"/>
          </p:cNvSpPr>
          <p:nvPr>
            <p:ph type="body" idx="6"/>
          </p:nvPr>
        </p:nvSpPr>
        <p:spPr>
          <a:xfrm>
            <a:off x="3593182" y="4266643"/>
            <a:ext cx="2243579" cy="932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63636"/>
              </a:buClr>
              <a:buSzPts val="1600"/>
              <a:buNone/>
              <a:defRPr sz="1600">
                <a:solidFill>
                  <a:srgbClr val="363636"/>
                </a:solidFill>
              </a:defRPr>
            </a:lvl1pPr>
            <a:lvl2pPr marL="914400" lvl="1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AutoNum type="alphaLcPeriod"/>
              <a:defRPr>
                <a:solidFill>
                  <a:schemeClr val="lt1"/>
                </a:solidFill>
              </a:defRPr>
            </a:lvl2pPr>
            <a:lvl3pPr marL="1371600" lvl="2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3pPr>
            <a:lvl4pPr marL="1828800" lvl="3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4pPr>
            <a:lvl5pPr marL="2286000" lvl="4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38"/>
          <p:cNvSpPr txBox="1"/>
          <p:nvPr/>
        </p:nvSpPr>
        <p:spPr>
          <a:xfrm>
            <a:off x="3593182" y="3834197"/>
            <a:ext cx="74571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EB702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Sesi 6</a:t>
            </a:r>
            <a:endParaRPr/>
          </a:p>
        </p:txBody>
      </p:sp>
      <p:sp>
        <p:nvSpPr>
          <p:cNvPr id="59" name="Google Shape;59;p38"/>
          <p:cNvSpPr/>
          <p:nvPr/>
        </p:nvSpPr>
        <p:spPr>
          <a:xfrm>
            <a:off x="6226616" y="3771083"/>
            <a:ext cx="2542295" cy="156754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60" name="Google Shape;60;p38"/>
          <p:cNvSpPr txBox="1">
            <a:spLocks noGrp="1"/>
          </p:cNvSpPr>
          <p:nvPr>
            <p:ph type="body" idx="7"/>
          </p:nvPr>
        </p:nvSpPr>
        <p:spPr>
          <a:xfrm>
            <a:off x="6387656" y="4266643"/>
            <a:ext cx="2243579" cy="932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63636"/>
              </a:buClr>
              <a:buSzPts val="1600"/>
              <a:buNone/>
              <a:defRPr sz="1600">
                <a:solidFill>
                  <a:srgbClr val="363636"/>
                </a:solidFill>
              </a:defRPr>
            </a:lvl1pPr>
            <a:lvl2pPr marL="914400" lvl="1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AutoNum type="alphaLcPeriod"/>
              <a:defRPr>
                <a:solidFill>
                  <a:schemeClr val="lt1"/>
                </a:solidFill>
              </a:defRPr>
            </a:lvl2pPr>
            <a:lvl3pPr marL="1371600" lvl="2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3pPr>
            <a:lvl4pPr marL="1828800" lvl="3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4pPr>
            <a:lvl5pPr marL="2286000" lvl="4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38"/>
          <p:cNvSpPr txBox="1"/>
          <p:nvPr/>
        </p:nvSpPr>
        <p:spPr>
          <a:xfrm>
            <a:off x="6387656" y="3834197"/>
            <a:ext cx="74571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EB702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Sesi 7</a:t>
            </a:r>
            <a:endParaRPr/>
          </a:p>
        </p:txBody>
      </p:sp>
      <p:sp>
        <p:nvSpPr>
          <p:cNvPr id="62" name="Google Shape;62;p38"/>
          <p:cNvSpPr/>
          <p:nvPr/>
        </p:nvSpPr>
        <p:spPr>
          <a:xfrm>
            <a:off x="9018521" y="3771083"/>
            <a:ext cx="2542295" cy="1567543"/>
          </a:xfrm>
          <a:prstGeom prst="rect">
            <a:avLst/>
          </a:prstGeom>
          <a:solidFill>
            <a:srgbClr val="EB702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63" name="Google Shape;63;p38"/>
          <p:cNvSpPr txBox="1"/>
          <p:nvPr/>
        </p:nvSpPr>
        <p:spPr>
          <a:xfrm>
            <a:off x="9179561" y="4139355"/>
            <a:ext cx="188276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Ujian Tengah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Semester</a:t>
            </a:r>
            <a:endParaRPr/>
          </a:p>
        </p:txBody>
      </p:sp>
      <p:sp>
        <p:nvSpPr>
          <p:cNvPr id="64" name="Google Shape;64;p38"/>
          <p:cNvSpPr/>
          <p:nvPr/>
        </p:nvSpPr>
        <p:spPr>
          <a:xfrm>
            <a:off x="571756" y="804529"/>
            <a:ext cx="3824893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Topik Sebelum UTS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opik (Sebelum UAS)">
  <p:cSld name="Topik (Sebelum UAS)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/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/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/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/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/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/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/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/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39"/>
          <p:cNvSpPr/>
          <p:nvPr/>
        </p:nvSpPr>
        <p:spPr>
          <a:xfrm>
            <a:off x="640237" y="1899390"/>
            <a:ext cx="2542295" cy="156754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68" name="Google Shape;68;p39"/>
          <p:cNvSpPr txBox="1">
            <a:spLocks noGrp="1"/>
          </p:cNvSpPr>
          <p:nvPr>
            <p:ph type="body" idx="1"/>
          </p:nvPr>
        </p:nvSpPr>
        <p:spPr>
          <a:xfrm>
            <a:off x="801277" y="2394950"/>
            <a:ext cx="2243579" cy="932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63636"/>
              </a:buClr>
              <a:buSzPts val="1600"/>
              <a:buNone/>
              <a:defRPr sz="1600">
                <a:solidFill>
                  <a:srgbClr val="363636"/>
                </a:solidFill>
              </a:defRPr>
            </a:lvl1pPr>
            <a:lvl2pPr marL="914400" lvl="1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AutoNum type="alphaLcPeriod"/>
              <a:defRPr>
                <a:solidFill>
                  <a:schemeClr val="lt1"/>
                </a:solidFill>
              </a:defRPr>
            </a:lvl2pPr>
            <a:lvl3pPr marL="1371600" lvl="2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3pPr>
            <a:lvl4pPr marL="1828800" lvl="3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4pPr>
            <a:lvl5pPr marL="2286000" lvl="4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9" name="Google Shape;69;p39"/>
          <p:cNvSpPr txBox="1"/>
          <p:nvPr/>
        </p:nvSpPr>
        <p:spPr>
          <a:xfrm>
            <a:off x="801277" y="1962504"/>
            <a:ext cx="74571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EB702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Sesi 8</a:t>
            </a:r>
            <a:endParaRPr/>
          </a:p>
        </p:txBody>
      </p:sp>
      <p:sp>
        <p:nvSpPr>
          <p:cNvPr id="70" name="Google Shape;70;p39"/>
          <p:cNvSpPr/>
          <p:nvPr/>
        </p:nvSpPr>
        <p:spPr>
          <a:xfrm>
            <a:off x="3432142" y="1899390"/>
            <a:ext cx="2542295" cy="156754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71" name="Google Shape;71;p39"/>
          <p:cNvSpPr txBox="1">
            <a:spLocks noGrp="1"/>
          </p:cNvSpPr>
          <p:nvPr>
            <p:ph type="body" idx="2"/>
          </p:nvPr>
        </p:nvSpPr>
        <p:spPr>
          <a:xfrm>
            <a:off x="3593182" y="2394950"/>
            <a:ext cx="2243579" cy="932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63636"/>
              </a:buClr>
              <a:buSzPts val="1600"/>
              <a:buNone/>
              <a:defRPr sz="1600">
                <a:solidFill>
                  <a:srgbClr val="363636"/>
                </a:solidFill>
              </a:defRPr>
            </a:lvl1pPr>
            <a:lvl2pPr marL="914400" lvl="1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AutoNum type="alphaLcPeriod"/>
              <a:defRPr>
                <a:solidFill>
                  <a:schemeClr val="lt1"/>
                </a:solidFill>
              </a:defRPr>
            </a:lvl2pPr>
            <a:lvl3pPr marL="1371600" lvl="2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3pPr>
            <a:lvl4pPr marL="1828800" lvl="3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4pPr>
            <a:lvl5pPr marL="2286000" lvl="4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2" name="Google Shape;72;p39"/>
          <p:cNvSpPr txBox="1"/>
          <p:nvPr/>
        </p:nvSpPr>
        <p:spPr>
          <a:xfrm>
            <a:off x="3593182" y="1962504"/>
            <a:ext cx="74571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EB702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Sesi 9</a:t>
            </a:r>
            <a:endParaRPr/>
          </a:p>
        </p:txBody>
      </p:sp>
      <p:sp>
        <p:nvSpPr>
          <p:cNvPr id="73" name="Google Shape;73;p39"/>
          <p:cNvSpPr/>
          <p:nvPr/>
        </p:nvSpPr>
        <p:spPr>
          <a:xfrm>
            <a:off x="6226616" y="1899390"/>
            <a:ext cx="2542295" cy="156754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74" name="Google Shape;74;p39"/>
          <p:cNvSpPr txBox="1">
            <a:spLocks noGrp="1"/>
          </p:cNvSpPr>
          <p:nvPr>
            <p:ph type="body" idx="3"/>
          </p:nvPr>
        </p:nvSpPr>
        <p:spPr>
          <a:xfrm>
            <a:off x="6387656" y="2394950"/>
            <a:ext cx="2243579" cy="932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63636"/>
              </a:buClr>
              <a:buSzPts val="1600"/>
              <a:buNone/>
              <a:defRPr sz="1600">
                <a:solidFill>
                  <a:srgbClr val="363636"/>
                </a:solidFill>
              </a:defRPr>
            </a:lvl1pPr>
            <a:lvl2pPr marL="914400" lvl="1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AutoNum type="alphaLcPeriod"/>
              <a:defRPr>
                <a:solidFill>
                  <a:schemeClr val="lt1"/>
                </a:solidFill>
              </a:defRPr>
            </a:lvl2pPr>
            <a:lvl3pPr marL="1371600" lvl="2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3pPr>
            <a:lvl4pPr marL="1828800" lvl="3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4pPr>
            <a:lvl5pPr marL="2286000" lvl="4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39"/>
          <p:cNvSpPr txBox="1"/>
          <p:nvPr/>
        </p:nvSpPr>
        <p:spPr>
          <a:xfrm>
            <a:off x="6387656" y="1962504"/>
            <a:ext cx="86754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EB702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Sesi 10</a:t>
            </a:r>
            <a:endParaRPr/>
          </a:p>
        </p:txBody>
      </p:sp>
      <p:sp>
        <p:nvSpPr>
          <p:cNvPr id="76" name="Google Shape;76;p39"/>
          <p:cNvSpPr/>
          <p:nvPr/>
        </p:nvSpPr>
        <p:spPr>
          <a:xfrm>
            <a:off x="9018521" y="1899390"/>
            <a:ext cx="2542295" cy="156754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77" name="Google Shape;77;p39"/>
          <p:cNvSpPr txBox="1">
            <a:spLocks noGrp="1"/>
          </p:cNvSpPr>
          <p:nvPr>
            <p:ph type="body" idx="4"/>
          </p:nvPr>
        </p:nvSpPr>
        <p:spPr>
          <a:xfrm>
            <a:off x="9179561" y="2394950"/>
            <a:ext cx="2243579" cy="932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63636"/>
              </a:buClr>
              <a:buSzPts val="1600"/>
              <a:buNone/>
              <a:defRPr sz="1600">
                <a:solidFill>
                  <a:srgbClr val="363636"/>
                </a:solidFill>
              </a:defRPr>
            </a:lvl1pPr>
            <a:lvl2pPr marL="914400" lvl="1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AutoNum type="alphaLcPeriod"/>
              <a:defRPr>
                <a:solidFill>
                  <a:schemeClr val="lt1"/>
                </a:solidFill>
              </a:defRPr>
            </a:lvl2pPr>
            <a:lvl3pPr marL="1371600" lvl="2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3pPr>
            <a:lvl4pPr marL="1828800" lvl="3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4pPr>
            <a:lvl5pPr marL="2286000" lvl="4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39"/>
          <p:cNvSpPr txBox="1"/>
          <p:nvPr/>
        </p:nvSpPr>
        <p:spPr>
          <a:xfrm>
            <a:off x="9179561" y="1962504"/>
            <a:ext cx="86754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EB702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Sesi 11</a:t>
            </a:r>
            <a:endParaRPr/>
          </a:p>
        </p:txBody>
      </p:sp>
      <p:sp>
        <p:nvSpPr>
          <p:cNvPr id="79" name="Google Shape;79;p39"/>
          <p:cNvSpPr/>
          <p:nvPr/>
        </p:nvSpPr>
        <p:spPr>
          <a:xfrm>
            <a:off x="640237" y="3771083"/>
            <a:ext cx="2542295" cy="156754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80" name="Google Shape;80;p39"/>
          <p:cNvSpPr txBox="1">
            <a:spLocks noGrp="1"/>
          </p:cNvSpPr>
          <p:nvPr>
            <p:ph type="body" idx="5"/>
          </p:nvPr>
        </p:nvSpPr>
        <p:spPr>
          <a:xfrm>
            <a:off x="801277" y="4266643"/>
            <a:ext cx="2243579" cy="932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63636"/>
              </a:buClr>
              <a:buSzPts val="1600"/>
              <a:buNone/>
              <a:defRPr sz="1600">
                <a:solidFill>
                  <a:srgbClr val="363636"/>
                </a:solidFill>
              </a:defRPr>
            </a:lvl1pPr>
            <a:lvl2pPr marL="914400" lvl="1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AutoNum type="alphaLcPeriod"/>
              <a:defRPr>
                <a:solidFill>
                  <a:schemeClr val="lt1"/>
                </a:solidFill>
              </a:defRPr>
            </a:lvl2pPr>
            <a:lvl3pPr marL="1371600" lvl="2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3pPr>
            <a:lvl4pPr marL="1828800" lvl="3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4pPr>
            <a:lvl5pPr marL="2286000" lvl="4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39"/>
          <p:cNvSpPr txBox="1"/>
          <p:nvPr/>
        </p:nvSpPr>
        <p:spPr>
          <a:xfrm>
            <a:off x="801277" y="3834197"/>
            <a:ext cx="86754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EB702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Sesi 12</a:t>
            </a:r>
            <a:endParaRPr/>
          </a:p>
        </p:txBody>
      </p:sp>
      <p:sp>
        <p:nvSpPr>
          <p:cNvPr id="82" name="Google Shape;82;p39"/>
          <p:cNvSpPr/>
          <p:nvPr/>
        </p:nvSpPr>
        <p:spPr>
          <a:xfrm>
            <a:off x="3432142" y="3771083"/>
            <a:ext cx="2542295" cy="156754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83" name="Google Shape;83;p39"/>
          <p:cNvSpPr txBox="1">
            <a:spLocks noGrp="1"/>
          </p:cNvSpPr>
          <p:nvPr>
            <p:ph type="body" idx="6"/>
          </p:nvPr>
        </p:nvSpPr>
        <p:spPr>
          <a:xfrm>
            <a:off x="3593182" y="4266643"/>
            <a:ext cx="2243579" cy="932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63636"/>
              </a:buClr>
              <a:buSzPts val="1600"/>
              <a:buNone/>
              <a:defRPr sz="1600">
                <a:solidFill>
                  <a:srgbClr val="363636"/>
                </a:solidFill>
              </a:defRPr>
            </a:lvl1pPr>
            <a:lvl2pPr marL="914400" lvl="1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AutoNum type="alphaLcPeriod"/>
              <a:defRPr>
                <a:solidFill>
                  <a:schemeClr val="lt1"/>
                </a:solidFill>
              </a:defRPr>
            </a:lvl2pPr>
            <a:lvl3pPr marL="1371600" lvl="2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3pPr>
            <a:lvl4pPr marL="1828800" lvl="3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4pPr>
            <a:lvl5pPr marL="2286000" lvl="4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39"/>
          <p:cNvSpPr txBox="1"/>
          <p:nvPr/>
        </p:nvSpPr>
        <p:spPr>
          <a:xfrm>
            <a:off x="3593182" y="3834197"/>
            <a:ext cx="86754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EB702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Sesi 13</a:t>
            </a:r>
            <a:endParaRPr/>
          </a:p>
        </p:txBody>
      </p:sp>
      <p:sp>
        <p:nvSpPr>
          <p:cNvPr id="85" name="Google Shape;85;p39"/>
          <p:cNvSpPr/>
          <p:nvPr/>
        </p:nvSpPr>
        <p:spPr>
          <a:xfrm>
            <a:off x="6226616" y="3771083"/>
            <a:ext cx="2542295" cy="156754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86" name="Google Shape;86;p39"/>
          <p:cNvSpPr txBox="1">
            <a:spLocks noGrp="1"/>
          </p:cNvSpPr>
          <p:nvPr>
            <p:ph type="body" idx="7"/>
          </p:nvPr>
        </p:nvSpPr>
        <p:spPr>
          <a:xfrm>
            <a:off x="6387656" y="4266643"/>
            <a:ext cx="2243579" cy="932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63636"/>
              </a:buClr>
              <a:buSzPts val="1600"/>
              <a:buNone/>
              <a:defRPr sz="1600">
                <a:solidFill>
                  <a:srgbClr val="363636"/>
                </a:solidFill>
              </a:defRPr>
            </a:lvl1pPr>
            <a:lvl2pPr marL="914400" lvl="1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AutoNum type="alphaLcPeriod"/>
              <a:defRPr>
                <a:solidFill>
                  <a:schemeClr val="lt1"/>
                </a:solidFill>
              </a:defRPr>
            </a:lvl2pPr>
            <a:lvl3pPr marL="1371600" lvl="2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3pPr>
            <a:lvl4pPr marL="1828800" lvl="3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4pPr>
            <a:lvl5pPr marL="2286000" lvl="4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39"/>
          <p:cNvSpPr txBox="1"/>
          <p:nvPr/>
        </p:nvSpPr>
        <p:spPr>
          <a:xfrm>
            <a:off x="6387656" y="3834197"/>
            <a:ext cx="86754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EB702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Sesi 14</a:t>
            </a:r>
            <a:endParaRPr/>
          </a:p>
        </p:txBody>
      </p:sp>
      <p:sp>
        <p:nvSpPr>
          <p:cNvPr id="88" name="Google Shape;88;p39"/>
          <p:cNvSpPr/>
          <p:nvPr/>
        </p:nvSpPr>
        <p:spPr>
          <a:xfrm>
            <a:off x="9018521" y="3771083"/>
            <a:ext cx="2542295" cy="1567543"/>
          </a:xfrm>
          <a:prstGeom prst="rect">
            <a:avLst/>
          </a:prstGeom>
          <a:solidFill>
            <a:srgbClr val="EB702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89" name="Google Shape;89;p39"/>
          <p:cNvSpPr txBox="1"/>
          <p:nvPr/>
        </p:nvSpPr>
        <p:spPr>
          <a:xfrm>
            <a:off x="9179561" y="4139355"/>
            <a:ext cx="1646605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Ujian Akhir</a:t>
            </a:r>
            <a:endParaRPr sz="2400" b="1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Semester</a:t>
            </a:r>
            <a:endParaRPr/>
          </a:p>
        </p:txBody>
      </p:sp>
      <p:sp>
        <p:nvSpPr>
          <p:cNvPr id="90" name="Google Shape;90;p39"/>
          <p:cNvSpPr/>
          <p:nvPr/>
        </p:nvSpPr>
        <p:spPr>
          <a:xfrm>
            <a:off x="571756" y="804529"/>
            <a:ext cx="391184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Topik Sebelum UAS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ujuan Pembelajaran">
  <p:cSld name="1_Tujuan Pembelajaran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3" name="Google Shape;93;p40"/>
          <p:cNvGrpSpPr/>
          <p:nvPr/>
        </p:nvGrpSpPr>
        <p:grpSpPr>
          <a:xfrm>
            <a:off x="753475" y="1125069"/>
            <a:ext cx="6438605" cy="769441"/>
            <a:chOff x="753475" y="569942"/>
            <a:chExt cx="6438605" cy="769441"/>
          </a:xfrm>
        </p:grpSpPr>
        <p:sp>
          <p:nvSpPr>
            <p:cNvPr id="94" name="Google Shape;94;p40"/>
            <p:cNvSpPr/>
            <p:nvPr/>
          </p:nvSpPr>
          <p:spPr>
            <a:xfrm>
              <a:off x="1282044" y="716437"/>
              <a:ext cx="5910035" cy="518474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95" name="Google Shape;95;p40"/>
            <p:cNvSpPr/>
            <p:nvPr/>
          </p:nvSpPr>
          <p:spPr>
            <a:xfrm>
              <a:off x="838200" y="584453"/>
              <a:ext cx="754930" cy="75493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sp>
          <p:nvSpPr>
            <p:cNvPr id="96" name="Google Shape;96;p40"/>
            <p:cNvSpPr/>
            <p:nvPr/>
          </p:nvSpPr>
          <p:spPr>
            <a:xfrm>
              <a:off x="1654410" y="569942"/>
              <a:ext cx="5537670" cy="76944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400" b="1">
                  <a:solidFill>
                    <a:schemeClr val="accent3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Capaian Pembelajaran</a:t>
              </a:r>
              <a:endParaRPr sz="4400" b="1">
                <a:solidFill>
                  <a:schemeClr val="accent3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pic>
          <p:nvPicPr>
            <p:cNvPr id="97" name="Google Shape;97;p40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753475" y="649446"/>
              <a:ext cx="791900" cy="63282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8" name="Google Shape;98;p40"/>
          <p:cNvSpPr txBox="1">
            <a:spLocks noGrp="1"/>
          </p:cNvSpPr>
          <p:nvPr>
            <p:ph type="body" idx="1"/>
          </p:nvPr>
        </p:nvSpPr>
        <p:spPr>
          <a:xfrm>
            <a:off x="838200" y="2139885"/>
            <a:ext cx="10515600" cy="3971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83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2200"/>
              <a:buAutoNum type="arabicPeriod"/>
              <a:defRPr>
                <a:solidFill>
                  <a:srgbClr val="151515"/>
                </a:solidFill>
              </a:defRPr>
            </a:lvl1pPr>
            <a:lvl2pPr marL="914400" lvl="1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2200"/>
              <a:buAutoNum type="alphaLcPeriod"/>
              <a:defRPr>
                <a:solidFill>
                  <a:srgbClr val="151515"/>
                </a:solidFill>
              </a:defRPr>
            </a:lvl2pPr>
            <a:lvl3pPr marL="1371600" lvl="2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2200"/>
              <a:buChar char="•"/>
              <a:defRPr>
                <a:solidFill>
                  <a:srgbClr val="151515"/>
                </a:solidFill>
              </a:defRPr>
            </a:lvl3pPr>
            <a:lvl4pPr marL="1828800" lvl="3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2200"/>
              <a:buChar char="•"/>
              <a:defRPr>
                <a:solidFill>
                  <a:srgbClr val="151515"/>
                </a:solidFill>
              </a:defRPr>
            </a:lvl4pPr>
            <a:lvl5pPr marL="2286000" lvl="4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2200"/>
              <a:buChar char="•"/>
              <a:defRPr>
                <a:solidFill>
                  <a:srgbClr val="151515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 Topic 2">
  <p:cSld name="Sub Topic 2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1"/>
          <p:cNvSpPr/>
          <p:nvPr/>
        </p:nvSpPr>
        <p:spPr>
          <a:xfrm>
            <a:off x="0" y="0"/>
            <a:ext cx="3641036" cy="6858000"/>
          </a:xfrm>
          <a:prstGeom prst="rect">
            <a:avLst/>
          </a:prstGeom>
          <a:solidFill>
            <a:srgbClr val="0E60A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01" name="Google Shape;101;p41"/>
          <p:cNvSpPr txBox="1">
            <a:spLocks noGrp="1"/>
          </p:cNvSpPr>
          <p:nvPr>
            <p:ph type="ctrTitle"/>
          </p:nvPr>
        </p:nvSpPr>
        <p:spPr>
          <a:xfrm>
            <a:off x="5824603" y="2217851"/>
            <a:ext cx="5529197" cy="1920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6000"/>
              <a:buFont typeface="Twentieth Centur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4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41"/>
          <p:cNvSpPr>
            <a:spLocks noGrp="1"/>
          </p:cNvSpPr>
          <p:nvPr>
            <p:ph type="pic" idx="2"/>
          </p:nvPr>
        </p:nvSpPr>
        <p:spPr>
          <a:xfrm>
            <a:off x="0" y="499621"/>
            <a:ext cx="5316718" cy="5856730"/>
          </a:xfrm>
          <a:prstGeom prst="flowChartDelay">
            <a:avLst/>
          </a:prstGeom>
          <a:noFill/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 1">
  <p:cSld name="Picture with Caption 1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2"/>
          <p:cNvSpPr/>
          <p:nvPr/>
        </p:nvSpPr>
        <p:spPr>
          <a:xfrm>
            <a:off x="0" y="0"/>
            <a:ext cx="4873658" cy="6858000"/>
          </a:xfrm>
          <a:prstGeom prst="rect">
            <a:avLst/>
          </a:prstGeom>
          <a:solidFill>
            <a:srgbClr val="0E60A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06" name="Google Shape;106;p42"/>
          <p:cNvSpPr>
            <a:spLocks noGrp="1"/>
          </p:cNvSpPr>
          <p:nvPr>
            <p:ph type="pic" idx="2"/>
          </p:nvPr>
        </p:nvSpPr>
        <p:spPr>
          <a:xfrm>
            <a:off x="5183188" y="1107481"/>
            <a:ext cx="5900448" cy="4800705"/>
          </a:xfrm>
          <a:prstGeom prst="rect">
            <a:avLst/>
          </a:prstGeom>
          <a:noFill/>
          <a:ln>
            <a:noFill/>
          </a:ln>
        </p:spPr>
      </p:sp>
      <p:sp>
        <p:nvSpPr>
          <p:cNvPr id="107" name="Google Shape;107;p4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2"/>
          <p:cNvSpPr txBox="1">
            <a:spLocks noGrp="1"/>
          </p:cNvSpPr>
          <p:nvPr>
            <p:ph type="title"/>
          </p:nvPr>
        </p:nvSpPr>
        <p:spPr>
          <a:xfrm>
            <a:off x="802081" y="886379"/>
            <a:ext cx="3751066" cy="1218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3200"/>
              <a:buFont typeface="Twentieth Century"/>
              <a:buNone/>
              <a:defRPr sz="3200">
                <a:solidFill>
                  <a:srgbClr val="FFC0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42"/>
          <p:cNvSpPr txBox="1">
            <a:spLocks noGrp="1"/>
          </p:cNvSpPr>
          <p:nvPr>
            <p:ph type="body" idx="1"/>
          </p:nvPr>
        </p:nvSpPr>
        <p:spPr>
          <a:xfrm>
            <a:off x="802081" y="2264241"/>
            <a:ext cx="3751066" cy="3643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marL="914400" lvl="1" indent="-228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/>
            </a:lvl2pPr>
            <a:lvl3pPr marL="1371600" lvl="2" indent="-228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1200"/>
              <a:buNone/>
              <a:defRPr sz="1200"/>
            </a:lvl3pPr>
            <a:lvl4pPr marL="1828800" lvl="3" indent="-228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1000"/>
              <a:buNone/>
              <a:defRPr sz="1000"/>
            </a:lvl4pPr>
            <a:lvl5pPr marL="2286000" lvl="4" indent="-228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 5">
  <p:cSld name="Picture with Caption 5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3"/>
          <p:cNvSpPr/>
          <p:nvPr/>
        </p:nvSpPr>
        <p:spPr>
          <a:xfrm>
            <a:off x="0" y="0"/>
            <a:ext cx="4873658" cy="6858000"/>
          </a:xfrm>
          <a:prstGeom prst="rect">
            <a:avLst/>
          </a:prstGeom>
          <a:solidFill>
            <a:srgbClr val="0E60A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12" name="Google Shape;112;p43"/>
          <p:cNvSpPr>
            <a:spLocks noGrp="1"/>
          </p:cNvSpPr>
          <p:nvPr>
            <p:ph type="pic" idx="2"/>
          </p:nvPr>
        </p:nvSpPr>
        <p:spPr>
          <a:xfrm>
            <a:off x="569929" y="886379"/>
            <a:ext cx="4888191" cy="5021807"/>
          </a:xfrm>
          <a:prstGeom prst="rect">
            <a:avLst/>
          </a:prstGeom>
          <a:noFill/>
          <a:ln>
            <a:noFill/>
          </a:ln>
        </p:spPr>
      </p:sp>
      <p:sp>
        <p:nvSpPr>
          <p:cNvPr id="113" name="Google Shape;113;p4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43"/>
          <p:cNvSpPr txBox="1">
            <a:spLocks noGrp="1"/>
          </p:cNvSpPr>
          <p:nvPr>
            <p:ph type="title"/>
          </p:nvPr>
        </p:nvSpPr>
        <p:spPr>
          <a:xfrm>
            <a:off x="5918477" y="886379"/>
            <a:ext cx="5280565" cy="1218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3200"/>
              <a:buFont typeface="Twentieth Century"/>
              <a:buNone/>
              <a:defRPr sz="3200">
                <a:solidFill>
                  <a:srgbClr val="0E60A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43"/>
          <p:cNvSpPr txBox="1">
            <a:spLocks noGrp="1"/>
          </p:cNvSpPr>
          <p:nvPr>
            <p:ph type="body" idx="1"/>
          </p:nvPr>
        </p:nvSpPr>
        <p:spPr>
          <a:xfrm>
            <a:off x="5918477" y="2264241"/>
            <a:ext cx="5280565" cy="3643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63636"/>
              </a:buClr>
              <a:buSzPts val="2000"/>
              <a:buNone/>
              <a:defRPr sz="2000">
                <a:solidFill>
                  <a:srgbClr val="363636"/>
                </a:solidFill>
              </a:defRPr>
            </a:lvl1pPr>
            <a:lvl2pPr marL="914400" lvl="1" indent="-228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/>
            </a:lvl2pPr>
            <a:lvl3pPr marL="1371600" lvl="2" indent="-228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1200"/>
              <a:buNone/>
              <a:defRPr sz="1200"/>
            </a:lvl3pPr>
            <a:lvl4pPr marL="1828800" lvl="3" indent="-228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1000"/>
              <a:buNone/>
              <a:defRPr sz="1000"/>
            </a:lvl4pPr>
            <a:lvl5pPr marL="2286000" lvl="4" indent="-228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1">
  <p:cSld name="Title and Content 1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4"/>
          <p:cNvSpPr txBox="1">
            <a:spLocks noGrp="1"/>
          </p:cNvSpPr>
          <p:nvPr>
            <p:ph type="title"/>
          </p:nvPr>
        </p:nvSpPr>
        <p:spPr>
          <a:xfrm>
            <a:off x="838200" y="457201"/>
            <a:ext cx="10515600" cy="1057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44"/>
          <p:cNvSpPr txBox="1">
            <a:spLocks noGrp="1"/>
          </p:cNvSpPr>
          <p:nvPr>
            <p:ph type="body" idx="1"/>
          </p:nvPr>
        </p:nvSpPr>
        <p:spPr>
          <a:xfrm>
            <a:off x="838200" y="175963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83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2200"/>
              <a:buAutoNum type="arabicPeriod"/>
              <a:defRPr>
                <a:solidFill>
                  <a:srgbClr val="151515"/>
                </a:solidFill>
              </a:defRPr>
            </a:lvl1pPr>
            <a:lvl2pPr marL="914400" lvl="1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2200"/>
              <a:buAutoNum type="alphaLcPeriod"/>
              <a:defRPr>
                <a:solidFill>
                  <a:srgbClr val="151515"/>
                </a:solidFill>
              </a:defRPr>
            </a:lvl2pPr>
            <a:lvl3pPr marL="1371600" lvl="2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2200"/>
              <a:buChar char="•"/>
              <a:defRPr>
                <a:solidFill>
                  <a:srgbClr val="151515"/>
                </a:solidFill>
              </a:defRPr>
            </a:lvl3pPr>
            <a:lvl4pPr marL="1828800" lvl="3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2200"/>
              <a:buChar char="•"/>
              <a:defRPr>
                <a:solidFill>
                  <a:srgbClr val="151515"/>
                </a:solidFill>
              </a:defRPr>
            </a:lvl4pPr>
            <a:lvl5pPr marL="2286000" lvl="4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2200"/>
              <a:buChar char="•"/>
              <a:defRPr>
                <a:solidFill>
                  <a:srgbClr val="151515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9" name="Google Shape;119;p4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enutup">
  <p:cSld name="Penutup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46" descr="Business people  clapping their hands at the meeting Premium Photo"/>
          <p:cNvPicPr preferRelativeResize="0"/>
          <p:nvPr/>
        </p:nvPicPr>
        <p:blipFill rotWithShape="1">
          <a:blip r:embed="rId2">
            <a:alphaModFix/>
          </a:blip>
          <a:srcRect r="8529"/>
          <a:stretch/>
        </p:blipFill>
        <p:spPr>
          <a:xfrm>
            <a:off x="2790216" y="-5350"/>
            <a:ext cx="9401784" cy="686335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46"/>
          <p:cNvSpPr/>
          <p:nvPr/>
        </p:nvSpPr>
        <p:spPr>
          <a:xfrm>
            <a:off x="0" y="0"/>
            <a:ext cx="3641036" cy="6858000"/>
          </a:xfrm>
          <a:prstGeom prst="rect">
            <a:avLst/>
          </a:prstGeom>
          <a:solidFill>
            <a:srgbClr val="0E60A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26" name="Google Shape;126;p46"/>
          <p:cNvSpPr/>
          <p:nvPr/>
        </p:nvSpPr>
        <p:spPr>
          <a:xfrm>
            <a:off x="1500193" y="1347793"/>
            <a:ext cx="4162414" cy="4162414"/>
          </a:xfrm>
          <a:prstGeom prst="ellipse">
            <a:avLst/>
          </a:prstGeom>
          <a:solidFill>
            <a:srgbClr val="EB702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27" name="Google Shape;127;p46"/>
          <p:cNvSpPr txBox="1">
            <a:spLocks noGrp="1"/>
          </p:cNvSpPr>
          <p:nvPr>
            <p:ph type="ctrTitle"/>
          </p:nvPr>
        </p:nvSpPr>
        <p:spPr>
          <a:xfrm>
            <a:off x="2333732" y="2541902"/>
            <a:ext cx="3048000" cy="1768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Twentieth Century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28" name="Google Shape;128;p46"/>
          <p:cNvGrpSpPr/>
          <p:nvPr/>
        </p:nvGrpSpPr>
        <p:grpSpPr>
          <a:xfrm>
            <a:off x="159779" y="171572"/>
            <a:ext cx="1971606" cy="729735"/>
            <a:chOff x="648649" y="653143"/>
            <a:chExt cx="2138362" cy="791455"/>
          </a:xfrm>
        </p:grpSpPr>
        <p:sp>
          <p:nvSpPr>
            <p:cNvPr id="129" name="Google Shape;129;p46"/>
            <p:cNvSpPr/>
            <p:nvPr/>
          </p:nvSpPr>
          <p:spPr>
            <a:xfrm>
              <a:off x="648649" y="653143"/>
              <a:ext cx="2138362" cy="791455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pic>
          <p:nvPicPr>
            <p:cNvPr id="130" name="Google Shape;130;p46"/>
            <p:cNvPicPr preferRelativeResize="0"/>
            <p:nvPr/>
          </p:nvPicPr>
          <p:blipFill rotWithShape="1">
            <a:blip r:embed="rId3">
              <a:alphaModFix/>
            </a:blip>
            <a:srcRect t="16017" b="18101"/>
            <a:stretch/>
          </p:blipFill>
          <p:spPr>
            <a:xfrm>
              <a:off x="702844" y="653143"/>
              <a:ext cx="2029972" cy="75303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">
  <p:cSld name="Cover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7"/>
          <p:cNvSpPr/>
          <p:nvPr/>
        </p:nvSpPr>
        <p:spPr>
          <a:xfrm>
            <a:off x="0" y="0"/>
            <a:ext cx="3641036" cy="6858000"/>
          </a:xfrm>
          <a:prstGeom prst="rect">
            <a:avLst/>
          </a:prstGeom>
          <a:solidFill>
            <a:srgbClr val="0E60A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33" name="Google Shape;133;p47"/>
          <p:cNvSpPr>
            <a:spLocks noGrp="1"/>
          </p:cNvSpPr>
          <p:nvPr>
            <p:ph type="pic" idx="2"/>
          </p:nvPr>
        </p:nvSpPr>
        <p:spPr>
          <a:xfrm>
            <a:off x="0" y="814192"/>
            <a:ext cx="4509370" cy="5235878"/>
          </a:xfrm>
          <a:prstGeom prst="rect">
            <a:avLst/>
          </a:prstGeom>
          <a:noFill/>
          <a:ln>
            <a:noFill/>
          </a:ln>
        </p:spPr>
      </p:sp>
      <p:sp>
        <p:nvSpPr>
          <p:cNvPr id="134" name="Google Shape;134;p4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/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/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/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/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/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/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/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/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47"/>
          <p:cNvSpPr txBox="1">
            <a:spLocks noGrp="1"/>
          </p:cNvSpPr>
          <p:nvPr>
            <p:ph type="title"/>
          </p:nvPr>
        </p:nvSpPr>
        <p:spPr>
          <a:xfrm>
            <a:off x="4968465" y="1610316"/>
            <a:ext cx="6385335" cy="2024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5400"/>
              <a:buFont typeface="Twentieth Century"/>
              <a:buNone/>
              <a:defRPr sz="5400" b="1">
                <a:solidFill>
                  <a:srgbClr val="0E60A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47"/>
          <p:cNvSpPr txBox="1">
            <a:spLocks noGrp="1"/>
          </p:cNvSpPr>
          <p:nvPr>
            <p:ph type="body" idx="1"/>
          </p:nvPr>
        </p:nvSpPr>
        <p:spPr>
          <a:xfrm>
            <a:off x="4968465" y="4539512"/>
            <a:ext cx="6385335" cy="1212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2400"/>
              <a:buNone/>
              <a:defRPr sz="2400">
                <a:solidFill>
                  <a:srgbClr val="15151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914400" lvl="1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1800"/>
              <a:buAutoNum type="alphaLcPeriod"/>
              <a:defRPr/>
            </a:lvl2pPr>
            <a:lvl3pPr marL="1371600" lvl="2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1800"/>
              <a:buChar char="•"/>
              <a:defRPr/>
            </a:lvl3pPr>
            <a:lvl4pPr marL="1828800" lvl="3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1800"/>
              <a:buChar char="•"/>
              <a:defRPr/>
            </a:lvl4pPr>
            <a:lvl5pPr marL="2286000" lvl="4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7" name="Google Shape;137;p47"/>
          <p:cNvSpPr txBox="1">
            <a:spLocks noGrp="1"/>
          </p:cNvSpPr>
          <p:nvPr>
            <p:ph type="body" idx="3"/>
          </p:nvPr>
        </p:nvSpPr>
        <p:spPr>
          <a:xfrm>
            <a:off x="4968465" y="4034457"/>
            <a:ext cx="3642135" cy="425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C7C30"/>
              </a:buClr>
              <a:buSzPts val="2800"/>
              <a:buNone/>
              <a:defRPr sz="2800" b="1">
                <a:solidFill>
                  <a:srgbClr val="EC7C30"/>
                </a:solidFill>
              </a:defRPr>
            </a:lvl1pPr>
            <a:lvl2pPr marL="914400" lvl="1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1800"/>
              <a:buAutoNum type="alphaLcPeriod"/>
              <a:defRPr/>
            </a:lvl2pPr>
            <a:lvl3pPr marL="1371600" lvl="2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1800"/>
              <a:buChar char="•"/>
              <a:defRPr/>
            </a:lvl3pPr>
            <a:lvl4pPr marL="1828800" lvl="3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1800"/>
              <a:buChar char="•"/>
              <a:defRPr/>
            </a:lvl4pPr>
            <a:lvl5pPr marL="2286000" lvl="4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8" name="Google Shape;138;p47"/>
          <p:cNvSpPr/>
          <p:nvPr/>
        </p:nvSpPr>
        <p:spPr>
          <a:xfrm>
            <a:off x="4968465" y="3811581"/>
            <a:ext cx="1659545" cy="45719"/>
          </a:xfrm>
          <a:prstGeom prst="roundRect">
            <a:avLst>
              <a:gd name="adj" fmla="val 16667"/>
            </a:avLst>
          </a:prstGeom>
          <a:solidFill>
            <a:srgbClr val="EC7C3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39" name="Google Shape;139;p47"/>
          <p:cNvSpPr txBox="1">
            <a:spLocks noGrp="1"/>
          </p:cNvSpPr>
          <p:nvPr>
            <p:ph type="body" idx="4"/>
          </p:nvPr>
        </p:nvSpPr>
        <p:spPr>
          <a:xfrm>
            <a:off x="4968464" y="1105261"/>
            <a:ext cx="3642135" cy="425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C7C30"/>
              </a:buClr>
              <a:buSzPts val="2800"/>
              <a:buNone/>
              <a:defRPr sz="2800" b="1">
                <a:solidFill>
                  <a:srgbClr val="EC7C30"/>
                </a:solidFill>
              </a:defRPr>
            </a:lvl1pPr>
            <a:lvl2pPr marL="914400" lvl="1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1800"/>
              <a:buAutoNum type="alphaLcPeriod"/>
              <a:defRPr/>
            </a:lvl2pPr>
            <a:lvl3pPr marL="1371600" lvl="2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1800"/>
              <a:buChar char="•"/>
              <a:defRPr/>
            </a:lvl3pPr>
            <a:lvl4pPr marL="1828800" lvl="3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1800"/>
              <a:buChar char="•"/>
              <a:defRPr/>
            </a:lvl4pPr>
            <a:lvl5pPr marL="2286000" lvl="4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 2">
  <p:cSld name="Cover 2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4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60A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42" name="Google Shape;142;p48"/>
          <p:cNvSpPr>
            <a:spLocks noGrp="1"/>
          </p:cNvSpPr>
          <p:nvPr>
            <p:ph type="pic" idx="2"/>
          </p:nvPr>
        </p:nvSpPr>
        <p:spPr>
          <a:xfrm flipH="1">
            <a:off x="7384744" y="0"/>
            <a:ext cx="4807256" cy="6858000"/>
          </a:xfrm>
          <a:prstGeom prst="flowChartDelay">
            <a:avLst/>
          </a:prstGeom>
          <a:noFill/>
          <a:ln>
            <a:noFill/>
          </a:ln>
        </p:spPr>
      </p:sp>
      <p:grpSp>
        <p:nvGrpSpPr>
          <p:cNvPr id="143" name="Google Shape;143;p48"/>
          <p:cNvGrpSpPr/>
          <p:nvPr/>
        </p:nvGrpSpPr>
        <p:grpSpPr>
          <a:xfrm>
            <a:off x="159779" y="171572"/>
            <a:ext cx="1971606" cy="729735"/>
            <a:chOff x="648649" y="653143"/>
            <a:chExt cx="2138362" cy="791455"/>
          </a:xfrm>
        </p:grpSpPr>
        <p:sp>
          <p:nvSpPr>
            <p:cNvPr id="144" name="Google Shape;144;p48"/>
            <p:cNvSpPr/>
            <p:nvPr/>
          </p:nvSpPr>
          <p:spPr>
            <a:xfrm>
              <a:off x="648649" y="653143"/>
              <a:ext cx="2138362" cy="791455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pic>
          <p:nvPicPr>
            <p:cNvPr id="145" name="Google Shape;145;p48"/>
            <p:cNvPicPr preferRelativeResize="0"/>
            <p:nvPr/>
          </p:nvPicPr>
          <p:blipFill rotWithShape="1">
            <a:blip r:embed="rId2">
              <a:alphaModFix/>
            </a:blip>
            <a:srcRect t="16017" b="18101"/>
            <a:stretch/>
          </p:blipFill>
          <p:spPr>
            <a:xfrm>
              <a:off x="702844" y="653143"/>
              <a:ext cx="2029972" cy="75303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6" name="Google Shape;146;p48"/>
          <p:cNvSpPr txBox="1">
            <a:spLocks noGrp="1"/>
          </p:cNvSpPr>
          <p:nvPr>
            <p:ph type="title"/>
          </p:nvPr>
        </p:nvSpPr>
        <p:spPr>
          <a:xfrm>
            <a:off x="588970" y="1773946"/>
            <a:ext cx="6385335" cy="2024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Twentieth Century"/>
              <a:buNone/>
              <a:defRPr sz="5400" b="1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48"/>
          <p:cNvSpPr txBox="1">
            <a:spLocks noGrp="1"/>
          </p:cNvSpPr>
          <p:nvPr>
            <p:ph type="body" idx="1"/>
          </p:nvPr>
        </p:nvSpPr>
        <p:spPr>
          <a:xfrm>
            <a:off x="588970" y="4703142"/>
            <a:ext cx="6385335" cy="1212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914400" lvl="1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1800"/>
              <a:buAutoNum type="alphaLcPeriod"/>
              <a:defRPr/>
            </a:lvl2pPr>
            <a:lvl3pPr marL="1371600" lvl="2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1800"/>
              <a:buChar char="•"/>
              <a:defRPr/>
            </a:lvl3pPr>
            <a:lvl4pPr marL="1828800" lvl="3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1800"/>
              <a:buChar char="•"/>
              <a:defRPr/>
            </a:lvl4pPr>
            <a:lvl5pPr marL="2286000" lvl="4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8" name="Google Shape;148;p48"/>
          <p:cNvSpPr txBox="1">
            <a:spLocks noGrp="1"/>
          </p:cNvSpPr>
          <p:nvPr>
            <p:ph type="body" idx="3"/>
          </p:nvPr>
        </p:nvSpPr>
        <p:spPr>
          <a:xfrm>
            <a:off x="588970" y="4198087"/>
            <a:ext cx="3642135" cy="425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C000"/>
              </a:buClr>
              <a:buSzPts val="2800"/>
              <a:buNone/>
              <a:defRPr sz="2800" b="1">
                <a:solidFill>
                  <a:srgbClr val="FFC000"/>
                </a:solidFill>
              </a:defRPr>
            </a:lvl1pPr>
            <a:lvl2pPr marL="914400" lvl="1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1800"/>
              <a:buAutoNum type="alphaLcPeriod"/>
              <a:defRPr/>
            </a:lvl2pPr>
            <a:lvl3pPr marL="1371600" lvl="2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1800"/>
              <a:buChar char="•"/>
              <a:defRPr/>
            </a:lvl3pPr>
            <a:lvl4pPr marL="1828800" lvl="3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1800"/>
              <a:buChar char="•"/>
              <a:defRPr/>
            </a:lvl4pPr>
            <a:lvl5pPr marL="2286000" lvl="4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9" name="Google Shape;149;p48"/>
          <p:cNvSpPr/>
          <p:nvPr/>
        </p:nvSpPr>
        <p:spPr>
          <a:xfrm>
            <a:off x="588970" y="3975211"/>
            <a:ext cx="1659545" cy="45719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50" name="Google Shape;150;p48"/>
          <p:cNvSpPr txBox="1">
            <a:spLocks noGrp="1"/>
          </p:cNvSpPr>
          <p:nvPr>
            <p:ph type="body" idx="4"/>
          </p:nvPr>
        </p:nvSpPr>
        <p:spPr>
          <a:xfrm>
            <a:off x="588969" y="1268891"/>
            <a:ext cx="3642135" cy="425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C000"/>
              </a:buClr>
              <a:buSzPts val="2800"/>
              <a:buNone/>
              <a:defRPr sz="2800" b="1">
                <a:solidFill>
                  <a:srgbClr val="FFC000"/>
                </a:solidFill>
              </a:defRPr>
            </a:lvl1pPr>
            <a:lvl2pPr marL="914400" lvl="1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1800"/>
              <a:buAutoNum type="alphaLcPeriod"/>
              <a:defRPr/>
            </a:lvl2pPr>
            <a:lvl3pPr marL="1371600" lvl="2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1800"/>
              <a:buChar char="•"/>
              <a:defRPr/>
            </a:lvl3pPr>
            <a:lvl4pPr marL="1828800" lvl="3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1800"/>
              <a:buChar char="•"/>
              <a:defRPr/>
            </a:lvl4pPr>
            <a:lvl5pPr marL="2286000" lvl="4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endahuluan">
  <p:cSld name="Pendahuluan">
    <p:bg>
      <p:bgPr>
        <a:solidFill>
          <a:schemeClr val="lt1"/>
        </a:solidFill>
        <a:effectLst/>
      </p:bgPr>
    </p:bg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49"/>
          <p:cNvSpPr/>
          <p:nvPr/>
        </p:nvSpPr>
        <p:spPr>
          <a:xfrm>
            <a:off x="1282045" y="716437"/>
            <a:ext cx="5555504" cy="518474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53" name="Google Shape;153;p49"/>
          <p:cNvSpPr txBox="1">
            <a:spLocks noGrp="1"/>
          </p:cNvSpPr>
          <p:nvPr>
            <p:ph type="body" idx="1"/>
          </p:nvPr>
        </p:nvSpPr>
        <p:spPr>
          <a:xfrm>
            <a:off x="838200" y="175963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83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2200"/>
              <a:buAutoNum type="arabicPeriod"/>
              <a:defRPr>
                <a:solidFill>
                  <a:srgbClr val="151515"/>
                </a:solidFill>
              </a:defRPr>
            </a:lvl1pPr>
            <a:lvl2pPr marL="914400" lvl="1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2200"/>
              <a:buAutoNum type="alphaLcPeriod"/>
              <a:defRPr>
                <a:solidFill>
                  <a:srgbClr val="151515"/>
                </a:solidFill>
              </a:defRPr>
            </a:lvl2pPr>
            <a:lvl3pPr marL="1371600" lvl="2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2200"/>
              <a:buChar char="•"/>
              <a:defRPr>
                <a:solidFill>
                  <a:srgbClr val="151515"/>
                </a:solidFill>
              </a:defRPr>
            </a:lvl3pPr>
            <a:lvl4pPr marL="1828800" lvl="3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2200"/>
              <a:buChar char="•"/>
              <a:defRPr>
                <a:solidFill>
                  <a:srgbClr val="151515"/>
                </a:solidFill>
              </a:defRPr>
            </a:lvl4pPr>
            <a:lvl5pPr marL="2286000" lvl="4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2200"/>
              <a:buChar char="•"/>
              <a:defRPr>
                <a:solidFill>
                  <a:srgbClr val="151515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4" name="Google Shape;154;p4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49"/>
          <p:cNvSpPr/>
          <p:nvPr/>
        </p:nvSpPr>
        <p:spPr>
          <a:xfrm>
            <a:off x="838200" y="584453"/>
            <a:ext cx="754930" cy="75493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56" name="Google Shape;156;p49"/>
          <p:cNvSpPr/>
          <p:nvPr/>
        </p:nvSpPr>
        <p:spPr>
          <a:xfrm>
            <a:off x="1654410" y="569942"/>
            <a:ext cx="3273525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Pendahuluan</a:t>
            </a:r>
            <a:endParaRPr sz="4400" b="1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157" name="Google Shape;157;p4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3077" y="544975"/>
            <a:ext cx="665176" cy="7623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ujuan Pembelajaran">
  <p:cSld name="Tujuan Pembelajaran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50"/>
          <p:cNvSpPr/>
          <p:nvPr/>
        </p:nvSpPr>
        <p:spPr>
          <a:xfrm>
            <a:off x="1282044" y="716437"/>
            <a:ext cx="5910035" cy="518474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60" name="Google Shape;160;p50"/>
          <p:cNvSpPr txBox="1">
            <a:spLocks noGrp="1"/>
          </p:cNvSpPr>
          <p:nvPr>
            <p:ph type="body" idx="1"/>
          </p:nvPr>
        </p:nvSpPr>
        <p:spPr>
          <a:xfrm>
            <a:off x="838200" y="175963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83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2200"/>
              <a:buAutoNum type="arabicPeriod"/>
              <a:defRPr>
                <a:solidFill>
                  <a:srgbClr val="151515"/>
                </a:solidFill>
              </a:defRPr>
            </a:lvl1pPr>
            <a:lvl2pPr marL="914400" lvl="1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2200"/>
              <a:buAutoNum type="alphaLcPeriod"/>
              <a:defRPr>
                <a:solidFill>
                  <a:srgbClr val="151515"/>
                </a:solidFill>
              </a:defRPr>
            </a:lvl2pPr>
            <a:lvl3pPr marL="1371600" lvl="2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2200"/>
              <a:buChar char="•"/>
              <a:defRPr>
                <a:solidFill>
                  <a:srgbClr val="151515"/>
                </a:solidFill>
              </a:defRPr>
            </a:lvl3pPr>
            <a:lvl4pPr marL="1828800" lvl="3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2200"/>
              <a:buChar char="•"/>
              <a:defRPr>
                <a:solidFill>
                  <a:srgbClr val="151515"/>
                </a:solidFill>
              </a:defRPr>
            </a:lvl4pPr>
            <a:lvl5pPr marL="2286000" lvl="4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2200"/>
              <a:buChar char="•"/>
              <a:defRPr>
                <a:solidFill>
                  <a:srgbClr val="151515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1" name="Google Shape;161;p5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50"/>
          <p:cNvSpPr/>
          <p:nvPr/>
        </p:nvSpPr>
        <p:spPr>
          <a:xfrm>
            <a:off x="838200" y="584453"/>
            <a:ext cx="754930" cy="75493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63" name="Google Shape;163;p50"/>
          <p:cNvSpPr/>
          <p:nvPr/>
        </p:nvSpPr>
        <p:spPr>
          <a:xfrm>
            <a:off x="1654410" y="569942"/>
            <a:ext cx="5537670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Capaian Pembelajaran</a:t>
            </a:r>
            <a:endParaRPr sz="4400" b="1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164" name="Google Shape;164;p5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53475" y="649446"/>
            <a:ext cx="791900" cy="6328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omponen Penilaian">
  <p:cSld name="Komponen Penilaian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1"/>
          <p:cNvSpPr/>
          <p:nvPr/>
        </p:nvSpPr>
        <p:spPr>
          <a:xfrm>
            <a:off x="1282045" y="716437"/>
            <a:ext cx="5555504" cy="518474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67" name="Google Shape;167;p5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51"/>
          <p:cNvSpPr/>
          <p:nvPr/>
        </p:nvSpPr>
        <p:spPr>
          <a:xfrm>
            <a:off x="838200" y="584453"/>
            <a:ext cx="754930" cy="75493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69" name="Google Shape;169;p51"/>
          <p:cNvSpPr/>
          <p:nvPr/>
        </p:nvSpPr>
        <p:spPr>
          <a:xfrm>
            <a:off x="1654410" y="569942"/>
            <a:ext cx="5068760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Komponen Penilaian</a:t>
            </a:r>
            <a:endParaRPr sz="4400" b="1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170" name="Google Shape;170;p5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21012" y="616587"/>
            <a:ext cx="589305" cy="6754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 Topic 1">
  <p:cSld name="Sub Topic 1"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52"/>
          <p:cNvSpPr txBox="1">
            <a:spLocks noGrp="1"/>
          </p:cNvSpPr>
          <p:nvPr>
            <p:ph type="ctrTitle"/>
          </p:nvPr>
        </p:nvSpPr>
        <p:spPr>
          <a:xfrm>
            <a:off x="1524000" y="824826"/>
            <a:ext cx="9144000" cy="1768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6000"/>
              <a:buFont typeface="Twentieth Centur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3" name="Google Shape;173;p5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52"/>
          <p:cNvSpPr>
            <a:spLocks noGrp="1"/>
          </p:cNvSpPr>
          <p:nvPr>
            <p:ph type="pic" idx="2"/>
          </p:nvPr>
        </p:nvSpPr>
        <p:spPr>
          <a:xfrm>
            <a:off x="1524000" y="2843408"/>
            <a:ext cx="9144000" cy="3376417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53"/>
          <p:cNvSpPr txBox="1">
            <a:spLocks noGrp="1"/>
          </p:cNvSpPr>
          <p:nvPr>
            <p:ph type="title"/>
          </p:nvPr>
        </p:nvSpPr>
        <p:spPr>
          <a:xfrm>
            <a:off x="831850" y="1389699"/>
            <a:ext cx="10515600" cy="16179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6000"/>
              <a:buFont typeface="Twentieth Centur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53"/>
          <p:cNvSpPr txBox="1">
            <a:spLocks noGrp="1"/>
          </p:cNvSpPr>
          <p:nvPr>
            <p:ph type="body" idx="1"/>
          </p:nvPr>
        </p:nvSpPr>
        <p:spPr>
          <a:xfrm>
            <a:off x="831850" y="3185341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2400"/>
              <a:buNone/>
              <a:defRPr sz="2400">
                <a:solidFill>
                  <a:srgbClr val="151515"/>
                </a:solidFill>
              </a:defRPr>
            </a:lvl1pPr>
            <a:lvl2pPr marL="914400" lvl="1" indent="-228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9CC5"/>
              </a:buClr>
              <a:buSzPts val="2000"/>
              <a:buNone/>
              <a:defRPr sz="2000">
                <a:solidFill>
                  <a:srgbClr val="889CC5"/>
                </a:solidFill>
              </a:defRPr>
            </a:lvl2pPr>
            <a:lvl3pPr marL="1371600" lvl="2" indent="-228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9CC5"/>
              </a:buClr>
              <a:buSzPts val="1800"/>
              <a:buNone/>
              <a:defRPr sz="1800">
                <a:solidFill>
                  <a:srgbClr val="889CC5"/>
                </a:solidFill>
              </a:defRPr>
            </a:lvl3pPr>
            <a:lvl4pPr marL="1828800" lvl="3" indent="-228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9CC5"/>
              </a:buClr>
              <a:buSzPts val="1600"/>
              <a:buNone/>
              <a:defRPr sz="1600">
                <a:solidFill>
                  <a:srgbClr val="889CC5"/>
                </a:solidFill>
              </a:defRPr>
            </a:lvl4pPr>
            <a:lvl5pPr marL="2286000" lvl="4" indent="-228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9CC5"/>
              </a:buClr>
              <a:buSzPts val="1600"/>
              <a:buNone/>
              <a:defRPr sz="1600">
                <a:solidFill>
                  <a:srgbClr val="889CC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9CC5"/>
              </a:buClr>
              <a:buSzPts val="1600"/>
              <a:buNone/>
              <a:defRPr sz="1600">
                <a:solidFill>
                  <a:srgbClr val="889CC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9CC5"/>
              </a:buClr>
              <a:buSzPts val="1600"/>
              <a:buNone/>
              <a:defRPr sz="1600">
                <a:solidFill>
                  <a:srgbClr val="889CC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9CC5"/>
              </a:buClr>
              <a:buSzPts val="1600"/>
              <a:buNone/>
              <a:defRPr sz="1600">
                <a:solidFill>
                  <a:srgbClr val="889CC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9CC5"/>
              </a:buClr>
              <a:buSzPts val="1600"/>
              <a:buNone/>
              <a:defRPr sz="1600">
                <a:solidFill>
                  <a:srgbClr val="889CC5"/>
                </a:solidFill>
              </a:defRPr>
            </a:lvl9pPr>
          </a:lstStyle>
          <a:p>
            <a:endParaRPr/>
          </a:p>
        </p:txBody>
      </p:sp>
      <p:sp>
        <p:nvSpPr>
          <p:cNvPr id="178" name="Google Shape;178;p5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100"/>
              <a:buFont typeface="Twentieth Century"/>
              <a:buNone/>
              <a:defRPr sz="11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100"/>
              <a:buFont typeface="Twentieth Century"/>
              <a:buNone/>
              <a:defRPr sz="11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100"/>
              <a:buFont typeface="Twentieth Century"/>
              <a:buNone/>
              <a:defRPr sz="11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100"/>
              <a:buFont typeface="Twentieth Century"/>
              <a:buNone/>
              <a:defRPr sz="11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100"/>
              <a:buFont typeface="Twentieth Century"/>
              <a:buNone/>
              <a:defRPr sz="11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100"/>
              <a:buFont typeface="Twentieth Century"/>
              <a:buNone/>
              <a:defRPr sz="11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100"/>
              <a:buFont typeface="Twentieth Century"/>
              <a:buNone/>
              <a:defRPr sz="11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100"/>
              <a:buFont typeface="Twentieth Century"/>
              <a:buNone/>
              <a:defRPr sz="11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100"/>
              <a:buFont typeface="Twentieth Century"/>
              <a:buNone/>
              <a:defRPr sz="11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54"/>
          <p:cNvSpPr txBox="1">
            <a:spLocks noGrp="1"/>
          </p:cNvSpPr>
          <p:nvPr>
            <p:ph type="title"/>
          </p:nvPr>
        </p:nvSpPr>
        <p:spPr>
          <a:xfrm>
            <a:off x="838200" y="29913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5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83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2200"/>
              <a:buAutoNum type="arabicPeriod"/>
              <a:defRPr>
                <a:solidFill>
                  <a:srgbClr val="151515"/>
                </a:solidFill>
              </a:defRPr>
            </a:lvl1pPr>
            <a:lvl2pPr marL="914400" lvl="1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2200"/>
              <a:buAutoNum type="alphaLcPeriod"/>
              <a:defRPr>
                <a:solidFill>
                  <a:srgbClr val="151515"/>
                </a:solidFill>
              </a:defRPr>
            </a:lvl2pPr>
            <a:lvl3pPr marL="1371600" lvl="2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2200"/>
              <a:buChar char="•"/>
              <a:defRPr>
                <a:solidFill>
                  <a:srgbClr val="151515"/>
                </a:solidFill>
              </a:defRPr>
            </a:lvl3pPr>
            <a:lvl4pPr marL="1828800" lvl="3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2200"/>
              <a:buChar char="•"/>
              <a:defRPr>
                <a:solidFill>
                  <a:srgbClr val="151515"/>
                </a:solidFill>
              </a:defRPr>
            </a:lvl4pPr>
            <a:lvl5pPr marL="2286000" lvl="4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2200"/>
              <a:buChar char="•"/>
              <a:defRPr>
                <a:solidFill>
                  <a:srgbClr val="151515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2" name="Google Shape;182;p54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83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2200"/>
              <a:buAutoNum type="arabicPeriod"/>
              <a:defRPr>
                <a:solidFill>
                  <a:srgbClr val="151515"/>
                </a:solidFill>
              </a:defRPr>
            </a:lvl1pPr>
            <a:lvl2pPr marL="914400" lvl="1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2200"/>
              <a:buAutoNum type="alphaLcPeriod"/>
              <a:defRPr>
                <a:solidFill>
                  <a:srgbClr val="151515"/>
                </a:solidFill>
              </a:defRPr>
            </a:lvl2pPr>
            <a:lvl3pPr marL="1371600" lvl="2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2200"/>
              <a:buChar char="•"/>
              <a:defRPr>
                <a:solidFill>
                  <a:srgbClr val="151515"/>
                </a:solidFill>
              </a:defRPr>
            </a:lvl3pPr>
            <a:lvl4pPr marL="1828800" lvl="3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2200"/>
              <a:buChar char="•"/>
              <a:defRPr>
                <a:solidFill>
                  <a:srgbClr val="151515"/>
                </a:solidFill>
              </a:defRPr>
            </a:lvl4pPr>
            <a:lvl5pPr marL="2286000" lvl="4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2200"/>
              <a:buChar char="•"/>
              <a:defRPr>
                <a:solidFill>
                  <a:srgbClr val="151515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3" name="Google Shape;183;p5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55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6" name="Google Shape;186;p55"/>
          <p:cNvSpPr txBox="1">
            <a:spLocks noGrp="1"/>
          </p:cNvSpPr>
          <p:nvPr>
            <p:ph type="body" idx="1"/>
          </p:nvPr>
        </p:nvSpPr>
        <p:spPr>
          <a:xfrm>
            <a:off x="839788" y="1772239"/>
            <a:ext cx="5157787" cy="65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E60AC"/>
              </a:buClr>
              <a:buSzPts val="2800"/>
              <a:buNone/>
              <a:defRPr sz="2800" b="1">
                <a:solidFill>
                  <a:srgbClr val="0E60AC"/>
                </a:solidFill>
              </a:defRPr>
            </a:lvl1pPr>
            <a:lvl2pPr marL="914400" lvl="1" indent="-228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2000"/>
              <a:buNone/>
              <a:defRPr sz="2000" b="1"/>
            </a:lvl2pPr>
            <a:lvl3pPr marL="1371600" lvl="2" indent="-228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1800"/>
              <a:buNone/>
              <a:defRPr sz="1800" b="1"/>
            </a:lvl3pPr>
            <a:lvl4pPr marL="1828800" lvl="3" indent="-228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1600"/>
              <a:buNone/>
              <a:defRPr sz="1600" b="1"/>
            </a:lvl4pPr>
            <a:lvl5pPr marL="2286000" lvl="4" indent="-228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87" name="Google Shape;187;p55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83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2200"/>
              <a:buAutoNum type="arabicPeriod"/>
              <a:defRPr>
                <a:solidFill>
                  <a:srgbClr val="151515"/>
                </a:solidFill>
              </a:defRPr>
            </a:lvl1pPr>
            <a:lvl2pPr marL="914400" lvl="1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2200"/>
              <a:buAutoNum type="alphaLcPeriod"/>
              <a:defRPr>
                <a:solidFill>
                  <a:srgbClr val="151515"/>
                </a:solidFill>
              </a:defRPr>
            </a:lvl2pPr>
            <a:lvl3pPr marL="1371600" lvl="2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2200"/>
              <a:buChar char="•"/>
              <a:defRPr>
                <a:solidFill>
                  <a:srgbClr val="151515"/>
                </a:solidFill>
              </a:defRPr>
            </a:lvl3pPr>
            <a:lvl4pPr marL="1828800" lvl="3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2200"/>
              <a:buChar char="•"/>
              <a:defRPr>
                <a:solidFill>
                  <a:srgbClr val="151515"/>
                </a:solidFill>
              </a:defRPr>
            </a:lvl4pPr>
            <a:lvl5pPr marL="2286000" lvl="4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2200"/>
              <a:buChar char="•"/>
              <a:defRPr>
                <a:solidFill>
                  <a:srgbClr val="151515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8" name="Google Shape;188;p55"/>
          <p:cNvSpPr txBox="1">
            <a:spLocks noGrp="1"/>
          </p:cNvSpPr>
          <p:nvPr>
            <p:ph type="body" idx="3"/>
          </p:nvPr>
        </p:nvSpPr>
        <p:spPr>
          <a:xfrm>
            <a:off x="6172200" y="1772239"/>
            <a:ext cx="5183188" cy="65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E60AC"/>
              </a:buClr>
              <a:buSzPts val="2800"/>
              <a:buNone/>
              <a:defRPr sz="2800" b="1">
                <a:solidFill>
                  <a:srgbClr val="0E60AC"/>
                </a:solidFill>
              </a:defRPr>
            </a:lvl1pPr>
            <a:lvl2pPr marL="914400" lvl="1" indent="-228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2000"/>
              <a:buNone/>
              <a:defRPr sz="2000" b="1"/>
            </a:lvl2pPr>
            <a:lvl3pPr marL="1371600" lvl="2" indent="-228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1800"/>
              <a:buNone/>
              <a:defRPr sz="1800" b="1"/>
            </a:lvl3pPr>
            <a:lvl4pPr marL="1828800" lvl="3" indent="-228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1600"/>
              <a:buNone/>
              <a:defRPr sz="1600" b="1"/>
            </a:lvl4pPr>
            <a:lvl5pPr marL="2286000" lvl="4" indent="-228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89" name="Google Shape;189;p55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83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2200"/>
              <a:buAutoNum type="arabicPeriod"/>
              <a:defRPr>
                <a:solidFill>
                  <a:srgbClr val="151515"/>
                </a:solidFill>
              </a:defRPr>
            </a:lvl1pPr>
            <a:lvl2pPr marL="914400" lvl="1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2200"/>
              <a:buAutoNum type="alphaLcPeriod"/>
              <a:defRPr>
                <a:solidFill>
                  <a:srgbClr val="151515"/>
                </a:solidFill>
              </a:defRPr>
            </a:lvl2pPr>
            <a:lvl3pPr marL="1371600" lvl="2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2200"/>
              <a:buChar char="•"/>
              <a:defRPr>
                <a:solidFill>
                  <a:srgbClr val="151515"/>
                </a:solidFill>
              </a:defRPr>
            </a:lvl3pPr>
            <a:lvl4pPr marL="1828800" lvl="3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2200"/>
              <a:buChar char="•"/>
              <a:defRPr>
                <a:solidFill>
                  <a:srgbClr val="151515"/>
                </a:solidFill>
              </a:defRPr>
            </a:lvl4pPr>
            <a:lvl5pPr marL="2286000" lvl="4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2200"/>
              <a:buChar char="•"/>
              <a:defRPr>
                <a:solidFill>
                  <a:srgbClr val="151515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0" name="Google Shape;190;p5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/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/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/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/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/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/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/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/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 2">
  <p:cSld name="Picture with Caption 2"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56"/>
          <p:cNvSpPr/>
          <p:nvPr/>
        </p:nvSpPr>
        <p:spPr>
          <a:xfrm>
            <a:off x="0" y="0"/>
            <a:ext cx="4873658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93" name="Google Shape;193;p56"/>
          <p:cNvSpPr/>
          <p:nvPr/>
        </p:nvSpPr>
        <p:spPr>
          <a:xfrm>
            <a:off x="1061967" y="466091"/>
            <a:ext cx="4066216" cy="284304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94" name="Google Shape;194;p56"/>
          <p:cNvSpPr>
            <a:spLocks noGrp="1"/>
          </p:cNvSpPr>
          <p:nvPr>
            <p:ph type="pic" idx="2"/>
          </p:nvPr>
        </p:nvSpPr>
        <p:spPr>
          <a:xfrm>
            <a:off x="1135825" y="526915"/>
            <a:ext cx="3918815" cy="2710584"/>
          </a:xfrm>
          <a:prstGeom prst="rect">
            <a:avLst/>
          </a:prstGeom>
          <a:noFill/>
          <a:ln>
            <a:noFill/>
          </a:ln>
        </p:spPr>
      </p:sp>
      <p:sp>
        <p:nvSpPr>
          <p:cNvPr id="195" name="Google Shape;195;p5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56"/>
          <p:cNvSpPr txBox="1">
            <a:spLocks noGrp="1"/>
          </p:cNvSpPr>
          <p:nvPr>
            <p:ph type="title"/>
          </p:nvPr>
        </p:nvSpPr>
        <p:spPr>
          <a:xfrm>
            <a:off x="5817139" y="867524"/>
            <a:ext cx="4740881" cy="1218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3200"/>
              <a:buFont typeface="Twentieth Century"/>
              <a:buNone/>
              <a:defRPr sz="3200">
                <a:solidFill>
                  <a:srgbClr val="0E60A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7" name="Google Shape;197;p56"/>
          <p:cNvSpPr txBox="1">
            <a:spLocks noGrp="1"/>
          </p:cNvSpPr>
          <p:nvPr>
            <p:ph type="body" idx="1"/>
          </p:nvPr>
        </p:nvSpPr>
        <p:spPr>
          <a:xfrm>
            <a:off x="5817139" y="2245386"/>
            <a:ext cx="4740881" cy="3643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2000"/>
              <a:buNone/>
              <a:defRPr sz="2000">
                <a:solidFill>
                  <a:srgbClr val="151515"/>
                </a:solidFill>
              </a:defRPr>
            </a:lvl1pPr>
            <a:lvl2pPr marL="914400" lvl="1" indent="-228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1400"/>
              <a:buNone/>
              <a:defRPr sz="1400"/>
            </a:lvl2pPr>
            <a:lvl3pPr marL="1371600" lvl="2" indent="-228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1200"/>
              <a:buNone/>
              <a:defRPr sz="1200"/>
            </a:lvl3pPr>
            <a:lvl4pPr marL="1828800" lvl="3" indent="-228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1000"/>
              <a:buNone/>
              <a:defRPr sz="1000"/>
            </a:lvl4pPr>
            <a:lvl5pPr marL="2286000" lvl="4" indent="-2286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98" name="Google Shape;198;p56"/>
          <p:cNvSpPr/>
          <p:nvPr/>
        </p:nvSpPr>
        <p:spPr>
          <a:xfrm>
            <a:off x="1061967" y="3560439"/>
            <a:ext cx="4066216" cy="284304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99" name="Google Shape;199;p56"/>
          <p:cNvSpPr>
            <a:spLocks noGrp="1"/>
          </p:cNvSpPr>
          <p:nvPr>
            <p:ph type="pic" idx="3"/>
          </p:nvPr>
        </p:nvSpPr>
        <p:spPr>
          <a:xfrm>
            <a:off x="1135825" y="3621263"/>
            <a:ext cx="3918815" cy="2710584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Uraian Materi">
  <p:cSld name="Slide Uraian Materi"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57"/>
          <p:cNvSpPr txBox="1">
            <a:spLocks noGrp="1"/>
          </p:cNvSpPr>
          <p:nvPr>
            <p:ph type="title"/>
          </p:nvPr>
        </p:nvSpPr>
        <p:spPr>
          <a:xfrm>
            <a:off x="838200" y="640080"/>
            <a:ext cx="10515600" cy="984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2" name="Google Shape;202;p5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/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/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/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/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/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/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/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/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57"/>
          <p:cNvSpPr txBox="1">
            <a:spLocks noGrp="1"/>
          </p:cNvSpPr>
          <p:nvPr>
            <p:ph type="body" idx="1"/>
          </p:nvPr>
        </p:nvSpPr>
        <p:spPr>
          <a:xfrm>
            <a:off x="838200" y="175963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83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2200"/>
              <a:buAutoNum type="arabicPeriod"/>
              <a:defRPr>
                <a:solidFill>
                  <a:srgbClr val="151515"/>
                </a:solidFill>
              </a:defRPr>
            </a:lvl1pPr>
            <a:lvl2pPr marL="914400" lvl="1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2200"/>
              <a:buAutoNum type="alphaLcPeriod"/>
              <a:defRPr>
                <a:solidFill>
                  <a:srgbClr val="151515"/>
                </a:solidFill>
              </a:defRPr>
            </a:lvl2pPr>
            <a:lvl3pPr marL="1371600" lvl="2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2200"/>
              <a:buChar char="•"/>
              <a:defRPr>
                <a:solidFill>
                  <a:srgbClr val="151515"/>
                </a:solidFill>
              </a:defRPr>
            </a:lvl3pPr>
            <a:lvl4pPr marL="1828800" lvl="3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2200"/>
              <a:buChar char="•"/>
              <a:defRPr>
                <a:solidFill>
                  <a:srgbClr val="151515"/>
                </a:solidFill>
              </a:defRPr>
            </a:lvl4pPr>
            <a:lvl5pPr marL="2286000" lvl="4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2200"/>
              <a:buChar char="•"/>
              <a:defRPr>
                <a:solidFill>
                  <a:srgbClr val="151515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 3">
  <p:cSld name="Picture with Caption 3"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58"/>
          <p:cNvSpPr>
            <a:spLocks noGrp="1"/>
          </p:cNvSpPr>
          <p:nvPr>
            <p:ph type="pic" idx="2"/>
          </p:nvPr>
        </p:nvSpPr>
        <p:spPr>
          <a:xfrm>
            <a:off x="770701" y="1491242"/>
            <a:ext cx="3356431" cy="3405612"/>
          </a:xfrm>
          <a:prstGeom prst="rect">
            <a:avLst/>
          </a:prstGeom>
          <a:noFill/>
          <a:ln>
            <a:noFill/>
          </a:ln>
        </p:spPr>
      </p:sp>
      <p:sp>
        <p:nvSpPr>
          <p:cNvPr id="206" name="Google Shape;206;p5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58"/>
          <p:cNvSpPr txBox="1">
            <a:spLocks noGrp="1"/>
          </p:cNvSpPr>
          <p:nvPr>
            <p:ph type="title"/>
          </p:nvPr>
        </p:nvSpPr>
        <p:spPr>
          <a:xfrm>
            <a:off x="770701" y="605658"/>
            <a:ext cx="10851171" cy="701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8" name="Google Shape;208;p58"/>
          <p:cNvSpPr>
            <a:spLocks noGrp="1"/>
          </p:cNvSpPr>
          <p:nvPr>
            <p:ph type="pic" idx="3"/>
          </p:nvPr>
        </p:nvSpPr>
        <p:spPr>
          <a:xfrm>
            <a:off x="4518071" y="1491242"/>
            <a:ext cx="3356431" cy="3405612"/>
          </a:xfrm>
          <a:prstGeom prst="rect">
            <a:avLst/>
          </a:prstGeom>
          <a:noFill/>
          <a:ln>
            <a:noFill/>
          </a:ln>
        </p:spPr>
      </p:sp>
      <p:sp>
        <p:nvSpPr>
          <p:cNvPr id="209" name="Google Shape;209;p58"/>
          <p:cNvSpPr>
            <a:spLocks noGrp="1"/>
          </p:cNvSpPr>
          <p:nvPr>
            <p:ph type="pic" idx="4"/>
          </p:nvPr>
        </p:nvSpPr>
        <p:spPr>
          <a:xfrm>
            <a:off x="8265441" y="1491242"/>
            <a:ext cx="3356431" cy="3405612"/>
          </a:xfrm>
          <a:prstGeom prst="rect">
            <a:avLst/>
          </a:prstGeom>
          <a:noFill/>
          <a:ln>
            <a:noFill/>
          </a:ln>
        </p:spPr>
      </p:sp>
      <p:sp>
        <p:nvSpPr>
          <p:cNvPr id="210" name="Google Shape;210;p58"/>
          <p:cNvSpPr txBox="1">
            <a:spLocks noGrp="1"/>
          </p:cNvSpPr>
          <p:nvPr>
            <p:ph type="body" idx="1"/>
          </p:nvPr>
        </p:nvSpPr>
        <p:spPr>
          <a:xfrm>
            <a:off x="770700" y="5080981"/>
            <a:ext cx="3356432" cy="10464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2000"/>
              <a:buNone/>
              <a:defRPr sz="2000" b="0">
                <a:solidFill>
                  <a:srgbClr val="151515"/>
                </a:solidFill>
              </a:defRPr>
            </a:lvl1pPr>
            <a:lvl2pPr marL="914400" lvl="1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1800"/>
              <a:buAutoNum type="alphaLcPeriod"/>
              <a:defRPr/>
            </a:lvl2pPr>
            <a:lvl3pPr marL="1371600" lvl="2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1800"/>
              <a:buChar char="•"/>
              <a:defRPr/>
            </a:lvl3pPr>
            <a:lvl4pPr marL="1828800" lvl="3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1800"/>
              <a:buChar char="•"/>
              <a:defRPr/>
            </a:lvl4pPr>
            <a:lvl5pPr marL="2286000" lvl="4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1" name="Google Shape;211;p58"/>
          <p:cNvSpPr txBox="1">
            <a:spLocks noGrp="1"/>
          </p:cNvSpPr>
          <p:nvPr>
            <p:ph type="body" idx="5"/>
          </p:nvPr>
        </p:nvSpPr>
        <p:spPr>
          <a:xfrm>
            <a:off x="4518071" y="5080981"/>
            <a:ext cx="3356432" cy="10464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2000"/>
              <a:buNone/>
              <a:defRPr sz="2000" b="0">
                <a:solidFill>
                  <a:srgbClr val="151515"/>
                </a:solidFill>
              </a:defRPr>
            </a:lvl1pPr>
            <a:lvl2pPr marL="914400" lvl="1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1800"/>
              <a:buAutoNum type="alphaLcPeriod"/>
              <a:defRPr/>
            </a:lvl2pPr>
            <a:lvl3pPr marL="1371600" lvl="2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1800"/>
              <a:buChar char="•"/>
              <a:defRPr/>
            </a:lvl3pPr>
            <a:lvl4pPr marL="1828800" lvl="3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1800"/>
              <a:buChar char="•"/>
              <a:defRPr/>
            </a:lvl4pPr>
            <a:lvl5pPr marL="2286000" lvl="4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2" name="Google Shape;212;p58"/>
          <p:cNvSpPr txBox="1">
            <a:spLocks noGrp="1"/>
          </p:cNvSpPr>
          <p:nvPr>
            <p:ph type="body" idx="6"/>
          </p:nvPr>
        </p:nvSpPr>
        <p:spPr>
          <a:xfrm>
            <a:off x="8265441" y="5080981"/>
            <a:ext cx="3356432" cy="10464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2000"/>
              <a:buNone/>
              <a:defRPr sz="2000" b="0">
                <a:solidFill>
                  <a:srgbClr val="151515"/>
                </a:solidFill>
              </a:defRPr>
            </a:lvl1pPr>
            <a:lvl2pPr marL="914400" lvl="1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1800"/>
              <a:buAutoNum type="alphaLcPeriod"/>
              <a:defRPr/>
            </a:lvl2pPr>
            <a:lvl3pPr marL="1371600" lvl="2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1800"/>
              <a:buChar char="•"/>
              <a:defRPr/>
            </a:lvl3pPr>
            <a:lvl4pPr marL="1828800" lvl="3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1800"/>
              <a:buChar char="•"/>
              <a:defRPr/>
            </a:lvl4pPr>
            <a:lvl5pPr marL="2286000" lvl="4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 4">
  <p:cSld name="Picture with Caption 4"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59"/>
          <p:cNvSpPr>
            <a:spLocks noGrp="1"/>
          </p:cNvSpPr>
          <p:nvPr>
            <p:ph type="pic" idx="2"/>
          </p:nvPr>
        </p:nvSpPr>
        <p:spPr>
          <a:xfrm>
            <a:off x="1930198" y="688159"/>
            <a:ext cx="8495847" cy="3909440"/>
          </a:xfrm>
          <a:prstGeom prst="rect">
            <a:avLst/>
          </a:prstGeom>
          <a:noFill/>
          <a:ln>
            <a:noFill/>
          </a:ln>
        </p:spPr>
      </p:sp>
      <p:sp>
        <p:nvSpPr>
          <p:cNvPr id="215" name="Google Shape;215;p5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59"/>
          <p:cNvSpPr txBox="1">
            <a:spLocks noGrp="1"/>
          </p:cNvSpPr>
          <p:nvPr>
            <p:ph type="body" idx="1"/>
          </p:nvPr>
        </p:nvSpPr>
        <p:spPr>
          <a:xfrm>
            <a:off x="1930197" y="4751111"/>
            <a:ext cx="8495850" cy="1451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2000"/>
              <a:buNone/>
              <a:defRPr sz="2000" b="0">
                <a:solidFill>
                  <a:srgbClr val="151515"/>
                </a:solidFill>
              </a:defRPr>
            </a:lvl1pPr>
            <a:lvl2pPr marL="914400" lvl="1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1800"/>
              <a:buAutoNum type="alphaLcPeriod"/>
              <a:defRPr/>
            </a:lvl2pPr>
            <a:lvl3pPr marL="1371600" lvl="2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1800"/>
              <a:buChar char="•"/>
              <a:defRPr/>
            </a:lvl3pPr>
            <a:lvl4pPr marL="1828800" lvl="3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1800"/>
              <a:buChar char="•"/>
              <a:defRPr/>
            </a:lvl4pPr>
            <a:lvl5pPr marL="2286000" lvl="4" indent="-3429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sert Video">
  <p:cSld name="Insert Video"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60"/>
          <p:cNvSpPr txBox="1">
            <a:spLocks noGrp="1"/>
          </p:cNvSpPr>
          <p:nvPr>
            <p:ph type="title"/>
          </p:nvPr>
        </p:nvSpPr>
        <p:spPr>
          <a:xfrm>
            <a:off x="1576887" y="404617"/>
            <a:ext cx="9184670" cy="701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9" name="Google Shape;219;p60"/>
          <p:cNvSpPr>
            <a:spLocks noGrp="1"/>
          </p:cNvSpPr>
          <p:nvPr>
            <p:ph type="media" idx="2"/>
          </p:nvPr>
        </p:nvSpPr>
        <p:spPr>
          <a:xfrm>
            <a:off x="1576887" y="1319017"/>
            <a:ext cx="9184670" cy="51663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2200"/>
              <a:buFont typeface="Twentieth Century"/>
              <a:buNone/>
              <a:defRPr sz="2200" b="0" i="0" u="none" strike="noStrike" cap="none">
                <a:solidFill>
                  <a:srgbClr val="15151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R="0" lvl="1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2200"/>
              <a:buFont typeface="Twentieth Century"/>
              <a:buAutoNum type="alphaLcPeriod"/>
              <a:defRPr sz="2200" b="0" i="0" u="none" strike="noStrike" cap="none">
                <a:solidFill>
                  <a:srgbClr val="15151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R="0" lvl="2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rgbClr val="15151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R="0" lvl="3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rgbClr val="15151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R="0" lvl="4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rgbClr val="15151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6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tihan">
  <p:cSld name="Latihan"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62"/>
          <p:cNvSpPr/>
          <p:nvPr/>
        </p:nvSpPr>
        <p:spPr>
          <a:xfrm>
            <a:off x="1282045" y="716437"/>
            <a:ext cx="5555504" cy="518474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24" name="Google Shape;224;p62"/>
          <p:cNvSpPr txBox="1">
            <a:spLocks noGrp="1"/>
          </p:cNvSpPr>
          <p:nvPr>
            <p:ph type="body" idx="1"/>
          </p:nvPr>
        </p:nvSpPr>
        <p:spPr>
          <a:xfrm>
            <a:off x="838200" y="175963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83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2200"/>
              <a:buAutoNum type="arabicPeriod"/>
              <a:defRPr>
                <a:solidFill>
                  <a:srgbClr val="151515"/>
                </a:solidFill>
              </a:defRPr>
            </a:lvl1pPr>
            <a:lvl2pPr marL="914400" lvl="1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2200"/>
              <a:buAutoNum type="alphaLcPeriod"/>
              <a:defRPr>
                <a:solidFill>
                  <a:srgbClr val="151515"/>
                </a:solidFill>
              </a:defRPr>
            </a:lvl2pPr>
            <a:lvl3pPr marL="1371600" lvl="2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2200"/>
              <a:buChar char="•"/>
              <a:defRPr>
                <a:solidFill>
                  <a:srgbClr val="151515"/>
                </a:solidFill>
              </a:defRPr>
            </a:lvl3pPr>
            <a:lvl4pPr marL="1828800" lvl="3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2200"/>
              <a:buChar char="•"/>
              <a:defRPr>
                <a:solidFill>
                  <a:srgbClr val="151515"/>
                </a:solidFill>
              </a:defRPr>
            </a:lvl4pPr>
            <a:lvl5pPr marL="2286000" lvl="4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2200"/>
              <a:buChar char="•"/>
              <a:defRPr>
                <a:solidFill>
                  <a:srgbClr val="151515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5" name="Google Shape;225;p6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62"/>
          <p:cNvSpPr/>
          <p:nvPr/>
        </p:nvSpPr>
        <p:spPr>
          <a:xfrm>
            <a:off x="838200" y="584453"/>
            <a:ext cx="754930" cy="75493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27" name="Google Shape;227;p62"/>
          <p:cNvSpPr/>
          <p:nvPr/>
        </p:nvSpPr>
        <p:spPr>
          <a:xfrm>
            <a:off x="1654410" y="569942"/>
            <a:ext cx="1923988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Latihan</a:t>
            </a:r>
            <a:endParaRPr sz="4400" b="1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228" name="Google Shape;228;p6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17419" y="581911"/>
            <a:ext cx="650450" cy="745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aftar Pustaka">
  <p:cSld name="Daftar Pustaka"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63"/>
          <p:cNvSpPr/>
          <p:nvPr/>
        </p:nvSpPr>
        <p:spPr>
          <a:xfrm>
            <a:off x="1282045" y="716437"/>
            <a:ext cx="5555504" cy="518474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31" name="Google Shape;231;p63"/>
          <p:cNvSpPr txBox="1">
            <a:spLocks noGrp="1"/>
          </p:cNvSpPr>
          <p:nvPr>
            <p:ph type="body" idx="1"/>
          </p:nvPr>
        </p:nvSpPr>
        <p:spPr>
          <a:xfrm>
            <a:off x="838200" y="175963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830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2200"/>
              <a:buAutoNum type="arabicPeriod"/>
              <a:defRPr>
                <a:solidFill>
                  <a:srgbClr val="151515"/>
                </a:solidFill>
              </a:defRPr>
            </a:lvl1pPr>
            <a:lvl2pPr marL="914400" lvl="1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2200"/>
              <a:buAutoNum type="alphaLcPeriod"/>
              <a:defRPr>
                <a:solidFill>
                  <a:srgbClr val="151515"/>
                </a:solidFill>
              </a:defRPr>
            </a:lvl2pPr>
            <a:lvl3pPr marL="1371600" lvl="2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2200"/>
              <a:buChar char="•"/>
              <a:defRPr>
                <a:solidFill>
                  <a:srgbClr val="151515"/>
                </a:solidFill>
              </a:defRPr>
            </a:lvl3pPr>
            <a:lvl4pPr marL="1828800" lvl="3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2200"/>
              <a:buChar char="•"/>
              <a:defRPr>
                <a:solidFill>
                  <a:srgbClr val="151515"/>
                </a:solidFill>
              </a:defRPr>
            </a:lvl4pPr>
            <a:lvl5pPr marL="2286000" lvl="4" indent="-36830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2200"/>
              <a:buChar char="•"/>
              <a:defRPr>
                <a:solidFill>
                  <a:srgbClr val="151515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2" name="Google Shape;232;p6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63"/>
          <p:cNvSpPr/>
          <p:nvPr/>
        </p:nvSpPr>
        <p:spPr>
          <a:xfrm>
            <a:off x="838200" y="584453"/>
            <a:ext cx="754930" cy="75493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34" name="Google Shape;234;p63"/>
          <p:cNvSpPr/>
          <p:nvPr/>
        </p:nvSpPr>
        <p:spPr>
          <a:xfrm>
            <a:off x="1654410" y="569942"/>
            <a:ext cx="3640740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Daftar Pustaka</a:t>
            </a:r>
            <a:endParaRPr sz="4400" b="1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235" name="Google Shape;235;p6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017" y="661014"/>
            <a:ext cx="606720" cy="6293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osen Pengamp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3641036" cy="6858000"/>
          </a:xfrm>
          <a:prstGeom prst="rect">
            <a:avLst/>
          </a:prstGeom>
          <a:solidFill>
            <a:srgbClr val="EB70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 hasCustomPrompt="1"/>
          </p:nvPr>
        </p:nvSpPr>
        <p:spPr>
          <a:xfrm>
            <a:off x="1745563" y="1842892"/>
            <a:ext cx="3063907" cy="3063908"/>
          </a:xfrm>
          <a:prstGeom prst="ellipse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2800" baseline="0"/>
            </a:lvl1pPr>
          </a:lstStyle>
          <a:p>
            <a:r>
              <a:rPr lang="en-US" dirty="0" err="1"/>
              <a:t>Foto</a:t>
            </a:r>
            <a:r>
              <a:rPr lang="en-US" dirty="0"/>
              <a:t> </a:t>
            </a:r>
            <a:r>
              <a:rPr lang="en-US" dirty="0" err="1"/>
              <a:t>Dosen</a:t>
            </a:r>
            <a:endParaRPr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5154979" y="2275496"/>
            <a:ext cx="6198821" cy="406777"/>
          </a:xfrm>
        </p:spPr>
        <p:txBody>
          <a:bodyPr/>
          <a:lstStyle>
            <a:lvl1pPr marL="0" indent="0">
              <a:buNone/>
              <a:defRPr b="1" baseline="0">
                <a:solidFill>
                  <a:srgbClr val="0E60AC"/>
                </a:solidFill>
              </a:defRPr>
            </a:lvl1pPr>
          </a:lstStyle>
          <a:p>
            <a:pPr lvl="0"/>
            <a:r>
              <a:rPr lang="en-US" dirty="0"/>
              <a:t>Nama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Gelar</a:t>
            </a:r>
            <a:r>
              <a:rPr lang="en-US" dirty="0"/>
              <a:t> </a:t>
            </a:r>
            <a:r>
              <a:rPr lang="en-US" dirty="0" err="1"/>
              <a:t>Dosen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14" name="Title 1"/>
          <p:cNvSpPr txBox="1">
            <a:spLocks/>
          </p:cNvSpPr>
          <p:nvPr userDrawn="1"/>
        </p:nvSpPr>
        <p:spPr>
          <a:xfrm>
            <a:off x="5164108" y="1988095"/>
            <a:ext cx="3127989" cy="2736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accent5">
                    <a:lumMod val="10000"/>
                  </a:schemeClr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r>
              <a:rPr lang="en-US" sz="2000" dirty="0" err="1"/>
              <a:t>Dosen</a:t>
            </a:r>
            <a:r>
              <a:rPr lang="en-US" sz="2000" dirty="0"/>
              <a:t> </a:t>
            </a:r>
            <a:r>
              <a:rPr lang="en-US" sz="2000" dirty="0" err="1"/>
              <a:t>Koordinator</a:t>
            </a:r>
            <a:r>
              <a:rPr lang="en-US" sz="2000" dirty="0"/>
              <a:t>:</a:t>
            </a:r>
          </a:p>
        </p:txBody>
      </p:sp>
      <p:sp>
        <p:nvSpPr>
          <p:cNvPr id="15" name="Text Placeholder 12"/>
          <p:cNvSpPr>
            <a:spLocks noGrp="1"/>
          </p:cNvSpPr>
          <p:nvPr>
            <p:ph type="body" sz="quarter" idx="15" hasCustomPrompt="1"/>
          </p:nvPr>
        </p:nvSpPr>
        <p:spPr>
          <a:xfrm>
            <a:off x="5154979" y="3176643"/>
            <a:ext cx="6198821" cy="406777"/>
          </a:xfrm>
        </p:spPr>
        <p:txBody>
          <a:bodyPr/>
          <a:lstStyle>
            <a:lvl1pPr marL="0" indent="0">
              <a:buNone/>
              <a:defRPr b="1" baseline="0">
                <a:solidFill>
                  <a:srgbClr val="0E60AC"/>
                </a:solidFill>
              </a:defRPr>
            </a:lvl1pPr>
          </a:lstStyle>
          <a:p>
            <a:pPr lvl="0"/>
            <a:r>
              <a:rPr lang="en-US" dirty="0"/>
              <a:t>NID</a:t>
            </a:r>
          </a:p>
        </p:txBody>
      </p:sp>
      <p:sp>
        <p:nvSpPr>
          <p:cNvPr id="16" name="Title 1"/>
          <p:cNvSpPr txBox="1">
            <a:spLocks/>
          </p:cNvSpPr>
          <p:nvPr userDrawn="1"/>
        </p:nvSpPr>
        <p:spPr>
          <a:xfrm>
            <a:off x="5164108" y="2889242"/>
            <a:ext cx="3127989" cy="2736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accent5">
                    <a:lumMod val="10000"/>
                  </a:schemeClr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r>
              <a:rPr lang="en-US" sz="2000" dirty="0"/>
              <a:t>NID:</a:t>
            </a:r>
          </a:p>
        </p:txBody>
      </p:sp>
      <p:sp>
        <p:nvSpPr>
          <p:cNvPr id="17" name="Text Placeholder 12"/>
          <p:cNvSpPr>
            <a:spLocks noGrp="1"/>
          </p:cNvSpPr>
          <p:nvPr>
            <p:ph type="body" sz="quarter" idx="16" hasCustomPrompt="1"/>
          </p:nvPr>
        </p:nvSpPr>
        <p:spPr>
          <a:xfrm>
            <a:off x="5154979" y="4077790"/>
            <a:ext cx="6198821" cy="406777"/>
          </a:xfrm>
        </p:spPr>
        <p:txBody>
          <a:bodyPr/>
          <a:lstStyle>
            <a:lvl1pPr marL="0" indent="0">
              <a:buNone/>
              <a:defRPr b="1" baseline="0">
                <a:solidFill>
                  <a:srgbClr val="0E60AC"/>
                </a:solidFill>
              </a:defRPr>
            </a:lvl1pPr>
          </a:lstStyle>
          <a:p>
            <a:pPr lvl="0"/>
            <a:r>
              <a:rPr lang="en-US" dirty="0"/>
              <a:t>E-mail</a:t>
            </a:r>
          </a:p>
        </p:txBody>
      </p:sp>
      <p:sp>
        <p:nvSpPr>
          <p:cNvPr id="18" name="Title 1"/>
          <p:cNvSpPr txBox="1">
            <a:spLocks/>
          </p:cNvSpPr>
          <p:nvPr userDrawn="1"/>
        </p:nvSpPr>
        <p:spPr>
          <a:xfrm>
            <a:off x="5164108" y="3790389"/>
            <a:ext cx="3127989" cy="2736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0" kern="1200">
                <a:solidFill>
                  <a:schemeClr val="accent5">
                    <a:lumMod val="10000"/>
                  </a:schemeClr>
                </a:solidFill>
                <a:latin typeface="Tw Cen MT" panose="020B0602020104020603" pitchFamily="34" charset="0"/>
                <a:ea typeface="+mj-ea"/>
                <a:cs typeface="+mj-cs"/>
              </a:defRPr>
            </a:lvl1pPr>
          </a:lstStyle>
          <a:p>
            <a:r>
              <a:rPr lang="en-US" sz="2000" dirty="0"/>
              <a:t>E-mail:</a:t>
            </a:r>
          </a:p>
        </p:txBody>
      </p:sp>
      <p:grpSp>
        <p:nvGrpSpPr>
          <p:cNvPr id="11" name="Group 10"/>
          <p:cNvGrpSpPr/>
          <p:nvPr userDrawn="1"/>
        </p:nvGrpSpPr>
        <p:grpSpPr>
          <a:xfrm>
            <a:off x="98180" y="96425"/>
            <a:ext cx="1971606" cy="729735"/>
            <a:chOff x="648649" y="653143"/>
            <a:chExt cx="2138362" cy="791455"/>
          </a:xfrm>
        </p:grpSpPr>
        <p:sp>
          <p:nvSpPr>
            <p:cNvPr id="12" name="Rounded Rectangle 11"/>
            <p:cNvSpPr/>
            <p:nvPr userDrawn="1"/>
          </p:nvSpPr>
          <p:spPr>
            <a:xfrm>
              <a:off x="648649" y="653143"/>
              <a:ext cx="2138362" cy="791455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9" name="Picture 18"/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6017" b="18101"/>
            <a:stretch/>
          </p:blipFill>
          <p:spPr>
            <a:xfrm>
              <a:off x="702844" y="653143"/>
              <a:ext cx="2029972" cy="75303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14194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4873658" cy="6858000"/>
          </a:xfrm>
          <a:prstGeom prst="rect">
            <a:avLst/>
          </a:prstGeom>
          <a:solidFill>
            <a:srgbClr val="0E60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69929" y="886379"/>
            <a:ext cx="4888191" cy="502180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918477" y="886379"/>
            <a:ext cx="5280565" cy="1218156"/>
          </a:xfrm>
        </p:spPr>
        <p:txBody>
          <a:bodyPr anchor="t"/>
          <a:lstStyle>
            <a:lvl1pPr>
              <a:defRPr sz="3200">
                <a:solidFill>
                  <a:srgbClr val="0E60AC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2"/>
          </p:nvPr>
        </p:nvSpPr>
        <p:spPr>
          <a:xfrm>
            <a:off x="5918477" y="2264241"/>
            <a:ext cx="5280565" cy="3643945"/>
          </a:xfrm>
        </p:spPr>
        <p:txBody>
          <a:bodyPr>
            <a:normAutofit/>
          </a:bodyPr>
          <a:lstStyle>
            <a:lvl1pPr marL="0" indent="0" algn="just">
              <a:buNone/>
              <a:defRPr sz="2000">
                <a:solidFill>
                  <a:schemeClr val="accent5">
                    <a:lumMod val="2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71458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0" y="762000"/>
            <a:ext cx="10566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117601" y="2362201"/>
            <a:ext cx="5027084" cy="37242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47884" y="2362201"/>
            <a:ext cx="5027083" cy="37242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251201" y="6248401"/>
            <a:ext cx="2840567" cy="474663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7721600" y="6248401"/>
            <a:ext cx="3862917" cy="474663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2184" y="6242050"/>
            <a:ext cx="783167" cy="488950"/>
          </a:xfrm>
        </p:spPr>
        <p:txBody>
          <a:bodyPr/>
          <a:lstStyle>
            <a:lvl1pPr>
              <a:defRPr/>
            </a:lvl1pPr>
          </a:lstStyle>
          <a:p>
            <a:fld id="{A2537307-FAA2-4030-86FF-A6A8E17C404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0221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11" name="Google Shape;11;p35"/>
          <p:cNvPicPr preferRelativeResize="0"/>
          <p:nvPr/>
        </p:nvPicPr>
        <p:blipFill rotWithShape="1">
          <a:blip r:embed="rId31">
            <a:alphaModFix/>
          </a:blip>
          <a:srcRect/>
          <a:stretch/>
        </p:blipFill>
        <p:spPr>
          <a:xfrm>
            <a:off x="0" y="5470264"/>
            <a:ext cx="12110720" cy="140073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35"/>
          <p:cNvSpPr txBox="1">
            <a:spLocks noGrp="1"/>
          </p:cNvSpPr>
          <p:nvPr>
            <p:ph type="title"/>
          </p:nvPr>
        </p:nvSpPr>
        <p:spPr>
          <a:xfrm>
            <a:off x="838200" y="29913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3600"/>
              <a:buFont typeface="Twentieth Century"/>
              <a:buNone/>
              <a:defRPr sz="3600" b="1" i="0" u="none" strike="noStrike" cap="none">
                <a:solidFill>
                  <a:srgbClr val="0E60A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3" name="Google Shape;13;p35"/>
          <p:cNvSpPr txBox="1">
            <a:spLocks noGrp="1"/>
          </p:cNvSpPr>
          <p:nvPr>
            <p:ph type="body" idx="1"/>
          </p:nvPr>
        </p:nvSpPr>
        <p:spPr>
          <a:xfrm>
            <a:off x="838200" y="175963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83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2200"/>
              <a:buFont typeface="Twentieth Century"/>
              <a:buAutoNum type="arabicPeriod"/>
              <a:defRPr sz="2200" b="0" i="0" u="none" strike="noStrike" cap="none">
                <a:solidFill>
                  <a:srgbClr val="15151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914400" marR="0" lvl="1" indent="-3683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2200"/>
              <a:buFont typeface="Twentieth Century"/>
              <a:buAutoNum type="alphaLcPeriod"/>
              <a:defRPr sz="2200" b="0" i="0" u="none" strike="noStrike" cap="none">
                <a:solidFill>
                  <a:srgbClr val="15151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1371600" marR="0" lvl="2" indent="-3683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rgbClr val="15151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1828800" marR="0" lvl="3" indent="-3683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rgbClr val="15151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2286000" marR="0" lvl="4" indent="-36830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51515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rgbClr val="15151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endParaRPr/>
          </a:p>
        </p:txBody>
      </p:sp>
      <p:sp>
        <p:nvSpPr>
          <p:cNvPr id="14" name="Google Shape;14;p3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 b="0" i="0" u="none" strike="noStrike" cap="none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 b="0" i="0" u="none" strike="noStrike" cap="none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 b="0" i="0" u="none" strike="noStrike" cap="none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 b="0" i="0" u="none" strike="noStrike" cap="none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 b="0" i="0" u="none" strike="noStrike" cap="none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 b="0" i="0" u="none" strike="noStrike" cap="none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 b="0" i="0" u="none" strike="noStrike" cap="none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 b="0" i="0" u="none" strike="noStrike" cap="none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9CC5"/>
              </a:buClr>
              <a:buSzPts val="1200"/>
              <a:buFont typeface="Twentieth Century"/>
              <a:buNone/>
              <a:defRPr sz="1200" b="0" i="0" u="none" strike="noStrike" cap="none">
                <a:solidFill>
                  <a:srgbClr val="889CC5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" name="Google Shape;15;p35"/>
          <p:cNvGrpSpPr/>
          <p:nvPr/>
        </p:nvGrpSpPr>
        <p:grpSpPr>
          <a:xfrm>
            <a:off x="10071739" y="152987"/>
            <a:ext cx="1971606" cy="729735"/>
            <a:chOff x="648649" y="653143"/>
            <a:chExt cx="2138362" cy="791455"/>
          </a:xfrm>
        </p:grpSpPr>
        <p:sp>
          <p:nvSpPr>
            <p:cNvPr id="16" name="Google Shape;16;p35"/>
            <p:cNvSpPr/>
            <p:nvPr/>
          </p:nvSpPr>
          <p:spPr>
            <a:xfrm>
              <a:off x="648649" y="653143"/>
              <a:ext cx="2138362" cy="791455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endParaRPr>
            </a:p>
          </p:txBody>
        </p:sp>
        <p:pic>
          <p:nvPicPr>
            <p:cNvPr id="17" name="Google Shape;17;p35"/>
            <p:cNvPicPr preferRelativeResize="0"/>
            <p:nvPr/>
          </p:nvPicPr>
          <p:blipFill rotWithShape="1">
            <a:blip r:embed="rId32">
              <a:alphaModFix/>
            </a:blip>
            <a:srcRect t="16017" b="18101"/>
            <a:stretch/>
          </p:blipFill>
          <p:spPr>
            <a:xfrm>
              <a:off x="702844" y="653143"/>
              <a:ext cx="2029972" cy="75303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  <p:sldLayoutId id="2147483669" r:id="rId19"/>
    <p:sldLayoutId id="2147483670" r:id="rId20"/>
    <p:sldLayoutId id="2147483671" r:id="rId21"/>
    <p:sldLayoutId id="2147483672" r:id="rId22"/>
    <p:sldLayoutId id="2147483673" r:id="rId23"/>
    <p:sldLayoutId id="2147483674" r:id="rId24"/>
    <p:sldLayoutId id="2147483675" r:id="rId25"/>
    <p:sldLayoutId id="2147483676" r:id="rId26"/>
    <p:sldLayoutId id="2147483677" r:id="rId27"/>
    <p:sldLayoutId id="2147483678" r:id="rId28"/>
    <p:sldLayoutId id="2147483679" r:id="rId29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jpe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9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9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9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29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jpeg"/><Relationship Id="rId3" Type="http://schemas.openxmlformats.org/officeDocument/2006/relationships/image" Target="../media/image33.wmf"/><Relationship Id="rId7" Type="http://schemas.openxmlformats.org/officeDocument/2006/relationships/image" Target="../media/image35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9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34.wmf"/><Relationship Id="rId10" Type="http://schemas.openxmlformats.org/officeDocument/2006/relationships/image" Target="../media/image38.jpeg"/><Relationship Id="rId4" Type="http://schemas.openxmlformats.org/officeDocument/2006/relationships/oleObject" Target="../embeddings/oleObject2.bin"/><Relationship Id="rId9" Type="http://schemas.openxmlformats.org/officeDocument/2006/relationships/image" Target="../media/image37.jpe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1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"/>
          <p:cNvSpPr txBox="1">
            <a:spLocks noGrp="1"/>
          </p:cNvSpPr>
          <p:nvPr>
            <p:ph type="title"/>
          </p:nvPr>
        </p:nvSpPr>
        <p:spPr>
          <a:xfrm>
            <a:off x="588970" y="1773946"/>
            <a:ext cx="6869665" cy="2024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Twentieth Century"/>
              <a:buNone/>
            </a:pPr>
            <a:r>
              <a:rPr lang="en-US">
                <a:latin typeface="Twentieth Century"/>
                <a:ea typeface="Twentieth Century"/>
                <a:cs typeface="Twentieth Century"/>
                <a:sym typeface="Twentieth Century"/>
              </a:rPr>
              <a:t>Machine</a:t>
            </a:r>
            <a:br>
              <a:rPr lang="en-US">
                <a:latin typeface="Twentieth Century"/>
                <a:ea typeface="Twentieth Century"/>
                <a:cs typeface="Twentieth Century"/>
                <a:sym typeface="Twentieth Century"/>
              </a:rPr>
            </a:br>
            <a:r>
              <a:rPr lang="en-US">
                <a:latin typeface="Twentieth Century"/>
                <a:ea typeface="Twentieth Century"/>
                <a:cs typeface="Twentieth Century"/>
                <a:sym typeface="Twentieth Century"/>
              </a:rPr>
              <a:t>Learning</a:t>
            </a:r>
            <a:endParaRPr i="1"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41" name="Google Shape;241;p1"/>
          <p:cNvSpPr txBox="1">
            <a:spLocks noGrp="1"/>
          </p:cNvSpPr>
          <p:nvPr>
            <p:ph type="body" idx="1"/>
          </p:nvPr>
        </p:nvSpPr>
        <p:spPr>
          <a:xfrm>
            <a:off x="588970" y="4703142"/>
            <a:ext cx="6822483" cy="1212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68275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lang="en-US" b="1" dirty="0"/>
              <a:t>Supervised Learning: </a:t>
            </a:r>
            <a:endParaRPr b="1" dirty="0"/>
          </a:p>
          <a:p>
            <a:pPr marL="241300" lvl="0" indent="-7302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lang="en-US" b="1" dirty="0"/>
              <a:t>Neural Network (Deep Learning)</a:t>
            </a:r>
            <a:endParaRPr b="1" dirty="0"/>
          </a:p>
        </p:txBody>
      </p:sp>
      <p:sp>
        <p:nvSpPr>
          <p:cNvPr id="242" name="Google Shape;242;p1"/>
          <p:cNvSpPr txBox="1">
            <a:spLocks noGrp="1"/>
          </p:cNvSpPr>
          <p:nvPr>
            <p:ph type="body" idx="3"/>
          </p:nvPr>
        </p:nvSpPr>
        <p:spPr>
          <a:xfrm>
            <a:off x="588970" y="4198087"/>
            <a:ext cx="3642135" cy="425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2800"/>
              <a:buNone/>
            </a:pPr>
            <a:r>
              <a:rPr lang="en-US"/>
              <a:t>Sesi 8</a:t>
            </a:r>
            <a:endParaRPr/>
          </a:p>
        </p:txBody>
      </p:sp>
      <p:sp>
        <p:nvSpPr>
          <p:cNvPr id="243" name="Google Shape;243;p1"/>
          <p:cNvSpPr txBox="1">
            <a:spLocks noGrp="1"/>
          </p:cNvSpPr>
          <p:nvPr>
            <p:ph type="body" idx="4"/>
          </p:nvPr>
        </p:nvSpPr>
        <p:spPr>
          <a:xfrm>
            <a:off x="588969" y="1268891"/>
            <a:ext cx="3642135" cy="425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2800"/>
              <a:buNone/>
            </a:pPr>
            <a:r>
              <a:rPr lang="en-US"/>
              <a:t>CIE407</a:t>
            </a:r>
            <a:endParaRPr/>
          </a:p>
        </p:txBody>
      </p:sp>
      <p:pic>
        <p:nvPicPr>
          <p:cNvPr id="244" name="Google Shape;244;p1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26635" r="26636"/>
          <a:stretch/>
        </p:blipFill>
        <p:spPr>
          <a:xfrm flipH="1">
            <a:off x="7384744" y="0"/>
            <a:ext cx="4807256" cy="6858000"/>
          </a:xfrm>
          <a:prstGeom prst="flowChartDelay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5154979" y="2248625"/>
            <a:ext cx="6198821" cy="406777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Dr. Rahmat Budiarsa, </a:t>
            </a:r>
            <a:r>
              <a:rPr lang="en-US" dirty="0" err="1"/>
              <a:t>S.Kom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D49BF15-A3C7-8807-54BE-DD9F243DEA0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D"/>
              <a:t>rahmat.budiarsa@esaunggul.ac.id</a:t>
            </a:r>
          </a:p>
          <a:p>
            <a:endParaRPr lang="en-ID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55CCF90-E809-9E7D-836F-C4D3D4F3AFC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D" dirty="0"/>
              <a:t>8482</a:t>
            </a:r>
          </a:p>
          <a:p>
            <a:endParaRPr lang="en-ID" dirty="0"/>
          </a:p>
        </p:txBody>
      </p:sp>
      <p:pic>
        <p:nvPicPr>
          <p:cNvPr id="26" name="Picture Placeholder 25" descr="A person in a suit and tie&#10;&#10;AI-generated content may be incorrect.">
            <a:extLst>
              <a:ext uri="{FF2B5EF4-FFF2-40B4-BE49-F238E27FC236}">
                <a16:creationId xmlns:a16="http://schemas.microsoft.com/office/drawing/2014/main" id="{DE1D53B0-E00D-EA8D-1E4A-F8F7FAC420BB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08" b="2008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110284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"/>
          <p:cNvSpPr txBox="1">
            <a:spLocks noGrp="1"/>
          </p:cNvSpPr>
          <p:nvPr>
            <p:ph type="body" idx="1"/>
          </p:nvPr>
        </p:nvSpPr>
        <p:spPr>
          <a:xfrm>
            <a:off x="801277" y="2394950"/>
            <a:ext cx="2243579" cy="932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1600"/>
              <a:buNone/>
            </a:pPr>
            <a:r>
              <a:rPr lang="en-US"/>
              <a:t>Pengenalan Machine Learning</a:t>
            </a:r>
            <a:endParaRPr/>
          </a:p>
        </p:txBody>
      </p:sp>
      <p:sp>
        <p:nvSpPr>
          <p:cNvPr id="258" name="Google Shape;258;p3"/>
          <p:cNvSpPr txBox="1">
            <a:spLocks noGrp="1"/>
          </p:cNvSpPr>
          <p:nvPr>
            <p:ph type="body" idx="2"/>
          </p:nvPr>
        </p:nvSpPr>
        <p:spPr>
          <a:xfrm>
            <a:off x="3593182" y="2394950"/>
            <a:ext cx="2243579" cy="932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1600"/>
              <a:buNone/>
            </a:pPr>
            <a:r>
              <a:rPr lang="en-US"/>
              <a:t>Supervised Learning vs Unsupervised Learning</a:t>
            </a:r>
            <a:endParaRPr/>
          </a:p>
        </p:txBody>
      </p:sp>
      <p:sp>
        <p:nvSpPr>
          <p:cNvPr id="259" name="Google Shape;259;p3"/>
          <p:cNvSpPr txBox="1">
            <a:spLocks noGrp="1"/>
          </p:cNvSpPr>
          <p:nvPr>
            <p:ph type="body" idx="3"/>
          </p:nvPr>
        </p:nvSpPr>
        <p:spPr>
          <a:xfrm>
            <a:off x="6387656" y="2394950"/>
            <a:ext cx="2243579" cy="932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1600"/>
              <a:buNone/>
            </a:pPr>
            <a:r>
              <a:rPr lang="en-US"/>
              <a:t>Algoritma Supervised Learning</a:t>
            </a:r>
            <a:endParaRPr/>
          </a:p>
        </p:txBody>
      </p:sp>
      <p:sp>
        <p:nvSpPr>
          <p:cNvPr id="260" name="Google Shape;260;p3"/>
          <p:cNvSpPr txBox="1">
            <a:spLocks noGrp="1"/>
          </p:cNvSpPr>
          <p:nvPr>
            <p:ph type="body" idx="4"/>
          </p:nvPr>
        </p:nvSpPr>
        <p:spPr>
          <a:xfrm>
            <a:off x="9179561" y="2394950"/>
            <a:ext cx="2243579" cy="932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1600"/>
              <a:buNone/>
            </a:pPr>
            <a:r>
              <a:rPr lang="en-US" b="1"/>
              <a:t>Algoritma Unsupervised Learning</a:t>
            </a:r>
            <a:endParaRPr/>
          </a:p>
        </p:txBody>
      </p:sp>
      <p:sp>
        <p:nvSpPr>
          <p:cNvPr id="261" name="Google Shape;261;p3"/>
          <p:cNvSpPr txBox="1">
            <a:spLocks noGrp="1"/>
          </p:cNvSpPr>
          <p:nvPr>
            <p:ph type="body" idx="5"/>
          </p:nvPr>
        </p:nvSpPr>
        <p:spPr>
          <a:xfrm>
            <a:off x="801277" y="4266643"/>
            <a:ext cx="2243579" cy="932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1600"/>
              <a:buNone/>
            </a:pPr>
            <a:r>
              <a:rPr lang="en-US" b="1"/>
              <a:t>Supervised Learning: Classification dan Regresi</a:t>
            </a:r>
            <a:endParaRPr b="1"/>
          </a:p>
        </p:txBody>
      </p:sp>
      <p:sp>
        <p:nvSpPr>
          <p:cNvPr id="262" name="Google Shape;262;p3"/>
          <p:cNvSpPr txBox="1">
            <a:spLocks noGrp="1"/>
          </p:cNvSpPr>
          <p:nvPr>
            <p:ph type="body" idx="6"/>
          </p:nvPr>
        </p:nvSpPr>
        <p:spPr>
          <a:xfrm>
            <a:off x="3593182" y="4266643"/>
            <a:ext cx="2243579" cy="932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1600"/>
              <a:buNone/>
            </a:pPr>
            <a:r>
              <a:rPr lang="en-US"/>
              <a:t>Supervised Learning: Decision Tree (DT)</a:t>
            </a:r>
            <a:endParaRPr/>
          </a:p>
        </p:txBody>
      </p:sp>
      <p:sp>
        <p:nvSpPr>
          <p:cNvPr id="263" name="Google Shape;263;p3"/>
          <p:cNvSpPr txBox="1">
            <a:spLocks noGrp="1"/>
          </p:cNvSpPr>
          <p:nvPr>
            <p:ph type="body" idx="7"/>
          </p:nvPr>
        </p:nvSpPr>
        <p:spPr>
          <a:xfrm>
            <a:off x="6387656" y="4266643"/>
            <a:ext cx="2243579" cy="932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1600"/>
              <a:buNone/>
            </a:pPr>
            <a:r>
              <a:rPr lang="en-US"/>
              <a:t>Supervised Machine Learning Algorithm: Support Vector Machine (SVM)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"/>
          <p:cNvSpPr txBox="1">
            <a:spLocks noGrp="1"/>
          </p:cNvSpPr>
          <p:nvPr>
            <p:ph type="body" idx="1"/>
          </p:nvPr>
        </p:nvSpPr>
        <p:spPr>
          <a:xfrm>
            <a:off x="801277" y="2394950"/>
            <a:ext cx="2243579" cy="932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1600"/>
              <a:buNone/>
            </a:pPr>
            <a:r>
              <a:rPr lang="en-US" b="1" dirty="0"/>
              <a:t>Supervised Learning: Neural Network (Deep Learning)</a:t>
            </a:r>
            <a:endParaRPr dirty="0"/>
          </a:p>
        </p:txBody>
      </p:sp>
      <p:sp>
        <p:nvSpPr>
          <p:cNvPr id="269" name="Google Shape;269;p4"/>
          <p:cNvSpPr txBox="1">
            <a:spLocks noGrp="1"/>
          </p:cNvSpPr>
          <p:nvPr>
            <p:ph type="body" idx="2"/>
          </p:nvPr>
        </p:nvSpPr>
        <p:spPr>
          <a:xfrm>
            <a:off x="3593182" y="2394950"/>
            <a:ext cx="2243579" cy="932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1600"/>
              <a:buNone/>
            </a:pPr>
            <a:r>
              <a:rPr lang="en-US"/>
              <a:t>Supervised Learning: K-Nearest Neighbor</a:t>
            </a:r>
            <a:endParaRPr/>
          </a:p>
        </p:txBody>
      </p:sp>
      <p:sp>
        <p:nvSpPr>
          <p:cNvPr id="270" name="Google Shape;270;p4"/>
          <p:cNvSpPr txBox="1">
            <a:spLocks noGrp="1"/>
          </p:cNvSpPr>
          <p:nvPr>
            <p:ph type="body" idx="3"/>
          </p:nvPr>
        </p:nvSpPr>
        <p:spPr>
          <a:xfrm>
            <a:off x="6387656" y="2394950"/>
            <a:ext cx="2243579" cy="932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1600"/>
              <a:buNone/>
            </a:pPr>
            <a:r>
              <a:rPr lang="en-US"/>
              <a:t>Unsupervised Learning: Clustering</a:t>
            </a:r>
            <a:endParaRPr/>
          </a:p>
        </p:txBody>
      </p:sp>
      <p:sp>
        <p:nvSpPr>
          <p:cNvPr id="271" name="Google Shape;271;p4"/>
          <p:cNvSpPr txBox="1">
            <a:spLocks noGrp="1"/>
          </p:cNvSpPr>
          <p:nvPr>
            <p:ph type="body" idx="4"/>
          </p:nvPr>
        </p:nvSpPr>
        <p:spPr>
          <a:xfrm>
            <a:off x="9179561" y="2394950"/>
            <a:ext cx="2243579" cy="932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1600"/>
              <a:buNone/>
            </a:pPr>
            <a:r>
              <a:rPr lang="en-US"/>
              <a:t>Unsupervised Learning: Principal Component Analysis</a:t>
            </a:r>
            <a:endParaRPr/>
          </a:p>
        </p:txBody>
      </p:sp>
      <p:sp>
        <p:nvSpPr>
          <p:cNvPr id="272" name="Google Shape;272;p4"/>
          <p:cNvSpPr txBox="1">
            <a:spLocks noGrp="1"/>
          </p:cNvSpPr>
          <p:nvPr>
            <p:ph type="body" idx="5"/>
          </p:nvPr>
        </p:nvSpPr>
        <p:spPr>
          <a:xfrm>
            <a:off x="801277" y="4266643"/>
            <a:ext cx="2243579" cy="932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1600"/>
              <a:buNone/>
            </a:pPr>
            <a:r>
              <a:rPr lang="en-US"/>
              <a:t>Fitur Representasi dan Rekayasa Data</a:t>
            </a:r>
            <a:endParaRPr/>
          </a:p>
        </p:txBody>
      </p:sp>
      <p:sp>
        <p:nvSpPr>
          <p:cNvPr id="273" name="Google Shape;273;p4"/>
          <p:cNvSpPr txBox="1">
            <a:spLocks noGrp="1"/>
          </p:cNvSpPr>
          <p:nvPr>
            <p:ph type="body" idx="6"/>
          </p:nvPr>
        </p:nvSpPr>
        <p:spPr>
          <a:xfrm>
            <a:off x="3593182" y="4266643"/>
            <a:ext cx="2243579" cy="932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1600"/>
              <a:buNone/>
            </a:pPr>
            <a:r>
              <a:rPr lang="en-US"/>
              <a:t>Evaluasi dan Perbaikan Model</a:t>
            </a:r>
            <a:endParaRPr/>
          </a:p>
        </p:txBody>
      </p:sp>
      <p:sp>
        <p:nvSpPr>
          <p:cNvPr id="274" name="Google Shape;274;p4"/>
          <p:cNvSpPr txBox="1">
            <a:spLocks noGrp="1"/>
          </p:cNvSpPr>
          <p:nvPr>
            <p:ph type="body" idx="7"/>
          </p:nvPr>
        </p:nvSpPr>
        <p:spPr>
          <a:xfrm>
            <a:off x="6387656" y="4266643"/>
            <a:ext cx="2243579" cy="932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63636"/>
              </a:buClr>
              <a:buSzPts val="1600"/>
              <a:buNone/>
            </a:pPr>
            <a:r>
              <a:rPr lang="en-US"/>
              <a:t>Tantangan dalam Machine Learning</a:t>
            </a:r>
            <a:endParaRPr/>
          </a:p>
        </p:txBody>
      </p:sp>
      <p:sp>
        <p:nvSpPr>
          <p:cNvPr id="275" name="Google Shape;275;p4"/>
          <p:cNvSpPr/>
          <p:nvPr/>
        </p:nvSpPr>
        <p:spPr>
          <a:xfrm>
            <a:off x="618795" y="1915427"/>
            <a:ext cx="2531165" cy="1588168"/>
          </a:xfrm>
          <a:prstGeom prst="rect">
            <a:avLst/>
          </a:prstGeom>
          <a:noFill/>
          <a:ln w="57150" cap="flat" cmpd="sng">
            <a:solidFill>
              <a:srgbClr val="0E60A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5"/>
          <p:cNvSpPr txBox="1">
            <a:spLocks noGrp="1"/>
          </p:cNvSpPr>
          <p:nvPr>
            <p:ph type="body" idx="1"/>
          </p:nvPr>
        </p:nvSpPr>
        <p:spPr>
          <a:xfrm>
            <a:off x="838200" y="2139885"/>
            <a:ext cx="10515600" cy="3960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1515"/>
              </a:buClr>
              <a:buSzPts val="2200"/>
              <a:buNone/>
            </a:pPr>
            <a:r>
              <a:rPr lang="en-US" b="1"/>
              <a:t>Setelah mempelajari materi pada sesi ini, diharapkan mahasiswa:</a:t>
            </a:r>
            <a:endParaRPr/>
          </a:p>
          <a:p>
            <a:pPr marL="342900" lvl="0" indent="-3429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2200"/>
              <a:buFont typeface="Arial"/>
              <a:buChar char="•"/>
            </a:pPr>
            <a:r>
              <a:rPr lang="en-US"/>
              <a:t>Mampu menjelaskan Jaringan Neural </a:t>
            </a:r>
            <a:endParaRPr/>
          </a:p>
          <a:p>
            <a:pPr marL="342900" lvl="0" indent="-3429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2200"/>
              <a:buFont typeface="Arial"/>
              <a:buChar char="•"/>
            </a:pPr>
            <a:r>
              <a:rPr lang="en-US"/>
              <a:t>Mampu menjelaskan jenis Jaringan Neural dalam Pembelajaran Mesin</a:t>
            </a:r>
            <a:endParaRPr/>
          </a:p>
          <a:p>
            <a:pPr marL="342900" lvl="0" indent="-3429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2200"/>
              <a:buFont typeface="Arial"/>
              <a:buChar char="•"/>
            </a:pPr>
            <a:r>
              <a:rPr lang="en-US"/>
              <a:t>Mampu menguraikan Jenis-jenis pembelajaran pada Neural Network</a:t>
            </a:r>
            <a:endParaRPr/>
          </a:p>
          <a:p>
            <a:pPr marL="342900" lvl="0" indent="-3429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2200"/>
              <a:buFont typeface="Arial"/>
              <a:buChar char="•"/>
            </a:pPr>
            <a:r>
              <a:rPr lang="en-US"/>
              <a:t>Mampu menjelaskan Cara Kerja Jaringan Neural</a:t>
            </a:r>
            <a:endParaRPr/>
          </a:p>
          <a:p>
            <a:pPr marL="342900" lvl="0" indent="-3429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51515"/>
              </a:buClr>
              <a:buSzPts val="2200"/>
              <a:buFont typeface="Arial"/>
              <a:buChar char="•"/>
            </a:pPr>
            <a:r>
              <a:rPr lang="en-US"/>
              <a:t>Mampu mendeskripsikan  Keuntungan dan kekurangan jaringan syaraf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>
          <a:extLst>
            <a:ext uri="{FF2B5EF4-FFF2-40B4-BE49-F238E27FC236}">
              <a16:creationId xmlns:a16="http://schemas.microsoft.com/office/drawing/2014/main" id="{51C238C1-3CD0-6DE6-733C-DF924F8C40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6">
            <a:extLst>
              <a:ext uri="{FF2B5EF4-FFF2-40B4-BE49-F238E27FC236}">
                <a16:creationId xmlns:a16="http://schemas.microsoft.com/office/drawing/2014/main" id="{A67787BA-96CF-06E8-C353-894219079DDD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5835541" y="2957689"/>
            <a:ext cx="5529197" cy="1238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5400"/>
              <a:buFont typeface="Twentieth Century"/>
              <a:buNone/>
            </a:pPr>
            <a:r>
              <a:rPr lang="en-US" sz="5400" dirty="0"/>
              <a:t>Neural Network</a:t>
            </a:r>
            <a:br>
              <a:rPr lang="en-US" sz="5400" dirty="0"/>
            </a:br>
            <a:endParaRPr sz="5400" dirty="0"/>
          </a:p>
        </p:txBody>
      </p:sp>
      <p:pic>
        <p:nvPicPr>
          <p:cNvPr id="286" name="Google Shape;286;p6">
            <a:extLst>
              <a:ext uri="{FF2B5EF4-FFF2-40B4-BE49-F238E27FC236}">
                <a16:creationId xmlns:a16="http://schemas.microsoft.com/office/drawing/2014/main" id="{BD768655-F95F-5A49-1FF4-D0B039704525}"/>
              </a:ext>
            </a:extLst>
          </p:cNvPr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19738" r="19739"/>
          <a:stretch/>
        </p:blipFill>
        <p:spPr>
          <a:xfrm>
            <a:off x="0" y="499621"/>
            <a:ext cx="5316718" cy="5856730"/>
          </a:xfrm>
          <a:prstGeom prst="flowChartDelay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83839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C56FBAD-73DD-4FD9-A902-C5257935AA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929" y="1399234"/>
            <a:ext cx="4888191" cy="3996096"/>
          </a:xfrm>
          <a:prstGeom prst="rect">
            <a:avLst/>
          </a:prstGeom>
          <a:noFill/>
        </p:spPr>
      </p:pic>
      <p:sp>
        <p:nvSpPr>
          <p:cNvPr id="7170" name="AutoShape 2"/>
          <p:cNvSpPr>
            <a:spLocks noGrp="1" noChangeArrowheads="1"/>
          </p:cNvSpPr>
          <p:nvPr>
            <p:ph type="title"/>
          </p:nvPr>
        </p:nvSpPr>
        <p:spPr>
          <a:xfrm>
            <a:off x="5918476" y="807721"/>
            <a:ext cx="5280565" cy="591513"/>
          </a:xfrm>
        </p:spPr>
        <p:txBody>
          <a:bodyPr anchor="t">
            <a:normAutofit/>
          </a:bodyPr>
          <a:lstStyle/>
          <a:p>
            <a:r>
              <a:rPr lang="en-US" err="1"/>
              <a:t>Otak</a:t>
            </a:r>
            <a:r>
              <a:rPr lang="en-US"/>
              <a:t> </a:t>
            </a:r>
            <a:r>
              <a:rPr lang="en-US" err="1"/>
              <a:t>Manusia</a:t>
            </a:r>
            <a:endParaRPr lang="en-US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5918476" y="1495457"/>
            <a:ext cx="5280565" cy="3643945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err="1"/>
              <a:t>Otak</a:t>
            </a:r>
            <a:r>
              <a:rPr lang="en-US" sz="2400"/>
              <a:t> </a:t>
            </a:r>
            <a:r>
              <a:rPr lang="en-US" sz="2400" err="1"/>
              <a:t>manusia</a:t>
            </a:r>
            <a:r>
              <a:rPr lang="en-US" sz="2400"/>
              <a:t> </a:t>
            </a:r>
            <a:r>
              <a:rPr lang="en-US" sz="2400" err="1"/>
              <a:t>berisi</a:t>
            </a:r>
            <a:r>
              <a:rPr lang="en-US" sz="2400"/>
              <a:t> </a:t>
            </a:r>
            <a:r>
              <a:rPr lang="en-US" sz="2400" err="1"/>
              <a:t>jutaan</a:t>
            </a:r>
            <a:r>
              <a:rPr lang="en-US" sz="2400"/>
              <a:t> </a:t>
            </a:r>
            <a:r>
              <a:rPr lang="en-US" sz="2400" err="1"/>
              <a:t>sel</a:t>
            </a:r>
            <a:r>
              <a:rPr lang="en-US" sz="2400"/>
              <a:t> </a:t>
            </a:r>
            <a:r>
              <a:rPr lang="en-US" sz="2400" err="1"/>
              <a:t>syaraf</a:t>
            </a:r>
            <a:r>
              <a:rPr lang="en-US" sz="2400"/>
              <a:t> (</a:t>
            </a:r>
            <a:r>
              <a:rPr lang="en-US" sz="2400" i="1"/>
              <a:t>neuron</a:t>
            </a:r>
            <a:r>
              <a:rPr lang="en-US" sz="2400"/>
              <a:t>) yang </a:t>
            </a:r>
            <a:r>
              <a:rPr lang="en-US" sz="2400" err="1"/>
              <a:t>bertugas</a:t>
            </a:r>
            <a:r>
              <a:rPr lang="en-US" sz="2400"/>
              <a:t> </a:t>
            </a:r>
            <a:r>
              <a:rPr lang="en-US" sz="2400" err="1"/>
              <a:t>memproses</a:t>
            </a:r>
            <a:r>
              <a:rPr lang="en-US" sz="2400"/>
              <a:t> </a:t>
            </a:r>
            <a:r>
              <a:rPr lang="en-US" sz="2400" err="1"/>
              <a:t>informasi</a:t>
            </a:r>
            <a:r>
              <a:rPr lang="en-US" sz="2400"/>
              <a:t>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/>
              <a:t>Neuron </a:t>
            </a:r>
            <a:r>
              <a:rPr lang="en-US" sz="2400" err="1"/>
              <a:t>saling</a:t>
            </a:r>
            <a:r>
              <a:rPr lang="en-US" sz="2400"/>
              <a:t> </a:t>
            </a:r>
            <a:r>
              <a:rPr lang="en-US" sz="2400" err="1"/>
              <a:t>berinteraksi</a:t>
            </a:r>
            <a:r>
              <a:rPr lang="en-US" sz="2400"/>
              <a:t> </a:t>
            </a:r>
            <a:r>
              <a:rPr lang="en-US" sz="2400" err="1"/>
              <a:t>satu</a:t>
            </a:r>
            <a:r>
              <a:rPr lang="en-US" sz="2400"/>
              <a:t> </a:t>
            </a:r>
            <a:r>
              <a:rPr lang="en-US" sz="2400" err="1"/>
              <a:t>sama</a:t>
            </a:r>
            <a:r>
              <a:rPr lang="en-US" sz="2400"/>
              <a:t> lain </a:t>
            </a:r>
            <a:r>
              <a:rPr lang="en-US" sz="2400" err="1"/>
              <a:t>mendukung</a:t>
            </a:r>
            <a:r>
              <a:rPr lang="en-US" sz="2400"/>
              <a:t> </a:t>
            </a:r>
            <a:r>
              <a:rPr lang="en-US" sz="2400" err="1"/>
              <a:t>kemampuan</a:t>
            </a:r>
            <a:r>
              <a:rPr lang="en-US" sz="2400"/>
              <a:t> </a:t>
            </a:r>
            <a:r>
              <a:rPr lang="en-US" sz="2400" err="1"/>
              <a:t>kerja</a:t>
            </a:r>
            <a:r>
              <a:rPr lang="en-US" sz="2400"/>
              <a:t> </a:t>
            </a:r>
            <a:r>
              <a:rPr lang="en-US" sz="2400" err="1"/>
              <a:t>otak</a:t>
            </a:r>
            <a:r>
              <a:rPr lang="en-US" sz="2400"/>
              <a:t> </a:t>
            </a:r>
            <a:r>
              <a:rPr lang="en-US" sz="2400" err="1"/>
              <a:t>manusia</a:t>
            </a:r>
            <a:endParaRPr lang="en-US" sz="24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AutoShape 2"/>
          <p:cNvSpPr>
            <a:spLocks noGrp="1" noChangeArrowheads="1"/>
          </p:cNvSpPr>
          <p:nvPr>
            <p:ph type="title"/>
          </p:nvPr>
        </p:nvSpPr>
        <p:spPr>
          <a:xfrm>
            <a:off x="838200" y="457201"/>
            <a:ext cx="10515600" cy="1057062"/>
          </a:xfrm>
        </p:spPr>
        <p:txBody>
          <a:bodyPr anchor="t">
            <a:normAutofit/>
          </a:bodyPr>
          <a:lstStyle/>
          <a:p>
            <a:r>
              <a:rPr lang="en-US" dirty="0" err="1"/>
              <a:t>Sel</a:t>
            </a:r>
            <a:r>
              <a:rPr lang="en-US" dirty="0"/>
              <a:t> </a:t>
            </a:r>
            <a:r>
              <a:rPr lang="en-US" dirty="0" err="1"/>
              <a:t>Syaraf</a:t>
            </a:r>
            <a:r>
              <a:rPr lang="en-US" dirty="0"/>
              <a:t> (Neuron)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018309"/>
            <a:ext cx="10515600" cy="509266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/>
              <a:t>Komponen</a:t>
            </a:r>
            <a:r>
              <a:rPr lang="en-US" dirty="0"/>
              <a:t> </a:t>
            </a:r>
            <a:r>
              <a:rPr lang="en-US" dirty="0" err="1"/>
              <a:t>utama</a:t>
            </a:r>
            <a:r>
              <a:rPr lang="en-US" dirty="0"/>
              <a:t> </a:t>
            </a:r>
            <a:r>
              <a:rPr lang="en-US" i="1" dirty="0"/>
              <a:t>neuron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dikelompokkan</a:t>
            </a:r>
            <a:r>
              <a:rPr lang="en-US" dirty="0"/>
              <a:t> </a:t>
            </a:r>
            <a:r>
              <a:rPr lang="en-US" dirty="0" err="1"/>
              <a:t>menjadi</a:t>
            </a:r>
            <a:r>
              <a:rPr lang="en-US" dirty="0"/>
              <a:t> 3 </a:t>
            </a:r>
            <a:r>
              <a:rPr lang="en-US" dirty="0" err="1"/>
              <a:t>bagian</a:t>
            </a:r>
            <a:r>
              <a:rPr lang="en-US" dirty="0"/>
              <a:t> : </a:t>
            </a:r>
          </a:p>
          <a:p>
            <a:pPr marL="1200150" lvl="1">
              <a:buFont typeface="+mj-lt"/>
              <a:buAutoNum type="arabicPeriod"/>
            </a:pPr>
            <a:r>
              <a:rPr lang="en-US" b="1" i="1" dirty="0" err="1"/>
              <a:t>Dendrit</a:t>
            </a:r>
            <a:r>
              <a:rPr lang="en-US" dirty="0"/>
              <a:t> = </a:t>
            </a:r>
            <a:r>
              <a:rPr lang="en-US" dirty="0" err="1"/>
              <a:t>bertugas</a:t>
            </a:r>
            <a:r>
              <a:rPr lang="en-US" dirty="0"/>
              <a:t> </a:t>
            </a:r>
            <a:r>
              <a:rPr lang="en-US" dirty="0" err="1"/>
              <a:t>menerima</a:t>
            </a:r>
            <a:r>
              <a:rPr lang="en-US" dirty="0"/>
              <a:t> </a:t>
            </a:r>
            <a:r>
              <a:rPr lang="en-US" dirty="0" err="1"/>
              <a:t>informasi</a:t>
            </a:r>
            <a:r>
              <a:rPr lang="en-US" dirty="0"/>
              <a:t> = </a:t>
            </a:r>
            <a:r>
              <a:rPr lang="en-US" dirty="0" err="1"/>
              <a:t>jalur</a:t>
            </a:r>
            <a:r>
              <a:rPr lang="en-US" dirty="0"/>
              <a:t> input </a:t>
            </a:r>
            <a:r>
              <a:rPr lang="en-US" dirty="0" err="1"/>
              <a:t>bagi</a:t>
            </a:r>
            <a:r>
              <a:rPr lang="en-US" dirty="0"/>
              <a:t> </a:t>
            </a:r>
            <a:r>
              <a:rPr lang="en-US" i="1" dirty="0"/>
              <a:t>soma</a:t>
            </a:r>
            <a:r>
              <a:rPr lang="en-US" dirty="0"/>
              <a:t> </a:t>
            </a:r>
          </a:p>
          <a:p>
            <a:pPr marL="1200150" lvl="1">
              <a:buFont typeface="+mj-lt"/>
              <a:buAutoNum type="arabicPeriod"/>
            </a:pPr>
            <a:r>
              <a:rPr lang="en-US" b="1" dirty="0"/>
              <a:t>Badan </a:t>
            </a:r>
            <a:r>
              <a:rPr lang="en-US" b="1" dirty="0" err="1"/>
              <a:t>sel</a:t>
            </a:r>
            <a:r>
              <a:rPr lang="en-US" b="1" dirty="0"/>
              <a:t> (</a:t>
            </a:r>
            <a:r>
              <a:rPr lang="en-US" b="1" i="1" dirty="0"/>
              <a:t>soma</a:t>
            </a:r>
            <a:r>
              <a:rPr lang="en-US" b="1" dirty="0"/>
              <a:t>) </a:t>
            </a:r>
            <a:r>
              <a:rPr lang="en-US" dirty="0"/>
              <a:t>= </a:t>
            </a:r>
            <a:r>
              <a:rPr lang="en-US" dirty="0" err="1"/>
              <a:t>tempat</a:t>
            </a:r>
            <a:r>
              <a:rPr lang="en-US" dirty="0"/>
              <a:t> </a:t>
            </a:r>
            <a:r>
              <a:rPr lang="en-US" dirty="0" err="1"/>
              <a:t>pengolahan</a:t>
            </a:r>
            <a:r>
              <a:rPr lang="en-US" dirty="0"/>
              <a:t> </a:t>
            </a:r>
            <a:r>
              <a:rPr lang="en-US" dirty="0" err="1"/>
              <a:t>informasi</a:t>
            </a:r>
            <a:r>
              <a:rPr lang="en-US" dirty="0"/>
              <a:t>, di badan </a:t>
            </a:r>
            <a:r>
              <a:rPr lang="en-US" dirty="0" err="1"/>
              <a:t>sel</a:t>
            </a:r>
            <a:r>
              <a:rPr lang="en-US" dirty="0"/>
              <a:t> </a:t>
            </a:r>
            <a:r>
              <a:rPr lang="en-US" dirty="0" err="1"/>
              <a:t>terdapat</a:t>
            </a:r>
            <a:r>
              <a:rPr lang="en-US" dirty="0"/>
              <a:t> inti </a:t>
            </a:r>
            <a:r>
              <a:rPr lang="en-US" dirty="0" err="1"/>
              <a:t>sel</a:t>
            </a:r>
            <a:r>
              <a:rPr lang="en-US" dirty="0"/>
              <a:t> yang </a:t>
            </a:r>
            <a:r>
              <a:rPr lang="en-US" dirty="0" err="1"/>
              <a:t>bertugas</a:t>
            </a:r>
            <a:r>
              <a:rPr lang="en-US" dirty="0"/>
              <a:t> </a:t>
            </a:r>
            <a:r>
              <a:rPr lang="en-US" dirty="0" err="1"/>
              <a:t>mengolah</a:t>
            </a:r>
            <a:r>
              <a:rPr lang="en-US" dirty="0"/>
              <a:t> </a:t>
            </a:r>
            <a:r>
              <a:rPr lang="en-US" dirty="0" err="1"/>
              <a:t>informasi</a:t>
            </a:r>
            <a:r>
              <a:rPr lang="en-US" dirty="0"/>
              <a:t> </a:t>
            </a:r>
          </a:p>
          <a:p>
            <a:pPr marL="1200150" lvl="1">
              <a:buFont typeface="+mj-lt"/>
              <a:buAutoNum type="arabicPeriod"/>
            </a:pPr>
            <a:r>
              <a:rPr lang="en-US" b="1" i="1" dirty="0" err="1"/>
              <a:t>Akson</a:t>
            </a:r>
            <a:r>
              <a:rPr lang="en-US" dirty="0"/>
              <a:t> = </a:t>
            </a:r>
            <a:r>
              <a:rPr lang="en-US" dirty="0" err="1"/>
              <a:t>bertugas</a:t>
            </a:r>
            <a:r>
              <a:rPr lang="en-US" dirty="0"/>
              <a:t> </a:t>
            </a:r>
            <a:r>
              <a:rPr lang="en-US" dirty="0" err="1"/>
              <a:t>mengirimkan</a:t>
            </a:r>
            <a:r>
              <a:rPr lang="en-US" dirty="0"/>
              <a:t> </a:t>
            </a:r>
            <a:r>
              <a:rPr lang="en-US" dirty="0" err="1"/>
              <a:t>impuls-impuls</a:t>
            </a:r>
            <a:r>
              <a:rPr lang="en-US" dirty="0"/>
              <a:t> </a:t>
            </a:r>
            <a:r>
              <a:rPr lang="en-US" dirty="0" err="1"/>
              <a:t>sinyal</a:t>
            </a:r>
            <a:r>
              <a:rPr lang="en-US" dirty="0"/>
              <a:t> ke </a:t>
            </a:r>
            <a:r>
              <a:rPr lang="en-US" dirty="0" err="1"/>
              <a:t>sel</a:t>
            </a:r>
            <a:r>
              <a:rPr lang="en-US" dirty="0"/>
              <a:t> </a:t>
            </a:r>
            <a:r>
              <a:rPr lang="en-US" dirty="0" err="1"/>
              <a:t>syaraf</a:t>
            </a:r>
            <a:r>
              <a:rPr lang="en-US" dirty="0"/>
              <a:t> lain = </a:t>
            </a:r>
            <a:r>
              <a:rPr lang="en-US" dirty="0" err="1"/>
              <a:t>jalur</a:t>
            </a:r>
            <a:r>
              <a:rPr lang="en-US" dirty="0"/>
              <a:t> output </a:t>
            </a:r>
            <a:r>
              <a:rPr lang="en-US" dirty="0" err="1"/>
              <a:t>bagi</a:t>
            </a:r>
            <a:r>
              <a:rPr lang="en-US" dirty="0"/>
              <a:t> </a:t>
            </a:r>
            <a:r>
              <a:rPr lang="en-US" i="1" dirty="0"/>
              <a:t>soma</a:t>
            </a:r>
            <a:r>
              <a:rPr lang="en-US" dirty="0"/>
              <a:t> </a:t>
            </a:r>
          </a:p>
          <a:p>
            <a:pPr marL="1200150" lvl="1">
              <a:buFont typeface="+mj-lt"/>
              <a:buAutoNum type="arabicPeriod"/>
            </a:pPr>
            <a:r>
              <a:rPr lang="en-US" dirty="0" err="1"/>
              <a:t>Antar</a:t>
            </a:r>
            <a:r>
              <a:rPr lang="en-US" dirty="0"/>
              <a:t> </a:t>
            </a:r>
            <a:r>
              <a:rPr lang="en-US" i="1" dirty="0" err="1"/>
              <a:t>dendrit</a:t>
            </a:r>
            <a:r>
              <a:rPr lang="en-US" dirty="0"/>
              <a:t> </a:t>
            </a:r>
            <a:r>
              <a:rPr lang="en-US" dirty="0" err="1"/>
              <a:t>dipertemukan</a:t>
            </a:r>
            <a:r>
              <a:rPr lang="en-US" dirty="0"/>
              <a:t> dengan </a:t>
            </a:r>
            <a:r>
              <a:rPr lang="en-US" b="1" i="1" dirty="0" err="1"/>
              <a:t>sinapsis</a:t>
            </a:r>
            <a:r>
              <a:rPr lang="en-US" b="1" i="1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C256A72-1812-77C1-42E1-F831C1F023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8661" y="2996082"/>
            <a:ext cx="3671012" cy="3733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990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F7332-859E-0D4D-845E-96E10F45B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9137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 err="1"/>
              <a:t>Jaringan</a:t>
            </a:r>
            <a:r>
              <a:rPr lang="en-US" dirty="0"/>
              <a:t> </a:t>
            </a:r>
            <a:r>
              <a:rPr lang="en-US" dirty="0" err="1"/>
              <a:t>Syaraf</a:t>
            </a:r>
            <a:r>
              <a:rPr lang="en-US" dirty="0"/>
              <a:t> </a:t>
            </a:r>
            <a:r>
              <a:rPr lang="en-US" dirty="0" err="1"/>
              <a:t>Tiruan</a:t>
            </a:r>
            <a:r>
              <a:rPr lang="en-US" dirty="0"/>
              <a:t> (JST)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C2DA84-2DDB-EB41-A721-64BC27F3A5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4913671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/>
              <a:t>Jaringan</a:t>
            </a:r>
            <a:r>
              <a:rPr lang="en-US" dirty="0"/>
              <a:t> </a:t>
            </a:r>
            <a:r>
              <a:rPr lang="en-US" dirty="0" err="1"/>
              <a:t>syaraf</a:t>
            </a:r>
            <a:r>
              <a:rPr lang="en-US" dirty="0"/>
              <a:t> </a:t>
            </a:r>
            <a:r>
              <a:rPr lang="en-US" dirty="0" err="1"/>
              <a:t>tiruan</a:t>
            </a:r>
            <a:r>
              <a:rPr lang="en-US" dirty="0"/>
              <a:t> (JST) </a:t>
            </a:r>
            <a:r>
              <a:rPr lang="en-US" dirty="0" err="1"/>
              <a:t>atau</a:t>
            </a:r>
            <a:r>
              <a:rPr lang="en-US" dirty="0"/>
              <a:t> Artificial Neural Network (ANN)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suatu</a:t>
            </a:r>
            <a:r>
              <a:rPr lang="en-US" dirty="0"/>
              <a:t> model </a:t>
            </a:r>
            <a:r>
              <a:rPr lang="en-US" dirty="0" err="1"/>
              <a:t>matematik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komputasi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mensimulasikan</a:t>
            </a:r>
            <a:r>
              <a:rPr lang="en-US" dirty="0"/>
              <a:t> </a:t>
            </a:r>
            <a:r>
              <a:rPr lang="en-US" dirty="0" err="1"/>
              <a:t>struktur</a:t>
            </a:r>
            <a:r>
              <a:rPr lang="en-US" dirty="0"/>
              <a:t> dan </a:t>
            </a:r>
            <a:r>
              <a:rPr lang="en-US" dirty="0" err="1"/>
              <a:t>fungsi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jaringan</a:t>
            </a:r>
            <a:r>
              <a:rPr lang="en-US" dirty="0"/>
              <a:t> </a:t>
            </a:r>
            <a:r>
              <a:rPr lang="en-US" dirty="0" err="1"/>
              <a:t>syaraf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otak</a:t>
            </a:r>
            <a:r>
              <a:rPr lang="en-US" dirty="0"/>
              <a:t>. </a:t>
            </a:r>
            <a:endParaRPr lang="en-ID" dirty="0"/>
          </a:p>
          <a:p>
            <a:endParaRPr lang="en-US" dirty="0"/>
          </a:p>
        </p:txBody>
      </p:sp>
      <p:pic>
        <p:nvPicPr>
          <p:cNvPr id="5" name="Picture 4" descr="A close up of a network&#10;&#10;Description automatically generated">
            <a:extLst>
              <a:ext uri="{FF2B5EF4-FFF2-40B4-BE49-F238E27FC236}">
                <a16:creationId xmlns:a16="http://schemas.microsoft.com/office/drawing/2014/main" id="{49EAB879-40AE-D44E-199B-CD889D2AA24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09" b="8014"/>
          <a:stretch/>
        </p:blipFill>
        <p:spPr>
          <a:xfrm>
            <a:off x="6172200" y="1825625"/>
            <a:ext cx="5181600" cy="4351338"/>
          </a:xfrm>
          <a:prstGeom prst="rect">
            <a:avLst/>
          </a:prstGeom>
          <a:noFill/>
        </p:spPr>
      </p:pic>
      <p:pic>
        <p:nvPicPr>
          <p:cNvPr id="11266" name="Picture 2" descr="Perbedaan CNN vs. RNN vs. ANN untuk keperluan Deep Learning ~ belajar_IT">
            <a:extLst>
              <a:ext uri="{FF2B5EF4-FFF2-40B4-BE49-F238E27FC236}">
                <a16:creationId xmlns:a16="http://schemas.microsoft.com/office/drawing/2014/main" id="{6AA0D2CC-A157-A6AD-1BC1-E367EAEEEA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360" y="3529604"/>
            <a:ext cx="4791393" cy="26473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3801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AutoShape 2"/>
          <p:cNvSpPr>
            <a:spLocks noGrp="1" noChangeArrowheads="1"/>
          </p:cNvSpPr>
          <p:nvPr>
            <p:ph type="title"/>
          </p:nvPr>
        </p:nvSpPr>
        <p:spPr>
          <a:xfrm>
            <a:off x="838200" y="299137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 err="1"/>
              <a:t>Jaringan</a:t>
            </a:r>
            <a:r>
              <a:rPr lang="en-US" dirty="0"/>
              <a:t> </a:t>
            </a:r>
            <a:r>
              <a:rPr lang="en-US" dirty="0" err="1"/>
              <a:t>Syaraf</a:t>
            </a:r>
            <a:r>
              <a:rPr lang="en-US" dirty="0"/>
              <a:t> </a:t>
            </a:r>
            <a:r>
              <a:rPr lang="en-US" dirty="0" err="1"/>
              <a:t>Tiruan</a:t>
            </a:r>
            <a:r>
              <a:rPr lang="en-US" dirty="0"/>
              <a:t> (JST)</a:t>
            </a:r>
          </a:p>
        </p:txBody>
      </p:sp>
      <p:pic>
        <p:nvPicPr>
          <p:cNvPr id="4" name="Picture 3" descr="A person with wires and blue eyes&#10;&#10;Description automatically generated">
            <a:extLst>
              <a:ext uri="{FF2B5EF4-FFF2-40B4-BE49-F238E27FC236}">
                <a16:creationId xmlns:a16="http://schemas.microsoft.com/office/drawing/2014/main" id="{17AD0003-FC9F-3E68-BCA8-EF71BB2F128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02" b="9121"/>
          <a:stretch/>
        </p:blipFill>
        <p:spPr>
          <a:xfrm>
            <a:off x="838200" y="1825625"/>
            <a:ext cx="5181600" cy="4351338"/>
          </a:xfrm>
          <a:prstGeom prst="rect">
            <a:avLst/>
          </a:prstGeom>
          <a:noFill/>
        </p:spPr>
      </p:pic>
      <p:sp>
        <p:nvSpPr>
          <p:cNvPr id="7171" name="Rectangle 3"/>
          <p:cNvSpPr>
            <a:spLocks noGrp="1" noChangeArrowheads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/>
          <a:p>
            <a:r>
              <a:rPr lang="en-US" sz="1700" dirty="0" err="1"/>
              <a:t>Meniru</a:t>
            </a:r>
            <a:r>
              <a:rPr lang="en-US" sz="1700" dirty="0"/>
              <a:t> </a:t>
            </a:r>
            <a:r>
              <a:rPr lang="en-US" sz="1700" dirty="0" err="1"/>
              <a:t>cara</a:t>
            </a:r>
            <a:r>
              <a:rPr lang="en-US" sz="1700" dirty="0"/>
              <a:t> </a:t>
            </a:r>
            <a:r>
              <a:rPr lang="en-US" sz="1700" dirty="0" err="1"/>
              <a:t>kerja</a:t>
            </a:r>
            <a:r>
              <a:rPr lang="en-US" sz="1700" dirty="0"/>
              <a:t> </a:t>
            </a:r>
            <a:r>
              <a:rPr lang="en-US" sz="1700" dirty="0" err="1"/>
              <a:t>jaringan</a:t>
            </a:r>
            <a:r>
              <a:rPr lang="en-US" sz="1700" dirty="0"/>
              <a:t> </a:t>
            </a:r>
            <a:r>
              <a:rPr lang="en-US" sz="1700" dirty="0" err="1"/>
              <a:t>syaraf</a:t>
            </a:r>
            <a:r>
              <a:rPr lang="en-US" sz="1700" dirty="0"/>
              <a:t> </a:t>
            </a:r>
            <a:r>
              <a:rPr lang="en-US" sz="1700" dirty="0" err="1"/>
              <a:t>biologis</a:t>
            </a:r>
            <a:r>
              <a:rPr lang="en-US" sz="1700" dirty="0"/>
              <a:t> (JSB) </a:t>
            </a:r>
          </a:p>
          <a:p>
            <a:r>
              <a:rPr lang="en-US" sz="1700" dirty="0" err="1"/>
              <a:t>Generalisasi</a:t>
            </a:r>
            <a:r>
              <a:rPr lang="en-US" sz="1700" dirty="0"/>
              <a:t> model </a:t>
            </a:r>
            <a:r>
              <a:rPr lang="en-US" sz="1700" dirty="0" err="1"/>
              <a:t>matematis</a:t>
            </a:r>
            <a:r>
              <a:rPr lang="en-US" sz="1700" dirty="0"/>
              <a:t> </a:t>
            </a:r>
            <a:r>
              <a:rPr lang="en-US" sz="1700" dirty="0" err="1"/>
              <a:t>dari</a:t>
            </a:r>
            <a:r>
              <a:rPr lang="en-US" sz="1700" dirty="0"/>
              <a:t> </a:t>
            </a:r>
            <a:r>
              <a:rPr lang="en-US" sz="1700" dirty="0" err="1"/>
              <a:t>pemahaman</a:t>
            </a:r>
            <a:r>
              <a:rPr lang="en-US" sz="1700" dirty="0"/>
              <a:t> </a:t>
            </a:r>
            <a:r>
              <a:rPr lang="en-US" sz="1700" dirty="0" err="1"/>
              <a:t>manusia</a:t>
            </a:r>
            <a:r>
              <a:rPr lang="en-US" sz="1700" dirty="0"/>
              <a:t>: </a:t>
            </a:r>
          </a:p>
          <a:p>
            <a:pPr marL="911225" lvl="2" indent="-342900">
              <a:buFont typeface="+mj-lt"/>
              <a:buAutoNum type="alphaLcPeriod"/>
            </a:pPr>
            <a:r>
              <a:rPr lang="en-US" sz="1700" dirty="0" err="1"/>
              <a:t>Pemrosesan</a:t>
            </a:r>
            <a:r>
              <a:rPr lang="en-US" sz="1700" dirty="0"/>
              <a:t> </a:t>
            </a:r>
            <a:r>
              <a:rPr lang="en-US" sz="1700" dirty="0" err="1"/>
              <a:t>informasi</a:t>
            </a:r>
            <a:r>
              <a:rPr lang="en-US" sz="1700" dirty="0"/>
              <a:t> </a:t>
            </a:r>
            <a:r>
              <a:rPr lang="en-US" sz="1700" dirty="0" err="1"/>
              <a:t>terjadi</a:t>
            </a:r>
            <a:r>
              <a:rPr lang="en-US" sz="1700" dirty="0"/>
              <a:t> pada </a:t>
            </a:r>
            <a:r>
              <a:rPr lang="en-US" sz="1700" i="1" dirty="0"/>
              <a:t>neuron</a:t>
            </a:r>
            <a:r>
              <a:rPr lang="en-US" sz="1700" dirty="0"/>
              <a:t> </a:t>
            </a:r>
          </a:p>
          <a:p>
            <a:pPr marL="911225" lvl="2" indent="-342900">
              <a:buFont typeface="+mj-lt"/>
              <a:buAutoNum type="alphaLcPeriod"/>
            </a:pPr>
            <a:r>
              <a:rPr lang="en-US" sz="1700" dirty="0" err="1"/>
              <a:t>Sinyal</a:t>
            </a:r>
            <a:r>
              <a:rPr lang="en-US" sz="1700" dirty="0"/>
              <a:t> </a:t>
            </a:r>
            <a:r>
              <a:rPr lang="en-US" sz="1700" dirty="0" err="1"/>
              <a:t>mengalir</a:t>
            </a:r>
            <a:r>
              <a:rPr lang="en-US" sz="1700" dirty="0"/>
              <a:t> </a:t>
            </a:r>
            <a:r>
              <a:rPr lang="en-US" sz="1700" dirty="0" err="1"/>
              <a:t>diantara</a:t>
            </a:r>
            <a:r>
              <a:rPr lang="en-US" sz="1700" dirty="0"/>
              <a:t> </a:t>
            </a:r>
            <a:r>
              <a:rPr lang="en-US" sz="1700" dirty="0" err="1"/>
              <a:t>sel</a:t>
            </a:r>
            <a:r>
              <a:rPr lang="en-US" sz="1700" dirty="0"/>
              <a:t> </a:t>
            </a:r>
            <a:r>
              <a:rPr lang="en-US" sz="1700" dirty="0" err="1"/>
              <a:t>saraf</a:t>
            </a:r>
            <a:r>
              <a:rPr lang="en-US" sz="1700" dirty="0"/>
              <a:t>/neuron </a:t>
            </a:r>
            <a:r>
              <a:rPr lang="en-US" sz="1700" dirty="0" err="1"/>
              <a:t>melalui</a:t>
            </a:r>
            <a:r>
              <a:rPr lang="en-US" sz="1700" dirty="0"/>
              <a:t> </a:t>
            </a:r>
            <a:r>
              <a:rPr lang="en-US" sz="1700" dirty="0" err="1"/>
              <a:t>suatu</a:t>
            </a:r>
            <a:r>
              <a:rPr lang="en-US" sz="1700" dirty="0"/>
              <a:t> </a:t>
            </a:r>
            <a:r>
              <a:rPr lang="en-US" sz="1700" dirty="0" err="1"/>
              <a:t>sambungan</a:t>
            </a:r>
            <a:r>
              <a:rPr lang="en-US" sz="1700" dirty="0"/>
              <a:t> </a:t>
            </a:r>
            <a:r>
              <a:rPr lang="en-US" sz="1700" dirty="0" err="1"/>
              <a:t>penghubung</a:t>
            </a:r>
            <a:r>
              <a:rPr lang="en-US" sz="1700" dirty="0"/>
              <a:t> </a:t>
            </a:r>
          </a:p>
          <a:p>
            <a:pPr marL="911225" lvl="2" indent="-342900">
              <a:buFont typeface="+mj-lt"/>
              <a:buAutoNum type="alphaLcPeriod"/>
            </a:pPr>
            <a:r>
              <a:rPr lang="en-US" sz="1700" dirty="0" err="1"/>
              <a:t>Setiap</a:t>
            </a:r>
            <a:r>
              <a:rPr lang="en-US" sz="1700" dirty="0"/>
              <a:t> </a:t>
            </a:r>
            <a:r>
              <a:rPr lang="en-US" sz="1700" dirty="0" err="1"/>
              <a:t>sambungan</a:t>
            </a:r>
            <a:r>
              <a:rPr lang="en-US" sz="1700" dirty="0"/>
              <a:t> </a:t>
            </a:r>
            <a:r>
              <a:rPr lang="en-US" sz="1700" dirty="0" err="1"/>
              <a:t>penghubung</a:t>
            </a:r>
            <a:r>
              <a:rPr lang="en-US" sz="1700" dirty="0"/>
              <a:t> </a:t>
            </a:r>
            <a:r>
              <a:rPr lang="en-US" sz="1700" dirty="0" err="1"/>
              <a:t>memiliki</a:t>
            </a:r>
            <a:r>
              <a:rPr lang="en-US" sz="1700" dirty="0"/>
              <a:t> </a:t>
            </a:r>
            <a:r>
              <a:rPr lang="en-US" sz="1700" dirty="0" err="1"/>
              <a:t>bobot</a:t>
            </a:r>
            <a:r>
              <a:rPr lang="en-US" sz="1700" dirty="0"/>
              <a:t> yang </a:t>
            </a:r>
            <a:r>
              <a:rPr lang="en-US" sz="1700" dirty="0" err="1"/>
              <a:t>bersesuaian</a:t>
            </a:r>
            <a:r>
              <a:rPr lang="en-US" sz="1700" dirty="0"/>
              <a:t>. </a:t>
            </a:r>
          </a:p>
          <a:p>
            <a:pPr marL="911225" lvl="2" indent="-342900">
              <a:buFont typeface="+mj-lt"/>
              <a:buAutoNum type="alphaLcPeriod"/>
            </a:pPr>
            <a:r>
              <a:rPr lang="en-US" sz="1700" dirty="0" err="1"/>
              <a:t>Bobot</a:t>
            </a:r>
            <a:r>
              <a:rPr lang="en-US" sz="1700" dirty="0"/>
              <a:t> </a:t>
            </a:r>
            <a:r>
              <a:rPr lang="en-US" sz="1700" dirty="0" err="1"/>
              <a:t>ini</a:t>
            </a:r>
            <a:r>
              <a:rPr lang="en-US" sz="1700" dirty="0"/>
              <a:t> </a:t>
            </a:r>
            <a:r>
              <a:rPr lang="en-US" sz="1700" dirty="0" err="1"/>
              <a:t>akan</a:t>
            </a:r>
            <a:r>
              <a:rPr lang="en-US" sz="1700" dirty="0"/>
              <a:t> </a:t>
            </a:r>
            <a:r>
              <a:rPr lang="en-US" sz="1700" dirty="0" err="1"/>
              <a:t>digunakan</a:t>
            </a:r>
            <a:r>
              <a:rPr lang="en-US" sz="1700" dirty="0"/>
              <a:t> </a:t>
            </a:r>
            <a:r>
              <a:rPr lang="en-US" sz="1700" dirty="0" err="1"/>
              <a:t>untuk</a:t>
            </a:r>
            <a:r>
              <a:rPr lang="en-US" sz="1700" dirty="0"/>
              <a:t> </a:t>
            </a:r>
            <a:r>
              <a:rPr lang="en-US" sz="1700" dirty="0" err="1"/>
              <a:t>menggandakan</a:t>
            </a:r>
            <a:r>
              <a:rPr lang="en-US" sz="1700" dirty="0"/>
              <a:t> / </a:t>
            </a:r>
            <a:r>
              <a:rPr lang="en-US" sz="1700" dirty="0" err="1"/>
              <a:t>mengalikan</a:t>
            </a:r>
            <a:r>
              <a:rPr lang="en-US" sz="1700" dirty="0"/>
              <a:t> </a:t>
            </a:r>
            <a:r>
              <a:rPr lang="en-US" sz="1700" dirty="0" err="1"/>
              <a:t>sinyal</a:t>
            </a:r>
            <a:r>
              <a:rPr lang="en-US" sz="1700" dirty="0"/>
              <a:t> yang </a:t>
            </a:r>
            <a:r>
              <a:rPr lang="en-US" sz="1700" dirty="0" err="1"/>
              <a:t>dikirim</a:t>
            </a:r>
            <a:r>
              <a:rPr lang="en-US" sz="1700" dirty="0"/>
              <a:t> </a:t>
            </a:r>
            <a:r>
              <a:rPr lang="en-US" sz="1700" dirty="0" err="1"/>
              <a:t>melaluinya</a:t>
            </a:r>
            <a:r>
              <a:rPr lang="en-US" sz="1700" dirty="0"/>
              <a:t>. </a:t>
            </a:r>
          </a:p>
          <a:p>
            <a:pPr marL="911225" lvl="2" indent="-342900">
              <a:buFont typeface="+mj-lt"/>
              <a:buAutoNum type="alphaLcPeriod"/>
            </a:pPr>
            <a:r>
              <a:rPr lang="en-US" sz="1700" dirty="0" err="1"/>
              <a:t>Setiap</a:t>
            </a:r>
            <a:r>
              <a:rPr lang="en-US" sz="1700" dirty="0"/>
              <a:t> </a:t>
            </a:r>
            <a:r>
              <a:rPr lang="en-US" sz="1700" dirty="0" err="1"/>
              <a:t>sel</a:t>
            </a:r>
            <a:r>
              <a:rPr lang="en-US" sz="1700" dirty="0"/>
              <a:t> </a:t>
            </a:r>
            <a:r>
              <a:rPr lang="en-US" sz="1700" dirty="0" err="1"/>
              <a:t>syaraf</a:t>
            </a:r>
            <a:r>
              <a:rPr lang="en-US" sz="1700" dirty="0"/>
              <a:t> </a:t>
            </a:r>
            <a:r>
              <a:rPr lang="en-US" sz="1700" dirty="0" err="1"/>
              <a:t>akan</a:t>
            </a:r>
            <a:r>
              <a:rPr lang="en-US" sz="1700" dirty="0"/>
              <a:t> </a:t>
            </a:r>
            <a:r>
              <a:rPr lang="en-US" sz="1700" dirty="0" err="1"/>
              <a:t>menerapkan</a:t>
            </a:r>
            <a:r>
              <a:rPr lang="en-US" sz="1700" dirty="0"/>
              <a:t> </a:t>
            </a:r>
            <a:r>
              <a:rPr lang="en-US" sz="1700" dirty="0" err="1"/>
              <a:t>fungsi</a:t>
            </a:r>
            <a:r>
              <a:rPr lang="en-US" sz="1700" dirty="0"/>
              <a:t> </a:t>
            </a:r>
            <a:r>
              <a:rPr lang="en-US" sz="1700" dirty="0" err="1"/>
              <a:t>aktivasi</a:t>
            </a:r>
            <a:r>
              <a:rPr lang="en-US" sz="1700" dirty="0"/>
              <a:t> </a:t>
            </a:r>
            <a:r>
              <a:rPr lang="en-US" sz="1700" dirty="0" err="1"/>
              <a:t>terhadap</a:t>
            </a:r>
            <a:r>
              <a:rPr lang="en-US" sz="1700" dirty="0"/>
              <a:t> </a:t>
            </a:r>
            <a:r>
              <a:rPr lang="en-US" sz="1700" dirty="0" err="1"/>
              <a:t>sinyal</a:t>
            </a:r>
            <a:r>
              <a:rPr lang="en-US" sz="1700" dirty="0"/>
              <a:t> hasil </a:t>
            </a:r>
            <a:r>
              <a:rPr lang="en-US" sz="1700" dirty="0" err="1"/>
              <a:t>penjumlahan</a:t>
            </a:r>
            <a:r>
              <a:rPr lang="en-US" sz="1700" dirty="0"/>
              <a:t> </a:t>
            </a:r>
            <a:r>
              <a:rPr lang="en-US" sz="1700" dirty="0" err="1"/>
              <a:t>berbobot</a:t>
            </a:r>
            <a:r>
              <a:rPr lang="en-US" sz="1700" dirty="0"/>
              <a:t> yang </a:t>
            </a:r>
            <a:r>
              <a:rPr lang="en-US" sz="1700" dirty="0" err="1"/>
              <a:t>masuk</a:t>
            </a:r>
            <a:r>
              <a:rPr lang="en-US" sz="1700" dirty="0"/>
              <a:t> </a:t>
            </a:r>
            <a:r>
              <a:rPr lang="en-US" sz="1700" dirty="0" err="1"/>
              <a:t>kepadanya</a:t>
            </a:r>
            <a:r>
              <a:rPr lang="en-US" sz="1700" dirty="0"/>
              <a:t> </a:t>
            </a:r>
            <a:r>
              <a:rPr lang="en-US" sz="1700" dirty="0" err="1"/>
              <a:t>untuk</a:t>
            </a:r>
            <a:r>
              <a:rPr lang="en-US" sz="1700" dirty="0"/>
              <a:t> </a:t>
            </a:r>
            <a:r>
              <a:rPr lang="en-US" sz="1700" dirty="0" err="1"/>
              <a:t>menentukan</a:t>
            </a:r>
            <a:r>
              <a:rPr lang="en-US" sz="1700" dirty="0"/>
              <a:t> </a:t>
            </a:r>
            <a:r>
              <a:rPr lang="en-US" sz="1700" dirty="0" err="1"/>
              <a:t>sinyal</a:t>
            </a:r>
            <a:r>
              <a:rPr lang="en-US" sz="1700" dirty="0"/>
              <a:t> </a:t>
            </a:r>
            <a:r>
              <a:rPr lang="en-US" sz="1700" dirty="0" err="1"/>
              <a:t>keluarannya</a:t>
            </a:r>
            <a:r>
              <a:rPr lang="en-US" sz="1700" dirty="0"/>
              <a:t>. </a:t>
            </a:r>
            <a:endParaRPr lang="en-US" sz="1700" b="1" i="1" dirty="0"/>
          </a:p>
        </p:txBody>
      </p:sp>
    </p:spTree>
    <p:extLst>
      <p:ext uri="{BB962C8B-B14F-4D97-AF65-F5344CB8AC3E}">
        <p14:creationId xmlns:p14="http://schemas.microsoft.com/office/powerpoint/2010/main" val="3547310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Hubungan</a:t>
            </a:r>
            <a:r>
              <a:rPr lang="en-US" dirty="0"/>
              <a:t> </a:t>
            </a:r>
            <a:r>
              <a:rPr lang="en-US" dirty="0" err="1"/>
              <a:t>Jaringan</a:t>
            </a:r>
            <a:r>
              <a:rPr lang="en-US" dirty="0"/>
              <a:t> </a:t>
            </a:r>
            <a:r>
              <a:rPr lang="en-US" dirty="0" err="1"/>
              <a:t>Syaraf</a:t>
            </a:r>
            <a:r>
              <a:rPr lang="en-US" dirty="0"/>
              <a:t> </a:t>
            </a:r>
            <a:r>
              <a:rPr lang="en-US" dirty="0" err="1"/>
              <a:t>Biologis</a:t>
            </a:r>
            <a:r>
              <a:rPr lang="en-US" dirty="0"/>
              <a:t> (JSB) &amp; </a:t>
            </a:r>
            <a:r>
              <a:rPr lang="en-US" dirty="0" err="1"/>
              <a:t>jaringan</a:t>
            </a:r>
            <a:r>
              <a:rPr lang="en-US" dirty="0"/>
              <a:t> </a:t>
            </a:r>
            <a:r>
              <a:rPr lang="en-US" dirty="0" err="1"/>
              <a:t>Syaraf</a:t>
            </a:r>
            <a:r>
              <a:rPr lang="en-US" dirty="0"/>
              <a:t> </a:t>
            </a:r>
            <a:r>
              <a:rPr lang="en-US" dirty="0" err="1"/>
              <a:t>Tiruan</a:t>
            </a:r>
            <a:r>
              <a:rPr lang="en-US" dirty="0"/>
              <a:t> (JST)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9C8AD237-82DD-4C58-8C0D-902257B9A148}"/>
              </a:ext>
            </a:extLst>
          </p:cNvPr>
          <p:cNvGraphicFramePr>
            <a:graphicFrameLocks noGrp="1"/>
          </p:cNvGraphicFramePr>
          <p:nvPr/>
        </p:nvGraphicFramePr>
        <p:xfrm>
          <a:off x="2085042" y="2146151"/>
          <a:ext cx="8021916" cy="37293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10958">
                  <a:extLst>
                    <a:ext uri="{9D8B030D-6E8A-4147-A177-3AD203B41FA5}">
                      <a16:colId xmlns:a16="http://schemas.microsoft.com/office/drawing/2014/main" val="700903918"/>
                    </a:ext>
                  </a:extLst>
                </a:gridCol>
                <a:gridCol w="4010958">
                  <a:extLst>
                    <a:ext uri="{9D8B030D-6E8A-4147-A177-3AD203B41FA5}">
                      <a16:colId xmlns:a16="http://schemas.microsoft.com/office/drawing/2014/main" val="1959751814"/>
                    </a:ext>
                  </a:extLst>
                </a:gridCol>
              </a:tblGrid>
              <a:tr h="745871">
                <a:tc>
                  <a:txBody>
                    <a:bodyPr/>
                    <a:lstStyle/>
                    <a:p>
                      <a:pPr algn="ctr"/>
                      <a:r>
                        <a:rPr lang="en-US" sz="3500" dirty="0"/>
                        <a:t>JSB</a:t>
                      </a:r>
                    </a:p>
                  </a:txBody>
                  <a:tcPr marL="113251" marR="113251" marT="56625" marB="56625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500" dirty="0"/>
                        <a:t>JST</a:t>
                      </a:r>
                    </a:p>
                  </a:txBody>
                  <a:tcPr marL="113251" marR="113251" marT="56625" marB="56625"/>
                </a:tc>
                <a:extLst>
                  <a:ext uri="{0D108BD9-81ED-4DB2-BD59-A6C34878D82A}">
                    <a16:rowId xmlns:a16="http://schemas.microsoft.com/office/drawing/2014/main" val="3730132155"/>
                  </a:ext>
                </a:extLst>
              </a:tr>
              <a:tr h="745871">
                <a:tc>
                  <a:txBody>
                    <a:bodyPr/>
                    <a:lstStyle/>
                    <a:p>
                      <a:r>
                        <a:rPr lang="en-US" sz="3500" dirty="0"/>
                        <a:t>Badan </a:t>
                      </a:r>
                      <a:r>
                        <a:rPr lang="en-US" sz="3500" dirty="0" err="1"/>
                        <a:t>sel</a:t>
                      </a:r>
                      <a:r>
                        <a:rPr lang="en-US" sz="3500" dirty="0"/>
                        <a:t> (soma)</a:t>
                      </a:r>
                    </a:p>
                  </a:txBody>
                  <a:tcPr marL="113251" marR="113251" marT="56625" marB="56625"/>
                </a:tc>
                <a:tc>
                  <a:txBody>
                    <a:bodyPr/>
                    <a:lstStyle/>
                    <a:p>
                      <a:r>
                        <a:rPr lang="en-US" sz="3500" dirty="0"/>
                        <a:t>Node</a:t>
                      </a:r>
                    </a:p>
                  </a:txBody>
                  <a:tcPr marL="113251" marR="113251" marT="56625" marB="56625"/>
                </a:tc>
                <a:extLst>
                  <a:ext uri="{0D108BD9-81ED-4DB2-BD59-A6C34878D82A}">
                    <a16:rowId xmlns:a16="http://schemas.microsoft.com/office/drawing/2014/main" val="1455903188"/>
                  </a:ext>
                </a:extLst>
              </a:tr>
              <a:tr h="74587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500" dirty="0" err="1"/>
                        <a:t>Dendrit</a:t>
                      </a:r>
                      <a:endParaRPr lang="en-US" sz="3500" dirty="0"/>
                    </a:p>
                  </a:txBody>
                  <a:tcPr marL="113251" marR="113251" marT="56625" marB="56625"/>
                </a:tc>
                <a:tc>
                  <a:txBody>
                    <a:bodyPr/>
                    <a:lstStyle/>
                    <a:p>
                      <a:r>
                        <a:rPr lang="en-US" sz="3500" dirty="0"/>
                        <a:t>Input</a:t>
                      </a:r>
                    </a:p>
                  </a:txBody>
                  <a:tcPr marL="113251" marR="113251" marT="56625" marB="56625"/>
                </a:tc>
                <a:extLst>
                  <a:ext uri="{0D108BD9-81ED-4DB2-BD59-A6C34878D82A}">
                    <a16:rowId xmlns:a16="http://schemas.microsoft.com/office/drawing/2014/main" val="1691100691"/>
                  </a:ext>
                </a:extLst>
              </a:tr>
              <a:tr h="74587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500" dirty="0" err="1"/>
                        <a:t>Akson</a:t>
                      </a:r>
                      <a:endParaRPr lang="en-US" sz="3500" dirty="0"/>
                    </a:p>
                  </a:txBody>
                  <a:tcPr marL="113251" marR="113251" marT="56625" marB="56625"/>
                </a:tc>
                <a:tc>
                  <a:txBody>
                    <a:bodyPr/>
                    <a:lstStyle/>
                    <a:p>
                      <a:r>
                        <a:rPr lang="en-US" sz="3500" dirty="0"/>
                        <a:t>Output</a:t>
                      </a:r>
                    </a:p>
                  </a:txBody>
                  <a:tcPr marL="113251" marR="113251" marT="56625" marB="56625"/>
                </a:tc>
                <a:extLst>
                  <a:ext uri="{0D108BD9-81ED-4DB2-BD59-A6C34878D82A}">
                    <a16:rowId xmlns:a16="http://schemas.microsoft.com/office/drawing/2014/main" val="2263221149"/>
                  </a:ext>
                </a:extLst>
              </a:tr>
              <a:tr h="74587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500" dirty="0" err="1"/>
                        <a:t>Sinapsis</a:t>
                      </a:r>
                      <a:endParaRPr lang="en-US" sz="3500" dirty="0"/>
                    </a:p>
                  </a:txBody>
                  <a:tcPr marL="113251" marR="113251" marT="56625" marB="56625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500" dirty="0" err="1"/>
                        <a:t>Bobot</a:t>
                      </a:r>
                      <a:endParaRPr lang="en-US" sz="3500" dirty="0"/>
                    </a:p>
                  </a:txBody>
                  <a:tcPr marL="113251" marR="113251" marT="56625" marB="56625"/>
                </a:tc>
                <a:extLst>
                  <a:ext uri="{0D108BD9-81ED-4DB2-BD59-A6C34878D82A}">
                    <a16:rowId xmlns:a16="http://schemas.microsoft.com/office/drawing/2014/main" val="6934364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57066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58BE0-6921-DE82-4738-77499A561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AutoShape 2">
            <a:extLst>
              <a:ext uri="{FF2B5EF4-FFF2-40B4-BE49-F238E27FC236}">
                <a16:creationId xmlns:a16="http://schemas.microsoft.com/office/drawing/2014/main" id="{4A8A46B1-7451-F4A8-F5B4-D4B58C8C6A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660400"/>
            <a:ext cx="10566400" cy="1143000"/>
          </a:xfrm>
        </p:spPr>
        <p:txBody>
          <a:bodyPr/>
          <a:lstStyle/>
          <a:p>
            <a:r>
              <a:rPr lang="en-US" dirty="0" err="1"/>
              <a:t>Hubungan</a:t>
            </a:r>
            <a:r>
              <a:rPr lang="en-US" dirty="0"/>
              <a:t> </a:t>
            </a:r>
            <a:r>
              <a:rPr lang="en-US" dirty="0" err="1"/>
              <a:t>Jaringan</a:t>
            </a:r>
            <a:r>
              <a:rPr lang="en-US" dirty="0"/>
              <a:t> </a:t>
            </a:r>
            <a:r>
              <a:rPr lang="en-US" dirty="0" err="1"/>
              <a:t>Syaraf</a:t>
            </a:r>
            <a:r>
              <a:rPr lang="en-US" dirty="0"/>
              <a:t> </a:t>
            </a:r>
            <a:r>
              <a:rPr lang="en-US" dirty="0" err="1"/>
              <a:t>Biologis</a:t>
            </a:r>
            <a:r>
              <a:rPr lang="en-US" dirty="0"/>
              <a:t> (JSB) &amp; </a:t>
            </a:r>
            <a:r>
              <a:rPr lang="en-US" dirty="0" err="1"/>
              <a:t>jaringan</a:t>
            </a:r>
            <a:r>
              <a:rPr lang="en-US" dirty="0"/>
              <a:t> </a:t>
            </a:r>
            <a:r>
              <a:rPr lang="en-US" dirty="0" err="1"/>
              <a:t>Syaraf</a:t>
            </a:r>
            <a:r>
              <a:rPr lang="en-US" dirty="0"/>
              <a:t> </a:t>
            </a:r>
            <a:r>
              <a:rPr lang="en-US" dirty="0" err="1"/>
              <a:t>Tiruan</a:t>
            </a:r>
            <a:r>
              <a:rPr lang="en-US" dirty="0"/>
              <a:t> (JST)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24C4884-911C-8D63-AD74-9116194DDB32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237899"/>
          <a:ext cx="10515600" cy="2773680"/>
        </p:xfrm>
        <a:graphic>
          <a:graphicData uri="http://schemas.openxmlformats.org/drawingml/2006/table">
            <a:tbl>
              <a:tblPr>
                <a:tableStyleId>{C4B1156A-380E-4F78-BDF5-A606A8083BF9}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323086973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10046830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46936212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7597168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b="1">
                          <a:solidFill>
                            <a:schemeClr val="bg1"/>
                          </a:solidFill>
                        </a:rPr>
                        <a:t>Aspek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b="1">
                          <a:solidFill>
                            <a:schemeClr val="bg1"/>
                          </a:solidFill>
                        </a:rPr>
                        <a:t>JSB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b="1" dirty="0">
                          <a:solidFill>
                            <a:schemeClr val="bg1"/>
                          </a:solidFill>
                        </a:rPr>
                        <a:t>JST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D" b="1" dirty="0" err="1">
                          <a:solidFill>
                            <a:schemeClr val="bg1"/>
                          </a:solidFill>
                        </a:rPr>
                        <a:t>Hubungan</a:t>
                      </a:r>
                      <a:endParaRPr lang="en-ID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36918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b="1">
                          <a:solidFill>
                            <a:schemeClr val="bg1"/>
                          </a:solidFill>
                        </a:rPr>
                        <a:t>Unit dasar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/>
                        <a:t>Neuron biologis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/>
                        <a:t>Neuron tiruan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/>
                        <a:t>JST meniru mekanisme neuron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172932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b="1">
                          <a:solidFill>
                            <a:schemeClr val="bg1"/>
                          </a:solidFill>
                        </a:rPr>
                        <a:t>Koneksi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dirty="0" err="1"/>
                        <a:t>Sinaps</a:t>
                      </a:r>
                      <a:endParaRPr lang="en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/>
                        <a:t>Bobot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/>
                        <a:t>Bobot = kekuatan sinaps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4816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b="1" dirty="0">
                          <a:solidFill>
                            <a:schemeClr val="bg1"/>
                          </a:solidFill>
                        </a:rPr>
                        <a:t>Cara </a:t>
                      </a:r>
                      <a:r>
                        <a:rPr lang="en-ID" b="1" dirty="0" err="1">
                          <a:solidFill>
                            <a:schemeClr val="bg1"/>
                          </a:solidFill>
                        </a:rPr>
                        <a:t>belajar</a:t>
                      </a:r>
                      <a:endParaRPr lang="en-ID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/>
                        <a:t>Penguatan sinaps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/>
                        <a:t>Penyesuaian bobot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dirty="0" err="1"/>
                        <a:t>Keduanya</a:t>
                      </a:r>
                      <a:r>
                        <a:rPr lang="en-ID" dirty="0"/>
                        <a:t> </a:t>
                      </a:r>
                      <a:r>
                        <a:rPr lang="en-ID" dirty="0" err="1"/>
                        <a:t>memperbaiki</a:t>
                      </a:r>
                      <a:r>
                        <a:rPr lang="en-ID" dirty="0"/>
                        <a:t> </a:t>
                      </a:r>
                      <a:r>
                        <a:rPr lang="en-ID" dirty="0" err="1"/>
                        <a:t>koneksi</a:t>
                      </a:r>
                      <a:endParaRPr lang="en-ID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90508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b="1">
                          <a:solidFill>
                            <a:schemeClr val="bg1"/>
                          </a:solidFill>
                        </a:rPr>
                        <a:t>Struktur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dirty="0" err="1"/>
                        <a:t>Lapisan</a:t>
                      </a:r>
                      <a:r>
                        <a:rPr lang="en-ID" dirty="0"/>
                        <a:t> </a:t>
                      </a:r>
                      <a:r>
                        <a:rPr lang="en-ID" dirty="0" err="1"/>
                        <a:t>otak</a:t>
                      </a:r>
                      <a:endParaRPr lang="en-ID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/>
                        <a:t>Layer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/>
                        <a:t>JST terinspirasi dari struktur otak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9673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b="1">
                          <a:solidFill>
                            <a:schemeClr val="bg1"/>
                          </a:solidFill>
                        </a:rPr>
                        <a:t>Pemrosesan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/>
                        <a:t>Paralel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/>
                        <a:t>Paralel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/>
                        <a:t>Prinsip serupa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70628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b="1" dirty="0" err="1">
                          <a:solidFill>
                            <a:schemeClr val="bg1"/>
                          </a:solidFill>
                        </a:rPr>
                        <a:t>Kemampuan</a:t>
                      </a:r>
                      <a:endParaRPr lang="en-ID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/>
                        <a:t>Adaptif &amp; generalisasi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/>
                        <a:t>Pattern recognition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dirty="0"/>
                        <a:t>JST </a:t>
                      </a:r>
                      <a:r>
                        <a:rPr lang="en-ID" dirty="0" err="1"/>
                        <a:t>meniru</a:t>
                      </a:r>
                      <a:r>
                        <a:rPr lang="en-ID" dirty="0"/>
                        <a:t> </a:t>
                      </a:r>
                      <a:r>
                        <a:rPr lang="en-ID" dirty="0" err="1"/>
                        <a:t>kemampuan</a:t>
                      </a:r>
                      <a:r>
                        <a:rPr lang="en-ID" dirty="0"/>
                        <a:t> </a:t>
                      </a:r>
                      <a:r>
                        <a:rPr lang="en-ID" dirty="0" err="1"/>
                        <a:t>otak</a:t>
                      </a:r>
                      <a:endParaRPr lang="en-ID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46114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10355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6"/>
          <p:cNvSpPr txBox="1">
            <a:spLocks noGrp="1"/>
          </p:cNvSpPr>
          <p:nvPr>
            <p:ph type="ctrTitle"/>
          </p:nvPr>
        </p:nvSpPr>
        <p:spPr>
          <a:xfrm>
            <a:off x="5835541" y="2275158"/>
            <a:ext cx="5529197" cy="1920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5400"/>
              <a:buFont typeface="Twentieth Century"/>
              <a:buNone/>
            </a:pPr>
            <a:r>
              <a:rPr lang="en-US" sz="5400" dirty="0"/>
              <a:t>SUPERVISED LEARNING: </a:t>
            </a:r>
            <a:br>
              <a:rPr lang="en-US" sz="5400" dirty="0"/>
            </a:br>
            <a:r>
              <a:rPr lang="en-US" sz="5400" dirty="0"/>
              <a:t>Neural Network  (NN)</a:t>
            </a:r>
            <a:br>
              <a:rPr lang="en-US" sz="5400" dirty="0"/>
            </a:br>
            <a:endParaRPr sz="5400" dirty="0"/>
          </a:p>
        </p:txBody>
      </p:sp>
      <p:pic>
        <p:nvPicPr>
          <p:cNvPr id="286" name="Google Shape;286;p6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19738" r="19739"/>
          <a:stretch/>
        </p:blipFill>
        <p:spPr>
          <a:xfrm>
            <a:off x="0" y="499621"/>
            <a:ext cx="5316718" cy="5856730"/>
          </a:xfrm>
          <a:prstGeom prst="flowChartDelay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01116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BFB3B7A-8781-A974-61FB-0DED8BB067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Neural Network</a:t>
            </a:r>
            <a:endParaRPr lang="en-ID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054C19-2220-1B19-D75E-16C74E1BDE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18477" y="1411111"/>
            <a:ext cx="5652634" cy="5204178"/>
          </a:xfrm>
        </p:spPr>
        <p:txBody>
          <a:bodyPr>
            <a:normAutofit/>
          </a:bodyPr>
          <a:lstStyle/>
          <a:p>
            <a:pPr marL="517525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D" b="1" dirty="0">
                <a:solidFill>
                  <a:schemeClr val="accent6">
                    <a:lumMod val="50000"/>
                  </a:schemeClr>
                </a:solidFill>
              </a:rPr>
              <a:t>Neural Network (</a:t>
            </a:r>
            <a:r>
              <a:rPr lang="en-ID" b="1" dirty="0" err="1">
                <a:solidFill>
                  <a:schemeClr val="accent6">
                    <a:lumMod val="50000"/>
                  </a:schemeClr>
                </a:solidFill>
              </a:rPr>
              <a:t>Jaringan</a:t>
            </a:r>
            <a:r>
              <a:rPr lang="en-ID" b="1" dirty="0">
                <a:solidFill>
                  <a:schemeClr val="accent6">
                    <a:lumMod val="50000"/>
                  </a:schemeClr>
                </a:solidFill>
              </a:rPr>
              <a:t> Saraf </a:t>
            </a:r>
            <a:r>
              <a:rPr lang="en-ID" b="1" dirty="0" err="1">
                <a:solidFill>
                  <a:schemeClr val="accent6">
                    <a:lumMod val="50000"/>
                  </a:schemeClr>
                </a:solidFill>
              </a:rPr>
              <a:t>Tiruan</a:t>
            </a:r>
            <a:r>
              <a:rPr lang="en-ID" b="1" dirty="0">
                <a:solidFill>
                  <a:schemeClr val="accent6">
                    <a:lumMod val="50000"/>
                  </a:schemeClr>
                </a:solidFill>
              </a:rPr>
              <a:t>/JST)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adalah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model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komputasi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dalam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bidang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D" b="1" dirty="0">
                <a:solidFill>
                  <a:schemeClr val="accent6">
                    <a:lumMod val="50000"/>
                  </a:schemeClr>
                </a:solidFill>
              </a:rPr>
              <a:t>Artificial Intelligence (AI)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dan </a:t>
            </a:r>
            <a:r>
              <a:rPr lang="en-ID" b="1" dirty="0">
                <a:solidFill>
                  <a:schemeClr val="accent6">
                    <a:lumMod val="50000"/>
                  </a:schemeClr>
                </a:solidFill>
              </a:rPr>
              <a:t>Machine Learning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yang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terinspirasi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oleh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cara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kerja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jaringan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saraf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pada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otak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manusia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. Neural Network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terdiri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dari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sejumlah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neuron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buatan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yang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saling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terhubung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untuk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memproses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informasi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,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mengenali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pola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, dan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menghasilkan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prediksi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atau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keputusan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.</a:t>
            </a:r>
          </a:p>
          <a:p>
            <a:pPr marL="517525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Secara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umum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, Neural Network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menerima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data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masukan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(</a:t>
            </a:r>
            <a:r>
              <a:rPr lang="en-ID" b="1" dirty="0">
                <a:solidFill>
                  <a:schemeClr val="accent6">
                    <a:lumMod val="50000"/>
                  </a:schemeClr>
                </a:solidFill>
              </a:rPr>
              <a:t>input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),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memprosesnya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melalui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satu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atau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lebih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D" b="1" dirty="0">
                <a:solidFill>
                  <a:schemeClr val="accent6">
                    <a:lumMod val="50000"/>
                  </a:schemeClr>
                </a:solidFill>
              </a:rPr>
              <a:t>hidden layer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,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kemudian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menghasilkan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keluaran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(</a:t>
            </a:r>
            <a:r>
              <a:rPr lang="en-ID" b="1" dirty="0">
                <a:solidFill>
                  <a:schemeClr val="accent6">
                    <a:lumMod val="50000"/>
                  </a:schemeClr>
                </a:solidFill>
              </a:rPr>
              <a:t>output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).</a:t>
            </a:r>
          </a:p>
          <a:p>
            <a:pPr marL="517525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Arsitektur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dasarnya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dapat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digambarkan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sebagai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:</a:t>
            </a:r>
          </a:p>
          <a:p>
            <a:pPr marL="174625" indent="0">
              <a:lnSpc>
                <a:spcPct val="100000"/>
              </a:lnSpc>
            </a:pPr>
            <a:r>
              <a:rPr lang="en-ID" b="1" dirty="0">
                <a:solidFill>
                  <a:schemeClr val="accent6">
                    <a:lumMod val="50000"/>
                  </a:schemeClr>
                </a:solidFill>
              </a:rPr>
              <a:t>Input Layer → Hidden Layer(s) → Output Layer</a:t>
            </a:r>
            <a:endParaRPr lang="en-ID" dirty="0">
              <a:solidFill>
                <a:schemeClr val="accent6">
                  <a:lumMod val="50000"/>
                </a:schemeClr>
              </a:solidFill>
            </a:endParaRPr>
          </a:p>
          <a:p>
            <a:pPr marL="517525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ID" dirty="0">
              <a:solidFill>
                <a:schemeClr val="accent6">
                  <a:lumMod val="50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13A659A-6A5A-EA04-6D14-337643F065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282" y="1495457"/>
            <a:ext cx="5420141" cy="352809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3E1AAE4-B58E-80DF-96D8-8EA44A6DD750}"/>
              </a:ext>
            </a:extLst>
          </p:cNvPr>
          <p:cNvSpPr txBox="1"/>
          <p:nvPr/>
        </p:nvSpPr>
        <p:spPr>
          <a:xfrm>
            <a:off x="251282" y="5446888"/>
            <a:ext cx="5420141" cy="116955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/>
            <a:r>
              <a:rPr lang="en-ID" b="1" dirty="0" err="1">
                <a:solidFill>
                  <a:schemeClr val="accent6">
                    <a:lumMod val="50000"/>
                  </a:schemeClr>
                </a:solidFill>
              </a:rPr>
              <a:t>Definisi</a:t>
            </a:r>
            <a:r>
              <a:rPr lang="en-ID" b="1" dirty="0">
                <a:solidFill>
                  <a:schemeClr val="accent6">
                    <a:lumMod val="50000"/>
                  </a:schemeClr>
                </a:solidFill>
              </a:rPr>
              <a:t>:</a:t>
            </a:r>
          </a:p>
          <a:p>
            <a:pPr algn="just"/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"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Suatu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model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komputasi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yang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terdiri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atas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kumpulan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neuron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buatan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yang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saling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terhubung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dan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mampu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belajar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dari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data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untuk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memetakan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hubungan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antara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input dan output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melalui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proses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penyesuaian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bobot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(weights)."</a:t>
            </a:r>
          </a:p>
        </p:txBody>
      </p:sp>
    </p:spTree>
    <p:extLst>
      <p:ext uri="{BB962C8B-B14F-4D97-AF65-F5344CB8AC3E}">
        <p14:creationId xmlns:p14="http://schemas.microsoft.com/office/powerpoint/2010/main" val="3513357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32A20A3-2B0B-444C-AF43-D138ED0309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975" y="376137"/>
            <a:ext cx="10183177" cy="571712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8E2A065-4207-4E03-BFAF-528ADDFC286E}"/>
              </a:ext>
            </a:extLst>
          </p:cNvPr>
          <p:cNvSpPr txBox="1"/>
          <p:nvPr/>
        </p:nvSpPr>
        <p:spPr>
          <a:xfrm>
            <a:off x="8971221" y="6093264"/>
            <a:ext cx="14189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/>
              <a:t>Sumber:medium.com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2142814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0"/>
          <p:cNvSpPr txBox="1">
            <a:spLocks noGrp="1"/>
          </p:cNvSpPr>
          <p:nvPr>
            <p:ph type="ctrTitle"/>
          </p:nvPr>
        </p:nvSpPr>
        <p:spPr>
          <a:xfrm>
            <a:off x="5835541" y="2275158"/>
            <a:ext cx="5529197" cy="1920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5400"/>
              <a:buFont typeface="Twentieth Century"/>
              <a:buNone/>
            </a:pPr>
            <a:r>
              <a:rPr lang="en-US" sz="5400"/>
              <a:t>Untuk Apa Jaringan Neural Digunakan?</a:t>
            </a:r>
            <a:endParaRPr sz="5400"/>
          </a:p>
        </p:txBody>
      </p:sp>
      <p:pic>
        <p:nvPicPr>
          <p:cNvPr id="313" name="Google Shape;313;p10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19738" r="19739"/>
          <a:stretch/>
        </p:blipFill>
        <p:spPr>
          <a:xfrm>
            <a:off x="0" y="499621"/>
            <a:ext cx="5316718" cy="5856730"/>
          </a:xfrm>
          <a:prstGeom prst="flowChartDelay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8" name="Google Shape;318;p11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17562" r="17562"/>
          <a:stretch/>
        </p:blipFill>
        <p:spPr>
          <a:xfrm>
            <a:off x="569913" y="1114425"/>
            <a:ext cx="4887912" cy="502285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11"/>
          <p:cNvSpPr/>
          <p:nvPr/>
        </p:nvSpPr>
        <p:spPr>
          <a:xfrm>
            <a:off x="2983832" y="2241877"/>
            <a:ext cx="8277728" cy="669755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08386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Mengidentifikasi objek, wajah, dan memahami bahasa lisan dalam aplikasi seperti mobil tanpa pengemudi dan asisten suara.</a:t>
            </a:r>
            <a:endParaRPr/>
          </a:p>
        </p:txBody>
      </p:sp>
      <p:sp>
        <p:nvSpPr>
          <p:cNvPr id="320" name="Google Shape;320;p11"/>
          <p:cNvSpPr/>
          <p:nvPr/>
        </p:nvSpPr>
        <p:spPr>
          <a:xfrm>
            <a:off x="2959769" y="3064025"/>
            <a:ext cx="8277728" cy="669755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08386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Menganalisis dan memahami bahasa manusia, memungkinkan analisis sentimen, chatbots, terjemahan bahasa, dan pembuatan teks.</a:t>
            </a:r>
            <a:endParaRPr/>
          </a:p>
        </p:txBody>
      </p:sp>
      <p:sp>
        <p:nvSpPr>
          <p:cNvPr id="321" name="Google Shape;321;p11"/>
          <p:cNvSpPr/>
          <p:nvPr/>
        </p:nvSpPr>
        <p:spPr>
          <a:xfrm>
            <a:off x="2959768" y="3838068"/>
            <a:ext cx="8277728" cy="669755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08386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Mendiagnosis penyakit dari citra medis, memprediksi hasil pasien, dan penemuan obat.</a:t>
            </a:r>
            <a:endParaRPr/>
          </a:p>
        </p:txBody>
      </p:sp>
      <p:sp>
        <p:nvSpPr>
          <p:cNvPr id="322" name="Google Shape;322;p11"/>
          <p:cNvSpPr/>
          <p:nvPr/>
        </p:nvSpPr>
        <p:spPr>
          <a:xfrm>
            <a:off x="2959767" y="4628138"/>
            <a:ext cx="8277728" cy="669755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08386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Memprediksi harga saham, penilaian risiko kredit, deteksi penipuan, dan perdagangan algoritmik.</a:t>
            </a:r>
            <a:endParaRPr sz="20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323" name="Google Shape;323;p11"/>
          <p:cNvSpPr/>
          <p:nvPr/>
        </p:nvSpPr>
        <p:spPr>
          <a:xfrm>
            <a:off x="2959766" y="5422227"/>
            <a:ext cx="8277728" cy="669755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08386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Personalisasi konten dan rekomendasi di e-commerce, platform streaming, dan media sosial.</a:t>
            </a:r>
            <a:endParaRPr/>
          </a:p>
        </p:txBody>
      </p:sp>
      <p:sp>
        <p:nvSpPr>
          <p:cNvPr id="324" name="Google Shape;324;p11"/>
          <p:cNvSpPr/>
          <p:nvPr/>
        </p:nvSpPr>
        <p:spPr>
          <a:xfrm>
            <a:off x="5554037" y="1164461"/>
            <a:ext cx="6140658" cy="978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15113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Jaringan saraf digunakan diberbagai domain untuk: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9" name="Google Shape;329;p12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17562" r="17562"/>
          <a:stretch/>
        </p:blipFill>
        <p:spPr>
          <a:xfrm>
            <a:off x="569913" y="1114425"/>
            <a:ext cx="4887912" cy="5022850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12"/>
          <p:cNvSpPr/>
          <p:nvPr/>
        </p:nvSpPr>
        <p:spPr>
          <a:xfrm>
            <a:off x="2983832" y="2241877"/>
            <a:ext cx="8277728" cy="669755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08386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Mendukung robotika dan kendaraan otonom dengan memproses data sensor dan membuat keputusan secara real-time.</a:t>
            </a:r>
            <a:endParaRPr/>
          </a:p>
        </p:txBody>
      </p:sp>
      <p:sp>
        <p:nvSpPr>
          <p:cNvPr id="331" name="Google Shape;331;p12"/>
          <p:cNvSpPr/>
          <p:nvPr/>
        </p:nvSpPr>
        <p:spPr>
          <a:xfrm>
            <a:off x="2959769" y="3064025"/>
            <a:ext cx="8277728" cy="669755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08386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Meningkatkan AI game, menghasilkan grafik realistis, dan menciptakan lingkungan virtual yang imersif.</a:t>
            </a:r>
            <a:endParaRPr/>
          </a:p>
        </p:txBody>
      </p:sp>
      <p:sp>
        <p:nvSpPr>
          <p:cNvPr id="332" name="Google Shape;332;p12"/>
          <p:cNvSpPr/>
          <p:nvPr/>
        </p:nvSpPr>
        <p:spPr>
          <a:xfrm>
            <a:off x="2959768" y="3838068"/>
            <a:ext cx="8277728" cy="669755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08386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Memantau dan mengoptimalkan proses manufaktur, pemeliharaan prediktif, dan kontrol kualitas.</a:t>
            </a:r>
            <a:endParaRPr/>
          </a:p>
        </p:txBody>
      </p:sp>
      <p:sp>
        <p:nvSpPr>
          <p:cNvPr id="333" name="Google Shape;333;p12"/>
          <p:cNvSpPr/>
          <p:nvPr/>
        </p:nvSpPr>
        <p:spPr>
          <a:xfrm>
            <a:off x="2959767" y="4628138"/>
            <a:ext cx="8277728" cy="669755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08386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Menganalisis kumpulan data yang kompleks, mensimulasikan fenomena ilmiah, dan membantu      penelitian lintas disiplin ilmu.</a:t>
            </a:r>
            <a:endParaRPr/>
          </a:p>
        </p:txBody>
      </p:sp>
      <p:sp>
        <p:nvSpPr>
          <p:cNvPr id="334" name="Google Shape;334;p12"/>
          <p:cNvSpPr/>
          <p:nvPr/>
        </p:nvSpPr>
        <p:spPr>
          <a:xfrm>
            <a:off x="2959766" y="5422227"/>
            <a:ext cx="8277728" cy="669755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08386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Menghasilkan musik, seni, dan konten kreatif lainnya</a:t>
            </a:r>
            <a:endParaRPr/>
          </a:p>
        </p:txBody>
      </p:sp>
      <p:sp>
        <p:nvSpPr>
          <p:cNvPr id="335" name="Google Shape;335;p12"/>
          <p:cNvSpPr/>
          <p:nvPr/>
        </p:nvSpPr>
        <p:spPr>
          <a:xfrm>
            <a:off x="5554037" y="1164461"/>
            <a:ext cx="6140658" cy="978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15113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Jaringan saraf digunakan diberbagai domain untuk: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AutoShape 2"/>
          <p:cNvSpPr>
            <a:spLocks noGrp="1" noChangeArrowheads="1"/>
          </p:cNvSpPr>
          <p:nvPr>
            <p:ph type="title"/>
          </p:nvPr>
        </p:nvSpPr>
        <p:spPr>
          <a:xfrm>
            <a:off x="1016000" y="762000"/>
            <a:ext cx="10566400" cy="752476"/>
          </a:xfrm>
        </p:spPr>
        <p:txBody>
          <a:bodyPr/>
          <a:lstStyle/>
          <a:p>
            <a:r>
              <a:rPr lang="en-US" dirty="0" err="1"/>
              <a:t>Penerapan</a:t>
            </a:r>
            <a:r>
              <a:rPr lang="en-US" dirty="0"/>
              <a:t> JST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132018" y="1524000"/>
            <a:ext cx="9617046" cy="4572000"/>
          </a:xfrm>
        </p:spPr>
        <p:txBody>
          <a:bodyPr/>
          <a:lstStyle/>
          <a:p>
            <a:r>
              <a:rPr lang="en-US" sz="2400" i="1" dirty="0">
                <a:solidFill>
                  <a:srgbClr val="000000"/>
                </a:solidFill>
              </a:rPr>
              <a:t>Aerospace</a:t>
            </a:r>
            <a:r>
              <a:rPr lang="en-US" sz="2400" dirty="0">
                <a:solidFill>
                  <a:srgbClr val="000000"/>
                </a:solidFill>
              </a:rPr>
              <a:t> - Autopilot </a:t>
            </a:r>
            <a:r>
              <a:rPr lang="en-US" sz="2400" dirty="0" err="1">
                <a:solidFill>
                  <a:srgbClr val="000000"/>
                </a:solidFill>
              </a:rPr>
              <a:t>pesawat</a:t>
            </a:r>
            <a:r>
              <a:rPr lang="en-US" sz="2400" dirty="0">
                <a:solidFill>
                  <a:srgbClr val="000000"/>
                </a:solidFill>
              </a:rPr>
              <a:t>, </a:t>
            </a:r>
            <a:r>
              <a:rPr lang="en-US" sz="2400" dirty="0" err="1">
                <a:solidFill>
                  <a:srgbClr val="000000"/>
                </a:solidFill>
              </a:rPr>
              <a:t>deteksi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kesalahan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pesawat</a:t>
            </a:r>
            <a:r>
              <a:rPr lang="en-US" sz="2400" dirty="0">
                <a:solidFill>
                  <a:srgbClr val="000000"/>
                </a:solidFill>
              </a:rPr>
              <a:t>.</a:t>
            </a:r>
          </a:p>
          <a:p>
            <a:r>
              <a:rPr lang="en-US" sz="2400" dirty="0" err="1">
                <a:solidFill>
                  <a:srgbClr val="000000"/>
                </a:solidFill>
              </a:rPr>
              <a:t>Otomotif</a:t>
            </a:r>
            <a:r>
              <a:rPr lang="en-US" sz="2400" dirty="0">
                <a:solidFill>
                  <a:srgbClr val="000000"/>
                </a:solidFill>
              </a:rPr>
              <a:t> - </a:t>
            </a:r>
            <a:r>
              <a:rPr lang="en-US" sz="2400" i="1" dirty="0">
                <a:solidFill>
                  <a:srgbClr val="000000"/>
                </a:solidFill>
              </a:rPr>
              <a:t>Automobile guidance systems</a:t>
            </a:r>
          </a:p>
          <a:p>
            <a:r>
              <a:rPr lang="en-US" sz="2400" dirty="0" err="1">
                <a:solidFill>
                  <a:srgbClr val="000000"/>
                </a:solidFill>
              </a:rPr>
              <a:t>Militer</a:t>
            </a:r>
            <a:r>
              <a:rPr lang="en-US" sz="2400" dirty="0">
                <a:solidFill>
                  <a:srgbClr val="000000"/>
                </a:solidFill>
              </a:rPr>
              <a:t> - </a:t>
            </a:r>
            <a:r>
              <a:rPr lang="en-US" sz="2400" dirty="0" err="1">
                <a:solidFill>
                  <a:srgbClr val="000000"/>
                </a:solidFill>
              </a:rPr>
              <a:t>Orientasi</a:t>
            </a:r>
            <a:r>
              <a:rPr lang="en-US" sz="2400" dirty="0">
                <a:solidFill>
                  <a:srgbClr val="000000"/>
                </a:solidFill>
              </a:rPr>
              <a:t> dan </a:t>
            </a:r>
            <a:r>
              <a:rPr lang="en-US" sz="2400" dirty="0" err="1">
                <a:solidFill>
                  <a:srgbClr val="000000"/>
                </a:solidFill>
              </a:rPr>
              <a:t>kemudi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senjata</a:t>
            </a:r>
            <a:r>
              <a:rPr lang="en-US" sz="2400" dirty="0">
                <a:solidFill>
                  <a:srgbClr val="000000"/>
                </a:solidFill>
              </a:rPr>
              <a:t>, </a:t>
            </a:r>
            <a:r>
              <a:rPr lang="en-US" sz="2400" dirty="0" err="1">
                <a:solidFill>
                  <a:srgbClr val="000000"/>
                </a:solidFill>
              </a:rPr>
              <a:t>pelacakan</a:t>
            </a:r>
            <a:r>
              <a:rPr lang="en-US" sz="2400" dirty="0">
                <a:solidFill>
                  <a:srgbClr val="000000"/>
                </a:solidFill>
              </a:rPr>
              <a:t> target, </a:t>
            </a:r>
            <a:r>
              <a:rPr lang="en-US" sz="2400" dirty="0" err="1">
                <a:solidFill>
                  <a:srgbClr val="000000"/>
                </a:solidFill>
              </a:rPr>
              <a:t>diskriminasi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objek</a:t>
            </a:r>
            <a:r>
              <a:rPr lang="en-US" sz="2400" dirty="0">
                <a:solidFill>
                  <a:srgbClr val="000000"/>
                </a:solidFill>
              </a:rPr>
              <a:t>, </a:t>
            </a:r>
            <a:r>
              <a:rPr lang="en-US" sz="2400" dirty="0" err="1">
                <a:solidFill>
                  <a:srgbClr val="000000"/>
                </a:solidFill>
              </a:rPr>
              <a:t>pengenalan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wajah</a:t>
            </a:r>
            <a:r>
              <a:rPr lang="en-US" sz="2400" dirty="0">
                <a:solidFill>
                  <a:srgbClr val="000000"/>
                </a:solidFill>
              </a:rPr>
              <a:t>, </a:t>
            </a:r>
            <a:r>
              <a:rPr lang="en-US" sz="2400" dirty="0" err="1">
                <a:solidFill>
                  <a:srgbClr val="000000"/>
                </a:solidFill>
              </a:rPr>
              <a:t>identifikasi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sinyal</a:t>
            </a:r>
            <a:r>
              <a:rPr lang="en-US" sz="2400" dirty="0">
                <a:solidFill>
                  <a:srgbClr val="000000"/>
                </a:solidFill>
              </a:rPr>
              <a:t> / </a:t>
            </a:r>
            <a:r>
              <a:rPr lang="en-US" sz="2400" dirty="0" err="1">
                <a:solidFill>
                  <a:srgbClr val="000000"/>
                </a:solidFill>
              </a:rPr>
              <a:t>gambar</a:t>
            </a:r>
            <a:r>
              <a:rPr lang="en-US" sz="2400" dirty="0">
                <a:solidFill>
                  <a:srgbClr val="000000"/>
                </a:solidFill>
              </a:rPr>
              <a:t>.</a:t>
            </a:r>
          </a:p>
          <a:p>
            <a:r>
              <a:rPr lang="en-US" sz="2400" dirty="0" err="1">
                <a:solidFill>
                  <a:srgbClr val="000000"/>
                </a:solidFill>
              </a:rPr>
              <a:t>Elektronik</a:t>
            </a:r>
            <a:r>
              <a:rPr lang="en-US" sz="2400" dirty="0">
                <a:solidFill>
                  <a:srgbClr val="000000"/>
                </a:solidFill>
              </a:rPr>
              <a:t> - </a:t>
            </a:r>
            <a:r>
              <a:rPr lang="en-US" sz="2400" dirty="0" err="1">
                <a:solidFill>
                  <a:srgbClr val="000000"/>
                </a:solidFill>
              </a:rPr>
              <a:t>Prediksi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urutan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kode</a:t>
            </a:r>
            <a:r>
              <a:rPr lang="en-US" sz="2400" dirty="0">
                <a:solidFill>
                  <a:srgbClr val="000000"/>
                </a:solidFill>
              </a:rPr>
              <a:t>, tata </a:t>
            </a:r>
            <a:r>
              <a:rPr lang="en-US" sz="2400" dirty="0" err="1">
                <a:solidFill>
                  <a:srgbClr val="000000"/>
                </a:solidFill>
              </a:rPr>
              <a:t>letak</a:t>
            </a:r>
            <a:r>
              <a:rPr lang="en-US" sz="2400" dirty="0">
                <a:solidFill>
                  <a:srgbClr val="000000"/>
                </a:solidFill>
              </a:rPr>
              <a:t> chip IC, </a:t>
            </a:r>
            <a:r>
              <a:rPr lang="en-US" sz="2400" dirty="0" err="1">
                <a:solidFill>
                  <a:srgbClr val="000000"/>
                </a:solidFill>
              </a:rPr>
              <a:t>analisis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kegagalan</a:t>
            </a:r>
            <a:r>
              <a:rPr lang="en-US" sz="2400" dirty="0">
                <a:solidFill>
                  <a:srgbClr val="000000"/>
                </a:solidFill>
              </a:rPr>
              <a:t> chip, </a:t>
            </a:r>
            <a:r>
              <a:rPr lang="en-US" sz="2400" dirty="0" err="1">
                <a:solidFill>
                  <a:srgbClr val="000000"/>
                </a:solidFill>
              </a:rPr>
              <a:t>visi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mesin</a:t>
            </a:r>
            <a:r>
              <a:rPr lang="en-US" sz="2400" dirty="0">
                <a:solidFill>
                  <a:srgbClr val="000000"/>
                </a:solidFill>
              </a:rPr>
              <a:t>, </a:t>
            </a:r>
            <a:r>
              <a:rPr lang="en-US" sz="2400" dirty="0" err="1">
                <a:solidFill>
                  <a:srgbClr val="000000"/>
                </a:solidFill>
              </a:rPr>
              <a:t>sintesis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suara</a:t>
            </a:r>
            <a:r>
              <a:rPr lang="en-US" sz="2400" dirty="0">
                <a:solidFill>
                  <a:srgbClr val="000000"/>
                </a:solidFill>
              </a:rPr>
              <a:t>.</a:t>
            </a:r>
          </a:p>
          <a:p>
            <a:r>
              <a:rPr lang="en-US" sz="2400" dirty="0" err="1">
                <a:solidFill>
                  <a:srgbClr val="000000"/>
                </a:solidFill>
              </a:rPr>
              <a:t>Medis</a:t>
            </a:r>
            <a:r>
              <a:rPr lang="en-US" sz="2400" dirty="0">
                <a:solidFill>
                  <a:srgbClr val="000000"/>
                </a:solidFill>
              </a:rPr>
              <a:t> - </a:t>
            </a:r>
            <a:r>
              <a:rPr lang="en-US" sz="2400" dirty="0" err="1">
                <a:solidFill>
                  <a:srgbClr val="000000"/>
                </a:solidFill>
              </a:rPr>
              <a:t>Analisis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sel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kanker</a:t>
            </a:r>
            <a:r>
              <a:rPr lang="en-US" sz="2400" dirty="0">
                <a:solidFill>
                  <a:srgbClr val="000000"/>
                </a:solidFill>
              </a:rPr>
              <a:t>, </a:t>
            </a:r>
            <a:r>
              <a:rPr lang="en-US" sz="2400" dirty="0" err="1">
                <a:solidFill>
                  <a:srgbClr val="000000"/>
                </a:solidFill>
              </a:rPr>
              <a:t>analisis</a:t>
            </a:r>
            <a:r>
              <a:rPr lang="en-US" sz="2400" dirty="0">
                <a:solidFill>
                  <a:srgbClr val="000000"/>
                </a:solidFill>
              </a:rPr>
              <a:t> EEG dan EKG, </a:t>
            </a:r>
            <a:r>
              <a:rPr lang="en-US" sz="2400" dirty="0" err="1">
                <a:solidFill>
                  <a:srgbClr val="000000"/>
                </a:solidFill>
              </a:rPr>
              <a:t>desain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prostetik</a:t>
            </a:r>
            <a:r>
              <a:rPr lang="en-US" sz="2400" dirty="0">
                <a:solidFill>
                  <a:srgbClr val="000000"/>
                </a:solidFill>
              </a:rPr>
              <a:t>, </a:t>
            </a:r>
            <a:r>
              <a:rPr lang="en-US" sz="2400" dirty="0" err="1">
                <a:solidFill>
                  <a:srgbClr val="000000"/>
                </a:solidFill>
              </a:rPr>
              <a:t>pengoptimal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waktu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transplantasi</a:t>
            </a:r>
            <a:r>
              <a:rPr lang="en-US" sz="2400" dirty="0">
                <a:solidFill>
                  <a:srgbClr val="00000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242390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AutoShape 2"/>
          <p:cNvSpPr>
            <a:spLocks noGrp="1" noChangeArrowheads="1"/>
          </p:cNvSpPr>
          <p:nvPr>
            <p:ph type="title"/>
          </p:nvPr>
        </p:nvSpPr>
        <p:spPr>
          <a:xfrm>
            <a:off x="1016000" y="762000"/>
            <a:ext cx="10566400" cy="823609"/>
          </a:xfrm>
        </p:spPr>
        <p:txBody>
          <a:bodyPr/>
          <a:lstStyle/>
          <a:p>
            <a:r>
              <a:rPr lang="en-US" dirty="0" err="1"/>
              <a:t>Penerapan</a:t>
            </a:r>
            <a:r>
              <a:rPr lang="en-US" dirty="0"/>
              <a:t> JST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200112" y="1585609"/>
            <a:ext cx="9743505" cy="4510391"/>
          </a:xfrm>
        </p:spPr>
        <p:txBody>
          <a:bodyPr/>
          <a:lstStyle/>
          <a:p>
            <a:r>
              <a:rPr lang="en-US" sz="2400" i="1" dirty="0">
                <a:solidFill>
                  <a:srgbClr val="000000"/>
                </a:solidFill>
              </a:rPr>
              <a:t>Speech</a:t>
            </a:r>
            <a:r>
              <a:rPr lang="en-US" sz="2400" dirty="0">
                <a:solidFill>
                  <a:srgbClr val="000000"/>
                </a:solidFill>
              </a:rPr>
              <a:t> - </a:t>
            </a:r>
            <a:r>
              <a:rPr lang="en-US" sz="2400" dirty="0" err="1">
                <a:solidFill>
                  <a:srgbClr val="000000"/>
                </a:solidFill>
              </a:rPr>
              <a:t>Pengenalan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ucapan</a:t>
            </a:r>
            <a:r>
              <a:rPr lang="en-US" sz="2400" dirty="0">
                <a:solidFill>
                  <a:srgbClr val="000000"/>
                </a:solidFill>
              </a:rPr>
              <a:t>, </a:t>
            </a:r>
            <a:r>
              <a:rPr lang="en-US" sz="2400" dirty="0" err="1">
                <a:solidFill>
                  <a:srgbClr val="000000"/>
                </a:solidFill>
              </a:rPr>
              <a:t>klasifikasi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ucapan</a:t>
            </a:r>
            <a:r>
              <a:rPr lang="en-US" sz="2400" dirty="0">
                <a:solidFill>
                  <a:srgbClr val="000000"/>
                </a:solidFill>
              </a:rPr>
              <a:t>, </a:t>
            </a:r>
            <a:r>
              <a:rPr lang="en-US" sz="2400" dirty="0" err="1">
                <a:solidFill>
                  <a:srgbClr val="000000"/>
                </a:solidFill>
              </a:rPr>
              <a:t>konversi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teks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ke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ucapan</a:t>
            </a:r>
            <a:r>
              <a:rPr lang="en-US" sz="2400" dirty="0">
                <a:solidFill>
                  <a:srgbClr val="000000"/>
                </a:solidFill>
              </a:rPr>
              <a:t>.</a:t>
            </a:r>
          </a:p>
          <a:p>
            <a:r>
              <a:rPr lang="en-US" sz="2400" dirty="0">
                <a:solidFill>
                  <a:srgbClr val="000000"/>
                </a:solidFill>
              </a:rPr>
              <a:t>Telekomunikasi - </a:t>
            </a:r>
            <a:r>
              <a:rPr lang="en-US" sz="2400" dirty="0" err="1">
                <a:solidFill>
                  <a:srgbClr val="000000"/>
                </a:solidFill>
              </a:rPr>
              <a:t>Kompresi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gambar</a:t>
            </a:r>
            <a:r>
              <a:rPr lang="en-US" sz="2400" dirty="0">
                <a:solidFill>
                  <a:srgbClr val="000000"/>
                </a:solidFill>
              </a:rPr>
              <a:t> dan data, </a:t>
            </a:r>
            <a:r>
              <a:rPr lang="en-US" sz="2400" dirty="0" err="1">
                <a:solidFill>
                  <a:srgbClr val="000000"/>
                </a:solidFill>
              </a:rPr>
              <a:t>layanan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informasi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otomatis</a:t>
            </a:r>
            <a:r>
              <a:rPr lang="en-US" sz="2400" dirty="0">
                <a:solidFill>
                  <a:srgbClr val="000000"/>
                </a:solidFill>
              </a:rPr>
              <a:t>, </a:t>
            </a:r>
            <a:r>
              <a:rPr lang="en-US" sz="2400" dirty="0" err="1">
                <a:solidFill>
                  <a:srgbClr val="000000"/>
                </a:solidFill>
              </a:rPr>
              <a:t>terjemahan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bahasa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lisan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waktu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nyata</a:t>
            </a:r>
            <a:r>
              <a:rPr lang="en-US" sz="2400" dirty="0">
                <a:solidFill>
                  <a:srgbClr val="000000"/>
                </a:solidFill>
              </a:rPr>
              <a:t>.</a:t>
            </a:r>
          </a:p>
          <a:p>
            <a:r>
              <a:rPr lang="en-US" sz="2400" dirty="0" err="1">
                <a:solidFill>
                  <a:srgbClr val="000000"/>
                </a:solidFill>
              </a:rPr>
              <a:t>Transportasi</a:t>
            </a:r>
            <a:r>
              <a:rPr lang="en-US" sz="2400" dirty="0">
                <a:solidFill>
                  <a:srgbClr val="000000"/>
                </a:solidFill>
              </a:rPr>
              <a:t> - Diagnosis </a:t>
            </a:r>
            <a:r>
              <a:rPr lang="en-US" sz="2400" dirty="0" err="1">
                <a:solidFill>
                  <a:srgbClr val="000000"/>
                </a:solidFill>
              </a:rPr>
              <a:t>sistem</a:t>
            </a:r>
            <a:r>
              <a:rPr lang="en-US" sz="2400" dirty="0">
                <a:solidFill>
                  <a:srgbClr val="000000"/>
                </a:solidFill>
              </a:rPr>
              <a:t> rem </a:t>
            </a:r>
            <a:r>
              <a:rPr lang="en-US" sz="2400" dirty="0" err="1">
                <a:solidFill>
                  <a:srgbClr val="000000"/>
                </a:solidFill>
              </a:rPr>
              <a:t>truk</a:t>
            </a:r>
            <a:r>
              <a:rPr lang="en-US" sz="2400" dirty="0">
                <a:solidFill>
                  <a:srgbClr val="000000"/>
                </a:solidFill>
              </a:rPr>
              <a:t>, </a:t>
            </a:r>
            <a:r>
              <a:rPr lang="en-US" sz="2400" dirty="0" err="1">
                <a:solidFill>
                  <a:srgbClr val="000000"/>
                </a:solidFill>
              </a:rPr>
              <a:t>penjadwalan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kendaraan</a:t>
            </a:r>
            <a:r>
              <a:rPr lang="en-US" sz="2400" dirty="0">
                <a:solidFill>
                  <a:srgbClr val="000000"/>
                </a:solidFill>
              </a:rPr>
              <a:t>, </a:t>
            </a:r>
            <a:r>
              <a:rPr lang="en-US" sz="2400" dirty="0" err="1">
                <a:solidFill>
                  <a:srgbClr val="000000"/>
                </a:solidFill>
              </a:rPr>
              <a:t>sistem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perutean</a:t>
            </a:r>
            <a:r>
              <a:rPr lang="en-US" sz="2400" dirty="0">
                <a:solidFill>
                  <a:srgbClr val="000000"/>
                </a:solidFill>
              </a:rPr>
              <a:t>.</a:t>
            </a:r>
          </a:p>
          <a:p>
            <a:r>
              <a:rPr lang="en-US" sz="2400" i="1" dirty="0">
                <a:solidFill>
                  <a:srgbClr val="000000"/>
                </a:solidFill>
              </a:rPr>
              <a:t>Software</a:t>
            </a:r>
            <a:r>
              <a:rPr lang="en-US" sz="2400" dirty="0">
                <a:solidFill>
                  <a:srgbClr val="000000"/>
                </a:solidFill>
              </a:rPr>
              <a:t> - </a:t>
            </a:r>
            <a:r>
              <a:rPr lang="en-US" sz="2400" dirty="0" err="1">
                <a:solidFill>
                  <a:srgbClr val="000000"/>
                </a:solidFill>
              </a:rPr>
              <a:t>Pengenalan</a:t>
            </a:r>
            <a:r>
              <a:rPr lang="en-US" sz="2400" dirty="0">
                <a:solidFill>
                  <a:srgbClr val="000000"/>
                </a:solidFill>
              </a:rPr>
              <a:t> Pola </a:t>
            </a:r>
            <a:r>
              <a:rPr lang="en-US" sz="2400" dirty="0" err="1">
                <a:solidFill>
                  <a:srgbClr val="000000"/>
                </a:solidFill>
              </a:rPr>
              <a:t>dalam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pengenalan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wajah</a:t>
            </a:r>
            <a:r>
              <a:rPr lang="en-US" sz="2400" dirty="0">
                <a:solidFill>
                  <a:srgbClr val="000000"/>
                </a:solidFill>
              </a:rPr>
              <a:t>, </a:t>
            </a:r>
            <a:r>
              <a:rPr lang="en-US" sz="2400" dirty="0" err="1">
                <a:solidFill>
                  <a:srgbClr val="000000"/>
                </a:solidFill>
              </a:rPr>
              <a:t>pengenalan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karakter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optik</a:t>
            </a:r>
            <a:r>
              <a:rPr lang="en-US" sz="2400" dirty="0">
                <a:solidFill>
                  <a:srgbClr val="000000"/>
                </a:solidFill>
              </a:rPr>
              <a:t>, </a:t>
            </a:r>
            <a:r>
              <a:rPr lang="en-US" sz="2400" dirty="0" err="1">
                <a:solidFill>
                  <a:srgbClr val="000000"/>
                </a:solidFill>
              </a:rPr>
              <a:t>dll</a:t>
            </a:r>
            <a:r>
              <a:rPr lang="en-US" sz="2400" dirty="0">
                <a:solidFill>
                  <a:srgbClr val="000000"/>
                </a:solidFill>
              </a:rPr>
              <a:t>.</a:t>
            </a:r>
          </a:p>
          <a:p>
            <a:r>
              <a:rPr lang="en-US" sz="2400" i="1" dirty="0">
                <a:solidFill>
                  <a:srgbClr val="000000"/>
                </a:solidFill>
              </a:rPr>
              <a:t>Time Series Prediction </a:t>
            </a:r>
            <a:r>
              <a:rPr lang="en-US" sz="2400" dirty="0">
                <a:solidFill>
                  <a:srgbClr val="000000"/>
                </a:solidFill>
              </a:rPr>
              <a:t>- JST </a:t>
            </a:r>
            <a:r>
              <a:rPr lang="en-US" sz="2400" dirty="0" err="1">
                <a:solidFill>
                  <a:srgbClr val="000000"/>
                </a:solidFill>
              </a:rPr>
              <a:t>digunakan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untuk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membuat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prediksi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tentang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saham</a:t>
            </a:r>
            <a:r>
              <a:rPr lang="en-US" sz="2400" dirty="0">
                <a:solidFill>
                  <a:srgbClr val="000000"/>
                </a:solidFill>
              </a:rPr>
              <a:t> dan </a:t>
            </a:r>
            <a:r>
              <a:rPr lang="en-US" sz="2400" dirty="0" err="1">
                <a:solidFill>
                  <a:srgbClr val="000000"/>
                </a:solidFill>
              </a:rPr>
              <a:t>bencana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alam</a:t>
            </a:r>
            <a:r>
              <a:rPr lang="en-US" sz="2400" dirty="0">
                <a:solidFill>
                  <a:srgbClr val="00000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051339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3"/>
          <p:cNvSpPr txBox="1">
            <a:spLocks noGrp="1"/>
          </p:cNvSpPr>
          <p:nvPr>
            <p:ph type="ctrTitle"/>
          </p:nvPr>
        </p:nvSpPr>
        <p:spPr>
          <a:xfrm>
            <a:off x="5835541" y="2275158"/>
            <a:ext cx="5529197" cy="1920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5400"/>
              <a:buFont typeface="Twentieth Century"/>
              <a:buNone/>
            </a:pPr>
            <a:r>
              <a:rPr lang="en-US" sz="5400"/>
              <a:t>Jenis Jaringan Neural dalam Pembelajaran Mesin</a:t>
            </a:r>
            <a:endParaRPr sz="5400"/>
          </a:p>
        </p:txBody>
      </p:sp>
      <p:pic>
        <p:nvPicPr>
          <p:cNvPr id="341" name="Google Shape;341;p13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19738" r="19739"/>
          <a:stretch/>
        </p:blipFill>
        <p:spPr>
          <a:xfrm>
            <a:off x="0" y="499621"/>
            <a:ext cx="5316718" cy="5856730"/>
          </a:xfrm>
          <a:prstGeom prst="flowChartDelay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AutoShape 2"/>
          <p:cNvSpPr>
            <a:spLocks noGrp="1" noChangeArrowheads="1"/>
          </p:cNvSpPr>
          <p:nvPr>
            <p:ph type="title"/>
          </p:nvPr>
        </p:nvSpPr>
        <p:spPr>
          <a:xfrm>
            <a:off x="656077" y="419101"/>
            <a:ext cx="10566400" cy="1143000"/>
          </a:xfrm>
        </p:spPr>
        <p:txBody>
          <a:bodyPr/>
          <a:lstStyle/>
          <a:p>
            <a:r>
              <a:rPr lang="en-US" dirty="0"/>
              <a:t>Proses </a:t>
            </a:r>
            <a:r>
              <a:rPr lang="en-US" dirty="0" err="1"/>
              <a:t>Pembelajaran</a:t>
            </a:r>
            <a:endParaRPr lang="en-US" dirty="0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56077" y="1514476"/>
            <a:ext cx="10482093" cy="4572000"/>
          </a:xfrm>
        </p:spPr>
        <p:txBody>
          <a:bodyPr/>
          <a:lstStyle/>
          <a:p>
            <a:r>
              <a:rPr lang="en-US" sz="2400" dirty="0">
                <a:solidFill>
                  <a:srgbClr val="000000"/>
                </a:solidFill>
              </a:rPr>
              <a:t>Cara </a:t>
            </a:r>
            <a:r>
              <a:rPr lang="en-US" sz="2400" dirty="0" err="1">
                <a:solidFill>
                  <a:srgbClr val="000000"/>
                </a:solidFill>
              </a:rPr>
              <a:t>belajar</a:t>
            </a:r>
            <a:r>
              <a:rPr lang="en-US" sz="2400" dirty="0">
                <a:solidFill>
                  <a:srgbClr val="000000"/>
                </a:solidFill>
              </a:rPr>
              <a:t> JST :  </a:t>
            </a:r>
            <a:r>
              <a:rPr lang="en-US" sz="2400" dirty="0" err="1">
                <a:solidFill>
                  <a:srgbClr val="000000"/>
                </a:solidFill>
              </a:rPr>
              <a:t>Ke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dalam</a:t>
            </a:r>
            <a:r>
              <a:rPr lang="en-US" sz="2400" dirty="0">
                <a:solidFill>
                  <a:srgbClr val="000000"/>
                </a:solidFill>
              </a:rPr>
              <a:t> JST </a:t>
            </a:r>
            <a:r>
              <a:rPr lang="en-US" sz="2400" dirty="0" err="1">
                <a:solidFill>
                  <a:srgbClr val="000000"/>
                </a:solidFill>
              </a:rPr>
              <a:t>diinputkan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informasi</a:t>
            </a:r>
            <a:r>
              <a:rPr lang="en-US" sz="2400" dirty="0">
                <a:solidFill>
                  <a:srgbClr val="000000"/>
                </a:solidFill>
              </a:rPr>
              <a:t> yang </a:t>
            </a:r>
            <a:r>
              <a:rPr lang="en-US" sz="2400" dirty="0" err="1">
                <a:solidFill>
                  <a:srgbClr val="000000"/>
                </a:solidFill>
              </a:rPr>
              <a:t>sebelumnya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telah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diketahui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hasil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keluarannya</a:t>
            </a:r>
            <a:r>
              <a:rPr lang="en-US" sz="2400" dirty="0">
                <a:solidFill>
                  <a:srgbClr val="000000"/>
                </a:solidFill>
              </a:rPr>
              <a:t>. </a:t>
            </a:r>
          </a:p>
          <a:p>
            <a:r>
              <a:rPr lang="en-US" sz="2400" dirty="0" err="1">
                <a:solidFill>
                  <a:srgbClr val="000000"/>
                </a:solidFill>
              </a:rPr>
              <a:t>Penginputan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informasi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ini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dilakukan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lewat</a:t>
            </a:r>
            <a:r>
              <a:rPr lang="en-US" sz="2400" dirty="0">
                <a:solidFill>
                  <a:srgbClr val="000000"/>
                </a:solidFill>
              </a:rPr>
              <a:t> node-node </a:t>
            </a:r>
            <a:r>
              <a:rPr lang="en-US" sz="2400" dirty="0" err="1">
                <a:solidFill>
                  <a:srgbClr val="000000"/>
                </a:solidFill>
              </a:rPr>
              <a:t>atau</a:t>
            </a:r>
            <a:r>
              <a:rPr lang="en-US" sz="2400" dirty="0">
                <a:solidFill>
                  <a:srgbClr val="000000"/>
                </a:solidFill>
              </a:rPr>
              <a:t> unit-unit input. </a:t>
            </a:r>
            <a:r>
              <a:rPr lang="en-US" sz="2400" dirty="0" err="1">
                <a:solidFill>
                  <a:srgbClr val="000000"/>
                </a:solidFill>
              </a:rPr>
              <a:t>Bobot-bobot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antarkoneksi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dalam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suatu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arsitektur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diberi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nilai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awal</a:t>
            </a:r>
            <a:r>
              <a:rPr lang="en-US" sz="2400" dirty="0">
                <a:solidFill>
                  <a:srgbClr val="000000"/>
                </a:solidFill>
              </a:rPr>
              <a:t> dan </a:t>
            </a:r>
            <a:r>
              <a:rPr lang="en-US" sz="2400" dirty="0" err="1">
                <a:solidFill>
                  <a:srgbClr val="000000"/>
                </a:solidFill>
              </a:rPr>
              <a:t>kemudian</a:t>
            </a:r>
            <a:r>
              <a:rPr lang="en-US" sz="2400" dirty="0">
                <a:solidFill>
                  <a:srgbClr val="000000"/>
                </a:solidFill>
              </a:rPr>
              <a:t> JST </a:t>
            </a:r>
            <a:r>
              <a:rPr lang="en-US" sz="2400" dirty="0" err="1">
                <a:solidFill>
                  <a:srgbClr val="000000"/>
                </a:solidFill>
              </a:rPr>
              <a:t>dijalankan</a:t>
            </a:r>
            <a:r>
              <a:rPr lang="en-US" sz="2400" dirty="0">
                <a:solidFill>
                  <a:srgbClr val="000000"/>
                </a:solidFill>
              </a:rPr>
              <a:t>. </a:t>
            </a:r>
          </a:p>
          <a:p>
            <a:r>
              <a:rPr lang="en-US" sz="2400" dirty="0" err="1">
                <a:solidFill>
                  <a:srgbClr val="000000"/>
                </a:solidFill>
              </a:rPr>
              <a:t>Metode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Pembelajaran</a:t>
            </a:r>
            <a:r>
              <a:rPr lang="en-US" sz="2400" dirty="0">
                <a:solidFill>
                  <a:srgbClr val="000000"/>
                </a:solidFill>
              </a:rPr>
              <a:t> :</a:t>
            </a:r>
          </a:p>
          <a:p>
            <a:pPr marL="1200150" lvl="1"/>
            <a:r>
              <a:rPr lang="en-US" sz="2400" dirty="0" err="1">
                <a:solidFill>
                  <a:srgbClr val="000000"/>
                </a:solidFill>
              </a:rPr>
              <a:t>Pembelajaran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terawasi</a:t>
            </a:r>
            <a:r>
              <a:rPr lang="en-US" sz="2400" dirty="0">
                <a:solidFill>
                  <a:srgbClr val="000000"/>
                </a:solidFill>
              </a:rPr>
              <a:t>  (</a:t>
            </a:r>
            <a:r>
              <a:rPr lang="en-US" sz="2400" i="1" dirty="0">
                <a:solidFill>
                  <a:srgbClr val="000000"/>
                </a:solidFill>
              </a:rPr>
              <a:t>supervised learning</a:t>
            </a:r>
            <a:r>
              <a:rPr lang="en-US" sz="2400" dirty="0">
                <a:solidFill>
                  <a:srgbClr val="000000"/>
                </a:solidFill>
              </a:rPr>
              <a:t>) </a:t>
            </a:r>
          </a:p>
          <a:p>
            <a:pPr marL="1200150" lvl="1"/>
            <a:r>
              <a:rPr lang="en-US" sz="2400" dirty="0" err="1">
                <a:solidFill>
                  <a:srgbClr val="000000"/>
                </a:solidFill>
              </a:rPr>
              <a:t>Pembelajaran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tak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terawasi</a:t>
            </a:r>
            <a:r>
              <a:rPr lang="en-US" sz="2400" dirty="0">
                <a:solidFill>
                  <a:srgbClr val="000000"/>
                </a:solidFill>
              </a:rPr>
              <a:t>  (</a:t>
            </a:r>
            <a:r>
              <a:rPr lang="en-US" sz="2400" i="1" dirty="0">
                <a:solidFill>
                  <a:srgbClr val="000000"/>
                </a:solidFill>
              </a:rPr>
              <a:t>unsupervised learning</a:t>
            </a:r>
            <a:r>
              <a:rPr lang="en-US" sz="2400" dirty="0">
                <a:solidFill>
                  <a:srgbClr val="000000"/>
                </a:solidFill>
              </a:rPr>
              <a:t>) </a:t>
            </a:r>
          </a:p>
          <a:p>
            <a:pPr marL="1200150" lvl="1"/>
            <a:r>
              <a:rPr lang="en-US" sz="2400" dirty="0" err="1">
                <a:solidFill>
                  <a:srgbClr val="000000"/>
                </a:solidFill>
              </a:rPr>
              <a:t>Gabungan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pembelajaran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terawasi</a:t>
            </a:r>
            <a:r>
              <a:rPr lang="en-US" sz="2400" dirty="0">
                <a:solidFill>
                  <a:srgbClr val="000000"/>
                </a:solidFill>
              </a:rPr>
              <a:t>  dan </a:t>
            </a:r>
            <a:r>
              <a:rPr lang="en-US" sz="2400" dirty="0" err="1">
                <a:solidFill>
                  <a:srgbClr val="000000"/>
                </a:solidFill>
              </a:rPr>
              <a:t>tak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terawasi</a:t>
            </a:r>
            <a:r>
              <a:rPr lang="en-US" sz="2400" dirty="0">
                <a:solidFill>
                  <a:srgbClr val="000000"/>
                </a:solidFill>
              </a:rPr>
              <a:t>  (</a:t>
            </a:r>
            <a:r>
              <a:rPr lang="en-US" sz="2400" i="1" dirty="0">
                <a:solidFill>
                  <a:srgbClr val="000000"/>
                </a:solidFill>
              </a:rPr>
              <a:t>hybrid</a:t>
            </a:r>
            <a:r>
              <a:rPr lang="en-US" sz="2400" dirty="0">
                <a:solidFill>
                  <a:srgbClr val="000000"/>
                </a:solidFill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33887098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AutoShape 2"/>
          <p:cNvSpPr>
            <a:spLocks noGrp="1" noChangeArrowheads="1"/>
          </p:cNvSpPr>
          <p:nvPr>
            <p:ph type="title"/>
          </p:nvPr>
        </p:nvSpPr>
        <p:spPr>
          <a:xfrm>
            <a:off x="913095" y="419101"/>
            <a:ext cx="10566400" cy="1143000"/>
          </a:xfrm>
        </p:spPr>
        <p:txBody>
          <a:bodyPr/>
          <a:lstStyle/>
          <a:p>
            <a:r>
              <a:rPr lang="en-US" i="1" dirty="0"/>
              <a:t>Supervised Learning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13095" y="1428345"/>
            <a:ext cx="8760564" cy="4572000"/>
          </a:xfrm>
        </p:spPr>
        <p:txBody>
          <a:bodyPr/>
          <a:lstStyle/>
          <a:p>
            <a:r>
              <a:rPr lang="en-US" sz="2400" dirty="0">
                <a:solidFill>
                  <a:srgbClr val="000000"/>
                </a:solidFill>
              </a:rPr>
              <a:t>Satu </a:t>
            </a:r>
            <a:r>
              <a:rPr lang="en-US" sz="2400" dirty="0" err="1">
                <a:solidFill>
                  <a:srgbClr val="000000"/>
                </a:solidFill>
              </a:rPr>
              <a:t>pola</a:t>
            </a:r>
            <a:r>
              <a:rPr lang="en-US" sz="2400" dirty="0">
                <a:solidFill>
                  <a:srgbClr val="000000"/>
                </a:solidFill>
              </a:rPr>
              <a:t> input </a:t>
            </a:r>
            <a:r>
              <a:rPr lang="en-US" sz="2400" dirty="0" err="1">
                <a:solidFill>
                  <a:srgbClr val="000000"/>
                </a:solidFill>
              </a:rPr>
              <a:t>akan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diberikan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ke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satu</a:t>
            </a:r>
            <a:r>
              <a:rPr lang="en-US" sz="2400" dirty="0">
                <a:solidFill>
                  <a:srgbClr val="000000"/>
                </a:solidFill>
              </a:rPr>
              <a:t> neuron pada </a:t>
            </a:r>
            <a:r>
              <a:rPr lang="en-US" sz="2400" dirty="0" err="1">
                <a:solidFill>
                  <a:srgbClr val="000000"/>
                </a:solidFill>
              </a:rPr>
              <a:t>lapisan</a:t>
            </a:r>
            <a:r>
              <a:rPr lang="en-US" sz="2400" dirty="0">
                <a:solidFill>
                  <a:srgbClr val="000000"/>
                </a:solidFill>
              </a:rPr>
              <a:t> input </a:t>
            </a:r>
          </a:p>
          <a:p>
            <a:r>
              <a:rPr lang="en-US" sz="2400" dirty="0">
                <a:solidFill>
                  <a:srgbClr val="000000"/>
                </a:solidFill>
              </a:rPr>
              <a:t>Pola </a:t>
            </a:r>
            <a:r>
              <a:rPr lang="en-US" sz="2400" dirty="0" err="1">
                <a:solidFill>
                  <a:srgbClr val="000000"/>
                </a:solidFill>
              </a:rPr>
              <a:t>ini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akan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dirambatkan</a:t>
            </a:r>
            <a:r>
              <a:rPr lang="en-US" sz="2400" dirty="0">
                <a:solidFill>
                  <a:srgbClr val="000000"/>
                </a:solidFill>
              </a:rPr>
              <a:t> di </a:t>
            </a:r>
            <a:r>
              <a:rPr lang="en-US" sz="2400" dirty="0" err="1">
                <a:solidFill>
                  <a:srgbClr val="000000"/>
                </a:solidFill>
              </a:rPr>
              <a:t>sepanjang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jaringan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syaraf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hingga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sampai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ke</a:t>
            </a:r>
            <a:r>
              <a:rPr lang="en-US" sz="2400" dirty="0">
                <a:solidFill>
                  <a:srgbClr val="000000"/>
                </a:solidFill>
              </a:rPr>
              <a:t> neuron pada </a:t>
            </a:r>
            <a:r>
              <a:rPr lang="en-US" sz="2400" dirty="0" err="1">
                <a:solidFill>
                  <a:srgbClr val="000000"/>
                </a:solidFill>
              </a:rPr>
              <a:t>lapisan</a:t>
            </a:r>
            <a:r>
              <a:rPr lang="en-US" sz="2400" dirty="0">
                <a:solidFill>
                  <a:srgbClr val="000000"/>
                </a:solidFill>
              </a:rPr>
              <a:t> output </a:t>
            </a:r>
          </a:p>
          <a:p>
            <a:r>
              <a:rPr lang="en-US" sz="2400" dirty="0" err="1">
                <a:solidFill>
                  <a:srgbClr val="000000"/>
                </a:solidFill>
              </a:rPr>
              <a:t>Lapisan</a:t>
            </a:r>
            <a:r>
              <a:rPr lang="en-US" sz="2400" dirty="0">
                <a:solidFill>
                  <a:srgbClr val="000000"/>
                </a:solidFill>
              </a:rPr>
              <a:t> output </a:t>
            </a:r>
            <a:r>
              <a:rPr lang="en-US" sz="2400" dirty="0" err="1">
                <a:solidFill>
                  <a:srgbClr val="000000"/>
                </a:solidFill>
              </a:rPr>
              <a:t>ini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akan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membangkitkan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pola</a:t>
            </a:r>
            <a:r>
              <a:rPr lang="en-US" sz="2400" dirty="0">
                <a:solidFill>
                  <a:srgbClr val="000000"/>
                </a:solidFill>
              </a:rPr>
              <a:t> output yang </a:t>
            </a:r>
            <a:r>
              <a:rPr lang="en-US" sz="2400" dirty="0" err="1">
                <a:solidFill>
                  <a:srgbClr val="000000"/>
                </a:solidFill>
              </a:rPr>
              <a:t>akan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dicocokkan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dengan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pola</a:t>
            </a:r>
            <a:r>
              <a:rPr lang="en-US" sz="2400" dirty="0">
                <a:solidFill>
                  <a:srgbClr val="000000"/>
                </a:solidFill>
              </a:rPr>
              <a:t> output </a:t>
            </a:r>
            <a:r>
              <a:rPr lang="en-US" sz="2400" dirty="0" err="1">
                <a:solidFill>
                  <a:srgbClr val="000000"/>
                </a:solidFill>
              </a:rPr>
              <a:t>targetnya</a:t>
            </a:r>
            <a:endParaRPr lang="en-US" sz="2400" dirty="0">
              <a:solidFill>
                <a:srgbClr val="000000"/>
              </a:solidFill>
            </a:endParaRPr>
          </a:p>
          <a:p>
            <a:r>
              <a:rPr lang="en-US" sz="2400" dirty="0" err="1">
                <a:solidFill>
                  <a:srgbClr val="000000"/>
                </a:solidFill>
              </a:rPr>
              <a:t>Metode</a:t>
            </a:r>
            <a:r>
              <a:rPr lang="en-US" sz="2400" dirty="0">
                <a:solidFill>
                  <a:srgbClr val="000000"/>
                </a:solidFill>
              </a:rPr>
              <a:t> yang </a:t>
            </a:r>
            <a:r>
              <a:rPr lang="en-US" sz="2400" dirty="0" err="1">
                <a:solidFill>
                  <a:srgbClr val="000000"/>
                </a:solidFill>
              </a:rPr>
              <a:t>termasuk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i="1" dirty="0">
                <a:solidFill>
                  <a:srgbClr val="000000"/>
                </a:solidFill>
              </a:rPr>
              <a:t>supervised learning </a:t>
            </a:r>
            <a:r>
              <a:rPr lang="en-US" sz="2400" dirty="0">
                <a:solidFill>
                  <a:srgbClr val="000000"/>
                </a:solidFill>
              </a:rPr>
              <a:t>: </a:t>
            </a:r>
            <a:r>
              <a:rPr lang="en-US" sz="2400" i="1" dirty="0">
                <a:solidFill>
                  <a:srgbClr val="000000"/>
                </a:solidFill>
              </a:rPr>
              <a:t>Perceptron, Delta Rule, Backpropagation, </a:t>
            </a:r>
            <a:r>
              <a:rPr lang="en-US" sz="2400" i="1" dirty="0" err="1">
                <a:solidFill>
                  <a:srgbClr val="000000"/>
                </a:solidFill>
              </a:rPr>
              <a:t>Heteroassociative</a:t>
            </a:r>
            <a:r>
              <a:rPr lang="en-US" sz="2400" i="1" dirty="0">
                <a:solidFill>
                  <a:srgbClr val="000000"/>
                </a:solidFill>
              </a:rPr>
              <a:t> Memory, Bidirectional Associative Memory (BAM)</a:t>
            </a:r>
            <a:endParaRPr lang="en-US" sz="24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71423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AutoShape 2"/>
          <p:cNvSpPr>
            <a:spLocks noGrp="1" noChangeArrowheads="1"/>
          </p:cNvSpPr>
          <p:nvPr>
            <p:ph type="title"/>
          </p:nvPr>
        </p:nvSpPr>
        <p:spPr>
          <a:xfrm>
            <a:off x="913095" y="533400"/>
            <a:ext cx="10566400" cy="1143000"/>
          </a:xfrm>
        </p:spPr>
        <p:txBody>
          <a:bodyPr/>
          <a:lstStyle/>
          <a:p>
            <a:r>
              <a:rPr lang="en-US" i="1" dirty="0"/>
              <a:t>Unsupervised Learning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010371" y="1533931"/>
            <a:ext cx="9904062" cy="4572000"/>
          </a:xfrm>
        </p:spPr>
        <p:txBody>
          <a:bodyPr/>
          <a:lstStyle/>
          <a:p>
            <a:r>
              <a:rPr lang="en-US" sz="2400" dirty="0" err="1">
                <a:solidFill>
                  <a:srgbClr val="000000"/>
                </a:solidFill>
              </a:rPr>
              <a:t>Tidak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memerlukan</a:t>
            </a:r>
            <a:r>
              <a:rPr lang="en-US" sz="2400" dirty="0">
                <a:solidFill>
                  <a:srgbClr val="000000"/>
                </a:solidFill>
              </a:rPr>
              <a:t> target output </a:t>
            </a:r>
          </a:p>
          <a:p>
            <a:r>
              <a:rPr lang="en-US" sz="2400" dirty="0" err="1">
                <a:solidFill>
                  <a:srgbClr val="000000"/>
                </a:solidFill>
              </a:rPr>
              <a:t>Tidak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dapat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ditentukan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hasil</a:t>
            </a:r>
            <a:r>
              <a:rPr lang="en-US" sz="2400" dirty="0">
                <a:solidFill>
                  <a:srgbClr val="000000"/>
                </a:solidFill>
              </a:rPr>
              <a:t> yang </a:t>
            </a:r>
            <a:r>
              <a:rPr lang="en-US" sz="2400" dirty="0" err="1">
                <a:solidFill>
                  <a:srgbClr val="000000"/>
                </a:solidFill>
              </a:rPr>
              <a:t>diharapkan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selama</a:t>
            </a:r>
            <a:r>
              <a:rPr lang="en-US" sz="2400" dirty="0">
                <a:solidFill>
                  <a:srgbClr val="000000"/>
                </a:solidFill>
              </a:rPr>
              <a:t> proses </a:t>
            </a:r>
            <a:r>
              <a:rPr lang="en-US" sz="2400" dirty="0" err="1">
                <a:solidFill>
                  <a:srgbClr val="000000"/>
                </a:solidFill>
              </a:rPr>
              <a:t>pembelajaran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</a:p>
          <a:p>
            <a:r>
              <a:rPr lang="en-US" sz="2400" dirty="0">
                <a:solidFill>
                  <a:srgbClr val="000000"/>
                </a:solidFill>
              </a:rPr>
              <a:t>Nilai </a:t>
            </a:r>
            <a:r>
              <a:rPr lang="en-US" sz="2400" dirty="0" err="1">
                <a:solidFill>
                  <a:srgbClr val="000000"/>
                </a:solidFill>
              </a:rPr>
              <a:t>bobot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disusun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dalam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suatu</a:t>
            </a:r>
            <a:r>
              <a:rPr lang="en-US" sz="2400" dirty="0">
                <a:solidFill>
                  <a:srgbClr val="000000"/>
                </a:solidFill>
              </a:rPr>
              <a:t> range </a:t>
            </a:r>
            <a:r>
              <a:rPr lang="en-US" sz="2400" dirty="0" err="1">
                <a:solidFill>
                  <a:srgbClr val="000000"/>
                </a:solidFill>
              </a:rPr>
              <a:t>tertentu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tergantung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nilai</a:t>
            </a:r>
            <a:r>
              <a:rPr lang="en-US" sz="2400" dirty="0">
                <a:solidFill>
                  <a:srgbClr val="000000"/>
                </a:solidFill>
              </a:rPr>
              <a:t> input yang </a:t>
            </a:r>
            <a:r>
              <a:rPr lang="en-US" sz="2400" dirty="0" err="1">
                <a:solidFill>
                  <a:srgbClr val="000000"/>
                </a:solidFill>
              </a:rPr>
              <a:t>diberikan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</a:p>
          <a:p>
            <a:r>
              <a:rPr lang="en-US" sz="2400" dirty="0" err="1">
                <a:solidFill>
                  <a:srgbClr val="000000"/>
                </a:solidFill>
              </a:rPr>
              <a:t>Tujuannya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untuk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mengelompokkan</a:t>
            </a:r>
            <a:r>
              <a:rPr lang="en-US" sz="2400" dirty="0">
                <a:solidFill>
                  <a:srgbClr val="000000"/>
                </a:solidFill>
              </a:rPr>
              <a:t> unit yang </a:t>
            </a:r>
            <a:r>
              <a:rPr lang="en-US" sz="2400" dirty="0" err="1">
                <a:solidFill>
                  <a:srgbClr val="000000"/>
                </a:solidFill>
              </a:rPr>
              <a:t>hampir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sama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dalam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suatu</a:t>
            </a:r>
            <a:r>
              <a:rPr lang="en-US" sz="2400" dirty="0">
                <a:solidFill>
                  <a:srgbClr val="000000"/>
                </a:solidFill>
              </a:rPr>
              <a:t> area </a:t>
            </a:r>
            <a:r>
              <a:rPr lang="en-US" sz="2400" dirty="0" err="1">
                <a:solidFill>
                  <a:srgbClr val="000000"/>
                </a:solidFill>
              </a:rPr>
              <a:t>tertentu</a:t>
            </a:r>
            <a:endParaRPr lang="en-US" sz="2400" dirty="0">
              <a:solidFill>
                <a:srgbClr val="000000"/>
              </a:solidFill>
            </a:endParaRPr>
          </a:p>
          <a:p>
            <a:r>
              <a:rPr lang="en-US" sz="2400" dirty="0" err="1">
                <a:solidFill>
                  <a:srgbClr val="000000"/>
                </a:solidFill>
              </a:rPr>
              <a:t>Metode</a:t>
            </a:r>
            <a:r>
              <a:rPr lang="en-US" sz="2400" dirty="0">
                <a:solidFill>
                  <a:srgbClr val="000000"/>
                </a:solidFill>
              </a:rPr>
              <a:t> yang </a:t>
            </a:r>
            <a:r>
              <a:rPr lang="en-US" sz="2400" dirty="0" err="1">
                <a:solidFill>
                  <a:srgbClr val="000000"/>
                </a:solidFill>
              </a:rPr>
              <a:t>termasuk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i="1" dirty="0">
                <a:solidFill>
                  <a:srgbClr val="000000"/>
                </a:solidFill>
              </a:rPr>
              <a:t>unsupervised learning </a:t>
            </a:r>
            <a:r>
              <a:rPr lang="en-US" sz="2400" dirty="0">
                <a:solidFill>
                  <a:srgbClr val="000000"/>
                </a:solidFill>
              </a:rPr>
              <a:t>: </a:t>
            </a:r>
            <a:r>
              <a:rPr lang="en-US" sz="2400" dirty="0" err="1">
                <a:solidFill>
                  <a:srgbClr val="000000"/>
                </a:solidFill>
              </a:rPr>
              <a:t>Kohonen</a:t>
            </a:r>
            <a:r>
              <a:rPr lang="en-US" sz="2400" dirty="0">
                <a:solidFill>
                  <a:srgbClr val="000000"/>
                </a:solidFill>
              </a:rPr>
              <a:t> / </a:t>
            </a:r>
            <a:r>
              <a:rPr lang="en-US" sz="2400" i="1" dirty="0">
                <a:solidFill>
                  <a:srgbClr val="000000"/>
                </a:solidFill>
              </a:rPr>
              <a:t>Self-Organizing Map </a:t>
            </a:r>
            <a:r>
              <a:rPr lang="en-US" sz="2400" dirty="0">
                <a:solidFill>
                  <a:srgbClr val="000000"/>
                </a:solidFill>
              </a:rPr>
              <a:t>(SOM), </a:t>
            </a:r>
            <a:r>
              <a:rPr lang="en-US" sz="2400" i="1" dirty="0">
                <a:solidFill>
                  <a:srgbClr val="000000"/>
                </a:solidFill>
              </a:rPr>
              <a:t>Hopfield</a:t>
            </a:r>
            <a:r>
              <a:rPr lang="en-US" sz="2400" dirty="0">
                <a:solidFill>
                  <a:srgbClr val="000000"/>
                </a:solidFill>
              </a:rPr>
              <a:t>, </a:t>
            </a:r>
            <a:r>
              <a:rPr lang="en-US" sz="2400" i="1" dirty="0" err="1">
                <a:solidFill>
                  <a:srgbClr val="000000"/>
                </a:solidFill>
              </a:rPr>
              <a:t>Hibrida</a:t>
            </a:r>
            <a:r>
              <a:rPr lang="en-US" sz="2400" i="1" dirty="0">
                <a:solidFill>
                  <a:srgbClr val="000000"/>
                </a:solidFill>
              </a:rPr>
              <a:t>, </a:t>
            </a:r>
            <a:r>
              <a:rPr lang="en-US" sz="2400" i="1" dirty="0" err="1">
                <a:solidFill>
                  <a:srgbClr val="000000"/>
                </a:solidFill>
              </a:rPr>
              <a:t>dll</a:t>
            </a:r>
            <a:endParaRPr lang="en-US" sz="2400" i="1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80951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17"/>
          <p:cNvSpPr txBox="1">
            <a:spLocks noGrp="1"/>
          </p:cNvSpPr>
          <p:nvPr>
            <p:ph type="ctrTitle"/>
          </p:nvPr>
        </p:nvSpPr>
        <p:spPr>
          <a:xfrm>
            <a:off x="5835541" y="2275158"/>
            <a:ext cx="5529197" cy="1920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5400"/>
              <a:buFont typeface="Twentieth Century"/>
              <a:buNone/>
            </a:pPr>
            <a:r>
              <a:rPr lang="en-US" sz="5400"/>
              <a:t>Jenis-jenis pembelajaran pada Neural Network</a:t>
            </a:r>
            <a:endParaRPr sz="5400"/>
          </a:p>
        </p:txBody>
      </p:sp>
      <p:pic>
        <p:nvPicPr>
          <p:cNvPr id="368" name="Google Shape;368;p17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19738" r="19739"/>
          <a:stretch/>
        </p:blipFill>
        <p:spPr>
          <a:xfrm>
            <a:off x="0" y="499621"/>
            <a:ext cx="5316718" cy="5856730"/>
          </a:xfrm>
          <a:prstGeom prst="flowChartDelay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A5E70-4B58-3CBF-27ED-3903EC8CB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3582FED-DA6C-204F-0AE6-4476CB773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18477" y="886379"/>
            <a:ext cx="5652634" cy="1218156"/>
          </a:xfrm>
        </p:spPr>
        <p:txBody>
          <a:bodyPr>
            <a:normAutofit/>
          </a:bodyPr>
          <a:lstStyle/>
          <a:p>
            <a:r>
              <a:rPr lang="en-ID" sz="2800" dirty="0"/>
              <a:t>1. Feedforward Neural Networks (FNN)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6E4CA9-B9A8-45C0-8B82-E85590A715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18477" y="1785769"/>
            <a:ext cx="5652634" cy="4829520"/>
          </a:xfrm>
        </p:spPr>
        <p:txBody>
          <a:bodyPr>
            <a:normAutofit fontScale="92500" lnSpcReduction="20000"/>
          </a:bodyPr>
          <a:lstStyle/>
          <a:p>
            <a:pPr marL="182563" indent="-4763">
              <a:lnSpc>
                <a:spcPct val="100000"/>
              </a:lnSpc>
            </a:pP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		Feedforward Neural Network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adalah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jenis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neural network paling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dasar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, di mana data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mengalir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D" b="1" dirty="0" err="1">
                <a:solidFill>
                  <a:schemeClr val="accent6">
                    <a:lumMod val="50000"/>
                  </a:schemeClr>
                </a:solidFill>
              </a:rPr>
              <a:t>satu</a:t>
            </a:r>
            <a:r>
              <a:rPr lang="en-ID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D" b="1" dirty="0" err="1">
                <a:solidFill>
                  <a:schemeClr val="accent6">
                    <a:lumMod val="50000"/>
                  </a:schemeClr>
                </a:solidFill>
              </a:rPr>
              <a:t>arah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dari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input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menuju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output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tanpa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adanya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umpan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balik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(feedback).</a:t>
            </a:r>
          </a:p>
          <a:p>
            <a:pPr marL="182563" indent="-4763">
              <a:lnSpc>
                <a:spcPct val="100000"/>
              </a:lnSpc>
            </a:pPr>
            <a:endParaRPr lang="en-ID" dirty="0">
              <a:solidFill>
                <a:schemeClr val="accent6">
                  <a:lumMod val="50000"/>
                </a:schemeClr>
              </a:solidFill>
            </a:endParaRPr>
          </a:p>
          <a:p>
            <a:r>
              <a:rPr lang="en-ID" b="1" dirty="0" err="1">
                <a:solidFill>
                  <a:schemeClr val="accent6">
                    <a:lumMod val="50000"/>
                  </a:schemeClr>
                </a:solidFill>
              </a:rPr>
              <a:t>Karakteristik</a:t>
            </a:r>
            <a:endParaRPr lang="en-ID" b="1" dirty="0">
              <a:solidFill>
                <a:schemeClr val="accent6">
                  <a:lumMod val="50000"/>
                </a:schemeClr>
              </a:solidFill>
            </a:endParaRP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Struktur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sederhana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. 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Tidak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memiliki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memori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. 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Cocok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untuk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data statis (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tidak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berurutan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).</a:t>
            </a:r>
          </a:p>
          <a:p>
            <a:endParaRPr lang="en-ID" b="1" dirty="0">
              <a:solidFill>
                <a:schemeClr val="accent6">
                  <a:lumMod val="50000"/>
                </a:schemeClr>
              </a:solidFill>
            </a:endParaRPr>
          </a:p>
          <a:p>
            <a:r>
              <a:rPr lang="en-ID" b="1" dirty="0" err="1">
                <a:solidFill>
                  <a:schemeClr val="accent6">
                    <a:lumMod val="50000"/>
                  </a:schemeClr>
                </a:solidFill>
              </a:rPr>
              <a:t>Penerapan</a:t>
            </a:r>
            <a:endParaRPr lang="en-ID" b="1" dirty="0">
              <a:solidFill>
                <a:schemeClr val="accent6">
                  <a:lumMod val="50000"/>
                </a:schemeClr>
              </a:solidFill>
            </a:endParaRP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Prediksi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nilai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mahasiswa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. 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Analisis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kredit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. 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Klasifikasi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data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pelanggan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. 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Deteksi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anomali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sederhana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.</a:t>
            </a:r>
          </a:p>
          <a:p>
            <a:pPr marL="182563" indent="-4763">
              <a:lnSpc>
                <a:spcPct val="100000"/>
              </a:lnSpc>
            </a:pPr>
            <a:endParaRPr lang="en-ID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AC6B9B-CD9E-7832-29E1-949F8BBF1520}"/>
              </a:ext>
            </a:extLst>
          </p:cNvPr>
          <p:cNvSpPr txBox="1"/>
          <p:nvPr/>
        </p:nvSpPr>
        <p:spPr>
          <a:xfrm>
            <a:off x="330433" y="5386845"/>
            <a:ext cx="4230809" cy="116955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D" b="1" dirty="0">
                <a:solidFill>
                  <a:schemeClr val="accent6">
                    <a:lumMod val="50000"/>
                  </a:schemeClr>
                </a:solidFill>
              </a:rPr>
              <a:t>Model </a:t>
            </a:r>
            <a:r>
              <a:rPr lang="en-ID" b="1" dirty="0" err="1">
                <a:solidFill>
                  <a:schemeClr val="accent6">
                    <a:lumMod val="50000"/>
                  </a:schemeClr>
                </a:solidFill>
              </a:rPr>
              <a:t>Arsitektur</a:t>
            </a:r>
            <a:endParaRPr lang="en-ID" b="1" dirty="0">
              <a:solidFill>
                <a:schemeClr val="accent6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Single Layer Perceptron (SLP)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Multilayer Perceptron (MLP)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Radial Basis Function Network (RBFN)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Autoencoder</a:t>
            </a:r>
          </a:p>
        </p:txBody>
      </p:sp>
      <p:pic>
        <p:nvPicPr>
          <p:cNvPr id="7" name="Picture 6" descr="AI : Understanding Perceptron in Deep Learning(DL)- Part 43 | by Shankar Angadi | Medium">
            <a:extLst>
              <a:ext uri="{FF2B5EF4-FFF2-40B4-BE49-F238E27FC236}">
                <a16:creationId xmlns:a16="http://schemas.microsoft.com/office/drawing/2014/main" id="{3CC57CC0-118A-293F-CD93-0D9D3D0F7E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409" y="1018606"/>
            <a:ext cx="3884855" cy="388485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9008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BEF10F-F2AF-78DC-0AA6-A38E0F627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D934C0D-C52C-5C7B-0567-7D5DFEBAB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18477" y="886379"/>
            <a:ext cx="5652634" cy="1218156"/>
          </a:xfrm>
        </p:spPr>
        <p:txBody>
          <a:bodyPr>
            <a:normAutofit/>
          </a:bodyPr>
          <a:lstStyle/>
          <a:p>
            <a:r>
              <a:rPr lang="en-ID" sz="2800" dirty="0"/>
              <a:t>2. Convolutional Neural Networks (CNN)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2F7CA3-C3B8-45E1-76DC-82BDD9532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18477" y="1785769"/>
            <a:ext cx="5652634" cy="4829520"/>
          </a:xfrm>
        </p:spPr>
        <p:txBody>
          <a:bodyPr>
            <a:normAutofit fontScale="92500" lnSpcReduction="20000"/>
          </a:bodyPr>
          <a:lstStyle/>
          <a:p>
            <a:pPr marL="182563" indent="-4763">
              <a:lnSpc>
                <a:spcPct val="100000"/>
              </a:lnSpc>
            </a:pP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		CNN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adalah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neural network yang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dirancang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khusus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untuk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mengolah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D" b="1" dirty="0">
                <a:solidFill>
                  <a:schemeClr val="accent6">
                    <a:lumMod val="50000"/>
                  </a:schemeClr>
                </a:solidFill>
              </a:rPr>
              <a:t>data visual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seperti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gambar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dan video.</a:t>
            </a:r>
          </a:p>
          <a:p>
            <a:pPr marL="182563" indent="-4763">
              <a:lnSpc>
                <a:spcPct val="100000"/>
              </a:lnSpc>
            </a:pPr>
            <a:endParaRPr lang="en-ID" dirty="0">
              <a:solidFill>
                <a:schemeClr val="accent6">
                  <a:lumMod val="50000"/>
                </a:schemeClr>
              </a:solidFill>
            </a:endParaRPr>
          </a:p>
          <a:p>
            <a:r>
              <a:rPr lang="en-ID" b="1" dirty="0" err="1">
                <a:solidFill>
                  <a:schemeClr val="accent6">
                    <a:lumMod val="50000"/>
                  </a:schemeClr>
                </a:solidFill>
              </a:rPr>
              <a:t>Karakteristik</a:t>
            </a:r>
            <a:endParaRPr lang="en-ID" b="1" dirty="0">
              <a:solidFill>
                <a:schemeClr val="accent6">
                  <a:lumMod val="50000"/>
                </a:schemeClr>
              </a:solidFill>
            </a:endParaRP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Menggunakan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operasi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konvolusi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untuk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mengekstraksi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fitur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. 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Mampu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mengenali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pola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visual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secara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otomatis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. 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Sangat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efektif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untuk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computer vision.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endParaRPr lang="en-ID" b="1" dirty="0">
              <a:solidFill>
                <a:schemeClr val="accent6">
                  <a:lumMod val="50000"/>
                </a:schemeClr>
              </a:solidFill>
            </a:endParaRPr>
          </a:p>
          <a:p>
            <a:r>
              <a:rPr lang="en-ID" b="1" dirty="0" err="1">
                <a:solidFill>
                  <a:schemeClr val="accent6">
                    <a:lumMod val="50000"/>
                  </a:schemeClr>
                </a:solidFill>
              </a:rPr>
              <a:t>Penerapan</a:t>
            </a:r>
            <a:endParaRPr lang="en-ID" b="1" dirty="0">
              <a:solidFill>
                <a:schemeClr val="accent6">
                  <a:lumMod val="50000"/>
                </a:schemeClr>
              </a:solidFill>
            </a:endParaRP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Pengenalan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wajah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. 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Deteksi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penyakit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dari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foto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medis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. 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Kendaraan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otonom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. 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Deteksi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objek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pada CCTV.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576D46-F09E-3C4A-671F-FCB344E3E82A}"/>
              </a:ext>
            </a:extLst>
          </p:cNvPr>
          <p:cNvSpPr txBox="1"/>
          <p:nvPr/>
        </p:nvSpPr>
        <p:spPr>
          <a:xfrm>
            <a:off x="1481498" y="5128662"/>
            <a:ext cx="1928675" cy="1600438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D" b="1" dirty="0">
                <a:solidFill>
                  <a:schemeClr val="accent6">
                    <a:lumMod val="50000"/>
                  </a:schemeClr>
                </a:solidFill>
              </a:rPr>
              <a:t>Model </a:t>
            </a:r>
            <a:r>
              <a:rPr lang="en-ID" b="1" dirty="0" err="1">
                <a:solidFill>
                  <a:schemeClr val="accent6">
                    <a:lumMod val="50000"/>
                  </a:schemeClr>
                </a:solidFill>
              </a:rPr>
              <a:t>Arsitektur</a:t>
            </a:r>
            <a:endParaRPr lang="en-ID" b="1" dirty="0">
              <a:solidFill>
                <a:schemeClr val="accent6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/>
              <a:t>CNN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/>
              <a:t>LeNet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 err="1"/>
              <a:t>AlexNet</a:t>
            </a:r>
            <a:r>
              <a:rPr lang="en-ID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/>
              <a:t>VGG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 err="1"/>
              <a:t>ResNet</a:t>
            </a:r>
            <a:r>
              <a:rPr lang="en-ID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 err="1"/>
              <a:t>EfficientNet</a:t>
            </a:r>
            <a:endParaRPr lang="en-ID" dirty="0">
              <a:solidFill>
                <a:schemeClr val="accent6">
                  <a:lumMod val="50000"/>
                </a:schemeClr>
              </a:solidFill>
            </a:endParaRPr>
          </a:p>
        </p:txBody>
      </p:sp>
      <p:pic>
        <p:nvPicPr>
          <p:cNvPr id="2" name="Picture 1" descr="Developments in Deep Learning Artificial Neural Network Techniques for Medical Image Analysis and Interpretation">
            <a:extLst>
              <a:ext uri="{FF2B5EF4-FFF2-40B4-BE49-F238E27FC236}">
                <a16:creationId xmlns:a16="http://schemas.microsoft.com/office/drawing/2014/main" id="{44C155D8-4C8A-224B-3199-3CADAFEBE5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636" y="1471252"/>
            <a:ext cx="5511951" cy="2823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56245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1C68E6-50F0-6CD2-EF03-86F34CEBE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F0ED21E-89D3-934B-46E5-AE2AEE136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18477" y="886379"/>
            <a:ext cx="5652634" cy="1218156"/>
          </a:xfrm>
        </p:spPr>
        <p:txBody>
          <a:bodyPr>
            <a:normAutofit/>
          </a:bodyPr>
          <a:lstStyle/>
          <a:p>
            <a:r>
              <a:rPr lang="en-ID" sz="2800" dirty="0"/>
              <a:t>3. Recurrent Neural Networks (RNN)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4FACA5-2E5B-D5E6-847E-DF78928802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18477" y="1785769"/>
            <a:ext cx="5652634" cy="4829520"/>
          </a:xfrm>
        </p:spPr>
        <p:txBody>
          <a:bodyPr>
            <a:normAutofit fontScale="92500" lnSpcReduction="20000"/>
          </a:bodyPr>
          <a:lstStyle/>
          <a:p>
            <a:pPr marL="182563" indent="-4763">
              <a:lnSpc>
                <a:spcPct val="100000"/>
              </a:lnSpc>
            </a:pP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		RNN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dirancang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untuk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menangani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D" b="1" dirty="0">
                <a:solidFill>
                  <a:schemeClr val="accent6">
                    <a:lumMod val="50000"/>
                  </a:schemeClr>
                </a:solidFill>
              </a:rPr>
              <a:t>data </a:t>
            </a:r>
            <a:r>
              <a:rPr lang="en-ID" b="1" dirty="0" err="1">
                <a:solidFill>
                  <a:schemeClr val="accent6">
                    <a:lumMod val="50000"/>
                  </a:schemeClr>
                </a:solidFill>
              </a:rPr>
              <a:t>berurutan</a:t>
            </a:r>
            <a:r>
              <a:rPr lang="en-ID" b="1" dirty="0">
                <a:solidFill>
                  <a:schemeClr val="accent6">
                    <a:lumMod val="50000"/>
                  </a:schemeClr>
                </a:solidFill>
              </a:rPr>
              <a:t> (sequence)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dengan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memanfaatkan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informasi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dari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langkah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sebelumnya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.</a:t>
            </a:r>
          </a:p>
          <a:p>
            <a:pPr marL="182563" indent="-4763">
              <a:lnSpc>
                <a:spcPct val="100000"/>
              </a:lnSpc>
            </a:pPr>
            <a:endParaRPr lang="en-ID" dirty="0">
              <a:solidFill>
                <a:schemeClr val="accent6">
                  <a:lumMod val="50000"/>
                </a:schemeClr>
              </a:solidFill>
            </a:endParaRPr>
          </a:p>
          <a:p>
            <a:r>
              <a:rPr lang="en-ID" b="1" dirty="0" err="1">
                <a:solidFill>
                  <a:schemeClr val="accent6">
                    <a:lumMod val="50000"/>
                  </a:schemeClr>
                </a:solidFill>
              </a:rPr>
              <a:t>Karakteristik</a:t>
            </a:r>
            <a:endParaRPr lang="en-ID" b="1" dirty="0">
              <a:solidFill>
                <a:schemeClr val="accent6">
                  <a:lumMod val="50000"/>
                </a:schemeClr>
              </a:solidFill>
            </a:endParaRP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Memiliki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memori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internal. 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Dapat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mempelajari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hubungan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waktu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(temporal). 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Cocok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untuk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data yang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memiliki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urutan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.</a:t>
            </a:r>
          </a:p>
          <a:p>
            <a:pPr marL="228600" indent="0"/>
            <a:endParaRPr lang="en-ID" b="1" dirty="0">
              <a:solidFill>
                <a:schemeClr val="accent6">
                  <a:lumMod val="50000"/>
                </a:schemeClr>
              </a:solidFill>
            </a:endParaRPr>
          </a:p>
          <a:p>
            <a:r>
              <a:rPr lang="en-ID" b="1" dirty="0" err="1">
                <a:solidFill>
                  <a:schemeClr val="accent6">
                    <a:lumMod val="50000"/>
                  </a:schemeClr>
                </a:solidFill>
              </a:rPr>
              <a:t>Penerapan</a:t>
            </a:r>
            <a:endParaRPr lang="en-ID" b="1" dirty="0">
              <a:solidFill>
                <a:schemeClr val="accent6">
                  <a:lumMod val="50000"/>
                </a:schemeClr>
              </a:solidFill>
            </a:endParaRP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Prediksi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cuaca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. 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Prediksi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harga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saham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. 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Speech recognition. 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Analisis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sentimen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teks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0DF81D-41F3-657A-DD47-9D1EE57FE537}"/>
              </a:ext>
            </a:extLst>
          </p:cNvPr>
          <p:cNvSpPr txBox="1"/>
          <p:nvPr/>
        </p:nvSpPr>
        <p:spPr>
          <a:xfrm>
            <a:off x="330433" y="5661182"/>
            <a:ext cx="4230809" cy="954107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D" b="1" dirty="0">
                <a:solidFill>
                  <a:schemeClr val="accent6">
                    <a:lumMod val="50000"/>
                  </a:schemeClr>
                </a:solidFill>
              </a:rPr>
              <a:t>Model </a:t>
            </a:r>
            <a:r>
              <a:rPr lang="en-ID" b="1" dirty="0" err="1">
                <a:solidFill>
                  <a:schemeClr val="accent6">
                    <a:lumMod val="50000"/>
                  </a:schemeClr>
                </a:solidFill>
              </a:rPr>
              <a:t>Arsitektur</a:t>
            </a:r>
            <a:endParaRPr lang="en-ID" b="1" dirty="0">
              <a:solidFill>
                <a:schemeClr val="accent6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/>
              <a:t>RNN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/>
              <a:t>LSTM (Long Short-Term Memory)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/>
              <a:t>GRU (Gated Recurrent Unit)</a:t>
            </a:r>
            <a:endParaRPr lang="en-ID" dirty="0">
              <a:solidFill>
                <a:schemeClr val="accent6">
                  <a:lumMod val="50000"/>
                </a:schemeClr>
              </a:solidFill>
            </a:endParaRPr>
          </a:p>
        </p:txBody>
      </p:sp>
      <p:pic>
        <p:nvPicPr>
          <p:cNvPr id="2" name="Picture 1" descr="Language Models Explained">
            <a:extLst>
              <a:ext uri="{FF2B5EF4-FFF2-40B4-BE49-F238E27FC236}">
                <a16:creationId xmlns:a16="http://schemas.microsoft.com/office/drawing/2014/main" id="{32F0460B-DDDD-5BCF-B90B-871470A3D6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787" y="257592"/>
            <a:ext cx="4102455" cy="230938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5" descr="Gated Recurrent Units (GRUs) - Naukri Code 360">
            <a:extLst>
              <a:ext uri="{FF2B5EF4-FFF2-40B4-BE49-F238E27FC236}">
                <a16:creationId xmlns:a16="http://schemas.microsoft.com/office/drawing/2014/main" id="{5D2B4261-8D45-D9E2-1B80-6048551591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123" y="2872024"/>
            <a:ext cx="2717651" cy="225931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 descr="Frontiers | GRU-AGCN model for the content prediction of gases in power transformer oil">
            <a:extLst>
              <a:ext uri="{FF2B5EF4-FFF2-40B4-BE49-F238E27FC236}">
                <a16:creationId xmlns:a16="http://schemas.microsoft.com/office/drawing/2014/main" id="{E5ACF2BA-8F4C-A418-6143-3CE1C0F50B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0420" y="2872024"/>
            <a:ext cx="2453707" cy="226694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52712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5A3A43-F085-9916-21BC-1FFD7FEAE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EA359C6-448A-063E-E3FC-2711BE680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18477" y="886379"/>
            <a:ext cx="5652634" cy="1218156"/>
          </a:xfrm>
        </p:spPr>
        <p:txBody>
          <a:bodyPr>
            <a:normAutofit/>
          </a:bodyPr>
          <a:lstStyle/>
          <a:p>
            <a:r>
              <a:rPr lang="en-ID" sz="2800" dirty="0"/>
              <a:t>4. Generative Neural Networks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27CD18-D8B7-9F33-AB95-9597631DD0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18477" y="1387736"/>
            <a:ext cx="5652634" cy="5325036"/>
          </a:xfrm>
        </p:spPr>
        <p:txBody>
          <a:bodyPr>
            <a:normAutofit fontScale="85000" lnSpcReduction="10000"/>
          </a:bodyPr>
          <a:lstStyle/>
          <a:p>
            <a:pPr marL="182563" indent="-4763">
              <a:lnSpc>
                <a:spcPct val="100000"/>
              </a:lnSpc>
            </a:pP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		Generative Neural Networks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berfokus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pada </a:t>
            </a:r>
            <a:r>
              <a:rPr lang="en-ID" b="1" dirty="0" err="1">
                <a:solidFill>
                  <a:schemeClr val="accent6">
                    <a:lumMod val="50000"/>
                  </a:schemeClr>
                </a:solidFill>
              </a:rPr>
              <a:t>membuat</a:t>
            </a:r>
            <a:r>
              <a:rPr lang="en-ID" b="1" dirty="0">
                <a:solidFill>
                  <a:schemeClr val="accent6">
                    <a:lumMod val="50000"/>
                  </a:schemeClr>
                </a:solidFill>
              </a:rPr>
              <a:t> data </a:t>
            </a:r>
            <a:r>
              <a:rPr lang="en-ID" b="1" dirty="0" err="1">
                <a:solidFill>
                  <a:schemeClr val="accent6">
                    <a:lumMod val="50000"/>
                  </a:schemeClr>
                </a:solidFill>
              </a:rPr>
              <a:t>baru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yang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menyerupai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data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asli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.</a:t>
            </a:r>
          </a:p>
          <a:p>
            <a:r>
              <a:rPr lang="en-ID" b="1" dirty="0" err="1">
                <a:solidFill>
                  <a:schemeClr val="accent6">
                    <a:lumMod val="50000"/>
                  </a:schemeClr>
                </a:solidFill>
              </a:rPr>
              <a:t>Karakteristik</a:t>
            </a:r>
            <a:endParaRPr lang="en-ID" b="1" dirty="0">
              <a:solidFill>
                <a:schemeClr val="accent6">
                  <a:lumMod val="50000"/>
                </a:schemeClr>
              </a:solidFill>
            </a:endParaRP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Belajar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pola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data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untuk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menghasilkan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data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baru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. 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Digunakan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dalam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Generative AI.</a:t>
            </a:r>
          </a:p>
          <a:p>
            <a:r>
              <a:rPr lang="en-ID" b="1" dirty="0" err="1">
                <a:solidFill>
                  <a:schemeClr val="accent6">
                    <a:lumMod val="50000"/>
                  </a:schemeClr>
                </a:solidFill>
              </a:rPr>
              <a:t>Penerapan</a:t>
            </a:r>
            <a:endParaRPr lang="en-ID" b="1" dirty="0">
              <a:solidFill>
                <a:schemeClr val="accent6">
                  <a:lumMod val="50000"/>
                </a:schemeClr>
              </a:solidFill>
            </a:endParaRP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Pembuatan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gambar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AI. 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Pembuatan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video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sintetis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. 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Augmentasi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dataset. 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Deepfake.</a:t>
            </a:r>
          </a:p>
          <a:p>
            <a:r>
              <a:rPr lang="en-ID" b="1" dirty="0">
                <a:solidFill>
                  <a:schemeClr val="accent6">
                    <a:lumMod val="50000"/>
                  </a:schemeClr>
                </a:solidFill>
              </a:rPr>
              <a:t>Cara </a:t>
            </a:r>
            <a:r>
              <a:rPr lang="en-ID" b="1" dirty="0" err="1">
                <a:solidFill>
                  <a:schemeClr val="accent6">
                    <a:lumMod val="50000"/>
                  </a:schemeClr>
                </a:solidFill>
              </a:rPr>
              <a:t>Kerja</a:t>
            </a:r>
            <a:r>
              <a:rPr lang="en-ID" b="1" dirty="0">
                <a:solidFill>
                  <a:schemeClr val="accent6">
                    <a:lumMod val="50000"/>
                  </a:schemeClr>
                </a:solidFill>
              </a:rPr>
              <a:t> GAN</a:t>
            </a:r>
          </a:p>
          <a:p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Terdiri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dari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dua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jaringan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: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ID" b="1" dirty="0">
                <a:solidFill>
                  <a:schemeClr val="accent6">
                    <a:lumMod val="50000"/>
                  </a:schemeClr>
                </a:solidFill>
              </a:rPr>
              <a:t>Generator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→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membuat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data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palsu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. 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ID" b="1" dirty="0">
                <a:solidFill>
                  <a:schemeClr val="accent6">
                    <a:lumMod val="50000"/>
                  </a:schemeClr>
                </a:solidFill>
              </a:rPr>
              <a:t>Discriminator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→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membedakan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data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asli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dan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palsu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. </a:t>
            </a:r>
          </a:p>
          <a:p>
            <a:pPr marL="268288" indent="-4763"/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Keduanya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saling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bersaing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hingga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menghasilkan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data yang sangat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mirip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dengan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data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asli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.</a:t>
            </a:r>
          </a:p>
          <a:p>
            <a:pPr marL="228600" indent="0"/>
            <a:endParaRPr lang="en-ID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2A6083-1A82-AF58-CCE5-A20468BB1B5C}"/>
              </a:ext>
            </a:extLst>
          </p:cNvPr>
          <p:cNvSpPr txBox="1"/>
          <p:nvPr/>
        </p:nvSpPr>
        <p:spPr>
          <a:xfrm>
            <a:off x="308918" y="5720332"/>
            <a:ext cx="4230809" cy="738664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D" b="1" dirty="0">
                <a:solidFill>
                  <a:schemeClr val="accent6">
                    <a:lumMod val="50000"/>
                  </a:schemeClr>
                </a:solidFill>
              </a:rPr>
              <a:t>Model </a:t>
            </a:r>
            <a:r>
              <a:rPr lang="en-ID" b="1" dirty="0" err="1">
                <a:solidFill>
                  <a:schemeClr val="accent6">
                    <a:lumMod val="50000"/>
                  </a:schemeClr>
                </a:solidFill>
              </a:rPr>
              <a:t>Arsitektur</a:t>
            </a:r>
            <a:endParaRPr lang="en-ID" b="1" dirty="0">
              <a:solidFill>
                <a:schemeClr val="accent6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/>
              <a:t>GAN (Generative Adversarial Network)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/>
              <a:t>Variational Autoencoder (VAE)</a:t>
            </a:r>
            <a:endParaRPr lang="en-ID" dirty="0">
              <a:solidFill>
                <a:schemeClr val="accent6">
                  <a:lumMod val="50000"/>
                </a:schemeClr>
              </a:solidFill>
            </a:endParaRPr>
          </a:p>
        </p:txBody>
      </p:sp>
      <p:pic>
        <p:nvPicPr>
          <p:cNvPr id="10" name="Picture 9" descr="Federated learning for generating synthetic data: a scoping review&#10;       | International Journal of Population Data Science">
            <a:extLst>
              <a:ext uri="{FF2B5EF4-FFF2-40B4-BE49-F238E27FC236}">
                <a16:creationId xmlns:a16="http://schemas.microsoft.com/office/drawing/2014/main" id="{DE661299-CA21-71A6-205A-6FEC2AE6EA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365" y="1495457"/>
            <a:ext cx="5483660" cy="317208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89892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E21A22-CB47-3ABB-248F-0F566EEBD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ECAA4C6-EC76-303F-4179-99FED170A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0143" y="821833"/>
            <a:ext cx="5652634" cy="1218156"/>
          </a:xfrm>
        </p:spPr>
        <p:txBody>
          <a:bodyPr>
            <a:normAutofit/>
          </a:bodyPr>
          <a:lstStyle/>
          <a:p>
            <a:r>
              <a:rPr lang="en-ID" sz="2800" dirty="0"/>
              <a:t>5. Attention-Based Neural Networks (Transformer)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27C124-4EA5-54FA-B967-97050F2905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8522" y="1602888"/>
            <a:ext cx="6164131" cy="5104405"/>
          </a:xfrm>
        </p:spPr>
        <p:txBody>
          <a:bodyPr>
            <a:normAutofit fontScale="85000" lnSpcReduction="20000"/>
          </a:bodyPr>
          <a:lstStyle/>
          <a:p>
            <a:pPr marL="182563" indent="-4763">
              <a:lnSpc>
                <a:spcPct val="100000"/>
              </a:lnSpc>
            </a:pP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		Transformer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adalah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arsitektur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neural network modern yang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menggunakan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mekanisme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D" b="1" dirty="0">
                <a:solidFill>
                  <a:schemeClr val="accent6">
                    <a:lumMod val="50000"/>
                  </a:schemeClr>
                </a:solidFill>
              </a:rPr>
              <a:t>Attention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untuk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memahami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hubungan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antar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bagian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data. </a:t>
            </a:r>
            <a:r>
              <a:rPr lang="en-ID" b="1" dirty="0">
                <a:solidFill>
                  <a:schemeClr val="accent6">
                    <a:lumMod val="50000"/>
                  </a:schemeClr>
                </a:solidFill>
              </a:rPr>
              <a:t>attention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adalah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mekanisme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yang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memungkinkan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model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fokus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pada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bagian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spesifik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dari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data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masukan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(input).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Layaknya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otak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manusia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yang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memprioritaskan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informasi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penting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saat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membaca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,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mekanisme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ini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menetapkan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bobot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relevansi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sehingga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model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dapat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memahami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konteks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yang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kompleks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secara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lebih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akurat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.</a:t>
            </a:r>
          </a:p>
          <a:p>
            <a:r>
              <a:rPr lang="en-ID" b="1" dirty="0" err="1">
                <a:solidFill>
                  <a:schemeClr val="accent6">
                    <a:lumMod val="50000"/>
                  </a:schemeClr>
                </a:solidFill>
              </a:rPr>
              <a:t>Karakteristik</a:t>
            </a:r>
            <a:endParaRPr lang="en-ID" b="1" dirty="0">
              <a:solidFill>
                <a:schemeClr val="accent6">
                  <a:lumMod val="50000"/>
                </a:schemeClr>
              </a:solidFill>
            </a:endParaRP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Tidak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bergantung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pada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urutan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pemrosesan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seperti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RNN. 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Dapat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memproses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data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secara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paralel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. 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Menjadi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dasar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Generative AI modern.</a:t>
            </a:r>
          </a:p>
          <a:p>
            <a:r>
              <a:rPr lang="en-ID" b="1" dirty="0" err="1">
                <a:solidFill>
                  <a:schemeClr val="accent6">
                    <a:lumMod val="50000"/>
                  </a:schemeClr>
                </a:solidFill>
              </a:rPr>
              <a:t>Penerapan</a:t>
            </a:r>
            <a:endParaRPr lang="en-ID" b="1" dirty="0">
              <a:solidFill>
                <a:schemeClr val="accent6">
                  <a:lumMod val="50000"/>
                </a:schemeClr>
              </a:solidFill>
            </a:endParaRP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ChatGPT. 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Mesin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penerjemah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. 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Ringkasan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dokumen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. 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Question Answering. </a:t>
            </a:r>
          </a:p>
          <a:p>
            <a:pPr marL="571500" indent="-342900">
              <a:buFont typeface="Arial" panose="020B0604020202020204" pitchFamily="34" charset="0"/>
              <a:buChar char="•"/>
            </a:pP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Analisis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gambar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dan </a:t>
            </a:r>
            <a:r>
              <a:rPr lang="en-ID" dirty="0" err="1">
                <a:solidFill>
                  <a:schemeClr val="accent6">
                    <a:lumMod val="50000"/>
                  </a:schemeClr>
                </a:solidFill>
              </a:rPr>
              <a:t>teks</a:t>
            </a:r>
            <a:r>
              <a:rPr lang="en-ID" dirty="0">
                <a:solidFill>
                  <a:schemeClr val="accent6">
                    <a:lumMod val="50000"/>
                  </a:schemeClr>
                </a:solidFill>
              </a:rPr>
              <a:t> (multimodal AI).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2ED044-E531-1B73-A06A-82ADFF86C5CB}"/>
              </a:ext>
            </a:extLst>
          </p:cNvPr>
          <p:cNvSpPr txBox="1"/>
          <p:nvPr/>
        </p:nvSpPr>
        <p:spPr>
          <a:xfrm>
            <a:off x="9549734" y="4730629"/>
            <a:ext cx="2423525" cy="138499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D" b="1" dirty="0">
                <a:solidFill>
                  <a:schemeClr val="accent6">
                    <a:lumMod val="50000"/>
                  </a:schemeClr>
                </a:solidFill>
              </a:rPr>
              <a:t>Model </a:t>
            </a:r>
            <a:r>
              <a:rPr lang="en-ID" b="1" dirty="0" err="1">
                <a:solidFill>
                  <a:schemeClr val="accent6">
                    <a:lumMod val="50000"/>
                  </a:schemeClr>
                </a:solidFill>
              </a:rPr>
              <a:t>Arsitektur</a:t>
            </a:r>
            <a:endParaRPr lang="en-ID" b="1" dirty="0">
              <a:solidFill>
                <a:schemeClr val="accent6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/>
              <a:t>Transformer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/>
              <a:t>BERT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/>
              <a:t>GPT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/>
              <a:t>T5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D" dirty="0"/>
              <a:t>Vision Transformer (</a:t>
            </a:r>
            <a:r>
              <a:rPr lang="en-ID" dirty="0" err="1"/>
              <a:t>ViT</a:t>
            </a:r>
            <a:r>
              <a:rPr lang="en-ID" dirty="0"/>
              <a:t>)</a:t>
            </a:r>
            <a:endParaRPr lang="en-ID" dirty="0">
              <a:solidFill>
                <a:schemeClr val="accent6">
                  <a:lumMod val="50000"/>
                </a:schemeClr>
              </a:solidFill>
            </a:endParaRPr>
          </a:p>
        </p:txBody>
      </p:sp>
      <p:pic>
        <p:nvPicPr>
          <p:cNvPr id="2" name="Picture 1" descr="How Attention Mechanism Powers Transformer and LLM for Natural Language Processing">
            <a:extLst>
              <a:ext uri="{FF2B5EF4-FFF2-40B4-BE49-F238E27FC236}">
                <a16:creationId xmlns:a16="http://schemas.microsoft.com/office/drawing/2014/main" id="{C094D877-B7E6-9502-9547-9588A03F03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597" y="194442"/>
            <a:ext cx="4400154" cy="247293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D2E5702-32DA-D39D-0AB0-25D126C46F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651" y="2746284"/>
            <a:ext cx="4052046" cy="3968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53290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0D887-0073-916E-326B-EEA9BB5CF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 err="1"/>
              <a:t>Perbandingan</a:t>
            </a:r>
            <a:endParaRPr lang="en-ID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4E1811F-F747-1A11-3B35-739BC248DE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1272077"/>
              </p:ext>
            </p:extLst>
          </p:nvPr>
        </p:nvGraphicFramePr>
        <p:xfrm>
          <a:off x="838200" y="1968649"/>
          <a:ext cx="10515600" cy="4432151"/>
        </p:xfrm>
        <a:graphic>
          <a:graphicData uri="http://schemas.openxmlformats.org/drawingml/2006/table">
            <a:tbl>
              <a:tblPr>
                <a:tableStyleId>{C4B1156A-380E-4F78-BDF5-A606A8083BF9}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333273854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71713882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52268608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405658461"/>
                    </a:ext>
                  </a:extLst>
                </a:gridCol>
              </a:tblGrid>
              <a:tr h="6615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600" b="1" dirty="0" err="1">
                          <a:solidFill>
                            <a:schemeClr val="bg1"/>
                          </a:solidFill>
                        </a:rPr>
                        <a:t>Kelompok</a:t>
                      </a:r>
                      <a:endParaRPr lang="en-ID" sz="16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600" b="1">
                          <a:solidFill>
                            <a:schemeClr val="bg1"/>
                          </a:solidFill>
                        </a:rPr>
                        <a:t>Fokus Utama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600" b="1">
                          <a:solidFill>
                            <a:schemeClr val="bg1"/>
                          </a:solidFill>
                        </a:rPr>
                        <a:t>Data yang Diolah</a:t>
                      </a: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600" b="1" dirty="0" err="1">
                          <a:solidFill>
                            <a:schemeClr val="bg1"/>
                          </a:solidFill>
                        </a:rPr>
                        <a:t>Contoh</a:t>
                      </a:r>
                      <a:endParaRPr lang="en-ID" sz="16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443477"/>
                  </a:ext>
                </a:extLst>
              </a:tr>
              <a:tr h="6615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600" b="1" dirty="0"/>
                        <a:t>Feedforward (FNN) / MLP</a:t>
                      </a:r>
                      <a:endParaRPr lang="en-ID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600" dirty="0" err="1"/>
                        <a:t>Prediksi</a:t>
                      </a:r>
                      <a:r>
                        <a:rPr lang="en-ID" sz="1600" dirty="0"/>
                        <a:t> &amp; </a:t>
                      </a:r>
                      <a:r>
                        <a:rPr lang="en-ID" sz="1600" dirty="0" err="1"/>
                        <a:t>klasifikasi</a:t>
                      </a:r>
                      <a:r>
                        <a:rPr lang="en-ID" sz="1600" dirty="0"/>
                        <a:t> </a:t>
                      </a:r>
                      <a:r>
                        <a:rPr lang="en-ID" sz="1600" dirty="0" err="1"/>
                        <a:t>dasar</a:t>
                      </a:r>
                      <a:endParaRPr lang="en-ID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600"/>
                        <a:t>Data tabular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600"/>
                        <a:t>MLP, Perceptron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8601001"/>
                  </a:ext>
                </a:extLst>
              </a:tr>
              <a:tr h="6615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600" b="1"/>
                        <a:t>CNN</a:t>
                      </a:r>
                      <a:endParaRPr lang="en-ID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600"/>
                        <a:t>Pengenalan pola visual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600"/>
                        <a:t>Gambar, video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600"/>
                        <a:t>ResNet, VGG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3640065"/>
                  </a:ext>
                </a:extLst>
              </a:tr>
              <a:tr h="6615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600" b="1"/>
                        <a:t>RNN</a:t>
                      </a:r>
                      <a:endParaRPr lang="en-ID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600" dirty="0"/>
                        <a:t>Data </a:t>
                      </a:r>
                      <a:r>
                        <a:rPr lang="en-ID" sz="1600" dirty="0" err="1"/>
                        <a:t>berurutan</a:t>
                      </a:r>
                      <a:endParaRPr lang="en-ID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600" dirty="0"/>
                        <a:t>Teks, </a:t>
                      </a:r>
                      <a:r>
                        <a:rPr lang="en-ID" sz="1600" dirty="0" err="1"/>
                        <a:t>suara</a:t>
                      </a:r>
                      <a:r>
                        <a:rPr lang="en-ID" sz="1600" dirty="0"/>
                        <a:t>, time series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600"/>
                        <a:t>LSTM, GRU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8130203"/>
                  </a:ext>
                </a:extLst>
              </a:tr>
              <a:tr h="6615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600" b="1" dirty="0"/>
                        <a:t>Generative</a:t>
                      </a:r>
                      <a:endParaRPr lang="en-ID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600"/>
                        <a:t>Membuat data baru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600"/>
                        <a:t>Gambar, teks, audio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600"/>
                        <a:t>GAN, VAE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0733936"/>
                  </a:ext>
                </a:extLst>
              </a:tr>
              <a:tr h="11245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600" b="1"/>
                        <a:t>Transformer</a:t>
                      </a:r>
                      <a:endParaRPr lang="en-ID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600"/>
                        <a:t>Pemahaman hubungan kompleks dengan Attention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600"/>
                        <a:t>Teks, gambar, multimodal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1600" dirty="0"/>
                        <a:t>GPT, BERT, </a:t>
                      </a:r>
                      <a:r>
                        <a:rPr lang="en-ID" sz="1600" dirty="0" err="1"/>
                        <a:t>ViT</a:t>
                      </a:r>
                      <a:endParaRPr lang="en-ID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58195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60370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24"/>
          <p:cNvSpPr txBox="1">
            <a:spLocks noGrp="1"/>
          </p:cNvSpPr>
          <p:nvPr>
            <p:ph type="ctrTitle"/>
          </p:nvPr>
        </p:nvSpPr>
        <p:spPr>
          <a:xfrm>
            <a:off x="5835541" y="2275158"/>
            <a:ext cx="5529197" cy="1920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5400"/>
              <a:buFont typeface="Twentieth Century"/>
              <a:buNone/>
            </a:pPr>
            <a:r>
              <a:rPr lang="en-US" sz="5400"/>
              <a:t>Cara Kerja Jaringan Neural</a:t>
            </a:r>
            <a:endParaRPr sz="5400"/>
          </a:p>
        </p:txBody>
      </p:sp>
      <p:pic>
        <p:nvPicPr>
          <p:cNvPr id="410" name="Google Shape;410;p24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19738" r="19739"/>
          <a:stretch/>
        </p:blipFill>
        <p:spPr>
          <a:xfrm>
            <a:off x="0" y="499621"/>
            <a:ext cx="5316718" cy="5856730"/>
          </a:xfrm>
          <a:prstGeom prst="flowChartDelay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AutoShape 2"/>
          <p:cNvSpPr>
            <a:spLocks noGrp="1" noChangeArrowheads="1"/>
          </p:cNvSpPr>
          <p:nvPr>
            <p:ph type="title"/>
          </p:nvPr>
        </p:nvSpPr>
        <p:spPr>
          <a:xfrm>
            <a:off x="808567" y="419101"/>
            <a:ext cx="10566400" cy="1143000"/>
          </a:xfrm>
        </p:spPr>
        <p:txBody>
          <a:bodyPr/>
          <a:lstStyle/>
          <a:p>
            <a:r>
              <a:rPr lang="en-US" dirty="0"/>
              <a:t>JST </a:t>
            </a:r>
            <a:r>
              <a:rPr lang="en-US" dirty="0" err="1"/>
              <a:t>ditentukan</a:t>
            </a:r>
            <a:r>
              <a:rPr lang="en-US" dirty="0"/>
              <a:t> oleh 3 </a:t>
            </a:r>
            <a:r>
              <a:rPr lang="en-US" dirty="0" err="1"/>
              <a:t>hal</a:t>
            </a:r>
            <a:endParaRPr lang="en-US" dirty="0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898555" y="1538288"/>
            <a:ext cx="7599363" cy="3724275"/>
          </a:xfrm>
        </p:spPr>
        <p:txBody>
          <a:bodyPr/>
          <a:lstStyle/>
          <a:p>
            <a:r>
              <a:rPr lang="en-US" sz="2800" dirty="0">
                <a:solidFill>
                  <a:srgbClr val="000000"/>
                </a:solidFill>
              </a:rPr>
              <a:t>Pola </a:t>
            </a:r>
            <a:r>
              <a:rPr lang="en-US" sz="2800" dirty="0" err="1">
                <a:solidFill>
                  <a:srgbClr val="000000"/>
                </a:solidFill>
              </a:rPr>
              <a:t>hubungan</a:t>
            </a:r>
            <a:r>
              <a:rPr lang="en-US" sz="2800" dirty="0">
                <a:solidFill>
                  <a:srgbClr val="000000"/>
                </a:solidFill>
              </a:rPr>
              <a:t> </a:t>
            </a:r>
            <a:r>
              <a:rPr lang="en-US" sz="2800" dirty="0" err="1">
                <a:solidFill>
                  <a:srgbClr val="000000"/>
                </a:solidFill>
              </a:rPr>
              <a:t>antar</a:t>
            </a:r>
            <a:r>
              <a:rPr lang="en-US" sz="2800" dirty="0">
                <a:solidFill>
                  <a:srgbClr val="000000"/>
                </a:solidFill>
              </a:rPr>
              <a:t> </a:t>
            </a:r>
            <a:r>
              <a:rPr lang="en-US" sz="2800" i="1" dirty="0">
                <a:solidFill>
                  <a:srgbClr val="000000"/>
                </a:solidFill>
              </a:rPr>
              <a:t>neuron</a:t>
            </a:r>
            <a:r>
              <a:rPr lang="en-US" sz="2800" dirty="0">
                <a:solidFill>
                  <a:srgbClr val="000000"/>
                </a:solidFill>
              </a:rPr>
              <a:t> (</a:t>
            </a:r>
            <a:r>
              <a:rPr lang="en-US" sz="2800" dirty="0" err="1">
                <a:solidFill>
                  <a:srgbClr val="000000"/>
                </a:solidFill>
              </a:rPr>
              <a:t>arsitektur</a:t>
            </a:r>
            <a:r>
              <a:rPr lang="en-US" sz="2800" dirty="0">
                <a:solidFill>
                  <a:srgbClr val="000000"/>
                </a:solidFill>
              </a:rPr>
              <a:t> </a:t>
            </a:r>
            <a:r>
              <a:rPr lang="en-US" sz="2800" dirty="0" err="1">
                <a:solidFill>
                  <a:srgbClr val="000000"/>
                </a:solidFill>
              </a:rPr>
              <a:t>jaringan</a:t>
            </a:r>
            <a:r>
              <a:rPr lang="en-US" sz="2800" dirty="0">
                <a:solidFill>
                  <a:srgbClr val="000000"/>
                </a:solidFill>
              </a:rPr>
              <a:t>)</a:t>
            </a:r>
          </a:p>
          <a:p>
            <a:r>
              <a:rPr lang="en-US" sz="2800" dirty="0" err="1">
                <a:solidFill>
                  <a:srgbClr val="000000"/>
                </a:solidFill>
              </a:rPr>
              <a:t>Metode</a:t>
            </a:r>
            <a:r>
              <a:rPr lang="en-US" sz="2800" dirty="0">
                <a:solidFill>
                  <a:srgbClr val="000000"/>
                </a:solidFill>
              </a:rPr>
              <a:t> </a:t>
            </a:r>
            <a:r>
              <a:rPr lang="en-US" sz="2800" dirty="0" err="1">
                <a:solidFill>
                  <a:srgbClr val="000000"/>
                </a:solidFill>
              </a:rPr>
              <a:t>menentukan</a:t>
            </a:r>
            <a:r>
              <a:rPr lang="en-US" sz="2800" dirty="0">
                <a:solidFill>
                  <a:srgbClr val="000000"/>
                </a:solidFill>
              </a:rPr>
              <a:t> </a:t>
            </a:r>
            <a:r>
              <a:rPr lang="en-US" sz="2800" dirty="0" err="1">
                <a:solidFill>
                  <a:srgbClr val="000000"/>
                </a:solidFill>
              </a:rPr>
              <a:t>bobot</a:t>
            </a:r>
            <a:r>
              <a:rPr lang="en-US" sz="2800" dirty="0">
                <a:solidFill>
                  <a:srgbClr val="000000"/>
                </a:solidFill>
              </a:rPr>
              <a:t> </a:t>
            </a:r>
            <a:r>
              <a:rPr lang="en-US" sz="2800" dirty="0" err="1">
                <a:solidFill>
                  <a:srgbClr val="000000"/>
                </a:solidFill>
              </a:rPr>
              <a:t>penghubung</a:t>
            </a:r>
            <a:r>
              <a:rPr lang="en-US" sz="2800" dirty="0">
                <a:solidFill>
                  <a:srgbClr val="000000"/>
                </a:solidFill>
              </a:rPr>
              <a:t> (</a:t>
            </a:r>
            <a:r>
              <a:rPr lang="en-US" sz="2800" dirty="0" err="1">
                <a:solidFill>
                  <a:srgbClr val="000000"/>
                </a:solidFill>
              </a:rPr>
              <a:t>disebut</a:t>
            </a:r>
            <a:r>
              <a:rPr lang="en-US" sz="2800" dirty="0">
                <a:solidFill>
                  <a:srgbClr val="000000"/>
                </a:solidFill>
              </a:rPr>
              <a:t> </a:t>
            </a:r>
            <a:r>
              <a:rPr lang="en-US" sz="2800" dirty="0" err="1">
                <a:solidFill>
                  <a:srgbClr val="000000"/>
                </a:solidFill>
              </a:rPr>
              <a:t>metoda</a:t>
            </a:r>
            <a:r>
              <a:rPr lang="en-US" sz="2800" dirty="0">
                <a:solidFill>
                  <a:srgbClr val="000000"/>
                </a:solidFill>
              </a:rPr>
              <a:t> </a:t>
            </a:r>
            <a:r>
              <a:rPr lang="en-US" sz="2800" i="1" dirty="0">
                <a:solidFill>
                  <a:srgbClr val="000000"/>
                </a:solidFill>
              </a:rPr>
              <a:t>training/learning/</a:t>
            </a:r>
            <a:r>
              <a:rPr lang="en-US" sz="2800" i="1" dirty="0" err="1">
                <a:solidFill>
                  <a:srgbClr val="000000"/>
                </a:solidFill>
              </a:rPr>
              <a:t>algoritma</a:t>
            </a:r>
            <a:r>
              <a:rPr lang="en-US" sz="2800" dirty="0">
                <a:solidFill>
                  <a:srgbClr val="000000"/>
                </a:solidFill>
              </a:rPr>
              <a:t>)</a:t>
            </a:r>
          </a:p>
          <a:p>
            <a:r>
              <a:rPr lang="en-US" sz="2800" dirty="0" err="1">
                <a:solidFill>
                  <a:srgbClr val="000000"/>
                </a:solidFill>
              </a:rPr>
              <a:t>Fungsi</a:t>
            </a:r>
            <a:r>
              <a:rPr lang="en-US" sz="2800" dirty="0">
                <a:solidFill>
                  <a:srgbClr val="000000"/>
                </a:solidFill>
              </a:rPr>
              <a:t> </a:t>
            </a:r>
            <a:r>
              <a:rPr lang="en-US" sz="2800" dirty="0" err="1">
                <a:solidFill>
                  <a:srgbClr val="000000"/>
                </a:solidFill>
              </a:rPr>
              <a:t>aktivasi</a:t>
            </a:r>
            <a:endParaRPr lang="en-US" sz="2800" dirty="0">
              <a:solidFill>
                <a:srgbClr val="00000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36462B5-0E0C-408E-9906-382723C2C3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1408" y="3973627"/>
            <a:ext cx="8480717" cy="2270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76011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AutoShape 2"/>
          <p:cNvSpPr>
            <a:spLocks noGrp="1" noChangeArrowheads="1"/>
          </p:cNvSpPr>
          <p:nvPr>
            <p:ph type="title"/>
          </p:nvPr>
        </p:nvSpPr>
        <p:spPr>
          <a:xfrm>
            <a:off x="568528" y="380999"/>
            <a:ext cx="10566400" cy="1143000"/>
          </a:xfrm>
        </p:spPr>
        <p:txBody>
          <a:bodyPr/>
          <a:lstStyle/>
          <a:p>
            <a:r>
              <a:rPr lang="en-US" dirty="0" err="1"/>
              <a:t>Arsitektur</a:t>
            </a:r>
            <a:r>
              <a:rPr lang="en-US" dirty="0"/>
              <a:t> </a:t>
            </a:r>
            <a:r>
              <a:rPr lang="en-US" dirty="0" err="1"/>
              <a:t>Jaringan</a:t>
            </a:r>
            <a:endParaRPr lang="en-US" dirty="0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85259" y="1418616"/>
            <a:ext cx="4587132" cy="4349885"/>
          </a:xfrm>
        </p:spPr>
        <p:txBody>
          <a:bodyPr>
            <a:normAutofit/>
          </a:bodyPr>
          <a:lstStyle/>
          <a:p>
            <a:r>
              <a:rPr lang="en-US" sz="2400" i="1" dirty="0">
                <a:solidFill>
                  <a:srgbClr val="000000"/>
                </a:solidFill>
              </a:rPr>
              <a:t>Single Layer</a:t>
            </a:r>
          </a:p>
          <a:p>
            <a:pPr algn="l"/>
            <a:r>
              <a:rPr lang="en-US" sz="2400" dirty="0" err="1">
                <a:solidFill>
                  <a:srgbClr val="000000"/>
                </a:solidFill>
              </a:rPr>
              <a:t>Hanya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memiliki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satu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lapisan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dengan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bobot-bobot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terhubung</a:t>
            </a:r>
            <a:r>
              <a:rPr lang="en-US" sz="2400" dirty="0">
                <a:solidFill>
                  <a:srgbClr val="000000"/>
                </a:solidFill>
              </a:rPr>
              <a:t>.</a:t>
            </a:r>
          </a:p>
          <a:p>
            <a:pPr algn="l"/>
            <a:r>
              <a:rPr lang="en-US" sz="2400" dirty="0" err="1">
                <a:solidFill>
                  <a:srgbClr val="000000"/>
                </a:solidFill>
              </a:rPr>
              <a:t>Langsung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menerima</a:t>
            </a:r>
            <a:r>
              <a:rPr lang="en-US" sz="2400" dirty="0">
                <a:solidFill>
                  <a:srgbClr val="000000"/>
                </a:solidFill>
              </a:rPr>
              <a:t> input dan </a:t>
            </a:r>
            <a:r>
              <a:rPr lang="en-US" sz="2400" dirty="0" err="1">
                <a:solidFill>
                  <a:srgbClr val="000000"/>
                </a:solidFill>
              </a:rPr>
              <a:t>mengolahnya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menjadi</a:t>
            </a:r>
            <a:r>
              <a:rPr lang="en-US" sz="2400" dirty="0">
                <a:solidFill>
                  <a:srgbClr val="000000"/>
                </a:solidFill>
              </a:rPr>
              <a:t> output </a:t>
            </a:r>
            <a:r>
              <a:rPr lang="en-US" sz="2400" dirty="0" err="1">
                <a:solidFill>
                  <a:srgbClr val="000000"/>
                </a:solidFill>
              </a:rPr>
              <a:t>tanpa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menggunakan</a:t>
            </a:r>
            <a:r>
              <a:rPr lang="en-US" sz="2400" dirty="0">
                <a:solidFill>
                  <a:srgbClr val="000000"/>
                </a:solidFill>
              </a:rPr>
              <a:t> hidden layer</a:t>
            </a:r>
          </a:p>
          <a:p>
            <a:pPr algn="just"/>
            <a:endParaRPr lang="en-US" sz="2400" dirty="0">
              <a:solidFill>
                <a:srgbClr val="00000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C20B14C-9C62-4924-85FF-68F3ED5466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2424" y="1333500"/>
            <a:ext cx="5971048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72037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AutoShape 2"/>
          <p:cNvSpPr>
            <a:spLocks noGrp="1" noChangeArrowheads="1"/>
          </p:cNvSpPr>
          <p:nvPr>
            <p:ph type="title"/>
          </p:nvPr>
        </p:nvSpPr>
        <p:spPr>
          <a:xfrm>
            <a:off x="739302" y="394377"/>
            <a:ext cx="10566400" cy="1143000"/>
          </a:xfrm>
        </p:spPr>
        <p:txBody>
          <a:bodyPr/>
          <a:lstStyle/>
          <a:p>
            <a:r>
              <a:rPr lang="en-US" dirty="0" err="1"/>
              <a:t>Arsitektur</a:t>
            </a:r>
            <a:r>
              <a:rPr lang="en-US" dirty="0"/>
              <a:t> </a:t>
            </a:r>
            <a:r>
              <a:rPr lang="en-US" dirty="0" err="1"/>
              <a:t>Jaringan</a:t>
            </a:r>
            <a:endParaRPr lang="en-US" dirty="0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739302" y="1556426"/>
            <a:ext cx="5356699" cy="4920574"/>
          </a:xfrm>
        </p:spPr>
        <p:txBody>
          <a:bodyPr/>
          <a:lstStyle/>
          <a:p>
            <a:r>
              <a:rPr lang="en-US" sz="2400" i="1" dirty="0">
                <a:solidFill>
                  <a:srgbClr val="000000"/>
                </a:solidFill>
              </a:rPr>
              <a:t>Multi Layer</a:t>
            </a:r>
          </a:p>
          <a:p>
            <a:r>
              <a:rPr lang="en-US" sz="2400" dirty="0" err="1">
                <a:solidFill>
                  <a:srgbClr val="000000"/>
                </a:solidFill>
              </a:rPr>
              <a:t>Memiliki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satu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atau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lebih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lapisan</a:t>
            </a:r>
            <a:r>
              <a:rPr lang="en-US" sz="2400" dirty="0">
                <a:solidFill>
                  <a:srgbClr val="000000"/>
                </a:solidFill>
              </a:rPr>
              <a:t> input, </a:t>
            </a:r>
            <a:r>
              <a:rPr lang="en-US" sz="2400" dirty="0" err="1">
                <a:solidFill>
                  <a:srgbClr val="000000"/>
                </a:solidFill>
              </a:rPr>
              <a:t>satu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atau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lebih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lapisan</a:t>
            </a:r>
            <a:r>
              <a:rPr lang="en-US" sz="2400" dirty="0">
                <a:solidFill>
                  <a:srgbClr val="000000"/>
                </a:solidFill>
              </a:rPr>
              <a:t> output, dan </a:t>
            </a:r>
            <a:r>
              <a:rPr lang="en-US" sz="2400" dirty="0" err="1">
                <a:solidFill>
                  <a:srgbClr val="000000"/>
                </a:solidFill>
              </a:rPr>
              <a:t>lapisan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tersembunyi</a:t>
            </a:r>
            <a:endParaRPr lang="en-US" sz="2400" dirty="0">
              <a:solidFill>
                <a:srgbClr val="000000"/>
              </a:solidFill>
            </a:endParaRPr>
          </a:p>
          <a:p>
            <a:r>
              <a:rPr lang="en-US" sz="2400" dirty="0" err="1">
                <a:solidFill>
                  <a:srgbClr val="000000"/>
                </a:solidFill>
              </a:rPr>
              <a:t>Dapat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menyelesaikan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masalah</a:t>
            </a:r>
            <a:r>
              <a:rPr lang="en-US" sz="2400" dirty="0">
                <a:solidFill>
                  <a:srgbClr val="000000"/>
                </a:solidFill>
              </a:rPr>
              <a:t> yang </a:t>
            </a:r>
            <a:r>
              <a:rPr lang="en-US" sz="2400" dirty="0" err="1">
                <a:solidFill>
                  <a:srgbClr val="000000"/>
                </a:solidFill>
              </a:rPr>
              <a:t>lebih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kompleks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karena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lebih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akurat</a:t>
            </a:r>
            <a:endParaRPr lang="en-US" sz="2400" dirty="0">
              <a:solidFill>
                <a:srgbClr val="000000"/>
              </a:solidFill>
            </a:endParaRPr>
          </a:p>
          <a:p>
            <a:r>
              <a:rPr lang="en-US" sz="2400" dirty="0" err="1">
                <a:solidFill>
                  <a:srgbClr val="000000"/>
                </a:solidFill>
              </a:rPr>
              <a:t>Fungsi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pembelajarannya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lebih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rumit</a:t>
            </a:r>
            <a:endParaRPr lang="en-US" sz="2400" dirty="0">
              <a:solidFill>
                <a:srgbClr val="000000"/>
              </a:solidFill>
            </a:endParaRPr>
          </a:p>
          <a:p>
            <a:endParaRPr lang="en-US" sz="2400" dirty="0">
              <a:solidFill>
                <a:srgbClr val="00000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FABBBBA-6812-4DF3-BF71-D8462A8EE2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7627" y="1674576"/>
            <a:ext cx="4460789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64215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Arsitektur</a:t>
            </a:r>
            <a:r>
              <a:rPr lang="en-US" dirty="0"/>
              <a:t> </a:t>
            </a:r>
            <a:r>
              <a:rPr lang="en-US" dirty="0" err="1"/>
              <a:t>Jaringan</a:t>
            </a:r>
            <a:endParaRPr lang="en-US" dirty="0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102836" y="1700720"/>
            <a:ext cx="5453607" cy="3724275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 err="1">
                <a:solidFill>
                  <a:srgbClr val="000000"/>
                </a:solidFill>
              </a:rPr>
              <a:t>Kompetitive</a:t>
            </a:r>
            <a:r>
              <a:rPr lang="en-US" sz="2400" dirty="0">
                <a:solidFill>
                  <a:srgbClr val="000000"/>
                </a:solidFill>
              </a:rPr>
              <a:t> Model / </a:t>
            </a:r>
            <a:r>
              <a:rPr lang="en-US" sz="2400" i="1" dirty="0">
                <a:solidFill>
                  <a:srgbClr val="000000"/>
                </a:solidFill>
              </a:rPr>
              <a:t>Recurrent Model</a:t>
            </a:r>
          </a:p>
          <a:p>
            <a:pPr marL="895350" lvl="1">
              <a:buFont typeface="+mj-lt"/>
              <a:buAutoNum type="arabicPeriod"/>
            </a:pPr>
            <a:r>
              <a:rPr lang="en-US" sz="2400" dirty="0" err="1">
                <a:solidFill>
                  <a:srgbClr val="000000"/>
                </a:solidFill>
              </a:rPr>
              <a:t>Hubungan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antar</a:t>
            </a:r>
            <a:r>
              <a:rPr lang="en-US" sz="2400" dirty="0">
                <a:solidFill>
                  <a:srgbClr val="000000"/>
                </a:solidFill>
              </a:rPr>
              <a:t> neuron </a:t>
            </a:r>
            <a:r>
              <a:rPr lang="en-US" sz="2400" dirty="0" err="1">
                <a:solidFill>
                  <a:srgbClr val="000000"/>
                </a:solidFill>
              </a:rPr>
              <a:t>tidak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diperlihatkan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secara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langsung</a:t>
            </a:r>
            <a:r>
              <a:rPr lang="en-US" sz="2400" dirty="0">
                <a:solidFill>
                  <a:srgbClr val="000000"/>
                </a:solidFill>
              </a:rPr>
              <a:t> pada </a:t>
            </a:r>
            <a:r>
              <a:rPr lang="en-US" sz="2400" dirty="0" err="1">
                <a:solidFill>
                  <a:srgbClr val="000000"/>
                </a:solidFill>
              </a:rPr>
              <a:t>arsitektur</a:t>
            </a:r>
            <a:endParaRPr lang="en-US" sz="2400" dirty="0">
              <a:solidFill>
                <a:srgbClr val="000000"/>
              </a:solidFill>
            </a:endParaRPr>
          </a:p>
          <a:p>
            <a:pPr marL="895350" lvl="1">
              <a:buFont typeface="+mj-lt"/>
              <a:buAutoNum type="arabicPeriod"/>
            </a:pPr>
            <a:r>
              <a:rPr lang="en-US" sz="2400" dirty="0" err="1">
                <a:solidFill>
                  <a:srgbClr val="000000"/>
                </a:solidFill>
              </a:rPr>
              <a:t>Hubungan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antar</a:t>
            </a:r>
            <a:r>
              <a:rPr lang="en-US" sz="2400" dirty="0">
                <a:solidFill>
                  <a:srgbClr val="000000"/>
                </a:solidFill>
              </a:rPr>
              <a:t> neuron </a:t>
            </a:r>
            <a:r>
              <a:rPr lang="en-US" sz="2400" dirty="0" err="1">
                <a:solidFill>
                  <a:srgbClr val="000000"/>
                </a:solidFill>
              </a:rPr>
              <a:t>dapat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digambarkan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sebagai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jaring</a:t>
            </a:r>
            <a:r>
              <a:rPr lang="en-US" sz="2400" dirty="0">
                <a:solidFill>
                  <a:srgbClr val="000000"/>
                </a:solidFill>
              </a:rPr>
              <a:t> yang </a:t>
            </a:r>
            <a:r>
              <a:rPr lang="en-US" sz="2400" dirty="0" err="1">
                <a:solidFill>
                  <a:srgbClr val="000000"/>
                </a:solidFill>
              </a:rPr>
              <a:t>rumit</a:t>
            </a:r>
            <a:endParaRPr lang="en-US" sz="2400" dirty="0">
              <a:solidFill>
                <a:srgbClr val="00000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sz="2400" dirty="0">
              <a:solidFill>
                <a:srgbClr val="00000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AD3346-93B2-415D-8D04-2BC31918F6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5029" y="1887167"/>
            <a:ext cx="5050557" cy="3065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071309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AutoShape 2"/>
          <p:cNvSpPr>
            <a:spLocks noGrp="1" noChangeArrowheads="1"/>
          </p:cNvSpPr>
          <p:nvPr>
            <p:ph type="title"/>
          </p:nvPr>
        </p:nvSpPr>
        <p:spPr>
          <a:xfrm>
            <a:off x="808567" y="533400"/>
            <a:ext cx="10566400" cy="1143000"/>
          </a:xfrm>
        </p:spPr>
        <p:txBody>
          <a:bodyPr/>
          <a:lstStyle/>
          <a:p>
            <a:r>
              <a:rPr lang="en-US" dirty="0" err="1"/>
              <a:t>Fungsi</a:t>
            </a:r>
            <a:r>
              <a:rPr lang="en-US" dirty="0"/>
              <a:t> </a:t>
            </a:r>
            <a:r>
              <a:rPr lang="en-US" dirty="0" err="1"/>
              <a:t>Aktifasi</a:t>
            </a:r>
            <a:endParaRPr lang="en-US" dirty="0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08282" y="1514476"/>
            <a:ext cx="9889420" cy="5003056"/>
          </a:xfrm>
        </p:spPr>
        <p:txBody>
          <a:bodyPr/>
          <a:lstStyle/>
          <a:p>
            <a:r>
              <a:rPr lang="en-US" sz="2400" dirty="0" err="1">
                <a:solidFill>
                  <a:srgbClr val="000000"/>
                </a:solidFill>
              </a:rPr>
              <a:t>Dipakai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untuk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menentukan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keluaran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suatu</a:t>
            </a:r>
            <a:r>
              <a:rPr lang="en-US" sz="2400" dirty="0">
                <a:solidFill>
                  <a:srgbClr val="000000"/>
                </a:solidFill>
              </a:rPr>
              <a:t> neuron </a:t>
            </a:r>
          </a:p>
          <a:p>
            <a:r>
              <a:rPr lang="en-US" sz="2400" dirty="0" err="1">
                <a:solidFill>
                  <a:srgbClr val="000000"/>
                </a:solidFill>
              </a:rPr>
              <a:t>Merupakan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fungsi</a:t>
            </a:r>
            <a:r>
              <a:rPr lang="en-US" sz="2400" dirty="0">
                <a:solidFill>
                  <a:srgbClr val="000000"/>
                </a:solidFill>
              </a:rPr>
              <a:t> yang </a:t>
            </a:r>
            <a:r>
              <a:rPr lang="en-US" sz="2400" dirty="0" err="1">
                <a:solidFill>
                  <a:srgbClr val="000000"/>
                </a:solidFill>
              </a:rPr>
              <a:t>menggambarkan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hubungan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antara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tingkat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aktivasi</a:t>
            </a:r>
            <a:r>
              <a:rPr lang="en-US" sz="2400" dirty="0">
                <a:solidFill>
                  <a:srgbClr val="000000"/>
                </a:solidFill>
              </a:rPr>
              <a:t> internal (</a:t>
            </a:r>
            <a:r>
              <a:rPr lang="en-US" sz="2400" i="1" dirty="0">
                <a:solidFill>
                  <a:srgbClr val="000000"/>
                </a:solidFill>
              </a:rPr>
              <a:t>summation function</a:t>
            </a:r>
            <a:r>
              <a:rPr lang="en-US" sz="2400" dirty="0">
                <a:solidFill>
                  <a:srgbClr val="000000"/>
                </a:solidFill>
              </a:rPr>
              <a:t>) yang </a:t>
            </a:r>
            <a:r>
              <a:rPr lang="en-US" sz="2400" dirty="0" err="1">
                <a:solidFill>
                  <a:srgbClr val="000000"/>
                </a:solidFill>
              </a:rPr>
              <a:t>mungkin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berbentuk</a:t>
            </a:r>
            <a:r>
              <a:rPr lang="en-US" sz="2400" dirty="0">
                <a:solidFill>
                  <a:srgbClr val="000000"/>
                </a:solidFill>
              </a:rPr>
              <a:t> linier </a:t>
            </a:r>
            <a:r>
              <a:rPr lang="en-US" sz="2400" dirty="0" err="1">
                <a:solidFill>
                  <a:srgbClr val="000000"/>
                </a:solidFill>
              </a:rPr>
              <a:t>atau</a:t>
            </a:r>
            <a:r>
              <a:rPr lang="en-US" sz="2400" dirty="0">
                <a:solidFill>
                  <a:srgbClr val="000000"/>
                </a:solidFill>
              </a:rPr>
              <a:t> nonlinear. </a:t>
            </a:r>
          </a:p>
          <a:p>
            <a:r>
              <a:rPr lang="en-US" sz="2400" dirty="0" err="1">
                <a:solidFill>
                  <a:srgbClr val="000000"/>
                </a:solidFill>
              </a:rPr>
              <a:t>Beberapa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fungsi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aktivasi</a:t>
            </a:r>
            <a:r>
              <a:rPr lang="en-US" sz="2400" dirty="0">
                <a:solidFill>
                  <a:srgbClr val="000000"/>
                </a:solidFill>
              </a:rPr>
              <a:t> JST </a:t>
            </a:r>
            <a:r>
              <a:rPr lang="en-US" sz="2400" dirty="0" err="1">
                <a:solidFill>
                  <a:srgbClr val="000000"/>
                </a:solidFill>
              </a:rPr>
              <a:t>diantaranya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i="1" dirty="0">
                <a:solidFill>
                  <a:srgbClr val="000000"/>
                </a:solidFill>
              </a:rPr>
              <a:t>hard limit</a:t>
            </a:r>
            <a:r>
              <a:rPr lang="en-US" sz="2400" dirty="0">
                <a:solidFill>
                  <a:srgbClr val="000000"/>
                </a:solidFill>
              </a:rPr>
              <a:t>, </a:t>
            </a:r>
            <a:r>
              <a:rPr lang="en-US" sz="2400" i="1" dirty="0" err="1">
                <a:solidFill>
                  <a:srgbClr val="000000"/>
                </a:solidFill>
              </a:rPr>
              <a:t>purelin</a:t>
            </a:r>
            <a:r>
              <a:rPr lang="en-US" sz="2400" dirty="0">
                <a:solidFill>
                  <a:srgbClr val="000000"/>
                </a:solidFill>
              </a:rPr>
              <a:t>, dan </a:t>
            </a:r>
            <a:r>
              <a:rPr lang="en-US" sz="2400" i="1" dirty="0">
                <a:solidFill>
                  <a:srgbClr val="000000"/>
                </a:solidFill>
              </a:rPr>
              <a:t>sigmoid</a:t>
            </a:r>
            <a:r>
              <a:rPr lang="en-US" sz="2400" dirty="0">
                <a:solidFill>
                  <a:srgbClr val="000000"/>
                </a:solidFill>
              </a:rPr>
              <a:t>. </a:t>
            </a:r>
          </a:p>
          <a:p>
            <a:r>
              <a:rPr lang="en-US" sz="2400" dirty="0">
                <a:solidFill>
                  <a:srgbClr val="000000"/>
                </a:solidFill>
              </a:rPr>
              <a:t>Yang </a:t>
            </a:r>
            <a:r>
              <a:rPr lang="en-US" sz="2400" dirty="0" err="1">
                <a:solidFill>
                  <a:srgbClr val="000000"/>
                </a:solidFill>
              </a:rPr>
              <a:t>populer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digunakan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adalah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fungsi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i="1" dirty="0">
                <a:solidFill>
                  <a:srgbClr val="000000"/>
                </a:solidFill>
              </a:rPr>
              <a:t>sigmoid</a:t>
            </a:r>
            <a:r>
              <a:rPr lang="en-US" sz="2400" dirty="0">
                <a:solidFill>
                  <a:srgbClr val="000000"/>
                </a:solidFill>
              </a:rPr>
              <a:t> yang </a:t>
            </a:r>
            <a:r>
              <a:rPr lang="en-US" sz="2400" dirty="0" err="1">
                <a:solidFill>
                  <a:srgbClr val="000000"/>
                </a:solidFill>
              </a:rPr>
              <a:t>memiliki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beberapa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dirty="0" err="1">
                <a:solidFill>
                  <a:srgbClr val="000000"/>
                </a:solidFill>
              </a:rPr>
              <a:t>varian</a:t>
            </a:r>
            <a:r>
              <a:rPr lang="en-US" sz="2400" dirty="0">
                <a:solidFill>
                  <a:srgbClr val="000000"/>
                </a:solidFill>
              </a:rPr>
              <a:t> </a:t>
            </a:r>
            <a:r>
              <a:rPr lang="en-US" sz="2400" i="1" dirty="0">
                <a:solidFill>
                  <a:srgbClr val="000000"/>
                </a:solidFill>
              </a:rPr>
              <a:t>: sigmoid </a:t>
            </a:r>
            <a:r>
              <a:rPr lang="en-US" sz="2400" i="1" dirty="0" err="1">
                <a:solidFill>
                  <a:srgbClr val="000000"/>
                </a:solidFill>
              </a:rPr>
              <a:t>logaritma</a:t>
            </a:r>
            <a:r>
              <a:rPr lang="en-US" sz="2400" i="1" dirty="0">
                <a:solidFill>
                  <a:srgbClr val="000000"/>
                </a:solidFill>
              </a:rPr>
              <a:t>, sigmoid biner, sigmoid bipolar, sigmoid </a:t>
            </a:r>
            <a:r>
              <a:rPr lang="en-US" sz="2400" i="1" dirty="0" err="1">
                <a:solidFill>
                  <a:srgbClr val="000000"/>
                </a:solidFill>
              </a:rPr>
              <a:t>tangen</a:t>
            </a:r>
            <a:r>
              <a:rPr lang="en-US" sz="2400" i="1" dirty="0">
                <a:solidFill>
                  <a:srgbClr val="000000"/>
                </a:solidFill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53987857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AutoShape 2"/>
          <p:cNvSpPr>
            <a:spLocks noGrp="1" noChangeArrowheads="1"/>
          </p:cNvSpPr>
          <p:nvPr>
            <p:ph type="title"/>
          </p:nvPr>
        </p:nvSpPr>
        <p:spPr>
          <a:xfrm>
            <a:off x="598283" y="156368"/>
            <a:ext cx="10566400" cy="1143000"/>
          </a:xfrm>
        </p:spPr>
        <p:txBody>
          <a:bodyPr/>
          <a:lstStyle/>
          <a:p>
            <a:r>
              <a:rPr lang="en-US" dirty="0" err="1"/>
              <a:t>Fungsi</a:t>
            </a:r>
            <a:r>
              <a:rPr lang="en-US" dirty="0"/>
              <a:t> </a:t>
            </a:r>
            <a:r>
              <a:rPr lang="en-US" dirty="0" err="1"/>
              <a:t>Aktifasi</a:t>
            </a:r>
            <a:endParaRPr lang="en-US" dirty="0"/>
          </a:p>
        </p:txBody>
      </p:sp>
      <p:graphicFrame>
        <p:nvGraphicFramePr>
          <p:cNvPr id="7" name="Object 2">
            <a:extLst>
              <a:ext uri="{FF2B5EF4-FFF2-40B4-BE49-F238E27FC236}">
                <a16:creationId xmlns:a16="http://schemas.microsoft.com/office/drawing/2014/main" id="{8242FCB6-EC83-43C9-A718-ED0562BBDA1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07811" y="1576105"/>
          <a:ext cx="13843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15920" imgH="431640" progId="Equation.3">
                  <p:embed/>
                </p:oleObj>
              </mc:Choice>
              <mc:Fallback>
                <p:oleObj name="Equation" r:id="rId2" imgW="1015920" imgH="431640" progId="Equation.3">
                  <p:embed/>
                  <p:pic>
                    <p:nvPicPr>
                      <p:cNvPr id="7" name="Object 2">
                        <a:extLst>
                          <a:ext uri="{FF2B5EF4-FFF2-40B4-BE49-F238E27FC236}">
                            <a16:creationId xmlns:a16="http://schemas.microsoft.com/office/drawing/2014/main" id="{8242FCB6-EC83-43C9-A718-ED0562BBDA1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07811" y="1576105"/>
                        <a:ext cx="13843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18">
            <a:extLst>
              <a:ext uri="{FF2B5EF4-FFF2-40B4-BE49-F238E27FC236}">
                <a16:creationId xmlns:a16="http://schemas.microsoft.com/office/drawing/2014/main" id="{840C718A-F94E-41B0-AC7A-7CDF4BDA1C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76860" y="1146085"/>
            <a:ext cx="55626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latin typeface="Calibri" pitchFamily="34" charset="0"/>
              </a:rPr>
              <a:t>- Berharga 0 atau 1 (biner)</a:t>
            </a:r>
          </a:p>
        </p:txBody>
      </p:sp>
      <p:graphicFrame>
        <p:nvGraphicFramePr>
          <p:cNvPr id="9" name="Object 3">
            <a:extLst>
              <a:ext uri="{FF2B5EF4-FFF2-40B4-BE49-F238E27FC236}">
                <a16:creationId xmlns:a16="http://schemas.microsoft.com/office/drawing/2014/main" id="{69C1C16C-23F6-40B4-9645-F35305D8F96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65797" y="5275496"/>
          <a:ext cx="2392363" cy="1173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95280" imgH="634680" progId="Equation.3">
                  <p:embed/>
                </p:oleObj>
              </mc:Choice>
              <mc:Fallback>
                <p:oleObj name="Equation" r:id="rId4" imgW="1295280" imgH="634680" progId="Equation.3">
                  <p:embed/>
                  <p:pic>
                    <p:nvPicPr>
                      <p:cNvPr id="9" name="Object 3">
                        <a:extLst>
                          <a:ext uri="{FF2B5EF4-FFF2-40B4-BE49-F238E27FC236}">
                            <a16:creationId xmlns:a16="http://schemas.microsoft.com/office/drawing/2014/main" id="{69C1C16C-23F6-40B4-9645-F35305D8F96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65797" y="5275496"/>
                        <a:ext cx="2392363" cy="11731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19">
            <a:extLst>
              <a:ext uri="{FF2B5EF4-FFF2-40B4-BE49-F238E27FC236}">
                <a16:creationId xmlns:a16="http://schemas.microsoft.com/office/drawing/2014/main" id="{7A9E5E23-3943-47E7-A8ED-F271A4BDFF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71253" y="4681033"/>
            <a:ext cx="5562600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dirty="0">
                <a:latin typeface="Calibri" pitchFamily="34" charset="0"/>
              </a:rPr>
              <a:t>- </a:t>
            </a:r>
            <a:r>
              <a:rPr lang="en-US" dirty="0" err="1">
                <a:latin typeface="Calibri" pitchFamily="34" charset="0"/>
              </a:rPr>
              <a:t>Dapat</a:t>
            </a:r>
            <a:r>
              <a:rPr lang="en-US" dirty="0">
                <a:latin typeface="Calibri" pitchFamily="34" charset="0"/>
              </a:rPr>
              <a:t> </a:t>
            </a:r>
            <a:r>
              <a:rPr lang="en-US" dirty="0" err="1">
                <a:latin typeface="Calibri" pitchFamily="34" charset="0"/>
              </a:rPr>
              <a:t>berharga</a:t>
            </a:r>
            <a:r>
              <a:rPr lang="en-US" dirty="0">
                <a:latin typeface="Calibri" pitchFamily="34" charset="0"/>
              </a:rPr>
              <a:t> </a:t>
            </a:r>
            <a:r>
              <a:rPr lang="en-US" dirty="0" err="1">
                <a:latin typeface="Calibri" pitchFamily="34" charset="0"/>
              </a:rPr>
              <a:t>berapa</a:t>
            </a:r>
            <a:r>
              <a:rPr lang="en-US" dirty="0">
                <a:latin typeface="Calibri" pitchFamily="34" charset="0"/>
              </a:rPr>
              <a:t> </a:t>
            </a:r>
            <a:r>
              <a:rPr lang="en-US" dirty="0" err="1">
                <a:latin typeface="Calibri" pitchFamily="34" charset="0"/>
              </a:rPr>
              <a:t>saja</a:t>
            </a:r>
            <a:r>
              <a:rPr lang="en-US" dirty="0">
                <a:latin typeface="Calibri" pitchFamily="34" charset="0"/>
              </a:rPr>
              <a:t> </a:t>
            </a:r>
            <a:r>
              <a:rPr lang="en-US" dirty="0" err="1">
                <a:latin typeface="Calibri" pitchFamily="34" charset="0"/>
              </a:rPr>
              <a:t>diantara</a:t>
            </a:r>
            <a:r>
              <a:rPr lang="en-US" dirty="0">
                <a:latin typeface="Calibri" pitchFamily="34" charset="0"/>
              </a:rPr>
              <a:t> </a:t>
            </a:r>
            <a:r>
              <a:rPr lang="en-US" dirty="0" err="1">
                <a:latin typeface="Calibri" pitchFamily="34" charset="0"/>
              </a:rPr>
              <a:t>antara</a:t>
            </a:r>
            <a:r>
              <a:rPr lang="en-US" dirty="0">
                <a:latin typeface="Calibri" pitchFamily="34" charset="0"/>
              </a:rPr>
              <a:t> 0 dan 1</a:t>
            </a:r>
          </a:p>
          <a:p>
            <a:r>
              <a:rPr lang="en-US" dirty="0">
                <a:latin typeface="Calibri" pitchFamily="34" charset="0"/>
              </a:rPr>
              <a:t>- </a:t>
            </a:r>
            <a:r>
              <a:rPr lang="en-US" dirty="0" err="1">
                <a:latin typeface="Calibri" pitchFamily="34" charset="0"/>
              </a:rPr>
              <a:t>Dapat</a:t>
            </a:r>
            <a:r>
              <a:rPr lang="en-US" dirty="0">
                <a:latin typeface="Calibri" pitchFamily="34" charset="0"/>
              </a:rPr>
              <a:t> </a:t>
            </a:r>
            <a:r>
              <a:rPr lang="en-US" dirty="0" err="1">
                <a:latin typeface="Calibri" pitchFamily="34" charset="0"/>
              </a:rPr>
              <a:t>diturunkan</a:t>
            </a:r>
            <a:r>
              <a:rPr lang="en-US" dirty="0">
                <a:latin typeface="Calibri" pitchFamily="34" charset="0"/>
              </a:rPr>
              <a:t> (</a:t>
            </a:r>
            <a:r>
              <a:rPr lang="en-US" dirty="0" err="1">
                <a:latin typeface="Calibri" pitchFamily="34" charset="0"/>
              </a:rPr>
              <a:t>mempunyai</a:t>
            </a:r>
            <a:r>
              <a:rPr lang="en-US" dirty="0">
                <a:latin typeface="Calibri" pitchFamily="34" charset="0"/>
              </a:rPr>
              <a:t> </a:t>
            </a:r>
            <a:r>
              <a:rPr lang="en-US" dirty="0" err="1">
                <a:latin typeface="Calibri" pitchFamily="34" charset="0"/>
              </a:rPr>
              <a:t>turunan</a:t>
            </a:r>
            <a:r>
              <a:rPr lang="en-US" dirty="0">
                <a:latin typeface="Calibri" pitchFamily="34" charset="0"/>
              </a:rPr>
              <a:t>)</a:t>
            </a:r>
          </a:p>
        </p:txBody>
      </p:sp>
      <p:graphicFrame>
        <p:nvGraphicFramePr>
          <p:cNvPr id="11" name="Object 4">
            <a:extLst>
              <a:ext uri="{FF2B5EF4-FFF2-40B4-BE49-F238E27FC236}">
                <a16:creationId xmlns:a16="http://schemas.microsoft.com/office/drawing/2014/main" id="{F787A211-0E6D-4761-8D08-D29D8E851F7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68172" y="3029450"/>
          <a:ext cx="1006475" cy="309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660240" imgH="203040" progId="Equation.3">
                  <p:embed/>
                </p:oleObj>
              </mc:Choice>
              <mc:Fallback>
                <p:oleObj name="Equation" r:id="rId6" imgW="660240" imgH="203040" progId="Equation.3">
                  <p:embed/>
                  <p:pic>
                    <p:nvPicPr>
                      <p:cNvPr id="11" name="Object 4">
                        <a:extLst>
                          <a:ext uri="{FF2B5EF4-FFF2-40B4-BE49-F238E27FC236}">
                            <a16:creationId xmlns:a16="http://schemas.microsoft.com/office/drawing/2014/main" id="{F787A211-0E6D-4761-8D08-D29D8E851F7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68172" y="3029450"/>
                        <a:ext cx="1006475" cy="3095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Picture 15" descr="jsta.jpg">
            <a:extLst>
              <a:ext uri="{FF2B5EF4-FFF2-40B4-BE49-F238E27FC236}">
                <a16:creationId xmlns:a16="http://schemas.microsoft.com/office/drawing/2014/main" id="{7C92764E-95FF-4BCF-B434-933FA915D8B1}"/>
              </a:ext>
            </a:extLst>
          </p:cNvPr>
          <p:cNvPicPr>
            <a:picLocks noChangeAspect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509835" y="1139256"/>
            <a:ext cx="2667000" cy="1998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Picture 16" descr="jstb.jpg">
            <a:extLst>
              <a:ext uri="{FF2B5EF4-FFF2-40B4-BE49-F238E27FC236}">
                <a16:creationId xmlns:a16="http://schemas.microsoft.com/office/drawing/2014/main" id="{D30BD226-C8B6-467D-96CD-2BA4279BF54C}"/>
              </a:ext>
            </a:extLst>
          </p:cNvPr>
          <p:cNvPicPr>
            <a:picLocks noChangeAspect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3401133" y="2531072"/>
            <a:ext cx="2667000" cy="2027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" name="Picture 17" descr="jstc.jpg">
            <a:extLst>
              <a:ext uri="{FF2B5EF4-FFF2-40B4-BE49-F238E27FC236}">
                <a16:creationId xmlns:a16="http://schemas.microsoft.com/office/drawing/2014/main" id="{25B9E23F-822D-4D40-85C8-E91ECF11E75A}"/>
              </a:ext>
            </a:extLst>
          </p:cNvPr>
          <p:cNvPicPr>
            <a:picLocks noChangeAspect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244056" y="4433563"/>
            <a:ext cx="306705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TextBox 18">
            <a:extLst>
              <a:ext uri="{FF2B5EF4-FFF2-40B4-BE49-F238E27FC236}">
                <a16:creationId xmlns:a16="http://schemas.microsoft.com/office/drawing/2014/main" id="{27F68CDD-02E6-44C1-8329-AAA695449D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8160" y="2603136"/>
            <a:ext cx="55626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latin typeface="Calibri" pitchFamily="34" charset="0"/>
              </a:rPr>
              <a:t>- Dapat berharga berapa saja</a:t>
            </a:r>
          </a:p>
        </p:txBody>
      </p:sp>
    </p:spTree>
    <p:extLst>
      <p:ext uri="{BB962C8B-B14F-4D97-AF65-F5344CB8AC3E}">
        <p14:creationId xmlns:p14="http://schemas.microsoft.com/office/powerpoint/2010/main" val="114280906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7863D-CF75-87F9-D27A-D81D5F10B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Fungsi</a:t>
            </a:r>
            <a:r>
              <a:rPr lang="en-US" dirty="0"/>
              <a:t> </a:t>
            </a:r>
            <a:r>
              <a:rPr lang="en-US" dirty="0" err="1"/>
              <a:t>Aktifasi</a:t>
            </a:r>
            <a:endParaRPr lang="en-ID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C1DA24-BEE5-F446-C721-FEAB0D18002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224"/>
          <a:stretch>
            <a:fillRect/>
          </a:stretch>
        </p:blipFill>
        <p:spPr>
          <a:xfrm>
            <a:off x="254268" y="1686983"/>
            <a:ext cx="7822216" cy="4031445"/>
          </a:xfrm>
          <a:prstGeom prst="rect">
            <a:avLst/>
          </a:prstGeom>
        </p:spPr>
      </p:pic>
      <p:pic>
        <p:nvPicPr>
          <p:cNvPr id="2050" name="Picture 2" descr="Arsitektur dan Proses Pembelajaran dalam Jaringan Saraf - GeeksforGeeks">
            <a:extLst>
              <a:ext uri="{FF2B5EF4-FFF2-40B4-BE49-F238E27FC236}">
                <a16:creationId xmlns:a16="http://schemas.microsoft.com/office/drawing/2014/main" id="{8227846C-48D6-E70F-9192-50191917E4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9678" y="3891280"/>
            <a:ext cx="4639334" cy="2357120"/>
          </a:xfrm>
          <a:prstGeom prst="rect">
            <a:avLst/>
          </a:prstGeom>
          <a:noFill/>
          <a:ln>
            <a:solidFill>
              <a:schemeClr val="tx1">
                <a:lumMod val="5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E837140-6485-5235-2FA5-6F0028BE7A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1600810"/>
            <a:ext cx="3819316" cy="1619910"/>
          </a:xfrm>
          <a:prstGeom prst="rect">
            <a:avLst/>
          </a:prstGeom>
          <a:ln>
            <a:solidFill>
              <a:schemeClr val="tx1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995413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31"/>
          <p:cNvSpPr txBox="1">
            <a:spLocks noGrp="1"/>
          </p:cNvSpPr>
          <p:nvPr>
            <p:ph type="ctrTitle"/>
          </p:nvPr>
        </p:nvSpPr>
        <p:spPr>
          <a:xfrm>
            <a:off x="5582653" y="2275158"/>
            <a:ext cx="6232358" cy="1920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E60AC"/>
              </a:buClr>
              <a:buSzPts val="5400"/>
              <a:buFont typeface="Twentieth Century"/>
              <a:buNone/>
            </a:pPr>
            <a:r>
              <a:rPr lang="en-US" sz="5400"/>
              <a:t>Keuntungan dan kekurangan jaringan syaraf neural</a:t>
            </a:r>
            <a:endParaRPr sz="5400"/>
          </a:p>
        </p:txBody>
      </p:sp>
      <p:pic>
        <p:nvPicPr>
          <p:cNvPr id="451" name="Google Shape;451;p31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19738" r="19739"/>
          <a:stretch/>
        </p:blipFill>
        <p:spPr>
          <a:xfrm>
            <a:off x="0" y="499621"/>
            <a:ext cx="5316718" cy="5856730"/>
          </a:xfrm>
          <a:prstGeom prst="flowChartDelay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2E84222-88F1-889B-418D-329CD9FAD8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5402006"/>
              </p:ext>
            </p:extLst>
          </p:nvPr>
        </p:nvGraphicFramePr>
        <p:xfrm>
          <a:off x="800548" y="1426294"/>
          <a:ext cx="10590904" cy="4361322"/>
        </p:xfrm>
        <a:graphic>
          <a:graphicData uri="http://schemas.openxmlformats.org/drawingml/2006/table">
            <a:tbl>
              <a:tblPr>
                <a:tableStyleId>{C4B1156A-380E-4F78-BDF5-A606A8083BF9}</a:tableStyleId>
              </a:tblPr>
              <a:tblGrid>
                <a:gridCol w="5295452">
                  <a:extLst>
                    <a:ext uri="{9D8B030D-6E8A-4147-A177-3AD203B41FA5}">
                      <a16:colId xmlns:a16="http://schemas.microsoft.com/office/drawing/2014/main" val="3222086161"/>
                    </a:ext>
                  </a:extLst>
                </a:gridCol>
                <a:gridCol w="5295452">
                  <a:extLst>
                    <a:ext uri="{9D8B030D-6E8A-4147-A177-3AD203B41FA5}">
                      <a16:colId xmlns:a16="http://schemas.microsoft.com/office/drawing/2014/main" val="1227821877"/>
                    </a:ext>
                  </a:extLst>
                </a:gridCol>
              </a:tblGrid>
              <a:tr h="6230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2400" b="1" dirty="0" err="1">
                          <a:solidFill>
                            <a:schemeClr val="bg1"/>
                          </a:solidFill>
                        </a:rPr>
                        <a:t>Keuntungan</a:t>
                      </a:r>
                      <a:endParaRPr lang="en-ID" sz="2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2400" b="1" dirty="0" err="1">
                          <a:solidFill>
                            <a:schemeClr val="bg1"/>
                          </a:solidFill>
                        </a:rPr>
                        <a:t>Kekurangan</a:t>
                      </a:r>
                      <a:endParaRPr lang="en-ID" sz="2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5643142"/>
                  </a:ext>
                </a:extLst>
              </a:tr>
              <a:tr h="6230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2400" dirty="0"/>
                        <a:t>Mampu </a:t>
                      </a:r>
                      <a:r>
                        <a:rPr lang="en-ID" sz="2400" dirty="0" err="1"/>
                        <a:t>mengenali</a:t>
                      </a:r>
                      <a:r>
                        <a:rPr lang="en-ID" sz="2400" dirty="0"/>
                        <a:t> </a:t>
                      </a:r>
                      <a:r>
                        <a:rPr lang="en-ID" sz="2400" dirty="0" err="1"/>
                        <a:t>pola</a:t>
                      </a:r>
                      <a:r>
                        <a:rPr lang="en-ID" sz="2400" dirty="0"/>
                        <a:t> </a:t>
                      </a:r>
                      <a:r>
                        <a:rPr lang="en-ID" sz="2400" dirty="0" err="1"/>
                        <a:t>kompleks</a:t>
                      </a:r>
                      <a:endParaRPr lang="en-ID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2400"/>
                        <a:t>Membutuhkan banyak data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7487561"/>
                  </a:ext>
                </a:extLst>
              </a:tr>
              <a:tr h="6230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2400" dirty="0" err="1"/>
                        <a:t>Akurasi</a:t>
                      </a:r>
                      <a:r>
                        <a:rPr lang="en-ID" sz="2400" dirty="0"/>
                        <a:t> </a:t>
                      </a:r>
                      <a:r>
                        <a:rPr lang="en-ID" sz="2400" dirty="0" err="1"/>
                        <a:t>tinggi</a:t>
                      </a:r>
                      <a:endParaRPr lang="en-ID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2400"/>
                        <a:t>Membutuhkan komputasi besar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7745979"/>
                  </a:ext>
                </a:extLst>
              </a:tr>
              <a:tr h="6230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2400"/>
                        <a:t>Menangani hubungan non-linear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2400"/>
                        <a:t>Sulit dijelaskan (black box)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5971856"/>
                  </a:ext>
                </a:extLst>
              </a:tr>
              <a:tr h="6230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2400"/>
                        <a:t>Fleksibel untuk berbagai jenis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2400"/>
                        <a:t>Risiko overfitting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90702499"/>
                  </a:ext>
                </a:extLst>
              </a:tr>
              <a:tr h="6230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2400"/>
                        <a:t>Dapat belajar dan beradaptasi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2400"/>
                        <a:t>Pelatihan bisa sangat lama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4098543"/>
                  </a:ext>
                </a:extLst>
              </a:tr>
              <a:tr h="6230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2400"/>
                        <a:t>Cocok untuk AI modern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D" sz="2400" dirty="0"/>
                        <a:t>Desain model </a:t>
                      </a:r>
                      <a:r>
                        <a:rPr lang="en-ID" sz="2400" dirty="0" err="1"/>
                        <a:t>cukup</a:t>
                      </a:r>
                      <a:r>
                        <a:rPr lang="en-ID" sz="2400" dirty="0"/>
                        <a:t> </a:t>
                      </a:r>
                      <a:r>
                        <a:rPr lang="en-ID" sz="2400" dirty="0" err="1"/>
                        <a:t>kompleks</a:t>
                      </a:r>
                      <a:endParaRPr lang="en-ID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63973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9744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33"/>
          <p:cNvSpPr txBox="1">
            <a:spLocks noGrp="1"/>
          </p:cNvSpPr>
          <p:nvPr>
            <p:ph type="body" idx="1"/>
          </p:nvPr>
        </p:nvSpPr>
        <p:spPr>
          <a:xfrm>
            <a:off x="5830645" y="1452667"/>
            <a:ext cx="5701553" cy="4410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lnSpc>
                <a:spcPct val="100000"/>
              </a:lnSpc>
              <a:spcBef>
                <a:spcPts val="0"/>
              </a:spcBef>
              <a:buClr>
                <a:srgbClr val="0E60AC"/>
              </a:buClr>
              <a:buSzPts val="2400"/>
            </a:pPr>
            <a:r>
              <a:rPr lang="en-ID" sz="2400" dirty="0">
                <a:solidFill>
                  <a:schemeClr val="accent6">
                    <a:lumMod val="50000"/>
                  </a:schemeClr>
                </a:solidFill>
              </a:rPr>
              <a:t>Neural Network sangat </a:t>
            </a:r>
            <a:r>
              <a:rPr lang="en-ID" sz="2400" dirty="0" err="1">
                <a:solidFill>
                  <a:schemeClr val="accent6">
                    <a:lumMod val="50000"/>
                  </a:schemeClr>
                </a:solidFill>
              </a:rPr>
              <a:t>kuat</a:t>
            </a:r>
            <a:r>
              <a:rPr lang="en-ID" sz="2400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D" sz="2400" dirty="0" err="1">
                <a:solidFill>
                  <a:schemeClr val="accent6">
                    <a:lumMod val="50000"/>
                  </a:schemeClr>
                </a:solidFill>
              </a:rPr>
              <a:t>untuk</a:t>
            </a:r>
            <a:r>
              <a:rPr lang="en-ID" sz="2400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D" sz="2400" dirty="0" err="1">
                <a:solidFill>
                  <a:schemeClr val="accent6">
                    <a:lumMod val="50000"/>
                  </a:schemeClr>
                </a:solidFill>
              </a:rPr>
              <a:t>menyelesaikan</a:t>
            </a:r>
            <a:r>
              <a:rPr lang="en-ID" sz="2400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D" sz="2400" dirty="0" err="1">
                <a:solidFill>
                  <a:schemeClr val="accent6">
                    <a:lumMod val="50000"/>
                  </a:schemeClr>
                </a:solidFill>
              </a:rPr>
              <a:t>masalah</a:t>
            </a:r>
            <a:r>
              <a:rPr lang="en-ID" sz="2400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D" sz="2400" dirty="0" err="1">
                <a:solidFill>
                  <a:schemeClr val="accent6">
                    <a:lumMod val="50000"/>
                  </a:schemeClr>
                </a:solidFill>
              </a:rPr>
              <a:t>kompleks</a:t>
            </a:r>
            <a:r>
              <a:rPr lang="en-ID" sz="2400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D" sz="2400" dirty="0" err="1">
                <a:solidFill>
                  <a:schemeClr val="accent6">
                    <a:lumMod val="50000"/>
                  </a:schemeClr>
                </a:solidFill>
              </a:rPr>
              <a:t>seperti</a:t>
            </a:r>
            <a:r>
              <a:rPr lang="en-ID" sz="2400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D" sz="2400" b="1" dirty="0">
                <a:solidFill>
                  <a:schemeClr val="accent6">
                    <a:lumMod val="50000"/>
                  </a:schemeClr>
                </a:solidFill>
              </a:rPr>
              <a:t>computer vision, </a:t>
            </a:r>
            <a:r>
              <a:rPr lang="en-ID" sz="2400" b="1" dirty="0" err="1">
                <a:solidFill>
                  <a:schemeClr val="accent6">
                    <a:lumMod val="50000"/>
                  </a:schemeClr>
                </a:solidFill>
              </a:rPr>
              <a:t>pengolahan</a:t>
            </a:r>
            <a:r>
              <a:rPr lang="en-ID" sz="24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D" sz="2400" b="1" dirty="0" err="1">
                <a:solidFill>
                  <a:schemeClr val="accent6">
                    <a:lumMod val="50000"/>
                  </a:schemeClr>
                </a:solidFill>
              </a:rPr>
              <a:t>bahasa</a:t>
            </a:r>
            <a:r>
              <a:rPr lang="en-ID" sz="24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D" sz="2400" b="1" dirty="0" err="1">
                <a:solidFill>
                  <a:schemeClr val="accent6">
                    <a:lumMod val="50000"/>
                  </a:schemeClr>
                </a:solidFill>
              </a:rPr>
              <a:t>alami</a:t>
            </a:r>
            <a:r>
              <a:rPr lang="en-ID" sz="2400" b="1" dirty="0">
                <a:solidFill>
                  <a:schemeClr val="accent6">
                    <a:lumMod val="50000"/>
                  </a:schemeClr>
                </a:solidFill>
              </a:rPr>
              <a:t> (NLP), </a:t>
            </a:r>
            <a:r>
              <a:rPr lang="en-ID" sz="2400" b="1" dirty="0" err="1">
                <a:solidFill>
                  <a:schemeClr val="accent6">
                    <a:lumMod val="50000"/>
                  </a:schemeClr>
                </a:solidFill>
              </a:rPr>
              <a:t>prediksi</a:t>
            </a:r>
            <a:r>
              <a:rPr lang="en-ID" sz="2400" b="1" dirty="0">
                <a:solidFill>
                  <a:schemeClr val="accent6">
                    <a:lumMod val="50000"/>
                  </a:schemeClr>
                </a:solidFill>
              </a:rPr>
              <a:t>, dan </a:t>
            </a:r>
            <a:r>
              <a:rPr lang="en-ID" sz="2400" b="1" dirty="0" err="1">
                <a:solidFill>
                  <a:schemeClr val="accent6">
                    <a:lumMod val="50000"/>
                  </a:schemeClr>
                </a:solidFill>
              </a:rPr>
              <a:t>sistem</a:t>
            </a:r>
            <a:r>
              <a:rPr lang="en-ID" sz="24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D" sz="2400" b="1" dirty="0" err="1">
                <a:solidFill>
                  <a:schemeClr val="accent6">
                    <a:lumMod val="50000"/>
                  </a:schemeClr>
                </a:solidFill>
              </a:rPr>
              <a:t>rekomendasi</a:t>
            </a:r>
            <a:r>
              <a:rPr lang="en-ID" sz="2400" dirty="0">
                <a:solidFill>
                  <a:schemeClr val="accent6">
                    <a:lumMod val="50000"/>
                  </a:schemeClr>
                </a:solidFill>
              </a:rPr>
              <a:t>. </a:t>
            </a:r>
            <a:r>
              <a:rPr lang="en-ID" sz="2400" dirty="0" err="1">
                <a:solidFill>
                  <a:schemeClr val="accent6">
                    <a:lumMod val="50000"/>
                  </a:schemeClr>
                </a:solidFill>
              </a:rPr>
              <a:t>Namun</a:t>
            </a:r>
            <a:r>
              <a:rPr lang="en-ID" sz="2400" dirty="0">
                <a:solidFill>
                  <a:schemeClr val="accent6">
                    <a:lumMod val="50000"/>
                  </a:schemeClr>
                </a:solidFill>
              </a:rPr>
              <a:t>, </a:t>
            </a:r>
            <a:r>
              <a:rPr lang="en-ID" sz="2400" dirty="0" err="1">
                <a:solidFill>
                  <a:schemeClr val="accent6">
                    <a:lumMod val="50000"/>
                  </a:schemeClr>
                </a:solidFill>
              </a:rPr>
              <a:t>keberhasilannya</a:t>
            </a:r>
            <a:r>
              <a:rPr lang="en-ID" sz="2400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D" sz="2400" dirty="0" err="1">
                <a:solidFill>
                  <a:schemeClr val="accent6">
                    <a:lumMod val="50000"/>
                  </a:schemeClr>
                </a:solidFill>
              </a:rPr>
              <a:t>bergantung</a:t>
            </a:r>
            <a:r>
              <a:rPr lang="en-ID" sz="2400" dirty="0">
                <a:solidFill>
                  <a:schemeClr val="accent6">
                    <a:lumMod val="50000"/>
                  </a:schemeClr>
                </a:solidFill>
              </a:rPr>
              <a:t> pada </a:t>
            </a:r>
            <a:r>
              <a:rPr lang="en-ID" sz="2400" b="1" dirty="0" err="1">
                <a:solidFill>
                  <a:schemeClr val="accent6">
                    <a:lumMod val="50000"/>
                  </a:schemeClr>
                </a:solidFill>
              </a:rPr>
              <a:t>ketersediaan</a:t>
            </a:r>
            <a:r>
              <a:rPr lang="en-ID" sz="2400" b="1" dirty="0">
                <a:solidFill>
                  <a:schemeClr val="accent6">
                    <a:lumMod val="50000"/>
                  </a:schemeClr>
                </a:solidFill>
              </a:rPr>
              <a:t> data yang </a:t>
            </a:r>
            <a:r>
              <a:rPr lang="en-ID" sz="2400" b="1" dirty="0" err="1">
                <a:solidFill>
                  <a:schemeClr val="accent6">
                    <a:lumMod val="50000"/>
                  </a:schemeClr>
                </a:solidFill>
              </a:rPr>
              <a:t>cukup</a:t>
            </a:r>
            <a:r>
              <a:rPr lang="en-ID" sz="2400" b="1" dirty="0">
                <a:solidFill>
                  <a:schemeClr val="accent6">
                    <a:lumMod val="50000"/>
                  </a:schemeClr>
                </a:solidFill>
              </a:rPr>
              <a:t>, </a:t>
            </a:r>
            <a:r>
              <a:rPr lang="en-ID" sz="2400" b="1" dirty="0" err="1">
                <a:solidFill>
                  <a:schemeClr val="accent6">
                    <a:lumMod val="50000"/>
                  </a:schemeClr>
                </a:solidFill>
              </a:rPr>
              <a:t>sumber</a:t>
            </a:r>
            <a:r>
              <a:rPr lang="en-ID" sz="24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D" sz="2400" b="1" dirty="0" err="1">
                <a:solidFill>
                  <a:schemeClr val="accent6">
                    <a:lumMod val="50000"/>
                  </a:schemeClr>
                </a:solidFill>
              </a:rPr>
              <a:t>daya</a:t>
            </a:r>
            <a:r>
              <a:rPr lang="en-ID" sz="24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D" sz="2400" b="1" dirty="0" err="1">
                <a:solidFill>
                  <a:schemeClr val="accent6">
                    <a:lumMod val="50000"/>
                  </a:schemeClr>
                </a:solidFill>
              </a:rPr>
              <a:t>komputasi</a:t>
            </a:r>
            <a:r>
              <a:rPr lang="en-ID" sz="2400" b="1" dirty="0">
                <a:solidFill>
                  <a:schemeClr val="accent6">
                    <a:lumMod val="50000"/>
                  </a:schemeClr>
                </a:solidFill>
              </a:rPr>
              <a:t> yang </a:t>
            </a:r>
            <a:r>
              <a:rPr lang="en-ID" sz="2400" b="1" dirty="0" err="1">
                <a:solidFill>
                  <a:schemeClr val="accent6">
                    <a:lumMod val="50000"/>
                  </a:schemeClr>
                </a:solidFill>
              </a:rPr>
              <a:t>memadai</a:t>
            </a:r>
            <a:r>
              <a:rPr lang="en-ID" sz="2400" b="1" dirty="0">
                <a:solidFill>
                  <a:schemeClr val="accent6">
                    <a:lumMod val="50000"/>
                  </a:schemeClr>
                </a:solidFill>
              </a:rPr>
              <a:t>, dan </a:t>
            </a:r>
            <a:r>
              <a:rPr lang="en-ID" sz="2400" b="1" dirty="0" err="1">
                <a:solidFill>
                  <a:schemeClr val="accent6">
                    <a:lumMod val="50000"/>
                  </a:schemeClr>
                </a:solidFill>
              </a:rPr>
              <a:t>desain</a:t>
            </a:r>
            <a:r>
              <a:rPr lang="en-ID" sz="2400" b="1" dirty="0">
                <a:solidFill>
                  <a:schemeClr val="accent6">
                    <a:lumMod val="50000"/>
                  </a:schemeClr>
                </a:solidFill>
              </a:rPr>
              <a:t> model yang </a:t>
            </a:r>
            <a:r>
              <a:rPr lang="en-ID" sz="2400" b="1" dirty="0" err="1">
                <a:solidFill>
                  <a:schemeClr val="accent6">
                    <a:lumMod val="50000"/>
                  </a:schemeClr>
                </a:solidFill>
              </a:rPr>
              <a:t>tepat</a:t>
            </a:r>
            <a:r>
              <a:rPr lang="en-ID" sz="2400" dirty="0">
                <a:solidFill>
                  <a:schemeClr val="accent6">
                    <a:lumMod val="50000"/>
                  </a:schemeClr>
                </a:solidFill>
              </a:rPr>
              <a:t>. Selain </a:t>
            </a:r>
            <a:r>
              <a:rPr lang="en-ID" sz="2400" dirty="0" err="1">
                <a:solidFill>
                  <a:schemeClr val="accent6">
                    <a:lumMod val="50000"/>
                  </a:schemeClr>
                </a:solidFill>
              </a:rPr>
              <a:t>itu</a:t>
            </a:r>
            <a:r>
              <a:rPr lang="en-ID" sz="2400" dirty="0">
                <a:solidFill>
                  <a:schemeClr val="accent6">
                    <a:lumMod val="50000"/>
                  </a:schemeClr>
                </a:solidFill>
              </a:rPr>
              <a:t>, </a:t>
            </a:r>
            <a:r>
              <a:rPr lang="en-ID" sz="2400" dirty="0" err="1">
                <a:solidFill>
                  <a:schemeClr val="accent6">
                    <a:lumMod val="50000"/>
                  </a:schemeClr>
                </a:solidFill>
              </a:rPr>
              <a:t>tantangan</a:t>
            </a:r>
            <a:r>
              <a:rPr lang="en-ID" sz="2400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D" sz="2400" dirty="0" err="1">
                <a:solidFill>
                  <a:schemeClr val="accent6">
                    <a:lumMod val="50000"/>
                  </a:schemeClr>
                </a:solidFill>
              </a:rPr>
              <a:t>utama</a:t>
            </a:r>
            <a:r>
              <a:rPr lang="en-ID" sz="2400" dirty="0">
                <a:solidFill>
                  <a:schemeClr val="accent6">
                    <a:lumMod val="50000"/>
                  </a:schemeClr>
                </a:solidFill>
              </a:rPr>
              <a:t> yang </a:t>
            </a:r>
            <a:r>
              <a:rPr lang="en-ID" sz="2400" dirty="0" err="1">
                <a:solidFill>
                  <a:schemeClr val="accent6">
                    <a:lumMod val="50000"/>
                  </a:schemeClr>
                </a:solidFill>
              </a:rPr>
              <a:t>masih</a:t>
            </a:r>
            <a:r>
              <a:rPr lang="en-ID" sz="2400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D" sz="2400" dirty="0" err="1">
                <a:solidFill>
                  <a:schemeClr val="accent6">
                    <a:lumMod val="50000"/>
                  </a:schemeClr>
                </a:solidFill>
              </a:rPr>
              <a:t>sering</a:t>
            </a:r>
            <a:r>
              <a:rPr lang="en-ID" sz="2400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D" sz="2400" dirty="0" err="1">
                <a:solidFill>
                  <a:schemeClr val="accent6">
                    <a:lumMod val="50000"/>
                  </a:schemeClr>
                </a:solidFill>
              </a:rPr>
              <a:t>dibahas</a:t>
            </a:r>
            <a:r>
              <a:rPr lang="en-ID" sz="2400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D" sz="2400" dirty="0" err="1">
                <a:solidFill>
                  <a:schemeClr val="accent6">
                    <a:lumMod val="50000"/>
                  </a:schemeClr>
                </a:solidFill>
              </a:rPr>
              <a:t>adalah</a:t>
            </a:r>
            <a:r>
              <a:rPr lang="en-ID" sz="2400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D" sz="2400" dirty="0" err="1">
                <a:solidFill>
                  <a:schemeClr val="accent6">
                    <a:lumMod val="50000"/>
                  </a:schemeClr>
                </a:solidFill>
              </a:rPr>
              <a:t>sifatnya</a:t>
            </a:r>
            <a:r>
              <a:rPr lang="en-ID" sz="2400" dirty="0">
                <a:solidFill>
                  <a:schemeClr val="accent6">
                    <a:lumMod val="50000"/>
                  </a:schemeClr>
                </a:solidFill>
              </a:rPr>
              <a:t> yang </a:t>
            </a:r>
            <a:r>
              <a:rPr lang="en-ID" sz="2400" b="1" dirty="0" err="1">
                <a:solidFill>
                  <a:schemeClr val="accent6">
                    <a:lumMod val="50000"/>
                  </a:schemeClr>
                </a:solidFill>
              </a:rPr>
              <a:t>kurang</a:t>
            </a:r>
            <a:r>
              <a:rPr lang="en-ID" sz="2400" b="1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D" sz="2400" b="1" dirty="0" err="1">
                <a:solidFill>
                  <a:schemeClr val="accent6">
                    <a:lumMod val="50000"/>
                  </a:schemeClr>
                </a:solidFill>
              </a:rPr>
              <a:t>transparan</a:t>
            </a:r>
            <a:r>
              <a:rPr lang="en-ID" sz="2400" b="1" dirty="0">
                <a:solidFill>
                  <a:schemeClr val="accent6">
                    <a:lumMod val="50000"/>
                  </a:schemeClr>
                </a:solidFill>
              </a:rPr>
              <a:t> (black box)</a:t>
            </a:r>
            <a:r>
              <a:rPr lang="en-ID" sz="2400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D" sz="2400" dirty="0" err="1">
                <a:solidFill>
                  <a:schemeClr val="accent6">
                    <a:lumMod val="50000"/>
                  </a:schemeClr>
                </a:solidFill>
              </a:rPr>
              <a:t>dibandingkan</a:t>
            </a:r>
            <a:r>
              <a:rPr lang="en-ID" sz="2400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D" sz="2400" dirty="0" err="1">
                <a:solidFill>
                  <a:schemeClr val="accent6">
                    <a:lumMod val="50000"/>
                  </a:schemeClr>
                </a:solidFill>
              </a:rPr>
              <a:t>metode</a:t>
            </a:r>
            <a:r>
              <a:rPr lang="en-ID" sz="2400" dirty="0">
                <a:solidFill>
                  <a:schemeClr val="accent6">
                    <a:lumMod val="50000"/>
                  </a:schemeClr>
                </a:solidFill>
              </a:rPr>
              <a:t> machine learning yang </a:t>
            </a:r>
            <a:r>
              <a:rPr lang="en-ID" sz="2400" dirty="0" err="1">
                <a:solidFill>
                  <a:schemeClr val="accent6">
                    <a:lumMod val="50000"/>
                  </a:schemeClr>
                </a:solidFill>
              </a:rPr>
              <a:t>lebih</a:t>
            </a:r>
            <a:r>
              <a:rPr lang="en-ID" sz="2400" dirty="0">
                <a:solidFill>
                  <a:schemeClr val="accent6">
                    <a:lumMod val="50000"/>
                  </a:schemeClr>
                </a:solidFill>
              </a:rPr>
              <a:t> </a:t>
            </a:r>
            <a:r>
              <a:rPr lang="en-ID" sz="2400" dirty="0" err="1">
                <a:solidFill>
                  <a:schemeClr val="accent6">
                    <a:lumMod val="50000"/>
                  </a:schemeClr>
                </a:solidFill>
              </a:rPr>
              <a:t>sederhana</a:t>
            </a:r>
            <a:r>
              <a:rPr lang="en-ID" sz="2400" dirty="0">
                <a:solidFill>
                  <a:schemeClr val="accent6">
                    <a:lumMod val="50000"/>
                  </a:schemeClr>
                </a:solidFill>
              </a:rPr>
              <a:t>.</a:t>
            </a:r>
            <a:endParaRPr sz="2400" dirty="0">
              <a:solidFill>
                <a:schemeClr val="accent6">
                  <a:lumMod val="50000"/>
                </a:schemeClr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465" name="Google Shape;465;p33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17562" r="17562"/>
          <a:stretch/>
        </p:blipFill>
        <p:spPr>
          <a:xfrm>
            <a:off x="449598" y="1138488"/>
            <a:ext cx="4887912" cy="50228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34"/>
          <p:cNvSpPr txBox="1">
            <a:spLocks noGrp="1"/>
          </p:cNvSpPr>
          <p:nvPr>
            <p:ph type="ctrTitle"/>
          </p:nvPr>
        </p:nvSpPr>
        <p:spPr>
          <a:xfrm>
            <a:off x="2333732" y="2541902"/>
            <a:ext cx="3048000" cy="1768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Twentieth Century"/>
              <a:buNone/>
            </a:pPr>
            <a:r>
              <a:rPr lang="en-US"/>
              <a:t>Terima</a:t>
            </a:r>
            <a:br>
              <a:rPr lang="en-US"/>
            </a:br>
            <a:r>
              <a:rPr lang="en-US"/>
              <a:t>Kasih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UEU Color">
      <a:dk1>
        <a:srgbClr val="0E60AC"/>
      </a:dk1>
      <a:lt1>
        <a:srgbClr val="FFFFFF"/>
      </a:lt1>
      <a:dk2>
        <a:srgbClr val="0E60AC"/>
      </a:dk2>
      <a:lt2>
        <a:srgbClr val="FFFFFF"/>
      </a:lt2>
      <a:accent1>
        <a:srgbClr val="0B4E8B"/>
      </a:accent1>
      <a:accent2>
        <a:srgbClr val="EF7220"/>
      </a:accent2>
      <a:accent3>
        <a:srgbClr val="0F68B9"/>
      </a:accent3>
      <a:accent4>
        <a:srgbClr val="DA6210"/>
      </a:accent4>
      <a:accent5>
        <a:srgbClr val="D8D8D8"/>
      </a:accent5>
      <a:accent6>
        <a:srgbClr val="0B4E8B"/>
      </a:accent6>
      <a:hlink>
        <a:srgbClr val="DA6210"/>
      </a:hlink>
      <a:folHlink>
        <a:srgbClr val="EF722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</TotalTime>
  <Words>1989</Words>
  <Application>Microsoft Office PowerPoint</Application>
  <PresentationFormat>Widescreen</PresentationFormat>
  <Paragraphs>304</Paragraphs>
  <Slides>43</Slides>
  <Notes>15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9" baseType="lpstr">
      <vt:lpstr>Arial</vt:lpstr>
      <vt:lpstr>Calibri</vt:lpstr>
      <vt:lpstr>Twentieth Century</vt:lpstr>
      <vt:lpstr>Wingdings</vt:lpstr>
      <vt:lpstr>Office Theme</vt:lpstr>
      <vt:lpstr>Equation</vt:lpstr>
      <vt:lpstr>Machine Learning</vt:lpstr>
      <vt:lpstr>PowerPoint Presentation</vt:lpstr>
      <vt:lpstr>PowerPoint Presentation</vt:lpstr>
      <vt:lpstr>PowerPoint Presentation</vt:lpstr>
      <vt:lpstr>PowerPoint Presentation</vt:lpstr>
      <vt:lpstr>Neural Network </vt:lpstr>
      <vt:lpstr>Otak Manusia</vt:lpstr>
      <vt:lpstr>Sel Syaraf (Neuron)</vt:lpstr>
      <vt:lpstr>Jaringan Syaraf Tiruan (JST)</vt:lpstr>
      <vt:lpstr>Jaringan Syaraf Tiruan (JST)</vt:lpstr>
      <vt:lpstr>Hubungan Jaringan Syaraf Biologis (JSB) &amp; jaringan Syaraf Tiruan (JST)</vt:lpstr>
      <vt:lpstr>Hubungan Jaringan Syaraf Biologis (JSB) &amp; jaringan Syaraf Tiruan (JST)</vt:lpstr>
      <vt:lpstr>SUPERVISED LEARNING:  Neural Network  (NN) </vt:lpstr>
      <vt:lpstr>Neural Network</vt:lpstr>
      <vt:lpstr>PowerPoint Presentation</vt:lpstr>
      <vt:lpstr>Untuk Apa Jaringan Neural Digunakan?</vt:lpstr>
      <vt:lpstr>PowerPoint Presentation</vt:lpstr>
      <vt:lpstr>PowerPoint Presentation</vt:lpstr>
      <vt:lpstr>Penerapan JST</vt:lpstr>
      <vt:lpstr>Penerapan JST</vt:lpstr>
      <vt:lpstr>Jenis Jaringan Neural dalam Pembelajaran Mesin</vt:lpstr>
      <vt:lpstr>Proses Pembelajaran</vt:lpstr>
      <vt:lpstr>Supervised Learning</vt:lpstr>
      <vt:lpstr>Unsupervised Learning</vt:lpstr>
      <vt:lpstr>Jenis-jenis pembelajaran pada Neural Network</vt:lpstr>
      <vt:lpstr>1. Feedforward Neural Networks (FNN)</vt:lpstr>
      <vt:lpstr>2. Convolutional Neural Networks (CNN)</vt:lpstr>
      <vt:lpstr>3. Recurrent Neural Networks (RNN)</vt:lpstr>
      <vt:lpstr>4. Generative Neural Networks</vt:lpstr>
      <vt:lpstr>5. Attention-Based Neural Networks (Transformer)</vt:lpstr>
      <vt:lpstr>Perbandingan</vt:lpstr>
      <vt:lpstr>Cara Kerja Jaringan Neural</vt:lpstr>
      <vt:lpstr>JST ditentukan oleh 3 hal</vt:lpstr>
      <vt:lpstr>Arsitektur Jaringan</vt:lpstr>
      <vt:lpstr>Arsitektur Jaringan</vt:lpstr>
      <vt:lpstr>Arsitektur Jaringan</vt:lpstr>
      <vt:lpstr>Fungsi Aktifasi</vt:lpstr>
      <vt:lpstr>Fungsi Aktifasi</vt:lpstr>
      <vt:lpstr>Fungsi Aktifasi</vt:lpstr>
      <vt:lpstr>Keuntungan dan kekurangan jaringan syaraf neural</vt:lpstr>
      <vt:lpstr>PowerPoint Presentation</vt:lpstr>
      <vt:lpstr>PowerPoint Presentation</vt:lpstr>
      <vt:lpstr>Terima Kasih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Ari Candra</dc:creator>
  <cp:lastModifiedBy>Rahmat Budiarsa</cp:lastModifiedBy>
  <cp:revision>16</cp:revision>
  <dcterms:created xsi:type="dcterms:W3CDTF">2023-08-22T04:51:45Z</dcterms:created>
  <dcterms:modified xsi:type="dcterms:W3CDTF">2026-06-04T15:30:23Z</dcterms:modified>
</cp:coreProperties>
</file>