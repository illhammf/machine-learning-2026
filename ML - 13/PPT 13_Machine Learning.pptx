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4"/>
  </p:notesMasterIdLst>
  <p:sldIdLst>
    <p:sldId id="1996" r:id="rId2"/>
    <p:sldId id="2189" r:id="rId3"/>
    <p:sldId id="2002" r:id="rId4"/>
    <p:sldId id="2165" r:id="rId5"/>
    <p:sldId id="2166" r:id="rId6"/>
    <p:sldId id="2139" r:id="rId7"/>
    <p:sldId id="2158" r:id="rId8"/>
    <p:sldId id="2177" r:id="rId9"/>
    <p:sldId id="2178" r:id="rId10"/>
    <p:sldId id="2179" r:id="rId11"/>
    <p:sldId id="2069" r:id="rId12"/>
    <p:sldId id="2180" r:id="rId13"/>
    <p:sldId id="2070" r:id="rId14"/>
    <p:sldId id="2181" r:id="rId15"/>
    <p:sldId id="2183" r:id="rId16"/>
    <p:sldId id="2184" r:id="rId17"/>
    <p:sldId id="2185" r:id="rId18"/>
    <p:sldId id="2186" r:id="rId19"/>
    <p:sldId id="2187" r:id="rId20"/>
    <p:sldId id="2188" r:id="rId21"/>
    <p:sldId id="2175" r:id="rId22"/>
    <p:sldId id="2182" r:id="rId23"/>
  </p:sldIdLst>
  <p:sldSz cx="12192000" cy="6858000"/>
  <p:notesSz cx="6858000" cy="9144000"/>
  <p:embeddedFontLst>
    <p:embeddedFont>
      <p:font typeface="Stencil" panose="040409050D0802020404" pitchFamily="82" charset="0"/>
      <p:regular r:id="rId25"/>
    </p:embeddedFont>
    <p:embeddedFont>
      <p:font typeface="Tw Cen MT" panose="020B0602020104020603" pitchFamily="34" charset="0"/>
      <p:regular r:id="rId26"/>
      <p:bold r:id="rId27"/>
      <p:italic r:id="rId28"/>
      <p:boldItalic r:id="rId29"/>
    </p:embeddedFont>
    <p:embeddedFont>
      <p:font typeface="Nunito" panose="020B0604020202020204" charset="0"/>
      <p:regular r:id="rId30"/>
      <p:bold r:id="rId31"/>
      <p:italic r:id="rId32"/>
      <p:bold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Impact" panose="020B0806030902050204" pitchFamily="3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41" autoAdjust="0"/>
  </p:normalViewPr>
  <p:slideViewPr>
    <p:cSldViewPr snapToGrid="0">
      <p:cViewPr varScale="1">
        <p:scale>
          <a:sx n="108" d="100"/>
          <a:sy n="108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ri Tundjungsari" userId="4c1577b82163a75e" providerId="LiveId" clId="{3699484B-0E77-4E7D-A882-FC1CAED52F65}"/>
    <pc:docChg chg="addSld modSld">
      <pc:chgData name="Vitri Tundjungsari" userId="4c1577b82163a75e" providerId="LiveId" clId="{3699484B-0E77-4E7D-A882-FC1CAED52F65}" dt="2023-11-21T09:07:26.432" v="93" actId="20577"/>
      <pc:docMkLst>
        <pc:docMk/>
      </pc:docMkLst>
      <pc:sldChg chg="addSp modSp new mod">
        <pc:chgData name="Vitri Tundjungsari" userId="4c1577b82163a75e" providerId="LiveId" clId="{3699484B-0E77-4E7D-A882-FC1CAED52F65}" dt="2023-11-21T09:03:28.991" v="3" actId="14100"/>
        <pc:sldMkLst>
          <pc:docMk/>
          <pc:sldMk cId="2340700927" sldId="2184"/>
        </pc:sldMkLst>
        <pc:spChg chg="add mod">
          <ac:chgData name="Vitri Tundjungsari" userId="4c1577b82163a75e" providerId="LiveId" clId="{3699484B-0E77-4E7D-A882-FC1CAED52F65}" dt="2023-11-21T09:03:28.991" v="3" actId="14100"/>
          <ac:spMkLst>
            <pc:docMk/>
            <pc:sldMk cId="2340700927" sldId="2184"/>
            <ac:spMk id="4" creationId="{DB74A664-F3F1-1B5C-8F17-AFE95B339C1A}"/>
          </ac:spMkLst>
        </pc:spChg>
      </pc:sldChg>
      <pc:sldChg chg="addSp modSp new mod">
        <pc:chgData name="Vitri Tundjungsari" userId="4c1577b82163a75e" providerId="LiveId" clId="{3699484B-0E77-4E7D-A882-FC1CAED52F65}" dt="2023-11-21T09:03:53.862" v="6" actId="1076"/>
        <pc:sldMkLst>
          <pc:docMk/>
          <pc:sldMk cId="1265015787" sldId="2185"/>
        </pc:sldMkLst>
        <pc:picChg chg="add mod">
          <ac:chgData name="Vitri Tundjungsari" userId="4c1577b82163a75e" providerId="LiveId" clId="{3699484B-0E77-4E7D-A882-FC1CAED52F65}" dt="2023-11-21T09:03:53.862" v="6" actId="1076"/>
          <ac:picMkLst>
            <pc:docMk/>
            <pc:sldMk cId="1265015787" sldId="2185"/>
            <ac:picMk id="3" creationId="{ED127A57-6032-CB2E-E6D1-3BABD2C269BC}"/>
          </ac:picMkLst>
        </pc:picChg>
      </pc:sldChg>
      <pc:sldChg chg="addSp modSp new mod">
        <pc:chgData name="Vitri Tundjungsari" userId="4c1577b82163a75e" providerId="LiveId" clId="{3699484B-0E77-4E7D-A882-FC1CAED52F65}" dt="2023-11-21T09:05:00.270" v="12" actId="1076"/>
        <pc:sldMkLst>
          <pc:docMk/>
          <pc:sldMk cId="2314575826" sldId="2186"/>
        </pc:sldMkLst>
        <pc:spChg chg="add mod">
          <ac:chgData name="Vitri Tundjungsari" userId="4c1577b82163a75e" providerId="LiveId" clId="{3699484B-0E77-4E7D-A882-FC1CAED52F65}" dt="2023-11-21T09:04:56.146" v="10" actId="14100"/>
          <ac:spMkLst>
            <pc:docMk/>
            <pc:sldMk cId="2314575826" sldId="2186"/>
            <ac:spMk id="4" creationId="{7E84A151-1464-46EA-FBA3-5B54358E5DDC}"/>
          </ac:spMkLst>
        </pc:spChg>
        <pc:picChg chg="add mod">
          <ac:chgData name="Vitri Tundjungsari" userId="4c1577b82163a75e" providerId="LiveId" clId="{3699484B-0E77-4E7D-A882-FC1CAED52F65}" dt="2023-11-21T09:05:00.270" v="12" actId="1076"/>
          <ac:picMkLst>
            <pc:docMk/>
            <pc:sldMk cId="2314575826" sldId="2186"/>
            <ac:picMk id="5" creationId="{868B31D7-9BBD-FFD0-83D2-E42AC4BB7FF8}"/>
          </ac:picMkLst>
        </pc:picChg>
      </pc:sldChg>
      <pc:sldChg chg="addSp new mod">
        <pc:chgData name="Vitri Tundjungsari" userId="4c1577b82163a75e" providerId="LiveId" clId="{3699484B-0E77-4E7D-A882-FC1CAED52F65}" dt="2023-11-21T09:05:15.835" v="14" actId="22"/>
        <pc:sldMkLst>
          <pc:docMk/>
          <pc:sldMk cId="1431206588" sldId="2187"/>
        </pc:sldMkLst>
        <pc:spChg chg="add">
          <ac:chgData name="Vitri Tundjungsari" userId="4c1577b82163a75e" providerId="LiveId" clId="{3699484B-0E77-4E7D-A882-FC1CAED52F65}" dt="2023-11-21T09:05:15.835" v="14" actId="22"/>
          <ac:spMkLst>
            <pc:docMk/>
            <pc:sldMk cId="1431206588" sldId="2187"/>
            <ac:spMk id="4" creationId="{C2ADDDAF-2A5B-5F5E-A914-0FC08CDE9D91}"/>
          </ac:spMkLst>
        </pc:spChg>
      </pc:sldChg>
      <pc:sldChg chg="addSp modSp new mod">
        <pc:chgData name="Vitri Tundjungsari" userId="4c1577b82163a75e" providerId="LiveId" clId="{3699484B-0E77-4E7D-A882-FC1CAED52F65}" dt="2023-11-21T09:07:26.432" v="93" actId="20577"/>
        <pc:sldMkLst>
          <pc:docMk/>
          <pc:sldMk cId="611061923" sldId="2188"/>
        </pc:sldMkLst>
        <pc:spChg chg="mod">
          <ac:chgData name="Vitri Tundjungsari" userId="4c1577b82163a75e" providerId="LiveId" clId="{3699484B-0E77-4E7D-A882-FC1CAED52F65}" dt="2023-11-21T09:07:26.432" v="93" actId="20577"/>
          <ac:spMkLst>
            <pc:docMk/>
            <pc:sldMk cId="611061923" sldId="2188"/>
            <ac:spMk id="2" creationId="{83A25B8B-FE22-C8FA-187B-882828B7FC00}"/>
          </ac:spMkLst>
        </pc:spChg>
        <pc:spChg chg="add mod">
          <ac:chgData name="Vitri Tundjungsari" userId="4c1577b82163a75e" providerId="LiveId" clId="{3699484B-0E77-4E7D-A882-FC1CAED52F65}" dt="2023-11-21T09:07:17.677" v="81" actId="20577"/>
          <ac:spMkLst>
            <pc:docMk/>
            <pc:sldMk cId="611061923" sldId="2188"/>
            <ac:spMk id="4" creationId="{F3B2897F-5EC8-A5E5-0748-E5431B08B2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37DF7-81B4-4702-B112-100122B0D82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66977-3B44-4FAE-8BF0-F1ECEA3E9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2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05260"/>
            <a:ext cx="4509370" cy="464642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itle 15"/>
          <p:cNvSpPr>
            <a:spLocks noGrp="1"/>
          </p:cNvSpPr>
          <p:nvPr>
            <p:ph type="title" hasCustomPrompt="1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rgbClr val="0E60AC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4968465" y="403445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4968465" y="3811581"/>
            <a:ext cx="1659545" cy="45719"/>
          </a:xfrm>
          <a:prstGeom prst="roundRect">
            <a:avLst/>
          </a:prstGeom>
          <a:solidFill>
            <a:srgbClr val="EC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4968464" y="110526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14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2" name="Title 15"/>
          <p:cNvSpPr>
            <a:spLocks noGrp="1"/>
          </p:cNvSpPr>
          <p:nvPr>
            <p:ph type="title" hasCustomPrompt="1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88970" y="419808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7" name="Rounded Rectangle 16"/>
          <p:cNvSpPr/>
          <p:nvPr userDrawn="1"/>
        </p:nvSpPr>
        <p:spPr>
          <a:xfrm>
            <a:off x="588970" y="3975211"/>
            <a:ext cx="165954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588969" y="126889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8" name="Rounded Rectangle 17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58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895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Tengah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571756" y="1068393"/>
            <a:ext cx="3824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</a:rPr>
              <a:t>Topik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Sebelum</a:t>
            </a:r>
            <a:r>
              <a:rPr lang="en-US" sz="3600" b="1" dirty="0">
                <a:solidFill>
                  <a:schemeClr val="tx2"/>
                </a:solidFill>
              </a:rPr>
              <a:t> UTS</a:t>
            </a:r>
          </a:p>
        </p:txBody>
      </p:sp>
    </p:spTree>
    <p:extLst>
      <p:ext uri="{BB962C8B-B14F-4D97-AF65-F5344CB8AC3E}">
        <p14:creationId xmlns:p14="http://schemas.microsoft.com/office/powerpoint/2010/main" val="86236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Akhir</a:t>
            </a: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571756" y="1068393"/>
            <a:ext cx="39118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</a:rPr>
              <a:t>Topik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Sebelum</a:t>
            </a:r>
            <a:r>
              <a:rPr lang="en-US" sz="3600" b="1" dirty="0">
                <a:solidFill>
                  <a:schemeClr val="tx2"/>
                </a:solidFill>
              </a:rPr>
              <a:t> UAS</a:t>
            </a:r>
          </a:p>
        </p:txBody>
      </p:sp>
    </p:spTree>
    <p:extLst>
      <p:ext uri="{BB962C8B-B14F-4D97-AF65-F5344CB8AC3E}">
        <p14:creationId xmlns:p14="http://schemas.microsoft.com/office/powerpoint/2010/main" val="105679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dahulu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838200" y="1071592"/>
            <a:ext cx="5999349" cy="794408"/>
            <a:chOff x="838200" y="544975"/>
            <a:chExt cx="5999349" cy="794408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716437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327352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Pendahuluan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077" y="544975"/>
              <a:ext cx="665176" cy="762379"/>
            </a:xfrm>
            <a:prstGeom prst="rect">
              <a:avLst/>
            </a:prstGeom>
          </p:spPr>
        </p:pic>
      </p:grp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838200" y="2139885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10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juan Pembelaja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753475" y="1125069"/>
            <a:ext cx="6438605" cy="769441"/>
            <a:chOff x="753475" y="569942"/>
            <a:chExt cx="6438605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4" y="716437"/>
              <a:ext cx="5910035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553767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Capaian</a:t>
              </a:r>
              <a:r>
                <a:rPr lang="en-US" sz="4400" b="1" dirty="0">
                  <a:solidFill>
                    <a:schemeClr val="accent3"/>
                  </a:solidFill>
                </a:rPr>
                <a:t> </a:t>
              </a:r>
              <a:r>
                <a:rPr lang="en-US" sz="4400" b="1" dirty="0" err="1">
                  <a:solidFill>
                    <a:schemeClr val="accent3"/>
                  </a:solidFill>
                </a:rPr>
                <a:t>Pembelajaran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475" y="649446"/>
              <a:ext cx="791900" cy="632821"/>
            </a:xfrm>
            <a:prstGeom prst="rect">
              <a:avLst/>
            </a:prstGeom>
          </p:spPr>
        </p:pic>
      </p:grp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838200" y="2139885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19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ponen Penila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838200" y="1125069"/>
            <a:ext cx="5999349" cy="769441"/>
            <a:chOff x="838200" y="569942"/>
            <a:chExt cx="5999349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716437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506876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Komponen</a:t>
              </a:r>
              <a:r>
                <a:rPr lang="en-US" sz="4400" b="1" dirty="0">
                  <a:solidFill>
                    <a:schemeClr val="accent3"/>
                  </a:solidFill>
                </a:rPr>
                <a:t> </a:t>
              </a:r>
              <a:r>
                <a:rPr lang="en-US" sz="4400" b="1" dirty="0" err="1">
                  <a:solidFill>
                    <a:schemeClr val="accent3"/>
                  </a:solidFill>
                </a:rPr>
                <a:t>Penilaian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012" y="616587"/>
              <a:ext cx="589305" cy="675421"/>
            </a:xfrm>
            <a:prstGeom prst="rect">
              <a:avLst/>
            </a:prstGeom>
          </p:spPr>
        </p:pic>
      </p:grp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3774122" y="2235331"/>
            <a:ext cx="4836478" cy="3228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88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824826"/>
            <a:ext cx="9144000" cy="176884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> 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2843408"/>
            <a:ext cx="9144000" cy="3376417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26877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217851"/>
            <a:ext cx="5529197" cy="1920647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9" name="Rounded Rectangle 8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116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Tw Cen MT" panose="020B06020201040206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63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60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72239"/>
            <a:ext cx="5183188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19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14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55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07481"/>
            <a:ext cx="5900448" cy="48007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</p:spPr>
        <p:txBody>
          <a:bodyPr anchor="b"/>
          <a:lstStyle>
            <a:lvl1pPr>
              <a:defRPr sz="3200">
                <a:solidFill>
                  <a:srgbClr val="FFC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02081" y="2264241"/>
            <a:ext cx="3751066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707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350627" y="973603"/>
            <a:ext cx="3777556" cy="2641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4021" y="1025025"/>
            <a:ext cx="3640619" cy="2518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817139" y="973603"/>
            <a:ext cx="3571959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7139" y="2351465"/>
            <a:ext cx="4740881" cy="3804238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350627" y="3762265"/>
            <a:ext cx="3777556" cy="2641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414021" y="3813687"/>
            <a:ext cx="3640619" cy="2518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60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9929" y="886379"/>
            <a:ext cx="4888191" cy="5021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2264241"/>
            <a:ext cx="5280565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918476" y="867524"/>
            <a:ext cx="3470621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816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Uraian Mat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759637"/>
            <a:ext cx="10515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52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70701" y="1762813"/>
            <a:ext cx="3356431" cy="314346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518071" y="1762813"/>
            <a:ext cx="3356431" cy="3143468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265441" y="1762813"/>
            <a:ext cx="3356431" cy="3143468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70700" y="5090408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4518071" y="5090408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265441" y="5090408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70700" y="886120"/>
            <a:ext cx="85806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1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30198" y="933253"/>
            <a:ext cx="8495847" cy="36643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30197" y="4751111"/>
            <a:ext cx="8495850" cy="1451728"/>
          </a:xfrm>
        </p:spPr>
        <p:txBody>
          <a:bodyPr>
            <a:normAutofit/>
          </a:bodyPr>
          <a:lstStyle>
            <a:lvl1pPr marL="0" indent="0" algn="just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8529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24726" y="404617"/>
            <a:ext cx="7117238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1576887" y="1319017"/>
            <a:ext cx="9184670" cy="516637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302370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69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tih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39885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838200" y="1108530"/>
            <a:ext cx="5999349" cy="769441"/>
            <a:chOff x="838200" y="1108530"/>
            <a:chExt cx="5999349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1255025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1123041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1108530"/>
              <a:ext cx="1923988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Latihan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419" y="1120499"/>
              <a:ext cx="650450" cy="745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442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ftar Pusta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838200" y="1096559"/>
            <a:ext cx="5999349" cy="769441"/>
            <a:chOff x="838200" y="569942"/>
            <a:chExt cx="5999349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716437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364074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Daftar</a:t>
              </a:r>
              <a:r>
                <a:rPr lang="en-US" sz="4400" b="1" dirty="0">
                  <a:solidFill>
                    <a:schemeClr val="accent3"/>
                  </a:solidFill>
                </a:rPr>
                <a:t> </a:t>
              </a:r>
              <a:r>
                <a:rPr lang="en-US" sz="4400" b="1" dirty="0" err="1">
                  <a:solidFill>
                    <a:schemeClr val="accent3"/>
                  </a:solidFill>
                </a:rPr>
                <a:t>Pustaka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017" y="661014"/>
              <a:ext cx="606720" cy="629320"/>
            </a:xfrm>
            <a:prstGeom prst="rect">
              <a:avLst/>
            </a:prstGeom>
          </p:spPr>
        </p:pic>
      </p:grp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38200" y="2139885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8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u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siness people  clapping their hands at the meeting Premium Photo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530"/>
          <a:stretch/>
        </p:blipFill>
        <p:spPr bwMode="auto">
          <a:xfrm>
            <a:off x="2790216" y="-5350"/>
            <a:ext cx="9401784" cy="686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 userDrawn="1"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2333732" y="2541902"/>
            <a:ext cx="3048000" cy="176884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Terima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Kasih</a:t>
            </a:r>
            <a:r>
              <a:rPr lang="en-US" dirty="0"/>
              <a:t>.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320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6894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70264"/>
            <a:ext cx="12110720" cy="14007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2585"/>
            <a:ext cx="8547263" cy="7021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97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E60AC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514350" indent="-514350" algn="just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1pPr>
      <a:lvl2pPr marL="914400" indent="-457200" algn="just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L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759201" y="1938518"/>
            <a:ext cx="8081818" cy="149048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– TOPIK 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643121" y="3990224"/>
            <a:ext cx="6949439" cy="907314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mpact"/>
              </a:rPr>
              <a:t>MACHINE LEARNING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xmlns="" id="{F7EAC7F2-3128-7DCF-86C1-1129616C6740}"/>
              </a:ext>
            </a:extLst>
          </p:cNvPr>
          <p:cNvSpPr txBox="1">
            <a:spLocks/>
          </p:cNvSpPr>
          <p:nvPr/>
        </p:nvSpPr>
        <p:spPr>
          <a:xfrm>
            <a:off x="0" y="2038990"/>
            <a:ext cx="2759688" cy="825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2800" b="1" kern="1200" baseline="0">
                <a:solidFill>
                  <a:srgbClr val="EC7C30"/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2" name="Picture 8" descr="Download Logo Kampus Merdeka Vector | Pelajar Info">
            <a:extLst>
              <a:ext uri="{FF2B5EF4-FFF2-40B4-BE49-F238E27FC236}">
                <a16:creationId xmlns:a16="http://schemas.microsoft.com/office/drawing/2014/main" xmlns="" id="{1D6E49F7-A5FA-88A2-D9C4-55BC9A0E3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571" y="134337"/>
            <a:ext cx="1504174" cy="7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Google Shape;1318;p45">
            <a:extLst>
              <a:ext uri="{FF2B5EF4-FFF2-40B4-BE49-F238E27FC236}">
                <a16:creationId xmlns:a16="http://schemas.microsoft.com/office/drawing/2014/main" xmlns="" id="{436A1738-D661-57B8-5098-A127CCE0F2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6540" b="16547"/>
          <a:stretch/>
        </p:blipFill>
        <p:spPr>
          <a:xfrm>
            <a:off x="101870" y="2864736"/>
            <a:ext cx="3408218" cy="20514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886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154979" y="2248625"/>
            <a:ext cx="6198821" cy="406777"/>
          </a:xfrm>
        </p:spPr>
        <p:txBody>
          <a:bodyPr>
            <a:normAutofit/>
          </a:bodyPr>
          <a:lstStyle/>
          <a:p>
            <a:r>
              <a:rPr lang="en-US" dirty="0"/>
              <a:t>Dr. Rahmat Budiarsa, </a:t>
            </a:r>
            <a:r>
              <a:rPr lang="en-US" dirty="0" err="1"/>
              <a:t>S.Kom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AD49BF15-A3C7-8807-54BE-DD9F243DEA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ID"/>
              <a:t>rahmat.budiarsa@esaunggul.ac.id</a:t>
            </a:r>
          </a:p>
          <a:p>
            <a:endParaRPr lang="en-ID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855CCF90-E809-9E7D-836F-C4D3D4F3AF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ID" dirty="0"/>
              <a:t>8482</a:t>
            </a:r>
          </a:p>
          <a:p>
            <a:endParaRPr lang="en-ID" dirty="0"/>
          </a:p>
        </p:txBody>
      </p:sp>
      <p:pic>
        <p:nvPicPr>
          <p:cNvPr id="26" name="Picture Placeholder 25" descr="A person in a suit and tie&#10;&#10;AI-generated content may be incorrect.">
            <a:extLst>
              <a:ext uri="{FF2B5EF4-FFF2-40B4-BE49-F238E27FC236}">
                <a16:creationId xmlns:a16="http://schemas.microsoft.com/office/drawing/2014/main" xmlns="" id="{DE1D53B0-E00D-EA8D-1E4A-F8F7FAC420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" b="20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76258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2133600"/>
            <a:ext cx="5562600" cy="194056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28800" dirty="0">
                <a:solidFill>
                  <a:schemeClr val="accent3"/>
                </a:solidFill>
                <a:latin typeface="Impact"/>
                <a:ea typeface="Impact"/>
                <a:cs typeface="Impact"/>
                <a:sym typeface="Impact"/>
              </a:rPr>
              <a:t>MACHINE LEARNING</a:t>
            </a:r>
            <a:endParaRPr lang="en-US" dirty="0"/>
          </a:p>
        </p:txBody>
      </p:sp>
      <p:pic>
        <p:nvPicPr>
          <p:cNvPr id="2056" name="Picture 8" descr="Python logo landscape transparent PNG - StickPNG">
            <a:extLst>
              <a:ext uri="{FF2B5EF4-FFF2-40B4-BE49-F238E27FC236}">
                <a16:creationId xmlns:a16="http://schemas.microsoft.com/office/drawing/2014/main" xmlns="" id="{FF1D4A73-C9D7-6D84-5D15-9555FF79F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12759"/>
            <a:ext cx="4741209" cy="1582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Google Shape;264;p24">
            <a:extLst>
              <a:ext uri="{FF2B5EF4-FFF2-40B4-BE49-F238E27FC236}">
                <a16:creationId xmlns:a16="http://schemas.microsoft.com/office/drawing/2014/main" xmlns="" id="{76520EBE-CF4C-410B-5784-536A171F169F}"/>
              </a:ext>
            </a:extLst>
          </p:cNvPr>
          <p:cNvCxnSpPr>
            <a:cxnSpLocks/>
          </p:cNvCxnSpPr>
          <p:nvPr/>
        </p:nvCxnSpPr>
        <p:spPr>
          <a:xfrm>
            <a:off x="6096000" y="941294"/>
            <a:ext cx="0" cy="4921624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8" descr="Download Logo Kampus Merdeka Vector | Pelajar Info">
            <a:extLst>
              <a:ext uri="{FF2B5EF4-FFF2-40B4-BE49-F238E27FC236}">
                <a16:creationId xmlns:a16="http://schemas.microsoft.com/office/drawing/2014/main" xmlns="" id="{EA53D878-DC05-8748-B3AC-808A6EB0C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571" y="134337"/>
            <a:ext cx="1504174" cy="7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05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718A3484-C9E1-7702-7350-A7B11B4B1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 – </a:t>
            </a: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Pengenalan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ML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2 – Supervised Learning vs Unsupervised Learning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3 – </a:t>
            </a: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Algoritma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Supervised Learning 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4 – </a:t>
            </a: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Algoritma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Unsupervised Learning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5 -- Supervised Learning: Classification dan </a:t>
            </a: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Regresi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6 – Supervised Learning: Decision Tree (DT)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7 – Supervised ML algorithm: Support Vector Machine (SVM) </a:t>
            </a:r>
            <a:endParaRPr lang="en-ID" sz="1800" dirty="0"/>
          </a:p>
          <a:p>
            <a:pPr marL="0" indent="0">
              <a:buNone/>
            </a:pPr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34A60A15-8B12-A871-F85F-95B7616B6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Pembahasan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746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A9C6ED1-BDC9-72B1-6E43-75B80D74D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8 – Supervised Learning: Neural Network (Deep Learning)</a:t>
            </a:r>
            <a:endParaRPr lang="en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9 – Supervised Learning: k-Nearest </a:t>
            </a: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Neighbor</a:t>
            </a:r>
            <a:endParaRPr lang="en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10 – Unsupervised Learning: Clustering</a:t>
            </a:r>
            <a:endParaRPr lang="en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11 - Unsupervised Learning: Principal Component Analysis</a:t>
            </a:r>
            <a:r>
              <a:rPr lang="en-ID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endParaRPr lang="en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12 – Fitur </a:t>
            </a: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Representasi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Rekayasa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Data </a:t>
            </a:r>
            <a:endParaRPr lang="en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13 – </a:t>
            </a: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Evaluasi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Perbaikan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Model</a:t>
            </a:r>
            <a:endParaRPr lang="en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Topik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14 – </a:t>
            </a: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Tantangan</a:t>
            </a:r>
            <a:r>
              <a:rPr lang="en-ID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ID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ID" sz="24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ML</a:t>
            </a:r>
            <a:endParaRPr lang="en-ID" sz="2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50495" algn="just" fontAlgn="base">
              <a:lnSpc>
                <a:spcPct val="150000"/>
              </a:lnSpc>
              <a:buAutoNum type="arabicPeriod" startAt="8"/>
            </a:pPr>
            <a:endParaRPr lang="en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8D26ACF6-46BD-D680-573D-D5BA72A6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296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F6C4263F-5567-9DD3-97CE-F1F41D899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0070C0"/>
                </a:solidFill>
                <a:latin typeface="Stencil" panose="040409050D0802020404" pitchFamily="82" charset="0"/>
              </a:rPr>
              <a:t>BAB 13</a:t>
            </a:r>
          </a:p>
          <a:p>
            <a:pPr marL="0" indent="0" algn="ctr">
              <a:buNone/>
            </a:pPr>
            <a:endParaRPr lang="en-US" sz="4400" dirty="0">
              <a:solidFill>
                <a:srgbClr val="0070C0"/>
              </a:solidFill>
              <a:latin typeface="Stencil" panose="040409050D0802020404" pitchFamily="82" charset="0"/>
            </a:endParaRPr>
          </a:p>
          <a:p>
            <a:pPr marL="0" indent="0" algn="ctr">
              <a:buNone/>
            </a:pPr>
            <a:r>
              <a:rPr lang="en-US" sz="4400" dirty="0" err="1">
                <a:solidFill>
                  <a:srgbClr val="0070C0"/>
                </a:solidFill>
                <a:latin typeface="Stencil" panose="040409050D0802020404" pitchFamily="82" charset="0"/>
              </a:rPr>
              <a:t>Evaluasi</a:t>
            </a:r>
            <a:r>
              <a:rPr lang="en-US" sz="4400" dirty="0">
                <a:solidFill>
                  <a:srgbClr val="0070C0"/>
                </a:solidFill>
                <a:latin typeface="Stencil" panose="040409050D0802020404" pitchFamily="82" charset="0"/>
              </a:rPr>
              <a:t> dan </a:t>
            </a:r>
            <a:r>
              <a:rPr lang="en-US" sz="4400" dirty="0" err="1">
                <a:solidFill>
                  <a:srgbClr val="0070C0"/>
                </a:solidFill>
                <a:latin typeface="Stencil" panose="040409050D0802020404" pitchFamily="82" charset="0"/>
              </a:rPr>
              <a:t>Perbaikan</a:t>
            </a:r>
            <a:r>
              <a:rPr lang="en-US" sz="4400" dirty="0">
                <a:solidFill>
                  <a:srgbClr val="0070C0"/>
                </a:solidFill>
                <a:latin typeface="Stencil" panose="040409050D0802020404" pitchFamily="82" charset="0"/>
              </a:rPr>
              <a:t> model Machine Learning</a:t>
            </a:r>
            <a:endParaRPr lang="en-ID" sz="4400" dirty="0">
              <a:solidFill>
                <a:srgbClr val="0070C0"/>
              </a:solidFill>
              <a:latin typeface="Stencil" panose="040409050D0802020404" pitchFamily="8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DE1B5286-1E09-F3FA-051E-E0896B53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943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09"/>
            <a:ext cx="10515600" cy="4351338"/>
          </a:xfrm>
        </p:spPr>
        <p:txBody>
          <a:bodyPr>
            <a:noAutofit/>
          </a:bodyPr>
          <a:lstStyle/>
          <a:p>
            <a:pPr marL="0" marR="147955" indent="0">
              <a:lnSpc>
                <a:spcPct val="150000"/>
              </a:lnSpc>
              <a:buNone/>
            </a:pP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tahap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terakhir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sebelum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mengimplementasikan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produksi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Machine Learning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dilakukan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memastikan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mereka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mempunyai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sesuai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harapan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cukup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tugas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diciptakan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Tahap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dilakukan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setelah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selesai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Berbagai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teknik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tergantung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jenis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masalah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jenis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1035050" algn="l"/>
              </a:tabLst>
            </a:pPr>
            <a:r>
              <a:rPr lang="id-ID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Evaluasi</a:t>
            </a:r>
            <a:r>
              <a:rPr lang="en-ID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4031729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8238"/>
            <a:ext cx="10515600" cy="5119567"/>
          </a:xfrm>
        </p:spPr>
        <p:txBody>
          <a:bodyPr>
            <a:noAutofit/>
          </a:bodyPr>
          <a:lstStyle/>
          <a:p>
            <a:pPr marL="0" marR="148590" indent="0">
              <a:lnSpc>
                <a:spcPct val="150000"/>
              </a:lnSpc>
              <a:buNone/>
            </a:pP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juga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merupakan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proses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beberapa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membantu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kita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menganalisis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kinerja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model. Ada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banyak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diperhatikan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ML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bergantung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jenis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beberapa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diantaranya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Akurasi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(Accuracy)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Presisi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Presicion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Mean Absolute Error (MAE)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Skor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F1 (F1 Score)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rgbClr val="273239"/>
                </a:solidFill>
                <a:latin typeface="Nunito"/>
              </a:rPr>
              <a:t>Area under Curve (AUC)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rgbClr val="273239"/>
                </a:solidFill>
                <a:latin typeface="Nunito"/>
              </a:rPr>
              <a:t>Confusion Matrix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>
                <a:solidFill>
                  <a:srgbClr val="273239"/>
                </a:solidFill>
                <a:latin typeface="Nunito"/>
              </a:rPr>
              <a:t>Mean Square Error (MSE)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148590" indent="0" algn="just">
              <a:lnSpc>
                <a:spcPct val="150000"/>
              </a:lnSpc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/>
            </a:r>
            <a:br>
              <a:rPr lang="en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943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8238"/>
            <a:ext cx="10515600" cy="5119567"/>
          </a:xfrm>
        </p:spPr>
        <p:txBody>
          <a:bodyPr>
            <a:noAutofit/>
          </a:bodyPr>
          <a:lstStyle/>
          <a:p>
            <a:pPr marL="0" marR="148590" indent="0">
              <a:lnSpc>
                <a:spcPct val="150000"/>
              </a:lnSpc>
              <a:buNone/>
            </a:pP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Berdasarkan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Amazon ML,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terdapat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industri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sejumlah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wawasan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meninjau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akurasi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prediktif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ML.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Terdapat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hasil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mencakup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hal-hal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berikut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(Amazon Web Service, 2023)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273239"/>
                </a:solidFill>
                <a:latin typeface="Nunito"/>
              </a:rPr>
              <a:t>Metrik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akurasi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prediksi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untuk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melaporkan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keberhasilan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keseluruhan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dari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model 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273239"/>
                </a:solidFill>
                <a:latin typeface="Nunito"/>
              </a:rPr>
              <a:t>Visualisasi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untuk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membantu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mengeksplorasi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akurasi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model Anda di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luar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metrik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akurasi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prediksi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273239"/>
                </a:solidFill>
                <a:latin typeface="Nunito"/>
              </a:rPr>
              <a:t>Kemampuan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untuk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meninjau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dampak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penyesuaian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ambang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skor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(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hanya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untuk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klasifikasi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biner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)</a:t>
            </a: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800" dirty="0" err="1">
                <a:solidFill>
                  <a:srgbClr val="273239"/>
                </a:solidFill>
                <a:latin typeface="Nunito"/>
              </a:rPr>
              <a:t>Pemberitahuan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tentang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kriteria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untuk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memeriksa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validitas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dari</a:t>
            </a:r>
            <a:r>
              <a:rPr lang="en-ID" sz="1800" dirty="0">
                <a:solidFill>
                  <a:srgbClr val="273239"/>
                </a:solidFill>
                <a:latin typeface="Nunito"/>
              </a:rPr>
              <a:t> </a:t>
            </a:r>
            <a:r>
              <a:rPr lang="en-ID" sz="1800" dirty="0" err="1">
                <a:solidFill>
                  <a:srgbClr val="273239"/>
                </a:solidFill>
                <a:latin typeface="Nunito"/>
              </a:rPr>
              <a:t>evaluasi</a:t>
            </a:r>
            <a:endParaRPr lang="en-ID" sz="1800" dirty="0">
              <a:solidFill>
                <a:srgbClr val="273239"/>
              </a:solidFill>
              <a:latin typeface="Nunito"/>
            </a:endParaRP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sz="1800" dirty="0">
              <a:solidFill>
                <a:srgbClr val="273239"/>
              </a:solidFill>
              <a:latin typeface="Nunito"/>
            </a:endParaRPr>
          </a:p>
          <a:p>
            <a:pPr marL="285750" marR="14859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148590" indent="0" algn="just">
              <a:lnSpc>
                <a:spcPct val="150000"/>
              </a:lnSpc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/>
            </a:r>
            <a:br>
              <a:rPr lang="en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699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401054D-9029-51FE-1004-74E71D8C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09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1035050" algn="l"/>
              </a:tabLst>
            </a:pP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Berikut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beberapa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dilakukan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meningkatkan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kinerja</a:t>
            </a:r>
            <a:r>
              <a:rPr lang="en-ID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ML :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035050" algn="l"/>
              </a:tabLst>
            </a:pPr>
            <a:r>
              <a:rPr lang="en-ID" dirty="0" err="1">
                <a:latin typeface="Calibri" panose="020F0502020204030204" pitchFamily="34" charset="0"/>
                <a:cs typeface="Calibri" panose="020F0502020204030204" pitchFamily="34" charset="0"/>
              </a:rPr>
              <a:t>Mencegah</a:t>
            </a:r>
            <a:r>
              <a:rPr lang="en-ID" dirty="0">
                <a:latin typeface="Calibri" panose="020F0502020204030204" pitchFamily="34" charset="0"/>
                <a:cs typeface="Calibri" panose="020F0502020204030204" pitchFamily="34" charset="0"/>
              </a:rPr>
              <a:t> Overfitting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035050" algn="l"/>
              </a:tabLst>
            </a:pPr>
            <a:r>
              <a:rPr lang="en-ID" dirty="0">
                <a:latin typeface="Calibri" panose="020F0502020204030204" pitchFamily="34" charset="0"/>
                <a:cs typeface="Calibri" panose="020F0502020204030204" pitchFamily="34" charset="0"/>
              </a:rPr>
              <a:t>Cross-Validation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035050" algn="l"/>
              </a:tabLst>
            </a:pPr>
            <a:r>
              <a:rPr lang="en-ID" dirty="0">
                <a:latin typeface="Calibri" panose="020F0502020204030204" pitchFamily="34" charset="0"/>
                <a:cs typeface="Calibri" panose="020F0502020204030204" pitchFamily="34" charset="0"/>
              </a:rPr>
              <a:t>Holdout</a:t>
            </a:r>
            <a:r>
              <a:rPr lang="id-ID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997B22-49E2-AC4C-56E0-5941FBAD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Cara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Evaluasi</a:t>
            </a:r>
            <a:r>
              <a:rPr lang="en-ID" dirty="0"/>
              <a:t> Model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68392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2;p24">
            <a:extLst>
              <a:ext uri="{FF2B5EF4-FFF2-40B4-BE49-F238E27FC236}">
                <a16:creationId xmlns:a16="http://schemas.microsoft.com/office/drawing/2014/main" xmlns="" id="{C8A5938A-E76C-6E8F-F889-5E01D36DB047}"/>
              </a:ext>
            </a:extLst>
          </p:cNvPr>
          <p:cNvSpPr txBox="1">
            <a:spLocks/>
          </p:cNvSpPr>
          <p:nvPr/>
        </p:nvSpPr>
        <p:spPr>
          <a:xfrm>
            <a:off x="2214399" y="585100"/>
            <a:ext cx="7763202" cy="606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R="148590" algn="ctr">
              <a:lnSpc>
                <a:spcPct val="150000"/>
              </a:lnSpc>
            </a:pPr>
            <a:r>
              <a:rPr lang="en-US" sz="3200" i="1" dirty="0" err="1">
                <a:latin typeface="Arial" panose="020B0604020202020204" pitchFamily="34" charset="0"/>
                <a:ea typeface="Calibri" panose="020F0502020204030204" pitchFamily="34" charset="0"/>
              </a:rPr>
              <a:t>Mencegah</a:t>
            </a:r>
            <a:r>
              <a:rPr lang="en-US" sz="3200" i="1" dirty="0">
                <a:latin typeface="Arial" panose="020B0604020202020204" pitchFamily="34" charset="0"/>
                <a:ea typeface="Calibri" panose="020F0502020204030204" pitchFamily="34" charset="0"/>
              </a:rPr>
              <a:t> Overfitting</a:t>
            </a:r>
            <a:endParaRPr lang="en-ID" sz="3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cxnSp>
        <p:nvCxnSpPr>
          <p:cNvPr id="5" name="Google Shape;291;p25">
            <a:extLst>
              <a:ext uri="{FF2B5EF4-FFF2-40B4-BE49-F238E27FC236}">
                <a16:creationId xmlns:a16="http://schemas.microsoft.com/office/drawing/2014/main" xmlns="" id="{CE7C092F-5845-F28E-1008-F283A3AC0250}"/>
              </a:ext>
            </a:extLst>
          </p:cNvPr>
          <p:cNvCxnSpPr/>
          <p:nvPr/>
        </p:nvCxnSpPr>
        <p:spPr>
          <a:xfrm>
            <a:off x="423460" y="1191700"/>
            <a:ext cx="1106748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63;p24">
            <a:extLst>
              <a:ext uri="{FF2B5EF4-FFF2-40B4-BE49-F238E27FC236}">
                <a16:creationId xmlns:a16="http://schemas.microsoft.com/office/drawing/2014/main" xmlns="" id="{E6D0414E-AA3D-D153-6EE0-C5BED82DFED5}"/>
              </a:ext>
            </a:extLst>
          </p:cNvPr>
          <p:cNvSpPr txBox="1">
            <a:spLocks/>
          </p:cNvSpPr>
          <p:nvPr/>
        </p:nvSpPr>
        <p:spPr>
          <a:xfrm>
            <a:off x="301534" y="936490"/>
            <a:ext cx="11311340" cy="4985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indent="-51435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48590" indent="0">
              <a:lnSpc>
                <a:spcPct val="150000"/>
              </a:lnSpc>
              <a:buNone/>
            </a:pP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Overfitting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terjadi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ketika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telah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menghafal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pola-pola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terjadi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sumber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tetapi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gagal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menggeneralisasi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pola-pola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data. Hal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sering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terjadi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ketika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mencakup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semua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Sebuah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mengalami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overfitting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mungkin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berhasil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selama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tetapi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gagal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membuat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prediksi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akurat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data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belum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pernah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dilihat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sebelumnya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marR="148590" indent="0">
              <a:lnSpc>
                <a:spcPct val="150000"/>
              </a:lnSpc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2C7973C-77CB-456D-86E5-B75A3C53B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172" y="2947643"/>
            <a:ext cx="4932064" cy="322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2;p24">
            <a:extLst>
              <a:ext uri="{FF2B5EF4-FFF2-40B4-BE49-F238E27FC236}">
                <a16:creationId xmlns:a16="http://schemas.microsoft.com/office/drawing/2014/main" xmlns="" id="{C8A5938A-E76C-6E8F-F889-5E01D36DB047}"/>
              </a:ext>
            </a:extLst>
          </p:cNvPr>
          <p:cNvSpPr txBox="1">
            <a:spLocks/>
          </p:cNvSpPr>
          <p:nvPr/>
        </p:nvSpPr>
        <p:spPr>
          <a:xfrm>
            <a:off x="2214399" y="585100"/>
            <a:ext cx="7763202" cy="606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R="148590" algn="ctr">
              <a:lnSpc>
                <a:spcPct val="150000"/>
              </a:lnSpc>
            </a:pPr>
            <a:r>
              <a:rPr lang="en-US" sz="3200" i="1" dirty="0" err="1">
                <a:latin typeface="Arial" panose="020B0604020202020204" pitchFamily="34" charset="0"/>
                <a:ea typeface="Calibri" panose="020F0502020204030204" pitchFamily="34" charset="0"/>
              </a:rPr>
              <a:t>Mencegah</a:t>
            </a:r>
            <a:r>
              <a:rPr lang="en-US" sz="3200" i="1" dirty="0">
                <a:latin typeface="Arial" panose="020B0604020202020204" pitchFamily="34" charset="0"/>
                <a:ea typeface="Calibri" panose="020F0502020204030204" pitchFamily="34" charset="0"/>
              </a:rPr>
              <a:t> Overfitting</a:t>
            </a:r>
            <a:endParaRPr lang="en-ID" sz="3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cxnSp>
        <p:nvCxnSpPr>
          <p:cNvPr id="5" name="Google Shape;291;p25">
            <a:extLst>
              <a:ext uri="{FF2B5EF4-FFF2-40B4-BE49-F238E27FC236}">
                <a16:creationId xmlns:a16="http://schemas.microsoft.com/office/drawing/2014/main" xmlns="" id="{CE7C092F-5845-F28E-1008-F283A3AC0250}"/>
              </a:ext>
            </a:extLst>
          </p:cNvPr>
          <p:cNvCxnSpPr/>
          <p:nvPr/>
        </p:nvCxnSpPr>
        <p:spPr>
          <a:xfrm>
            <a:off x="423460" y="1191700"/>
            <a:ext cx="1106748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63;p24">
            <a:extLst>
              <a:ext uri="{FF2B5EF4-FFF2-40B4-BE49-F238E27FC236}">
                <a16:creationId xmlns:a16="http://schemas.microsoft.com/office/drawing/2014/main" xmlns="" id="{E6D0414E-AA3D-D153-6EE0-C5BED82DFED5}"/>
              </a:ext>
            </a:extLst>
          </p:cNvPr>
          <p:cNvSpPr txBox="1">
            <a:spLocks/>
          </p:cNvSpPr>
          <p:nvPr/>
        </p:nvSpPr>
        <p:spPr>
          <a:xfrm>
            <a:off x="301534" y="1287880"/>
            <a:ext cx="11311340" cy="4985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indent="-51435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48590" indent="0">
              <a:lnSpc>
                <a:spcPct val="150000"/>
              </a:lnSpc>
              <a:buNone/>
            </a:pP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menghindari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pemilihan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mengalami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overfitting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terbaik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menyisihkan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tambahan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memvalidasi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kinerja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ML.</a:t>
            </a:r>
          </a:p>
          <a:p>
            <a:pPr marL="0" marR="148590" indent="0">
              <a:lnSpc>
                <a:spcPct val="150000"/>
              </a:lnSpc>
              <a:buNone/>
            </a:pP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contoh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membagi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70%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15%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tambahan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15%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Setelah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memilih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parameter model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bekerja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menjalankan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kedua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melihat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seberapa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ML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berperforma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Jika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memenuhi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harapan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Anda pada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tidak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mengalami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overfitting pada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tersebut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148590" indent="0">
              <a:lnSpc>
                <a:spcPct val="150000"/>
              </a:lnSpc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5A9FD7B-CF07-4D6F-B89F-892884094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691" y="4145177"/>
            <a:ext cx="439102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1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2;p24">
            <a:extLst>
              <a:ext uri="{FF2B5EF4-FFF2-40B4-BE49-F238E27FC236}">
                <a16:creationId xmlns:a16="http://schemas.microsoft.com/office/drawing/2014/main" xmlns="" id="{C8A5938A-E76C-6E8F-F889-5E01D36DB047}"/>
              </a:ext>
            </a:extLst>
          </p:cNvPr>
          <p:cNvSpPr txBox="1">
            <a:spLocks/>
          </p:cNvSpPr>
          <p:nvPr/>
        </p:nvSpPr>
        <p:spPr>
          <a:xfrm>
            <a:off x="2214399" y="585100"/>
            <a:ext cx="7763202" cy="606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Cross-Validation</a:t>
            </a:r>
          </a:p>
        </p:txBody>
      </p:sp>
      <p:cxnSp>
        <p:nvCxnSpPr>
          <p:cNvPr id="5" name="Google Shape;291;p25">
            <a:extLst>
              <a:ext uri="{FF2B5EF4-FFF2-40B4-BE49-F238E27FC236}">
                <a16:creationId xmlns:a16="http://schemas.microsoft.com/office/drawing/2014/main" xmlns="" id="{CE7C092F-5845-F28E-1008-F283A3AC0250}"/>
              </a:ext>
            </a:extLst>
          </p:cNvPr>
          <p:cNvCxnSpPr/>
          <p:nvPr/>
        </p:nvCxnSpPr>
        <p:spPr>
          <a:xfrm>
            <a:off x="423460" y="1191700"/>
            <a:ext cx="1106748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63;p24">
            <a:extLst>
              <a:ext uri="{FF2B5EF4-FFF2-40B4-BE49-F238E27FC236}">
                <a16:creationId xmlns:a16="http://schemas.microsoft.com/office/drawing/2014/main" xmlns="" id="{E6D0414E-AA3D-D153-6EE0-C5BED82DFED5}"/>
              </a:ext>
            </a:extLst>
          </p:cNvPr>
          <p:cNvSpPr txBox="1">
            <a:spLocks/>
          </p:cNvSpPr>
          <p:nvPr/>
        </p:nvSpPr>
        <p:spPr>
          <a:xfrm>
            <a:off x="301534" y="1287880"/>
            <a:ext cx="11311340" cy="4985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indent="-51435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48590" indent="0">
              <a:lnSpc>
                <a:spcPct val="150000"/>
              </a:lnSpc>
              <a:buNone/>
            </a:pP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Cross-validation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teknik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Machine Learning (ML)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melatih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beberapa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ML pada subset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input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tersedia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mengevaluasinya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subset data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bersifat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komplementer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cross-validation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mendeteksi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overfitting,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yaitu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kegagalan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mengeneralisasi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148590" indent="0">
              <a:lnSpc>
                <a:spcPct val="150000"/>
              </a:lnSpc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8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2;p24">
            <a:extLst>
              <a:ext uri="{FF2B5EF4-FFF2-40B4-BE49-F238E27FC236}">
                <a16:creationId xmlns:a16="http://schemas.microsoft.com/office/drawing/2014/main" xmlns="" id="{C8A5938A-E76C-6E8F-F889-5E01D36DB047}"/>
              </a:ext>
            </a:extLst>
          </p:cNvPr>
          <p:cNvSpPr txBox="1">
            <a:spLocks/>
          </p:cNvSpPr>
          <p:nvPr/>
        </p:nvSpPr>
        <p:spPr>
          <a:xfrm>
            <a:off x="2214399" y="585100"/>
            <a:ext cx="7763202" cy="606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Cross-Validation</a:t>
            </a:r>
          </a:p>
        </p:txBody>
      </p:sp>
      <p:cxnSp>
        <p:nvCxnSpPr>
          <p:cNvPr id="5" name="Google Shape;291;p25">
            <a:extLst>
              <a:ext uri="{FF2B5EF4-FFF2-40B4-BE49-F238E27FC236}">
                <a16:creationId xmlns:a16="http://schemas.microsoft.com/office/drawing/2014/main" xmlns="" id="{CE7C092F-5845-F28E-1008-F283A3AC0250}"/>
              </a:ext>
            </a:extLst>
          </p:cNvPr>
          <p:cNvCxnSpPr/>
          <p:nvPr/>
        </p:nvCxnSpPr>
        <p:spPr>
          <a:xfrm>
            <a:off x="423460" y="1191700"/>
            <a:ext cx="1106748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63;p24">
            <a:extLst>
              <a:ext uri="{FF2B5EF4-FFF2-40B4-BE49-F238E27FC236}">
                <a16:creationId xmlns:a16="http://schemas.microsoft.com/office/drawing/2014/main" xmlns="" id="{E6D0414E-AA3D-D153-6EE0-C5BED82DFED5}"/>
              </a:ext>
            </a:extLst>
          </p:cNvPr>
          <p:cNvSpPr txBox="1">
            <a:spLocks/>
          </p:cNvSpPr>
          <p:nvPr/>
        </p:nvSpPr>
        <p:spPr>
          <a:xfrm>
            <a:off x="301534" y="1287880"/>
            <a:ext cx="11311340" cy="4985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indent="-51435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48590" indent="0">
              <a:lnSpc>
                <a:spcPct val="150000"/>
              </a:lnSpc>
              <a:buNone/>
            </a:pP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banyak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jenis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Cross-Validation, di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antaranya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 Fold Cross Validation yang paling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umum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 Fold Cross Validation, dataset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asli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dibagi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 subset. Subset-subset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disebut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lipatan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(folds). Proses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diulang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sebanyak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 kali di mana 1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lipatan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tujuan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pengujian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k-1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lipatan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melatih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setiap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bertindak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subjek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uji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sekaligus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bertindak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subjek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912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2;p24">
            <a:extLst>
              <a:ext uri="{FF2B5EF4-FFF2-40B4-BE49-F238E27FC236}">
                <a16:creationId xmlns:a16="http://schemas.microsoft.com/office/drawing/2014/main" xmlns="" id="{C8A5938A-E76C-6E8F-F889-5E01D36DB047}"/>
              </a:ext>
            </a:extLst>
          </p:cNvPr>
          <p:cNvSpPr txBox="1">
            <a:spLocks/>
          </p:cNvSpPr>
          <p:nvPr/>
        </p:nvSpPr>
        <p:spPr>
          <a:xfrm>
            <a:off x="2214399" y="585100"/>
            <a:ext cx="7763202" cy="606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Cross-Validation</a:t>
            </a:r>
          </a:p>
        </p:txBody>
      </p:sp>
      <p:cxnSp>
        <p:nvCxnSpPr>
          <p:cNvPr id="5" name="Google Shape;291;p25">
            <a:extLst>
              <a:ext uri="{FF2B5EF4-FFF2-40B4-BE49-F238E27FC236}">
                <a16:creationId xmlns:a16="http://schemas.microsoft.com/office/drawing/2014/main" xmlns="" id="{CE7C092F-5845-F28E-1008-F283A3AC0250}"/>
              </a:ext>
            </a:extLst>
          </p:cNvPr>
          <p:cNvCxnSpPr/>
          <p:nvPr/>
        </p:nvCxnSpPr>
        <p:spPr>
          <a:xfrm>
            <a:off x="423460" y="1191700"/>
            <a:ext cx="1106748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63;p24">
            <a:extLst>
              <a:ext uri="{FF2B5EF4-FFF2-40B4-BE49-F238E27FC236}">
                <a16:creationId xmlns:a16="http://schemas.microsoft.com/office/drawing/2014/main" xmlns="" id="{E6D0414E-AA3D-D153-6EE0-C5BED82DFED5}"/>
              </a:ext>
            </a:extLst>
          </p:cNvPr>
          <p:cNvSpPr txBox="1">
            <a:spLocks/>
          </p:cNvSpPr>
          <p:nvPr/>
        </p:nvSpPr>
        <p:spPr>
          <a:xfrm>
            <a:off x="301534" y="1287880"/>
            <a:ext cx="11311340" cy="4985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indent="-51435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48590" indent="0">
              <a:lnSpc>
                <a:spcPct val="150000"/>
              </a:lnSpc>
              <a:buNone/>
            </a:pP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berikut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menunjukkan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contoh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subset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subset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komplementer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dihasilkan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masing-masing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dibuat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dilatih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selama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4-fold cross-validation. Model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satu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25%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pertama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sisanya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75%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Model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subset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kedua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sebanyak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25% (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25%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hingga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50%)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tiga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subset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lainnya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seterusnya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EBE0701-D96C-48E1-BFA5-B2AA11EFC0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36232" y="3429000"/>
            <a:ext cx="6719536" cy="214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57BFE7-A22E-ED38-5041-E001943F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B74A664-F3F1-1B5C-8F17-AFE95B339C1A}"/>
              </a:ext>
            </a:extLst>
          </p:cNvPr>
          <p:cNvSpPr txBox="1"/>
          <p:nvPr/>
        </p:nvSpPr>
        <p:spPr>
          <a:xfrm>
            <a:off x="1251857" y="2122714"/>
            <a:ext cx="9612086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147955" indent="0" algn="just">
              <a:lnSpc>
                <a:spcPct val="150000"/>
              </a:lnSpc>
              <a:buNone/>
            </a:pPr>
            <a:r>
              <a:rPr lang="en-ID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Validasi</a:t>
            </a:r>
            <a:r>
              <a:rPr lang="en-ID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silang</a:t>
            </a:r>
            <a:r>
              <a:rPr lang="en-ID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adalah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metode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statistik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untuk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mengevaluasi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kinerja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generalisasi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</a:t>
            </a:r>
            <a:r>
              <a:rPr lang="en-ID" sz="1800" spc="-22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lebih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stabil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dan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menyeluruh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daripada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menggunakan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pemisahan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dalam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set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pelatihan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dan set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pengujian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Dalam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validasi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silang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data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dipecah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berulang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kali dan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beberapa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model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dilatih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Versi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validasi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silang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paling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umum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digunakan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adalah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validasi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silang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k-</a:t>
            </a:r>
            <a:r>
              <a:rPr lang="en-ID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lipat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di mana </a:t>
            </a:r>
            <a:r>
              <a:rPr lang="en-ID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adalah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angka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ditentukan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pengguna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biasanya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5</a:t>
            </a:r>
            <a:r>
              <a:rPr lang="en-ID" sz="1800" spc="-22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atau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10.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70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6B6F81-238E-CB5E-4A97-0752D5EC8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3" name="Picture 2" descr="A graph of a number of different colors&#10;&#10;Description automatically generated with medium confidence">
            <a:extLst>
              <a:ext uri="{FF2B5EF4-FFF2-40B4-BE49-F238E27FC236}">
                <a16:creationId xmlns:a16="http://schemas.microsoft.com/office/drawing/2014/main" xmlns="" id="{ED127A57-6032-CB2E-E6D1-3BABD2C269B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89767" y="2292181"/>
            <a:ext cx="9325976" cy="15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1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2012CD-ADC5-1352-BDA9-94DDF0C8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E84A151-1464-46EA-FBA3-5B54358E5DDC}"/>
              </a:ext>
            </a:extLst>
          </p:cNvPr>
          <p:cNvSpPr txBox="1"/>
          <p:nvPr/>
        </p:nvSpPr>
        <p:spPr>
          <a:xfrm>
            <a:off x="947058" y="1632858"/>
            <a:ext cx="2960914" cy="377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161290" indent="0" algn="just">
              <a:lnSpc>
                <a:spcPct val="95000"/>
              </a:lnSpc>
              <a:spcBef>
                <a:spcPts val="585"/>
              </a:spcBef>
              <a:spcAft>
                <a:spcPts val="800"/>
              </a:spcAft>
              <a:buNone/>
            </a:pP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Validasi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silang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diimplementasikan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dalam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scikit-learn</a:t>
            </a:r>
            <a:r>
              <a:rPr lang="en-ID" sz="1800" kern="100" spc="5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menggunakan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fungsi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cross_val_score</a:t>
            </a:r>
            <a:r>
              <a:rPr lang="en-ID" sz="1800" kern="100" spc="5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modul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model_selection</a:t>
            </a:r>
            <a:r>
              <a:rPr lang="en-ID" sz="1800" kern="100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en-ID" sz="1800" kern="100" spc="5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Parameter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fungsi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cross_val_score</a:t>
            </a:r>
            <a:r>
              <a:rPr lang="en-ID" sz="1800" kern="100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adalah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model yang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ingin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kita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evaluasi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data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pelatihan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dan label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ground-truth.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Mari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kita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mengevaluasi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LogisticRegression</a:t>
            </a:r>
            <a:r>
              <a:rPr lang="en-ID" sz="1800" kern="100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pada</a:t>
            </a:r>
            <a:r>
              <a:rPr lang="en-ID" sz="1800" kern="1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en-ID" sz="1800" kern="100" spc="23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iris</a:t>
            </a:r>
            <a:r>
              <a:rPr lang="en-ID" sz="1800" kern="100" spc="5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kern="100" dirty="0" err="1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mata</a:t>
            </a:r>
            <a:r>
              <a:rPr lang="en-ID" sz="1800" kern="100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68B31D7-9BBD-FFD0-83D2-E42AC4BB7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04" y="379390"/>
            <a:ext cx="6201177" cy="592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7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6F43F5-99D4-4C46-4EE3-C4A2D9EB4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2ADDDAF-2A5B-5F5E-A914-0FC08CDE9D91}"/>
              </a:ext>
            </a:extLst>
          </p:cNvPr>
          <p:cNvSpPr txBox="1"/>
          <p:nvPr/>
        </p:nvSpPr>
        <p:spPr>
          <a:xfrm>
            <a:off x="3048000" y="2044960"/>
            <a:ext cx="6096000" cy="277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161290" indent="0" algn="just">
              <a:lnSpc>
                <a:spcPct val="97000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Dengan menggunakan rata-rata validasi silang, kami dapat menyimpulkan bahwa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kami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mengharapkan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model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ini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memiliki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akurasi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rata-rata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sekitar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96%.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Dengan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melihat kelima nilai yang dihasilkan oleh validasi silang lima kali lipat, kami juga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dapat menyimpulkan bahwa ada varians yang relatif tinggi dalam akurasi antar fold,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mulai dari akurasi 100% hingga 90%. Hal ini dapat mengimplikasikan bahwa model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ini</a:t>
            </a:r>
            <a:r>
              <a:rPr lang="id-ID" sz="1800" spc="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sangat</a:t>
            </a:r>
            <a:r>
              <a:rPr lang="id-ID" sz="1800" spc="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bergantung</a:t>
            </a:r>
            <a:r>
              <a:rPr lang="id-ID" sz="1800" spc="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pada</a:t>
            </a:r>
            <a:r>
              <a:rPr lang="id-ID" sz="1800" spc="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lipatan</a:t>
            </a:r>
            <a:r>
              <a:rPr lang="id-ID" sz="1800" spc="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tertentu</a:t>
            </a:r>
            <a:r>
              <a:rPr lang="id-ID" sz="1800" spc="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yang</a:t>
            </a:r>
            <a:r>
              <a:rPr lang="id-ID" sz="1800" spc="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digunakan</a:t>
            </a:r>
            <a:r>
              <a:rPr lang="id-ID" sz="1800" spc="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id-ID" sz="1800" spc="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pelatihan,</a:t>
            </a:r>
            <a:r>
              <a:rPr lang="id-ID" sz="1800" spc="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tetapi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bisa</a:t>
            </a:r>
            <a:r>
              <a:rPr lang="id-ID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juga</a:t>
            </a:r>
            <a:r>
              <a:rPr lang="id-ID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merupakan</a:t>
            </a:r>
            <a:r>
              <a:rPr lang="id-ID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konsekuensi</a:t>
            </a:r>
            <a:r>
              <a:rPr lang="id-ID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dari</a:t>
            </a:r>
            <a:r>
              <a:rPr lang="id-ID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kecilnya</a:t>
            </a:r>
            <a:r>
              <a:rPr lang="id-ID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ukuran</a:t>
            </a:r>
            <a:r>
              <a:rPr lang="id-ID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set</a:t>
            </a:r>
            <a:r>
              <a:rPr lang="id-ID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data.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20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A25B8B-FE22-C8FA-187B-882828B7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Kerugian</a:t>
            </a:r>
            <a:r>
              <a:rPr lang="en-US" dirty="0"/>
              <a:t> dan </a:t>
            </a:r>
            <a:r>
              <a:rPr lang="en-US" dirty="0" err="1"/>
              <a:t>manfaat</a:t>
            </a:r>
            <a:r>
              <a:rPr lang="en-US" dirty="0"/>
              <a:t> </a:t>
            </a:r>
            <a:r>
              <a:rPr lang="en-US" dirty="0" err="1"/>
              <a:t>validasi</a:t>
            </a:r>
            <a:r>
              <a:rPr lang="en-US" dirty="0"/>
              <a:t> </a:t>
            </a:r>
            <a:r>
              <a:rPr lang="en-US" dirty="0" err="1"/>
              <a:t>silang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3B2897F-5EC8-A5E5-0748-E5431B08B2D1}"/>
              </a:ext>
            </a:extLst>
          </p:cNvPr>
          <p:cNvSpPr txBox="1"/>
          <p:nvPr/>
        </p:nvSpPr>
        <p:spPr>
          <a:xfrm>
            <a:off x="3048000" y="2850950"/>
            <a:ext cx="6096000" cy="2481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3030" marR="160655" algn="just">
              <a:lnSpc>
                <a:spcPct val="97000"/>
              </a:lnSpc>
              <a:spcBef>
                <a:spcPts val="625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eningkatnya biaya komputasi. Karena</a:t>
            </a:r>
            <a:r>
              <a:rPr lang="id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kita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sekarang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melatih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id-ID" sz="1800" i="1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model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dan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bukannya</a:t>
            </a:r>
            <a:r>
              <a:rPr lang="id-ID" sz="1800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satu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model,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validasi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silang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akan</a:t>
            </a:r>
            <a:r>
              <a:rPr lang="id-ID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menjadi</a:t>
            </a:r>
            <a:r>
              <a:rPr lang="id-ID" sz="1800" spc="-2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sekitar</a:t>
            </a:r>
            <a:r>
              <a:rPr lang="id-ID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id-ID" sz="1800" i="1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kali</a:t>
            </a:r>
            <a:r>
              <a:rPr lang="id-ID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lebih</a:t>
            </a:r>
            <a:r>
              <a:rPr lang="id-ID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lambat</a:t>
            </a:r>
            <a:r>
              <a:rPr lang="id-ID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daripada</a:t>
            </a:r>
            <a:r>
              <a:rPr lang="id-ID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melakukan</a:t>
            </a:r>
            <a:r>
              <a:rPr lang="id-ID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pemisahan</a:t>
            </a:r>
            <a:r>
              <a:rPr lang="id-ID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id-ID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data.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161290" algn="just">
              <a:lnSpc>
                <a:spcPct val="95000"/>
              </a:lnSpc>
              <a:spcBef>
                <a:spcPts val="585"/>
              </a:spcBef>
              <a:spcAft>
                <a:spcPts val="800"/>
              </a:spcAft>
            </a:pPr>
            <a:r>
              <a:rPr lang="en-ID" sz="1800" dirty="0" err="1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Namun</a:t>
            </a:r>
            <a:r>
              <a:rPr lang="en-ID" sz="1800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dengan</a:t>
            </a:r>
            <a:r>
              <a:rPr lang="en-ID" sz="1800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train_test_split</a:t>
            </a:r>
            <a:r>
              <a:rPr lang="en-ID" sz="1800" dirty="0">
                <a:effectLst/>
                <a:latin typeface="MingLiU_HKSCS-ExtB" panose="02020500000000000000" pitchFamily="18" charset="-12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melakukan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pemisahan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secara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acak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sehingga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menggunakan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kita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secara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lebih</a:t>
            </a:r>
            <a:r>
              <a:rPr lang="en-ID" sz="1800" spc="5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efektif</a:t>
            </a: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3030" marR="160655" algn="just">
              <a:lnSpc>
                <a:spcPct val="97000"/>
              </a:lnSpc>
              <a:spcBef>
                <a:spcPts val="625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06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2;p24">
            <a:extLst>
              <a:ext uri="{FF2B5EF4-FFF2-40B4-BE49-F238E27FC236}">
                <a16:creationId xmlns:a16="http://schemas.microsoft.com/office/drawing/2014/main" xmlns="" id="{C8A5938A-E76C-6E8F-F889-5E01D36DB047}"/>
              </a:ext>
            </a:extLst>
          </p:cNvPr>
          <p:cNvSpPr txBox="1">
            <a:spLocks/>
          </p:cNvSpPr>
          <p:nvPr/>
        </p:nvSpPr>
        <p:spPr>
          <a:xfrm>
            <a:off x="2214399" y="585100"/>
            <a:ext cx="7763202" cy="606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Holdout</a:t>
            </a:r>
          </a:p>
        </p:txBody>
      </p:sp>
      <p:cxnSp>
        <p:nvCxnSpPr>
          <p:cNvPr id="5" name="Google Shape;291;p25">
            <a:extLst>
              <a:ext uri="{FF2B5EF4-FFF2-40B4-BE49-F238E27FC236}">
                <a16:creationId xmlns:a16="http://schemas.microsoft.com/office/drawing/2014/main" xmlns="" id="{CE7C092F-5845-F28E-1008-F283A3AC0250}"/>
              </a:ext>
            </a:extLst>
          </p:cNvPr>
          <p:cNvCxnSpPr/>
          <p:nvPr/>
        </p:nvCxnSpPr>
        <p:spPr>
          <a:xfrm>
            <a:off x="423460" y="1191700"/>
            <a:ext cx="1106748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63;p24">
            <a:extLst>
              <a:ext uri="{FF2B5EF4-FFF2-40B4-BE49-F238E27FC236}">
                <a16:creationId xmlns:a16="http://schemas.microsoft.com/office/drawing/2014/main" xmlns="" id="{E6D0414E-AA3D-D153-6EE0-C5BED82DFED5}"/>
              </a:ext>
            </a:extLst>
          </p:cNvPr>
          <p:cNvSpPr txBox="1">
            <a:spLocks/>
          </p:cNvSpPr>
          <p:nvPr/>
        </p:nvSpPr>
        <p:spPr>
          <a:xfrm>
            <a:off x="301534" y="1287880"/>
            <a:ext cx="11311340" cy="4985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indent="-51435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48590" indent="0">
              <a:lnSpc>
                <a:spcPct val="150000"/>
              </a:lnSpc>
              <a:buNone/>
            </a:pP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Teknik holdout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mengevaluasi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kinerja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melibatkan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penggunaan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jenis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pengujian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Data uji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menghitung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kinerja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model,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sementara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kumpulan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melatihnya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Metode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menilai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seberapa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baik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machine learning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dibangun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berbagai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algoritma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berkinerja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sampel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yang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belum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pernah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dilihat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sebelumnya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50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2;p24">
            <a:extLst>
              <a:ext uri="{FF2B5EF4-FFF2-40B4-BE49-F238E27FC236}">
                <a16:creationId xmlns:a16="http://schemas.microsoft.com/office/drawing/2014/main" xmlns="" id="{C8A5938A-E76C-6E8F-F889-5E01D36DB047}"/>
              </a:ext>
            </a:extLst>
          </p:cNvPr>
          <p:cNvSpPr txBox="1">
            <a:spLocks/>
          </p:cNvSpPr>
          <p:nvPr/>
        </p:nvSpPr>
        <p:spPr>
          <a:xfrm>
            <a:off x="2214399" y="585100"/>
            <a:ext cx="7763202" cy="606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Holdout</a:t>
            </a:r>
          </a:p>
        </p:txBody>
      </p:sp>
      <p:cxnSp>
        <p:nvCxnSpPr>
          <p:cNvPr id="5" name="Google Shape;291;p25">
            <a:extLst>
              <a:ext uri="{FF2B5EF4-FFF2-40B4-BE49-F238E27FC236}">
                <a16:creationId xmlns:a16="http://schemas.microsoft.com/office/drawing/2014/main" xmlns="" id="{CE7C092F-5845-F28E-1008-F283A3AC0250}"/>
              </a:ext>
            </a:extLst>
          </p:cNvPr>
          <p:cNvCxnSpPr/>
          <p:nvPr/>
        </p:nvCxnSpPr>
        <p:spPr>
          <a:xfrm>
            <a:off x="423460" y="1191700"/>
            <a:ext cx="1106748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263;p24">
            <a:extLst>
              <a:ext uri="{FF2B5EF4-FFF2-40B4-BE49-F238E27FC236}">
                <a16:creationId xmlns:a16="http://schemas.microsoft.com/office/drawing/2014/main" xmlns="" id="{E6D0414E-AA3D-D153-6EE0-C5BED82DFED5}"/>
              </a:ext>
            </a:extLst>
          </p:cNvPr>
          <p:cNvSpPr txBox="1">
            <a:spLocks/>
          </p:cNvSpPr>
          <p:nvPr/>
        </p:nvSpPr>
        <p:spPr>
          <a:xfrm>
            <a:off x="301534" y="1287880"/>
            <a:ext cx="11311340" cy="4985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14350" indent="-51435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48590" indent="0">
              <a:lnSpc>
                <a:spcPct val="150000"/>
              </a:lnSpc>
              <a:buNone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enerapan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dari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teknik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dibagi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menjadi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pelatihan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pengujian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Dataset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biasanya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dibagi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rasio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seperti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70:30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80:20.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Biasanya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persentase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besar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melatih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 dan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sebagian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kecil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dataset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menguji</a:t>
            </a:r>
            <a:r>
              <a:rPr lang="en-ID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model. </a:t>
            </a:r>
          </a:p>
          <a:p>
            <a:pPr marL="0" marR="148590" indent="0">
              <a:lnSpc>
                <a:spcPct val="150000"/>
              </a:lnSpc>
              <a:buNone/>
            </a:pPr>
            <a:endParaRPr lang="en-ID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DC38516-9FDA-4C6E-A513-453699CBD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714" y="2785100"/>
            <a:ext cx="6242572" cy="34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7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UEU Color">
      <a:dk1>
        <a:srgbClr val="363636"/>
      </a:dk1>
      <a:lt1>
        <a:srgbClr val="FFFFFF"/>
      </a:lt1>
      <a:dk2>
        <a:srgbClr val="0E60AC"/>
      </a:dk2>
      <a:lt2>
        <a:srgbClr val="F2F2F2"/>
      </a:lt2>
      <a:accent1>
        <a:srgbClr val="EF7220"/>
      </a:accent1>
      <a:accent2>
        <a:srgbClr val="F5AA79"/>
      </a:accent2>
      <a:accent3>
        <a:srgbClr val="0E60AC"/>
      </a:accent3>
      <a:accent4>
        <a:srgbClr val="87C0F5"/>
      </a:accent4>
      <a:accent5>
        <a:srgbClr val="C3DFFA"/>
      </a:accent5>
      <a:accent6>
        <a:srgbClr val="D8D8D8"/>
      </a:accent6>
      <a:hlink>
        <a:srgbClr val="EF7220"/>
      </a:hlink>
      <a:folHlink>
        <a:srgbClr val="EF7220"/>
      </a:folHlink>
    </a:clrScheme>
    <a:fontScheme name="Font UEU Basic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 TEMPLATE PPT UEU" id="{61C6813F-AFFC-42C3-8343-B418D1D4430D}" vid="{3A234C03-FC1E-4A99-8196-55A786EF84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 TEMPLATE PPT UEU</Template>
  <TotalTime>1646</TotalTime>
  <Words>1042</Words>
  <Application>Microsoft Office PowerPoint</Application>
  <PresentationFormat>Widescreen</PresentationFormat>
  <Paragraphs>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Stencil</vt:lpstr>
      <vt:lpstr>MingLiU_HKSCS-ExtB</vt:lpstr>
      <vt:lpstr>Tw Cen MT</vt:lpstr>
      <vt:lpstr>Nunito</vt:lpstr>
      <vt:lpstr>Calibri</vt:lpstr>
      <vt:lpstr>Impact</vt:lpstr>
      <vt:lpstr>Times New Roman</vt:lpstr>
      <vt:lpstr>1_Office Theme</vt:lpstr>
      <vt:lpstr>SLIDE – TOPIK 13</vt:lpstr>
      <vt:lpstr>PowerPoint Presentation</vt:lpstr>
      <vt:lpstr>PowerPoint Presentation</vt:lpstr>
      <vt:lpstr>Pembahasan</vt:lpstr>
      <vt:lpstr>PowerPoint Presentation</vt:lpstr>
      <vt:lpstr>PowerPoint Presentation</vt:lpstr>
      <vt:lpstr>Evaluasi Model</vt:lpstr>
      <vt:lpstr> </vt:lpstr>
      <vt:lpstr> </vt:lpstr>
      <vt:lpstr>Cara Untuk Evaluasi Model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Kerugian dan manfaat validasi silang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Muhmad Hendrawan 20190801434</dc:title>
  <dc:creator>Muhamad Hendrawan</dc:creator>
  <cp:lastModifiedBy>MAHASISWA</cp:lastModifiedBy>
  <cp:revision>19</cp:revision>
  <dcterms:created xsi:type="dcterms:W3CDTF">2023-08-30T09:41:54Z</dcterms:created>
  <dcterms:modified xsi:type="dcterms:W3CDTF">2026-07-18T07:10:56Z</dcterms:modified>
</cp:coreProperties>
</file>